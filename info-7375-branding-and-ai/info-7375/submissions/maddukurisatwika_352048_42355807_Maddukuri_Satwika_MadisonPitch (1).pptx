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Poppins" panose="00000500000000000000" pitchFamily="2" charset="0"/>
      <p:regular r:id="rId12"/>
    </p:embeddedFont>
    <p:embeddedFont>
      <p:font typeface="Poppins Bold" panose="00000800000000000000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4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21"/>
      </p:cViewPr>
      <p:guideLst>
        <p:guide orient="horz" pos="2160"/>
        <p:guide pos="24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7.sv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19992" y="-1680508"/>
            <a:ext cx="13648016" cy="1364801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640768" y="-164456"/>
            <a:ext cx="11725929" cy="11711272"/>
          </a:xfrm>
          <a:custGeom>
            <a:avLst/>
            <a:gdLst/>
            <a:ahLst/>
            <a:cxnLst/>
            <a:rect l="l" t="t" r="r" b="b"/>
            <a:pathLst>
              <a:path w="11725929" h="11711272">
                <a:moveTo>
                  <a:pt x="0" y="0"/>
                </a:moveTo>
                <a:lnTo>
                  <a:pt x="11725929" y="0"/>
                </a:lnTo>
                <a:lnTo>
                  <a:pt x="11725929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2" name="Group 12"/>
          <p:cNvGrpSpPr/>
          <p:nvPr/>
        </p:nvGrpSpPr>
        <p:grpSpPr>
          <a:xfrm>
            <a:off x="3367381" y="-633119"/>
            <a:ext cx="11553237" cy="1155323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476280" y="4348446"/>
            <a:ext cx="1658466" cy="1656393"/>
          </a:xfrm>
          <a:custGeom>
            <a:avLst/>
            <a:gdLst/>
            <a:ahLst/>
            <a:cxnLst/>
            <a:rect l="l" t="t" r="r" b="b"/>
            <a:pathLst>
              <a:path w="1658466" h="1656393">
                <a:moveTo>
                  <a:pt x="0" y="0"/>
                </a:moveTo>
                <a:lnTo>
                  <a:pt x="1658465" y="0"/>
                </a:lnTo>
                <a:lnTo>
                  <a:pt x="1658465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6" name="Group 16"/>
          <p:cNvGrpSpPr/>
          <p:nvPr/>
        </p:nvGrpSpPr>
        <p:grpSpPr>
          <a:xfrm>
            <a:off x="1437613" y="4282161"/>
            <a:ext cx="1634041" cy="163404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flipH="1">
            <a:off x="2086248" y="4847440"/>
            <a:ext cx="336771" cy="503483"/>
          </a:xfrm>
          <a:custGeom>
            <a:avLst/>
            <a:gdLst/>
            <a:ahLst/>
            <a:cxnLst/>
            <a:rect l="l" t="t" r="r" b="b"/>
            <a:pathLst>
              <a:path w="336771" h="503483">
                <a:moveTo>
                  <a:pt x="336771" y="0"/>
                </a:moveTo>
                <a:lnTo>
                  <a:pt x="0" y="0"/>
                </a:lnTo>
                <a:lnTo>
                  <a:pt x="0" y="503483"/>
                </a:lnTo>
                <a:lnTo>
                  <a:pt x="336771" y="503483"/>
                </a:lnTo>
                <a:lnTo>
                  <a:pt x="3367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15191921" y="4348446"/>
            <a:ext cx="1658466" cy="1656393"/>
          </a:xfrm>
          <a:custGeom>
            <a:avLst/>
            <a:gdLst/>
            <a:ahLst/>
            <a:cxnLst/>
            <a:rect l="l" t="t" r="r" b="b"/>
            <a:pathLst>
              <a:path w="1658466" h="1656393">
                <a:moveTo>
                  <a:pt x="0" y="0"/>
                </a:moveTo>
                <a:lnTo>
                  <a:pt x="1658466" y="0"/>
                </a:lnTo>
                <a:lnTo>
                  <a:pt x="1658466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21" name="Group 21"/>
          <p:cNvGrpSpPr/>
          <p:nvPr/>
        </p:nvGrpSpPr>
        <p:grpSpPr>
          <a:xfrm>
            <a:off x="15153255" y="4282161"/>
            <a:ext cx="1634041" cy="163404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5801890" y="4847440"/>
            <a:ext cx="336771" cy="503483"/>
          </a:xfrm>
          <a:custGeom>
            <a:avLst/>
            <a:gdLst/>
            <a:ahLst/>
            <a:cxnLst/>
            <a:rect l="l" t="t" r="r" b="b"/>
            <a:pathLst>
              <a:path w="336771" h="503483">
                <a:moveTo>
                  <a:pt x="0" y="0"/>
                </a:moveTo>
                <a:lnTo>
                  <a:pt x="336770" y="0"/>
                </a:lnTo>
                <a:lnTo>
                  <a:pt x="336770" y="503483"/>
                </a:lnTo>
                <a:lnTo>
                  <a:pt x="0" y="503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25" name="Group 25"/>
          <p:cNvGrpSpPr/>
          <p:nvPr/>
        </p:nvGrpSpPr>
        <p:grpSpPr>
          <a:xfrm>
            <a:off x="8142194" y="7495078"/>
            <a:ext cx="2003612" cy="775869"/>
            <a:chOff x="0" y="0"/>
            <a:chExt cx="2098984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098984" cy="812800"/>
            </a:xfrm>
            <a:custGeom>
              <a:avLst/>
              <a:gdLst/>
              <a:ahLst/>
              <a:cxnLst/>
              <a:rect l="l" t="t" r="r" b="b"/>
              <a:pathLst>
                <a:path w="2098984" h="812800">
                  <a:moveTo>
                    <a:pt x="386398" y="0"/>
                  </a:moveTo>
                  <a:lnTo>
                    <a:pt x="1712586" y="0"/>
                  </a:lnTo>
                  <a:cubicBezTo>
                    <a:pt x="1925987" y="0"/>
                    <a:pt x="2098984" y="172996"/>
                    <a:pt x="2098984" y="386398"/>
                  </a:cubicBezTo>
                  <a:lnTo>
                    <a:pt x="2098984" y="426402"/>
                  </a:lnTo>
                  <a:cubicBezTo>
                    <a:pt x="2098984" y="639804"/>
                    <a:pt x="1925987" y="812800"/>
                    <a:pt x="1712586" y="812800"/>
                  </a:cubicBezTo>
                  <a:lnTo>
                    <a:pt x="386398" y="812800"/>
                  </a:lnTo>
                  <a:cubicBezTo>
                    <a:pt x="172996" y="812800"/>
                    <a:pt x="0" y="639804"/>
                    <a:pt x="0" y="426402"/>
                  </a:cubicBezTo>
                  <a:lnTo>
                    <a:pt x="0" y="386398"/>
                  </a:lnTo>
                  <a:cubicBezTo>
                    <a:pt x="0" y="172996"/>
                    <a:pt x="172996" y="0"/>
                    <a:pt x="386398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098984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8677910" y="2291656"/>
            <a:ext cx="932181" cy="978434"/>
          </a:xfrm>
          <a:custGeom>
            <a:avLst/>
            <a:gdLst/>
            <a:ahLst/>
            <a:cxnLst/>
            <a:rect l="l" t="t" r="r" b="b"/>
            <a:pathLst>
              <a:path w="932181" h="978434">
                <a:moveTo>
                  <a:pt x="0" y="0"/>
                </a:moveTo>
                <a:lnTo>
                  <a:pt x="932180" y="0"/>
                </a:lnTo>
                <a:lnTo>
                  <a:pt x="932180" y="978434"/>
                </a:lnTo>
                <a:lnTo>
                  <a:pt x="0" y="9784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535713" y="414823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0" name="Group 30"/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11679" y="508149"/>
            <a:ext cx="1633768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Behavrix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940842" y="508149"/>
            <a:ext cx="9784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14385046" y="508149"/>
            <a:ext cx="1060497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13154289" y="508149"/>
            <a:ext cx="735456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11898530" y="508149"/>
            <a:ext cx="8097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38" name="TextBox 38"/>
          <p:cNvSpPr txBox="1"/>
          <p:nvPr/>
        </p:nvSpPr>
        <p:spPr>
          <a:xfrm>
            <a:off x="3757405" y="3901068"/>
            <a:ext cx="10773189" cy="224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85"/>
              </a:lnSpc>
              <a:spcBef>
                <a:spcPct val="0"/>
              </a:spcBef>
            </a:pPr>
            <a:r>
              <a:rPr lang="en-US" sz="3600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Human Risk Intelligence Platform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984590" y="6460474"/>
            <a:ext cx="6318820" cy="626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6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80% of breaches are caused by people — not firewalls, not software. We make human behavioral risk visible.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142194" y="7735341"/>
            <a:ext cx="2003612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Try </a:t>
            </a:r>
            <a:r>
              <a:rPr lang="en-US" sz="140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Behavrix</a:t>
            </a:r>
            <a:r>
              <a:rPr lang="en-US" sz="1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Live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11039" y="3437462"/>
            <a:ext cx="4665923" cy="507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0"/>
              </a:lnSpc>
              <a:spcBef>
                <a:spcPct val="0"/>
              </a:spcBef>
            </a:pPr>
            <a:r>
              <a:rPr lang="en-US" sz="2886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Behavrix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35713" y="414823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AutoShape 9"/>
          <p:cNvSpPr/>
          <p:nvPr/>
        </p:nvSpPr>
        <p:spPr>
          <a:xfrm flipV="1">
            <a:off x="8314040" y="2497113"/>
            <a:ext cx="1898560" cy="1304496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AutoShape 10"/>
          <p:cNvSpPr/>
          <p:nvPr/>
        </p:nvSpPr>
        <p:spPr>
          <a:xfrm flipH="1" flipV="1">
            <a:off x="8316800" y="6477427"/>
            <a:ext cx="1893040" cy="1312494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1" name="AutoShape 11"/>
          <p:cNvSpPr/>
          <p:nvPr/>
        </p:nvSpPr>
        <p:spPr>
          <a:xfrm flipV="1">
            <a:off x="8532606" y="4267293"/>
            <a:ext cx="2635124" cy="563602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530566" y="5475506"/>
            <a:ext cx="2639203" cy="544180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>
            <a:off x="1792023" y="1731496"/>
            <a:ext cx="6824008" cy="682400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452411" y="2489522"/>
            <a:ext cx="5862965" cy="5855636"/>
          </a:xfrm>
          <a:custGeom>
            <a:avLst/>
            <a:gdLst/>
            <a:ahLst/>
            <a:cxnLst/>
            <a:rect l="l" t="t" r="r" b="b"/>
            <a:pathLst>
              <a:path w="5862965" h="5855636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7" name="Group 17"/>
          <p:cNvGrpSpPr/>
          <p:nvPr/>
        </p:nvGrpSpPr>
        <p:grpSpPr>
          <a:xfrm>
            <a:off x="2315717" y="2255191"/>
            <a:ext cx="5776619" cy="577661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940842" y="508149"/>
            <a:ext cx="9784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4385046" y="508149"/>
            <a:ext cx="1060497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3154289" y="508149"/>
            <a:ext cx="735456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11898530" y="508149"/>
            <a:ext cx="8097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011679" y="508149"/>
            <a:ext cx="1633768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Behavrix</a:t>
            </a:r>
          </a:p>
        </p:txBody>
      </p:sp>
      <p:sp>
        <p:nvSpPr>
          <p:cNvPr id="25" name="Freeform 25"/>
          <p:cNvSpPr/>
          <p:nvPr/>
        </p:nvSpPr>
        <p:spPr>
          <a:xfrm>
            <a:off x="4634643" y="3680624"/>
            <a:ext cx="1138768" cy="1138768"/>
          </a:xfrm>
          <a:custGeom>
            <a:avLst/>
            <a:gdLst/>
            <a:ahLst/>
            <a:cxnLst/>
            <a:rect l="l" t="t" r="r" b="b"/>
            <a:pathLst>
              <a:path w="1138768" h="1138768">
                <a:moveTo>
                  <a:pt x="0" y="0"/>
                </a:moveTo>
                <a:lnTo>
                  <a:pt x="1138768" y="0"/>
                </a:lnTo>
                <a:lnTo>
                  <a:pt x="1138768" y="1138768"/>
                </a:lnTo>
                <a:lnTo>
                  <a:pt x="0" y="11387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3229539" y="4988741"/>
            <a:ext cx="3948976" cy="1617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</a:pPr>
            <a:r>
              <a:rPr lang="en-US" sz="456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The</a:t>
            </a:r>
          </a:p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647893" y="1855723"/>
            <a:ext cx="4950613" cy="1272624"/>
            <a:chOff x="0" y="0"/>
            <a:chExt cx="1013318" cy="2604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13318" cy="260488"/>
            </a:xfrm>
            <a:custGeom>
              <a:avLst/>
              <a:gdLst/>
              <a:ahLst/>
              <a:cxnLst/>
              <a:rect l="l" t="t" r="r" b="b"/>
              <a:pathLst>
                <a:path w="1013318" h="26048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0820934" y="2012087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9" y="0"/>
                </a:lnTo>
                <a:lnTo>
                  <a:pt x="1026729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1" name="Group 31"/>
          <p:cNvGrpSpPr/>
          <p:nvPr/>
        </p:nvGrpSpPr>
        <p:grpSpPr>
          <a:xfrm>
            <a:off x="10796997" y="1971051"/>
            <a:ext cx="1011607" cy="101160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104764" y="2367684"/>
            <a:ext cx="218342" cy="218342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2149516" y="2265225"/>
            <a:ext cx="3448990" cy="44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of breaches caused by human behavior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32277" y="2244238"/>
            <a:ext cx="741046" cy="39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80%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1604025" y="3623366"/>
            <a:ext cx="4950613" cy="1272624"/>
            <a:chOff x="0" y="0"/>
            <a:chExt cx="1013318" cy="26048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13318" cy="260488"/>
            </a:xfrm>
            <a:custGeom>
              <a:avLst/>
              <a:gdLst/>
              <a:ahLst/>
              <a:cxnLst/>
              <a:rect l="l" t="t" r="r" b="b"/>
              <a:pathLst>
                <a:path w="1013318" h="26048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Freeform 42"/>
          <p:cNvSpPr/>
          <p:nvPr/>
        </p:nvSpPr>
        <p:spPr>
          <a:xfrm>
            <a:off x="11777067" y="3779730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3" name="Group 43"/>
          <p:cNvGrpSpPr/>
          <p:nvPr/>
        </p:nvGrpSpPr>
        <p:grpSpPr>
          <a:xfrm>
            <a:off x="11753129" y="3738694"/>
            <a:ext cx="1011607" cy="1011607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060897" y="4135327"/>
            <a:ext cx="218342" cy="218342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3105649" y="4032868"/>
            <a:ext cx="3448990" cy="44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annual global cybercrime cost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888409" y="4011881"/>
            <a:ext cx="741046" cy="39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1600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$9.5T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1604025" y="5391009"/>
            <a:ext cx="4950613" cy="1272624"/>
            <a:chOff x="0" y="0"/>
            <a:chExt cx="1013318" cy="26048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13318" cy="260488"/>
            </a:xfrm>
            <a:custGeom>
              <a:avLst/>
              <a:gdLst/>
              <a:ahLst/>
              <a:cxnLst/>
              <a:rect l="l" t="t" r="r" b="b"/>
              <a:pathLst>
                <a:path w="1013318" h="26048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4" name="Freeform 54"/>
          <p:cNvSpPr/>
          <p:nvPr/>
        </p:nvSpPr>
        <p:spPr>
          <a:xfrm>
            <a:off x="11777067" y="5547373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55" name="Group 55"/>
          <p:cNvGrpSpPr/>
          <p:nvPr/>
        </p:nvGrpSpPr>
        <p:grpSpPr>
          <a:xfrm>
            <a:off x="11753129" y="5506337"/>
            <a:ext cx="1011607" cy="1011607"/>
            <a:chOff x="0" y="0"/>
            <a:chExt cx="812800" cy="812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1060897" y="5902970"/>
            <a:ext cx="218342" cy="218342"/>
            <a:chOff x="0" y="0"/>
            <a:chExt cx="812800" cy="812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3105649" y="5800511"/>
            <a:ext cx="3448990" cy="44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avg consulting engagement cost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888409" y="5779525"/>
            <a:ext cx="741046" cy="39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1800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$25K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0647893" y="7158653"/>
            <a:ext cx="4950613" cy="1272624"/>
            <a:chOff x="0" y="0"/>
            <a:chExt cx="1013318" cy="26048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13318" cy="260488"/>
            </a:xfrm>
            <a:custGeom>
              <a:avLst/>
              <a:gdLst/>
              <a:ahLst/>
              <a:cxnLst/>
              <a:rect l="l" t="t" r="r" b="b"/>
              <a:pathLst>
                <a:path w="1013318" h="26048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6" name="Freeform 66"/>
          <p:cNvSpPr/>
          <p:nvPr/>
        </p:nvSpPr>
        <p:spPr>
          <a:xfrm>
            <a:off x="10820934" y="7315016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9" y="0"/>
                </a:lnTo>
                <a:lnTo>
                  <a:pt x="1026729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67" name="Group 67"/>
          <p:cNvGrpSpPr/>
          <p:nvPr/>
        </p:nvGrpSpPr>
        <p:grpSpPr>
          <a:xfrm>
            <a:off x="10796997" y="7273980"/>
            <a:ext cx="1011607" cy="1011607"/>
            <a:chOff x="0" y="0"/>
            <a:chExt cx="812800" cy="812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104764" y="7670613"/>
            <a:ext cx="218342" cy="218342"/>
            <a:chOff x="0" y="0"/>
            <a:chExt cx="812800" cy="8128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2149516" y="7568154"/>
            <a:ext cx="3448990" cy="44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to get one vendor risk assessment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932277" y="7547168"/>
            <a:ext cx="741046" cy="39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1600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6 wks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940842" y="508149"/>
            <a:ext cx="9784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4385046" y="508149"/>
            <a:ext cx="1060497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3154289" y="508149"/>
            <a:ext cx="735456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1898530" y="508149"/>
            <a:ext cx="8097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011679" y="508149"/>
            <a:ext cx="1633768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Behavrix</a:t>
            </a:r>
          </a:p>
        </p:txBody>
      </p:sp>
      <p:sp>
        <p:nvSpPr>
          <p:cNvPr id="13" name="Freeform 13"/>
          <p:cNvSpPr/>
          <p:nvPr/>
        </p:nvSpPr>
        <p:spPr>
          <a:xfrm>
            <a:off x="535713" y="414823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4" name="Group 14"/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409860" y="3351068"/>
            <a:ext cx="4950613" cy="1272624"/>
            <a:chOff x="0" y="0"/>
            <a:chExt cx="1013318" cy="2604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13318" cy="260488"/>
            </a:xfrm>
            <a:custGeom>
              <a:avLst/>
              <a:gdLst/>
              <a:ahLst/>
              <a:cxnLst/>
              <a:rect l="l" t="t" r="r" b="b"/>
              <a:pathLst>
                <a:path w="1013318" h="26048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6204710" y="3507432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22" name="Group 22"/>
          <p:cNvGrpSpPr/>
          <p:nvPr/>
        </p:nvGrpSpPr>
        <p:grpSpPr>
          <a:xfrm>
            <a:off x="6180772" y="3466395"/>
            <a:ext cx="1011607" cy="101160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314610" y="3727916"/>
            <a:ext cx="3448990" cy="44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Select org type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16053" y="3739583"/>
            <a:ext cx="741046" cy="39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409860" y="5404742"/>
            <a:ext cx="4950613" cy="1272624"/>
            <a:chOff x="0" y="0"/>
            <a:chExt cx="1013318" cy="2604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13318" cy="260488"/>
            </a:xfrm>
            <a:custGeom>
              <a:avLst/>
              <a:gdLst/>
              <a:ahLst/>
              <a:cxnLst/>
              <a:rect l="l" t="t" r="r" b="b"/>
              <a:pathLst>
                <a:path w="1013318" h="26048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6204710" y="5561106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1" name="Group 31"/>
          <p:cNvGrpSpPr/>
          <p:nvPr/>
        </p:nvGrpSpPr>
        <p:grpSpPr>
          <a:xfrm>
            <a:off x="6180772" y="5520070"/>
            <a:ext cx="1011607" cy="101160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314610" y="5781590"/>
            <a:ext cx="3448990" cy="44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Get Human Risk Report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16053" y="5793257"/>
            <a:ext cx="741046" cy="39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2409860" y="7458416"/>
            <a:ext cx="4950613" cy="1272624"/>
            <a:chOff x="0" y="0"/>
            <a:chExt cx="1013318" cy="26048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13318" cy="260488"/>
            </a:xfrm>
            <a:custGeom>
              <a:avLst/>
              <a:gdLst/>
              <a:ahLst/>
              <a:cxnLst/>
              <a:rect l="l" t="t" r="r" b="b"/>
              <a:pathLst>
                <a:path w="1013318" h="26048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6204710" y="7614780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0" name="Group 40"/>
          <p:cNvGrpSpPr/>
          <p:nvPr/>
        </p:nvGrpSpPr>
        <p:grpSpPr>
          <a:xfrm>
            <a:off x="6180772" y="7573744"/>
            <a:ext cx="1011607" cy="1011607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314610" y="7835265"/>
            <a:ext cx="3448990" cy="44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Consulting firm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16053" y="7846931"/>
            <a:ext cx="741046" cy="39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0927526" y="3351068"/>
            <a:ext cx="4950613" cy="1272624"/>
            <a:chOff x="0" y="0"/>
            <a:chExt cx="1013318" cy="26048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13318" cy="260488"/>
            </a:xfrm>
            <a:custGeom>
              <a:avLst/>
              <a:gdLst/>
              <a:ahLst/>
              <a:cxnLst/>
              <a:rect l="l" t="t" r="r" b="b"/>
              <a:pathLst>
                <a:path w="1013318" h="26048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8" name="Freeform 48"/>
          <p:cNvSpPr/>
          <p:nvPr/>
        </p:nvSpPr>
        <p:spPr>
          <a:xfrm>
            <a:off x="11100568" y="3507432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9" name="Group 49"/>
          <p:cNvGrpSpPr/>
          <p:nvPr/>
        </p:nvGrpSpPr>
        <p:grpSpPr>
          <a:xfrm>
            <a:off x="11076630" y="3466395"/>
            <a:ext cx="1011607" cy="1011607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2524400" y="3760569"/>
            <a:ext cx="3448990" cy="44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AI analyzes 270 records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211911" y="3739583"/>
            <a:ext cx="741046" cy="39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IN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0927526" y="5404742"/>
            <a:ext cx="4950613" cy="1272624"/>
            <a:chOff x="0" y="0"/>
            <a:chExt cx="1013318" cy="26048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13318" cy="260488"/>
            </a:xfrm>
            <a:custGeom>
              <a:avLst/>
              <a:gdLst/>
              <a:ahLst/>
              <a:cxnLst/>
              <a:rect l="l" t="t" r="r" b="b"/>
              <a:pathLst>
                <a:path w="1013318" h="26048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7" name="Freeform 57"/>
          <p:cNvSpPr/>
          <p:nvPr/>
        </p:nvSpPr>
        <p:spPr>
          <a:xfrm>
            <a:off x="11100568" y="5561106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58" name="Group 58"/>
          <p:cNvGrpSpPr/>
          <p:nvPr/>
        </p:nvGrpSpPr>
        <p:grpSpPr>
          <a:xfrm>
            <a:off x="11076630" y="5520070"/>
            <a:ext cx="1011607" cy="1011607"/>
            <a:chOff x="0" y="0"/>
            <a:chExt cx="812800" cy="812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2524400" y="5814243"/>
            <a:ext cx="3448990" cy="44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90 sec · $0.002 · No contract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211911" y="5793257"/>
            <a:ext cx="741046" cy="39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AI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0927526" y="7458416"/>
            <a:ext cx="4950613" cy="1272624"/>
            <a:chOff x="0" y="0"/>
            <a:chExt cx="1013318" cy="26048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13318" cy="260488"/>
            </a:xfrm>
            <a:custGeom>
              <a:avLst/>
              <a:gdLst/>
              <a:ahLst/>
              <a:cxnLst/>
              <a:rect l="l" t="t" r="r" b="b"/>
              <a:pathLst>
                <a:path w="1013318" h="26048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6" name="Freeform 66"/>
          <p:cNvSpPr/>
          <p:nvPr/>
        </p:nvSpPr>
        <p:spPr>
          <a:xfrm>
            <a:off x="11100568" y="7614780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67" name="Group 67"/>
          <p:cNvGrpSpPr/>
          <p:nvPr/>
        </p:nvGrpSpPr>
        <p:grpSpPr>
          <a:xfrm>
            <a:off x="11076630" y="7573744"/>
            <a:ext cx="1011607" cy="1011607"/>
            <a:chOff x="0" y="0"/>
            <a:chExt cx="812800" cy="812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2524400" y="7867918"/>
            <a:ext cx="3448990" cy="44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6 weeks · $25,000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211911" y="7846931"/>
            <a:ext cx="741046" cy="39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vs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346047" y="1757104"/>
            <a:ext cx="7595905" cy="81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Behavrix vs Alternatives</a:t>
            </a:r>
          </a:p>
        </p:txBody>
      </p:sp>
      <p:sp>
        <p:nvSpPr>
          <p:cNvPr id="73" name="AutoShape 73"/>
          <p:cNvSpPr/>
          <p:nvPr/>
        </p:nvSpPr>
        <p:spPr>
          <a:xfrm>
            <a:off x="7766528" y="3987380"/>
            <a:ext cx="2754945" cy="0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74" name="AutoShape 74"/>
          <p:cNvSpPr/>
          <p:nvPr/>
        </p:nvSpPr>
        <p:spPr>
          <a:xfrm>
            <a:off x="7766528" y="6041054"/>
            <a:ext cx="2754945" cy="0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75" name="AutoShape 75"/>
          <p:cNvSpPr/>
          <p:nvPr/>
        </p:nvSpPr>
        <p:spPr>
          <a:xfrm>
            <a:off x="7766528" y="8094728"/>
            <a:ext cx="2754945" cy="0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76" name="Group 76"/>
          <p:cNvGrpSpPr/>
          <p:nvPr/>
        </p:nvGrpSpPr>
        <p:grpSpPr>
          <a:xfrm>
            <a:off x="7657357" y="3878209"/>
            <a:ext cx="218342" cy="218342"/>
            <a:chOff x="0" y="0"/>
            <a:chExt cx="812800" cy="8128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0412301" y="3878209"/>
            <a:ext cx="218342" cy="218342"/>
            <a:chOff x="0" y="0"/>
            <a:chExt cx="812800" cy="812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7657357" y="5931883"/>
            <a:ext cx="218342" cy="218342"/>
            <a:chOff x="0" y="0"/>
            <a:chExt cx="812800" cy="8128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0412301" y="5931883"/>
            <a:ext cx="218342" cy="218342"/>
            <a:chOff x="0" y="0"/>
            <a:chExt cx="812800" cy="812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7657357" y="7985557"/>
            <a:ext cx="218342" cy="218342"/>
            <a:chOff x="0" y="0"/>
            <a:chExt cx="812800" cy="8128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0412301" y="7985557"/>
            <a:ext cx="218342" cy="218342"/>
            <a:chOff x="0" y="0"/>
            <a:chExt cx="812800" cy="8128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4" name="AutoShape 94"/>
          <p:cNvSpPr/>
          <p:nvPr/>
        </p:nvSpPr>
        <p:spPr>
          <a:xfrm>
            <a:off x="9144000" y="4001667"/>
            <a:ext cx="0" cy="6555277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940842" y="508149"/>
            <a:ext cx="9784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4385046" y="508149"/>
            <a:ext cx="1060497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3154289" y="508149"/>
            <a:ext cx="735456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1898530" y="508149"/>
            <a:ext cx="8097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grpSp>
        <p:nvGrpSpPr>
          <p:cNvPr id="12" name="Group 12"/>
          <p:cNvGrpSpPr/>
          <p:nvPr/>
        </p:nvGrpSpPr>
        <p:grpSpPr>
          <a:xfrm>
            <a:off x="12003983" y="2453514"/>
            <a:ext cx="4203560" cy="1272624"/>
            <a:chOff x="0" y="0"/>
            <a:chExt cx="860407" cy="2604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60407" cy="260488"/>
            </a:xfrm>
            <a:custGeom>
              <a:avLst/>
              <a:gdLst/>
              <a:ahLst/>
              <a:cxnLst/>
              <a:rect l="l" t="t" r="r" b="b"/>
              <a:pathLst>
                <a:path w="860407" h="260488">
                  <a:moveTo>
                    <a:pt x="130244" y="0"/>
                  </a:moveTo>
                  <a:lnTo>
                    <a:pt x="730163" y="0"/>
                  </a:lnTo>
                  <a:cubicBezTo>
                    <a:pt x="802095" y="0"/>
                    <a:pt x="860407" y="58312"/>
                    <a:pt x="860407" y="130244"/>
                  </a:cubicBezTo>
                  <a:lnTo>
                    <a:pt x="860407" y="130244"/>
                  </a:lnTo>
                  <a:cubicBezTo>
                    <a:pt x="860407" y="164787"/>
                    <a:pt x="846685" y="197915"/>
                    <a:pt x="822260" y="222340"/>
                  </a:cubicBezTo>
                  <a:cubicBezTo>
                    <a:pt x="797834" y="246766"/>
                    <a:pt x="764706" y="260488"/>
                    <a:pt x="730163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60407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2177025" y="2609878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6" name="Group 16"/>
          <p:cNvGrpSpPr/>
          <p:nvPr/>
        </p:nvGrpSpPr>
        <p:grpSpPr>
          <a:xfrm>
            <a:off x="12153087" y="2568841"/>
            <a:ext cx="1011607" cy="101160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600856" y="2863015"/>
            <a:ext cx="2606686" cy="44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14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Real attack records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88367" y="2842029"/>
            <a:ext cx="741046" cy="39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270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03983" y="4507188"/>
            <a:ext cx="4203560" cy="1272624"/>
            <a:chOff x="0" y="0"/>
            <a:chExt cx="860407" cy="2604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60407" cy="260488"/>
            </a:xfrm>
            <a:custGeom>
              <a:avLst/>
              <a:gdLst/>
              <a:ahLst/>
              <a:cxnLst/>
              <a:rect l="l" t="t" r="r" b="b"/>
              <a:pathLst>
                <a:path w="860407" h="260488">
                  <a:moveTo>
                    <a:pt x="130244" y="0"/>
                  </a:moveTo>
                  <a:lnTo>
                    <a:pt x="730163" y="0"/>
                  </a:lnTo>
                  <a:cubicBezTo>
                    <a:pt x="802095" y="0"/>
                    <a:pt x="860407" y="58312"/>
                    <a:pt x="860407" y="130244"/>
                  </a:cubicBezTo>
                  <a:lnTo>
                    <a:pt x="860407" y="130244"/>
                  </a:lnTo>
                  <a:cubicBezTo>
                    <a:pt x="860407" y="164787"/>
                    <a:pt x="846685" y="197915"/>
                    <a:pt x="822260" y="222340"/>
                  </a:cubicBezTo>
                  <a:cubicBezTo>
                    <a:pt x="797834" y="246766"/>
                    <a:pt x="764706" y="260488"/>
                    <a:pt x="730163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60407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2177025" y="4663552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25" name="Group 25"/>
          <p:cNvGrpSpPr/>
          <p:nvPr/>
        </p:nvGrpSpPr>
        <p:grpSpPr>
          <a:xfrm>
            <a:off x="12153087" y="4622515"/>
            <a:ext cx="1011607" cy="1011607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3600856" y="4916689"/>
            <a:ext cx="2606686" cy="44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14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Avg report time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88367" y="4895703"/>
            <a:ext cx="741046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800" b="1" dirty="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90 sec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2003983" y="6560862"/>
            <a:ext cx="4203560" cy="1272624"/>
            <a:chOff x="0" y="0"/>
            <a:chExt cx="860407" cy="26048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60407" cy="260488"/>
            </a:xfrm>
            <a:custGeom>
              <a:avLst/>
              <a:gdLst/>
              <a:ahLst/>
              <a:cxnLst/>
              <a:rect l="l" t="t" r="r" b="b"/>
              <a:pathLst>
                <a:path w="860407" h="260488">
                  <a:moveTo>
                    <a:pt x="130244" y="0"/>
                  </a:moveTo>
                  <a:lnTo>
                    <a:pt x="730163" y="0"/>
                  </a:lnTo>
                  <a:cubicBezTo>
                    <a:pt x="802095" y="0"/>
                    <a:pt x="860407" y="58312"/>
                    <a:pt x="860407" y="130244"/>
                  </a:cubicBezTo>
                  <a:lnTo>
                    <a:pt x="860407" y="130244"/>
                  </a:lnTo>
                  <a:cubicBezTo>
                    <a:pt x="860407" y="164787"/>
                    <a:pt x="846685" y="197915"/>
                    <a:pt x="822260" y="222340"/>
                  </a:cubicBezTo>
                  <a:cubicBezTo>
                    <a:pt x="797834" y="246766"/>
                    <a:pt x="764706" y="260488"/>
                    <a:pt x="730163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60407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12177025" y="6717226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4" name="Group 34"/>
          <p:cNvGrpSpPr/>
          <p:nvPr/>
        </p:nvGrpSpPr>
        <p:grpSpPr>
          <a:xfrm>
            <a:off x="12153087" y="6676190"/>
            <a:ext cx="1011607" cy="1011607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3600856" y="6970363"/>
            <a:ext cx="2606686" cy="44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14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Behavioral archetypes — MITRE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288367" y="6949377"/>
            <a:ext cx="741046" cy="39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39" name="AutoShape 39"/>
          <p:cNvSpPr/>
          <p:nvPr/>
        </p:nvSpPr>
        <p:spPr>
          <a:xfrm>
            <a:off x="8842984" y="3089826"/>
            <a:ext cx="2754945" cy="0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8842984" y="5143500"/>
            <a:ext cx="2754945" cy="0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8842984" y="7197174"/>
            <a:ext cx="2754945" cy="0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2" name="Group 42"/>
          <p:cNvGrpSpPr/>
          <p:nvPr/>
        </p:nvGrpSpPr>
        <p:grpSpPr>
          <a:xfrm>
            <a:off x="11488758" y="2980655"/>
            <a:ext cx="218342" cy="218342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488758" y="5034329"/>
            <a:ext cx="218342" cy="218342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488758" y="7088003"/>
            <a:ext cx="218342" cy="218342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-5028295" y="-2149242"/>
            <a:ext cx="14585483" cy="14585483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4" name="Freeform 54"/>
          <p:cNvSpPr/>
          <p:nvPr/>
        </p:nvSpPr>
        <p:spPr>
          <a:xfrm>
            <a:off x="-3616796" y="-529054"/>
            <a:ext cx="12531371" cy="12515707"/>
          </a:xfrm>
          <a:custGeom>
            <a:avLst/>
            <a:gdLst/>
            <a:ahLst/>
            <a:cxnLst/>
            <a:rect l="l" t="t" r="r" b="b"/>
            <a:pathLst>
              <a:path w="12531371" h="12515707">
                <a:moveTo>
                  <a:pt x="0" y="0"/>
                </a:moveTo>
                <a:lnTo>
                  <a:pt x="12531370" y="0"/>
                </a:lnTo>
                <a:lnTo>
                  <a:pt x="12531370" y="12515706"/>
                </a:lnTo>
                <a:lnTo>
                  <a:pt x="0" y="12515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55" name="Group 55"/>
          <p:cNvGrpSpPr/>
          <p:nvPr/>
        </p:nvGrpSpPr>
        <p:grpSpPr>
          <a:xfrm>
            <a:off x="-3908961" y="-1029908"/>
            <a:ext cx="12346817" cy="12346817"/>
            <a:chOff x="0" y="0"/>
            <a:chExt cx="812800" cy="812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011679" y="508149"/>
            <a:ext cx="1633768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Behavrix</a:t>
            </a:r>
          </a:p>
        </p:txBody>
      </p:sp>
      <p:sp>
        <p:nvSpPr>
          <p:cNvPr id="59" name="Freeform 59"/>
          <p:cNvSpPr/>
          <p:nvPr/>
        </p:nvSpPr>
        <p:spPr>
          <a:xfrm>
            <a:off x="535713" y="414823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60" name="Group 60"/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64" name="Freeform 64"/>
          <p:cNvSpPr/>
          <p:nvPr/>
        </p:nvSpPr>
        <p:spPr>
          <a:xfrm>
            <a:off x="3509892" y="3313366"/>
            <a:ext cx="1138768" cy="1138768"/>
          </a:xfrm>
          <a:custGeom>
            <a:avLst/>
            <a:gdLst/>
            <a:ahLst/>
            <a:cxnLst/>
            <a:rect l="l" t="t" r="r" b="b"/>
            <a:pathLst>
              <a:path w="1138768" h="1138768">
                <a:moveTo>
                  <a:pt x="0" y="0"/>
                </a:moveTo>
                <a:lnTo>
                  <a:pt x="1138768" y="0"/>
                </a:lnTo>
                <a:lnTo>
                  <a:pt x="1138768" y="1138768"/>
                </a:lnTo>
                <a:lnTo>
                  <a:pt x="0" y="11387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5" name="TextBox 65"/>
          <p:cNvSpPr txBox="1"/>
          <p:nvPr/>
        </p:nvSpPr>
        <p:spPr>
          <a:xfrm>
            <a:off x="2104788" y="4621483"/>
            <a:ext cx="3948976" cy="2417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</a:pPr>
            <a:r>
              <a:rPr lang="en-US" sz="456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The Magic,</a:t>
            </a:r>
          </a:p>
          <a:p>
            <a:pPr algn="ctr">
              <a:lnSpc>
                <a:spcPts val="6385"/>
              </a:lnSpc>
            </a:pPr>
            <a:r>
              <a:rPr lang="en-US" sz="456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Simplified</a:t>
            </a:r>
          </a:p>
          <a:p>
            <a:pPr algn="ctr">
              <a:lnSpc>
                <a:spcPts val="6385"/>
              </a:lnSpc>
              <a:spcBef>
                <a:spcPct val="0"/>
              </a:spcBef>
            </a:pPr>
            <a:endParaRPr lang="en-US" sz="4560" b="1">
              <a:solidFill>
                <a:srgbClr val="1F20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3982363"/>
            <a:ext cx="13240663" cy="1324066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425354" y="-2511561"/>
            <a:ext cx="11375945" cy="11361725"/>
          </a:xfrm>
          <a:custGeom>
            <a:avLst/>
            <a:gdLst/>
            <a:ahLst/>
            <a:cxnLst/>
            <a:rect l="l" t="t" r="r" b="b"/>
            <a:pathLst>
              <a:path w="11375945" h="11361725">
                <a:moveTo>
                  <a:pt x="0" y="0"/>
                </a:moveTo>
                <a:lnTo>
                  <a:pt x="11375946" y="0"/>
                </a:lnTo>
                <a:lnTo>
                  <a:pt x="11375946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10160128" y="-2966235"/>
            <a:ext cx="11208407" cy="1120840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535713" y="414823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6" name="Group 16"/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481096" y="3946086"/>
            <a:ext cx="3948976" cy="1617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</a:pPr>
            <a:r>
              <a:rPr lang="en-US" sz="456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</a:t>
            </a:r>
          </a:p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Model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828563" y="2023242"/>
            <a:ext cx="5139841" cy="2819922"/>
            <a:chOff x="0" y="0"/>
            <a:chExt cx="1052050" cy="5771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2427347" y="2556692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24" name="Group 24"/>
          <p:cNvGrpSpPr/>
          <p:nvPr/>
        </p:nvGrpSpPr>
        <p:grpSpPr>
          <a:xfrm>
            <a:off x="2403409" y="2515656"/>
            <a:ext cx="1011607" cy="1011607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28563" y="5443836"/>
            <a:ext cx="5139841" cy="2819922"/>
            <a:chOff x="0" y="0"/>
            <a:chExt cx="1052050" cy="57719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2427347" y="5977286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1" name="Group 31"/>
          <p:cNvGrpSpPr/>
          <p:nvPr/>
        </p:nvGrpSpPr>
        <p:grpSpPr>
          <a:xfrm>
            <a:off x="2403409" y="5936250"/>
            <a:ext cx="1011607" cy="101160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90208" y="5443836"/>
            <a:ext cx="5139841" cy="2819922"/>
            <a:chOff x="0" y="0"/>
            <a:chExt cx="1052050" cy="57719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>
            <a:off x="8188991" y="5977286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9" y="0"/>
                </a:lnTo>
                <a:lnTo>
                  <a:pt x="1026729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8" name="Group 38"/>
          <p:cNvGrpSpPr/>
          <p:nvPr/>
        </p:nvGrpSpPr>
        <p:grpSpPr>
          <a:xfrm>
            <a:off x="8165054" y="5936250"/>
            <a:ext cx="1011607" cy="1011607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Freeform 41"/>
          <p:cNvSpPr/>
          <p:nvPr/>
        </p:nvSpPr>
        <p:spPr>
          <a:xfrm>
            <a:off x="2721737" y="2875931"/>
            <a:ext cx="374951" cy="291056"/>
          </a:xfrm>
          <a:custGeom>
            <a:avLst/>
            <a:gdLst/>
            <a:ahLst/>
            <a:cxnLst/>
            <a:rect l="l" t="t" r="r" b="b"/>
            <a:pathLst>
              <a:path w="374951" h="291056">
                <a:moveTo>
                  <a:pt x="0" y="0"/>
                </a:moveTo>
                <a:lnTo>
                  <a:pt x="374951" y="0"/>
                </a:lnTo>
                <a:lnTo>
                  <a:pt x="374951" y="291056"/>
                </a:lnTo>
                <a:lnTo>
                  <a:pt x="0" y="291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8467690" y="6244058"/>
            <a:ext cx="406334" cy="395991"/>
          </a:xfrm>
          <a:custGeom>
            <a:avLst/>
            <a:gdLst/>
            <a:ahLst/>
            <a:cxnLst/>
            <a:rect l="l" t="t" r="r" b="b"/>
            <a:pathLst>
              <a:path w="406334" h="395991">
                <a:moveTo>
                  <a:pt x="0" y="0"/>
                </a:moveTo>
                <a:lnTo>
                  <a:pt x="406334" y="0"/>
                </a:lnTo>
                <a:lnTo>
                  <a:pt x="406334" y="395991"/>
                </a:lnTo>
                <a:lnTo>
                  <a:pt x="0" y="3959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2731638" y="6262189"/>
            <a:ext cx="355150" cy="359728"/>
          </a:xfrm>
          <a:custGeom>
            <a:avLst/>
            <a:gdLst/>
            <a:ahLst/>
            <a:cxnLst/>
            <a:rect l="l" t="t" r="r" b="b"/>
            <a:pathLst>
              <a:path w="355150" h="359728">
                <a:moveTo>
                  <a:pt x="0" y="0"/>
                </a:moveTo>
                <a:lnTo>
                  <a:pt x="355149" y="0"/>
                </a:lnTo>
                <a:lnTo>
                  <a:pt x="355149" y="359728"/>
                </a:lnTo>
                <a:lnTo>
                  <a:pt x="0" y="35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13801947" y="2504924"/>
            <a:ext cx="1307274" cy="1324127"/>
          </a:xfrm>
          <a:custGeom>
            <a:avLst/>
            <a:gdLst/>
            <a:ahLst/>
            <a:cxnLst/>
            <a:rect l="l" t="t" r="r" b="b"/>
            <a:pathLst>
              <a:path w="1307274" h="1324127">
                <a:moveTo>
                  <a:pt x="0" y="0"/>
                </a:moveTo>
                <a:lnTo>
                  <a:pt x="1307275" y="0"/>
                </a:lnTo>
                <a:lnTo>
                  <a:pt x="1307275" y="1324127"/>
                </a:lnTo>
                <a:lnTo>
                  <a:pt x="0" y="13241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15940842" y="508149"/>
            <a:ext cx="9784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46" name="TextBox 46"/>
          <p:cNvSpPr txBox="1"/>
          <p:nvPr/>
        </p:nvSpPr>
        <p:spPr>
          <a:xfrm>
            <a:off x="14385046" y="508149"/>
            <a:ext cx="1060497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11898530" y="508149"/>
            <a:ext cx="8097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49" name="TextBox 49"/>
          <p:cNvSpPr txBox="1"/>
          <p:nvPr/>
        </p:nvSpPr>
        <p:spPr>
          <a:xfrm>
            <a:off x="1011679" y="508149"/>
            <a:ext cx="1633768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Behavrix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851178" y="2480492"/>
            <a:ext cx="2063297" cy="44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Pay Per Report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825869" y="3435443"/>
            <a:ext cx="2363995" cy="104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dirty="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Solo analysts. $0.50 per report. No commitment. On-demand human risk reports for vendor assessments.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851178" y="5901086"/>
            <a:ext cx="2063297" cy="44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Team Subscription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851178" y="6853019"/>
            <a:ext cx="2363995" cy="104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dirty="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Security teams. $299 per month. Unlimited reports across all 10 organization types.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612823" y="5901086"/>
            <a:ext cx="2046094" cy="44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Enterprise API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612823" y="6810477"/>
            <a:ext cx="2363995" cy="104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GRC platforms. $2,000 per month. White-label API plus custom personas for embedding.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940842" y="508149"/>
            <a:ext cx="9784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2702224" y="-6441776"/>
            <a:ext cx="12883553" cy="1288355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949019" y="-5010643"/>
            <a:ext cx="11069128" cy="11055291"/>
          </a:xfrm>
          <a:custGeom>
            <a:avLst/>
            <a:gdLst/>
            <a:ahLst/>
            <a:cxnLst/>
            <a:rect l="l" t="t" r="r" b="b"/>
            <a:pathLst>
              <a:path w="11069128" h="11055291">
                <a:moveTo>
                  <a:pt x="0" y="0"/>
                </a:moveTo>
                <a:lnTo>
                  <a:pt x="11069128" y="0"/>
                </a:lnTo>
                <a:lnTo>
                  <a:pt x="11069128" y="11055291"/>
                </a:lnTo>
                <a:lnTo>
                  <a:pt x="0" y="11055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>
            <a:off x="3690946" y="-5453054"/>
            <a:ext cx="10906108" cy="1090610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385046" y="508149"/>
            <a:ext cx="1060497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1898530" y="508149"/>
            <a:ext cx="8097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011679" y="508149"/>
            <a:ext cx="1633768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Behavrix</a:t>
            </a:r>
          </a:p>
        </p:txBody>
      </p:sp>
      <p:sp>
        <p:nvSpPr>
          <p:cNvPr id="20" name="Freeform 20"/>
          <p:cNvSpPr/>
          <p:nvPr/>
        </p:nvSpPr>
        <p:spPr>
          <a:xfrm>
            <a:off x="535713" y="414823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21" name="Group 21"/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52695" y="2879531"/>
            <a:ext cx="4582611" cy="1617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</a:pPr>
            <a:r>
              <a:rPr lang="en-US" sz="456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Go-to-Market</a:t>
            </a:r>
          </a:p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Strategy</a:t>
            </a:r>
          </a:p>
        </p:txBody>
      </p:sp>
      <p:sp>
        <p:nvSpPr>
          <p:cNvPr id="26" name="Freeform 26"/>
          <p:cNvSpPr/>
          <p:nvPr/>
        </p:nvSpPr>
        <p:spPr>
          <a:xfrm>
            <a:off x="8490363" y="1438369"/>
            <a:ext cx="1307274" cy="1324127"/>
          </a:xfrm>
          <a:custGeom>
            <a:avLst/>
            <a:gdLst/>
            <a:ahLst/>
            <a:cxnLst/>
            <a:rect l="l" t="t" r="r" b="b"/>
            <a:pathLst>
              <a:path w="1307274" h="1324127">
                <a:moveTo>
                  <a:pt x="0" y="0"/>
                </a:moveTo>
                <a:lnTo>
                  <a:pt x="1307274" y="0"/>
                </a:lnTo>
                <a:lnTo>
                  <a:pt x="1307274" y="1324127"/>
                </a:lnTo>
                <a:lnTo>
                  <a:pt x="0" y="13241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27" name="Group 27"/>
          <p:cNvGrpSpPr/>
          <p:nvPr/>
        </p:nvGrpSpPr>
        <p:grpSpPr>
          <a:xfrm>
            <a:off x="1001628" y="5648297"/>
            <a:ext cx="5139841" cy="2819922"/>
            <a:chOff x="0" y="0"/>
            <a:chExt cx="1052050" cy="57719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600412" y="6181746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1" name="Group 31"/>
          <p:cNvGrpSpPr/>
          <p:nvPr/>
        </p:nvGrpSpPr>
        <p:grpSpPr>
          <a:xfrm>
            <a:off x="1576474" y="6140710"/>
            <a:ext cx="1011607" cy="101160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3024244" y="6105546"/>
            <a:ext cx="2063297" cy="44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Direct Outreach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022115" y="6985696"/>
            <a:ext cx="2363995" cy="104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dirty="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Boston financial institutions via MA State Lottery co-op and NEU alumni at State Street. Goal: 10 paying customers in 90 days.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574080" y="6409107"/>
            <a:ext cx="5139841" cy="2819922"/>
            <a:chOff x="0" y="0"/>
            <a:chExt cx="1052050" cy="57719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7172864" y="6942556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0" name="Group 40"/>
          <p:cNvGrpSpPr/>
          <p:nvPr/>
        </p:nvGrpSpPr>
        <p:grpSpPr>
          <a:xfrm>
            <a:off x="7148926" y="6901520"/>
            <a:ext cx="1011607" cy="1011607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7477155" y="7227460"/>
            <a:ext cx="355150" cy="359728"/>
          </a:xfrm>
          <a:custGeom>
            <a:avLst/>
            <a:gdLst/>
            <a:ahLst/>
            <a:cxnLst/>
            <a:rect l="l" t="t" r="r" b="b"/>
            <a:pathLst>
              <a:path w="355150" h="359728">
                <a:moveTo>
                  <a:pt x="0" y="0"/>
                </a:moveTo>
                <a:lnTo>
                  <a:pt x="355149" y="0"/>
                </a:lnTo>
                <a:lnTo>
                  <a:pt x="355149" y="359728"/>
                </a:lnTo>
                <a:lnTo>
                  <a:pt x="0" y="35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8596695" y="6866356"/>
            <a:ext cx="2063297" cy="44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Consulting Partners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593957" y="7751545"/>
            <a:ext cx="2363995" cy="104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GRC consulting firms white-label </a:t>
            </a:r>
            <a:r>
              <a:rPr lang="en-US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Behavrix</a:t>
            </a: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They charge $25K — we enable it in 90 seconds. Goal: 3 partnerships in year 1.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2146531" y="5648297"/>
            <a:ext cx="5139841" cy="2819922"/>
            <a:chOff x="0" y="0"/>
            <a:chExt cx="1052050" cy="57719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9" name="Freeform 49"/>
          <p:cNvSpPr/>
          <p:nvPr/>
        </p:nvSpPr>
        <p:spPr>
          <a:xfrm>
            <a:off x="12745315" y="6181746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50" name="Group 50"/>
          <p:cNvGrpSpPr/>
          <p:nvPr/>
        </p:nvGrpSpPr>
        <p:grpSpPr>
          <a:xfrm>
            <a:off x="12721377" y="6140710"/>
            <a:ext cx="1011607" cy="1011607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4169147" y="6105546"/>
            <a:ext cx="2063297" cy="44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Community Growth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4165594" y="7017861"/>
            <a:ext cx="2363995" cy="104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dirty="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ISC2, ISACA, r/</a:t>
            </a:r>
            <a:r>
              <a:rPr lang="en-US" sz="1200" dirty="0" err="1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netsec</a:t>
            </a:r>
            <a:r>
              <a:rPr lang="en-US" sz="1200" dirty="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 communities. Free reports for practitioners. 20% conversion target. Goal: 100 users, 20 paying.</a:t>
            </a:r>
          </a:p>
        </p:txBody>
      </p:sp>
      <p:sp>
        <p:nvSpPr>
          <p:cNvPr id="55" name="Freeform 55"/>
          <p:cNvSpPr/>
          <p:nvPr/>
        </p:nvSpPr>
        <p:spPr>
          <a:xfrm>
            <a:off x="1894802" y="6500986"/>
            <a:ext cx="374951" cy="291056"/>
          </a:xfrm>
          <a:custGeom>
            <a:avLst/>
            <a:gdLst/>
            <a:ahLst/>
            <a:cxnLst/>
            <a:rect l="l" t="t" r="r" b="b"/>
            <a:pathLst>
              <a:path w="374951" h="291056">
                <a:moveTo>
                  <a:pt x="0" y="0"/>
                </a:moveTo>
                <a:lnTo>
                  <a:pt x="374952" y="0"/>
                </a:lnTo>
                <a:lnTo>
                  <a:pt x="374952" y="291056"/>
                </a:lnTo>
                <a:lnTo>
                  <a:pt x="0" y="291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6" name="Freeform 56"/>
          <p:cNvSpPr/>
          <p:nvPr/>
        </p:nvSpPr>
        <p:spPr>
          <a:xfrm>
            <a:off x="13024014" y="6448518"/>
            <a:ext cx="406334" cy="395991"/>
          </a:xfrm>
          <a:custGeom>
            <a:avLst/>
            <a:gdLst/>
            <a:ahLst/>
            <a:cxnLst/>
            <a:rect l="l" t="t" r="r" b="b"/>
            <a:pathLst>
              <a:path w="406334" h="395991">
                <a:moveTo>
                  <a:pt x="0" y="0"/>
                </a:moveTo>
                <a:lnTo>
                  <a:pt x="406334" y="0"/>
                </a:lnTo>
                <a:lnTo>
                  <a:pt x="406334" y="395991"/>
                </a:lnTo>
                <a:lnTo>
                  <a:pt x="0" y="3959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940842" y="508149"/>
            <a:ext cx="9784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4385046" y="508149"/>
            <a:ext cx="1060497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3154289" y="508149"/>
            <a:ext cx="735456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1898530" y="508149"/>
            <a:ext cx="8097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011679" y="508149"/>
            <a:ext cx="1633768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Behavrix</a:t>
            </a:r>
          </a:p>
        </p:txBody>
      </p:sp>
      <p:sp>
        <p:nvSpPr>
          <p:cNvPr id="13" name="Freeform 13"/>
          <p:cNvSpPr/>
          <p:nvPr/>
        </p:nvSpPr>
        <p:spPr>
          <a:xfrm>
            <a:off x="535713" y="414823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4" name="Group 14"/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01628" y="3633841"/>
            <a:ext cx="5139841" cy="2819922"/>
            <a:chOff x="0" y="0"/>
            <a:chExt cx="1052050" cy="5771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600412" y="4167291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22" name="Group 22"/>
          <p:cNvGrpSpPr/>
          <p:nvPr/>
        </p:nvGrpSpPr>
        <p:grpSpPr>
          <a:xfrm>
            <a:off x="1576474" y="4126254"/>
            <a:ext cx="1011607" cy="101160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024244" y="4091091"/>
            <a:ext cx="2063297" cy="44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KnowBe4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16119" y="5079711"/>
            <a:ext cx="2363995" cy="104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dirty="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Trains employees on phishing. No vendor risk reports. 25-seat minimum. $2.79-3.75/user/month.</a:t>
            </a:r>
          </a:p>
        </p:txBody>
      </p:sp>
      <p:sp>
        <p:nvSpPr>
          <p:cNvPr id="27" name="Freeform 27"/>
          <p:cNvSpPr/>
          <p:nvPr/>
        </p:nvSpPr>
        <p:spPr>
          <a:xfrm>
            <a:off x="1894802" y="4486530"/>
            <a:ext cx="374951" cy="291056"/>
          </a:xfrm>
          <a:custGeom>
            <a:avLst/>
            <a:gdLst/>
            <a:ahLst/>
            <a:cxnLst/>
            <a:rect l="l" t="t" r="r" b="b"/>
            <a:pathLst>
              <a:path w="374951" h="291056">
                <a:moveTo>
                  <a:pt x="0" y="0"/>
                </a:moveTo>
                <a:lnTo>
                  <a:pt x="374952" y="0"/>
                </a:lnTo>
                <a:lnTo>
                  <a:pt x="374952" y="291056"/>
                </a:lnTo>
                <a:lnTo>
                  <a:pt x="0" y="291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28" name="Group 28"/>
          <p:cNvGrpSpPr/>
          <p:nvPr/>
        </p:nvGrpSpPr>
        <p:grpSpPr>
          <a:xfrm>
            <a:off x="6574080" y="3633841"/>
            <a:ext cx="5139841" cy="2819922"/>
            <a:chOff x="0" y="0"/>
            <a:chExt cx="1052050" cy="57719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7172864" y="4167291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2" name="Group 32"/>
          <p:cNvGrpSpPr/>
          <p:nvPr/>
        </p:nvGrpSpPr>
        <p:grpSpPr>
          <a:xfrm>
            <a:off x="7148926" y="4126254"/>
            <a:ext cx="1011607" cy="1011607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8596695" y="4091091"/>
            <a:ext cx="2063297" cy="44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Prevalent TPRM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82873" y="5027612"/>
            <a:ext cx="2363995" cy="104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dirty="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Questionnaire-based compliance. Misses human behavior entirely. Enterprise contracts, weeks to implement.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2146531" y="3633841"/>
            <a:ext cx="5139841" cy="2819922"/>
            <a:chOff x="0" y="0"/>
            <a:chExt cx="1052050" cy="57719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12745315" y="4167291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1" name="Group 41"/>
          <p:cNvGrpSpPr/>
          <p:nvPr/>
        </p:nvGrpSpPr>
        <p:grpSpPr>
          <a:xfrm>
            <a:off x="12721377" y="4126254"/>
            <a:ext cx="1011607" cy="1011607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4169147" y="4091091"/>
            <a:ext cx="2063297" cy="44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Drata / Sprinto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181951" y="5043023"/>
            <a:ext cx="2363995" cy="104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dirty="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Compliance automation for SOC 2. No behavioral modeling. Built for auditors, not analysts.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096242" y="7185794"/>
            <a:ext cx="4950613" cy="1272624"/>
            <a:chOff x="0" y="0"/>
            <a:chExt cx="1013318" cy="26048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13318" cy="260488"/>
            </a:xfrm>
            <a:custGeom>
              <a:avLst/>
              <a:gdLst/>
              <a:ahLst/>
              <a:cxnLst/>
              <a:rect l="l" t="t" r="r" b="b"/>
              <a:pathLst>
                <a:path w="1013318" h="26048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9" name="Freeform 49"/>
          <p:cNvSpPr/>
          <p:nvPr/>
        </p:nvSpPr>
        <p:spPr>
          <a:xfrm>
            <a:off x="1269284" y="7342158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50" name="Group 50"/>
          <p:cNvGrpSpPr/>
          <p:nvPr/>
        </p:nvGrpSpPr>
        <p:grpSpPr>
          <a:xfrm>
            <a:off x="1245346" y="7301121"/>
            <a:ext cx="1011607" cy="1011607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2456211" y="7595295"/>
            <a:ext cx="3448990" cy="398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000" dirty="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No behavioral archetypes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80626" y="7574309"/>
            <a:ext cx="741046" cy="39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❌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6668693" y="7185794"/>
            <a:ext cx="4950613" cy="1272624"/>
            <a:chOff x="0" y="0"/>
            <a:chExt cx="1013318" cy="26048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013318" cy="260488"/>
            </a:xfrm>
            <a:custGeom>
              <a:avLst/>
              <a:gdLst/>
              <a:ahLst/>
              <a:cxnLst/>
              <a:rect l="l" t="t" r="r" b="b"/>
              <a:pathLst>
                <a:path w="1013318" h="26048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8" name="Freeform 58"/>
          <p:cNvSpPr/>
          <p:nvPr/>
        </p:nvSpPr>
        <p:spPr>
          <a:xfrm>
            <a:off x="6841735" y="7342158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9" y="0"/>
                </a:lnTo>
                <a:lnTo>
                  <a:pt x="1026729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59" name="Group 59"/>
          <p:cNvGrpSpPr/>
          <p:nvPr/>
        </p:nvGrpSpPr>
        <p:grpSpPr>
          <a:xfrm>
            <a:off x="6817797" y="7301121"/>
            <a:ext cx="1011607" cy="1011607"/>
            <a:chOff x="0" y="0"/>
            <a:chExt cx="812800" cy="812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8170317" y="7595295"/>
            <a:ext cx="3448990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000" dirty="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No MITRE mapping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953078" y="7574309"/>
            <a:ext cx="741046" cy="39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❌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2241145" y="7185794"/>
            <a:ext cx="4950613" cy="1272624"/>
            <a:chOff x="0" y="0"/>
            <a:chExt cx="1013318" cy="26048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13318" cy="260488"/>
            </a:xfrm>
            <a:custGeom>
              <a:avLst/>
              <a:gdLst/>
              <a:ahLst/>
              <a:cxnLst/>
              <a:rect l="l" t="t" r="r" b="b"/>
              <a:pathLst>
                <a:path w="1013318" h="26048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7" name="Freeform 67"/>
          <p:cNvSpPr/>
          <p:nvPr/>
        </p:nvSpPr>
        <p:spPr>
          <a:xfrm>
            <a:off x="12414187" y="7342158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68" name="Group 68"/>
          <p:cNvGrpSpPr/>
          <p:nvPr/>
        </p:nvGrpSpPr>
        <p:grpSpPr>
          <a:xfrm>
            <a:off x="12390249" y="7301121"/>
            <a:ext cx="1011607" cy="1011607"/>
            <a:chOff x="0" y="0"/>
            <a:chExt cx="812800" cy="8128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3650614" y="7622692"/>
            <a:ext cx="3448990" cy="398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Behavrix</a:t>
            </a:r>
            <a:r>
              <a:rPr lang="en-US" sz="2000" dirty="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wins all 6 factors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525529" y="7574309"/>
            <a:ext cx="741046" cy="39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✅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346047" y="1757104"/>
            <a:ext cx="7595905" cy="81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Competition</a:t>
            </a:r>
          </a:p>
        </p:txBody>
      </p:sp>
      <p:sp>
        <p:nvSpPr>
          <p:cNvPr id="74" name="Freeform 74"/>
          <p:cNvSpPr/>
          <p:nvPr/>
        </p:nvSpPr>
        <p:spPr>
          <a:xfrm>
            <a:off x="7477155" y="4452194"/>
            <a:ext cx="355150" cy="359728"/>
          </a:xfrm>
          <a:custGeom>
            <a:avLst/>
            <a:gdLst/>
            <a:ahLst/>
            <a:cxnLst/>
            <a:rect l="l" t="t" r="r" b="b"/>
            <a:pathLst>
              <a:path w="355150" h="359728">
                <a:moveTo>
                  <a:pt x="0" y="0"/>
                </a:moveTo>
                <a:lnTo>
                  <a:pt x="355149" y="0"/>
                </a:lnTo>
                <a:lnTo>
                  <a:pt x="355149" y="359728"/>
                </a:lnTo>
                <a:lnTo>
                  <a:pt x="0" y="35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5" name="Freeform 75"/>
          <p:cNvSpPr/>
          <p:nvPr/>
        </p:nvSpPr>
        <p:spPr>
          <a:xfrm>
            <a:off x="13024014" y="4434063"/>
            <a:ext cx="406334" cy="395991"/>
          </a:xfrm>
          <a:custGeom>
            <a:avLst/>
            <a:gdLst/>
            <a:ahLst/>
            <a:cxnLst/>
            <a:rect l="l" t="t" r="r" b="b"/>
            <a:pathLst>
              <a:path w="406334" h="395991">
                <a:moveTo>
                  <a:pt x="0" y="0"/>
                </a:moveTo>
                <a:lnTo>
                  <a:pt x="406334" y="0"/>
                </a:lnTo>
                <a:lnTo>
                  <a:pt x="406334" y="395990"/>
                </a:lnTo>
                <a:lnTo>
                  <a:pt x="0" y="3959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15940842" y="508149"/>
            <a:ext cx="9784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4385046" y="508149"/>
            <a:ext cx="1060497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3154289" y="508149"/>
            <a:ext cx="735456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1898530" y="508149"/>
            <a:ext cx="8097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011679" y="508149"/>
            <a:ext cx="1633768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Behavrix</a:t>
            </a:r>
          </a:p>
        </p:txBody>
      </p:sp>
      <p:sp>
        <p:nvSpPr>
          <p:cNvPr id="13" name="Freeform 13"/>
          <p:cNvSpPr/>
          <p:nvPr/>
        </p:nvSpPr>
        <p:spPr>
          <a:xfrm>
            <a:off x="535713" y="414823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48518" y="1028700"/>
            <a:ext cx="6248637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85"/>
              </a:lnSpc>
              <a:spcBef>
                <a:spcPct val="0"/>
              </a:spcBef>
            </a:pPr>
            <a:r>
              <a:rPr lang="en-US" sz="4560" b="1" dirty="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Development Plan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28563" y="7444857"/>
            <a:ext cx="1661508" cy="220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6"/>
              </a:lnSpc>
              <a:spcBef>
                <a:spcPct val="0"/>
              </a:spcBef>
            </a:pPr>
            <a:r>
              <a:rPr lang="en-US" sz="121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behavrix.ai</a:t>
            </a:r>
          </a:p>
        </p:txBody>
      </p:sp>
      <p:pic>
        <p:nvPicPr>
          <p:cNvPr id="3" name="Picture 2" descr="The image illustrates a timeline for a software development project, highlighting key milestones such as vendor verification, API launches, data refreshes, and user testing, with an emphasis on reaching a $25K MRR target.&#10;&#10;AI-generated content may be incorrect.">
            <a:extLst>
              <a:ext uri="{FF2B5EF4-FFF2-40B4-BE49-F238E27FC236}">
                <a16:creationId xmlns:a16="http://schemas.microsoft.com/office/drawing/2014/main" id="{42E2701D-9A54-D4BA-F448-08248FFEF3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9" b="1"/>
          <a:stretch>
            <a:fillRect/>
          </a:stretch>
        </p:blipFill>
        <p:spPr>
          <a:xfrm>
            <a:off x="1978386" y="3009900"/>
            <a:ext cx="14788902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940842" y="508149"/>
            <a:ext cx="9784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4385046" y="508149"/>
            <a:ext cx="1060497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3154289" y="508149"/>
            <a:ext cx="735456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1898530" y="508149"/>
            <a:ext cx="8097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011679" y="508149"/>
            <a:ext cx="1633768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Behavrix</a:t>
            </a:r>
          </a:p>
        </p:txBody>
      </p:sp>
      <p:sp>
        <p:nvSpPr>
          <p:cNvPr id="13" name="Freeform 13"/>
          <p:cNvSpPr/>
          <p:nvPr/>
        </p:nvSpPr>
        <p:spPr>
          <a:xfrm>
            <a:off x="535713" y="414823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4" name="Group 14"/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09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914" y="1853281"/>
            <a:ext cx="2575793" cy="2575793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828563" y="4418634"/>
            <a:ext cx="2146494" cy="36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sz="2050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Records analyzed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914" y="5290507"/>
            <a:ext cx="2575793" cy="2575793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828563" y="7855860"/>
            <a:ext cx="2146494" cy="36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sz="2050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Industries covered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8575" y="1853281"/>
            <a:ext cx="2575793" cy="2575793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4593224" y="4418634"/>
            <a:ext cx="2146494" cy="36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sz="2050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Report time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8575" y="5290507"/>
            <a:ext cx="2575793" cy="2575793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4593224" y="7855860"/>
            <a:ext cx="2146494" cy="36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sz="2050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User tests passed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4194" y="1853281"/>
            <a:ext cx="2575793" cy="2575793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7358843" y="4418634"/>
            <a:ext cx="2146494" cy="36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sz="2050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Cost per run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4194" y="5290507"/>
            <a:ext cx="2575793" cy="2575793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7358843" y="7855860"/>
            <a:ext cx="2146494" cy="36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sz="2050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App is live now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07396" y="2200721"/>
            <a:ext cx="4970804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85"/>
              </a:lnSpc>
              <a:spcBef>
                <a:spcPct val="0"/>
              </a:spcBef>
            </a:pPr>
            <a:r>
              <a:rPr lang="en-US" sz="4560" b="1" dirty="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Proof of Concept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704861" y="8012475"/>
            <a:ext cx="6250003" cy="206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dirty="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Sample output — Financial Institution: Human Risk Score 82/100 High Risk. </a:t>
            </a:r>
          </a:p>
        </p:txBody>
      </p:sp>
      <p:pic>
        <p:nvPicPr>
          <p:cNvPr id="34" name="Picture 33" descr="The image displays a Human Risk Report Generator interface for a Financial Institution, with a high risk score of 82/100, indicating elevated human vulnerability based on behavioral pattern analysis of 270 real cybersecurity records.&#10;&#10;AI-generated content may be incorrect.">
            <a:extLst>
              <a:ext uri="{FF2B5EF4-FFF2-40B4-BE49-F238E27FC236}">
                <a16:creationId xmlns:a16="http://schemas.microsoft.com/office/drawing/2014/main" id="{BCB6347A-44A5-EFC3-B54E-EA9F6320499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4458" y="3141177"/>
            <a:ext cx="6705600" cy="46403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940842" y="508149"/>
            <a:ext cx="9784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4385046" y="508149"/>
            <a:ext cx="1060497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3154289" y="508149"/>
            <a:ext cx="735456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1898530" y="508149"/>
            <a:ext cx="809760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011679" y="508149"/>
            <a:ext cx="1633768" cy="2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Behavrix</a:t>
            </a:r>
          </a:p>
        </p:txBody>
      </p:sp>
      <p:sp>
        <p:nvSpPr>
          <p:cNvPr id="13" name="Freeform 13"/>
          <p:cNvSpPr/>
          <p:nvPr/>
        </p:nvSpPr>
        <p:spPr>
          <a:xfrm>
            <a:off x="535713" y="414823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4" name="Group 14"/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292826" y="1028700"/>
            <a:ext cx="13648016" cy="1364801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3613602" y="2544752"/>
            <a:ext cx="11725929" cy="11711272"/>
          </a:xfrm>
          <a:custGeom>
            <a:avLst/>
            <a:gdLst/>
            <a:ahLst/>
            <a:cxnLst/>
            <a:rect l="l" t="t" r="r" b="b"/>
            <a:pathLst>
              <a:path w="11725929" h="11711272">
                <a:moveTo>
                  <a:pt x="0" y="0"/>
                </a:moveTo>
                <a:lnTo>
                  <a:pt x="11725930" y="0"/>
                </a:lnTo>
                <a:lnTo>
                  <a:pt x="11725930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22" name="Group 22"/>
          <p:cNvGrpSpPr/>
          <p:nvPr/>
        </p:nvGrpSpPr>
        <p:grpSpPr>
          <a:xfrm>
            <a:off x="3321144" y="2073052"/>
            <a:ext cx="11553237" cy="1155323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449114" y="6435106"/>
            <a:ext cx="1658466" cy="1656393"/>
          </a:xfrm>
          <a:custGeom>
            <a:avLst/>
            <a:gdLst/>
            <a:ahLst/>
            <a:cxnLst/>
            <a:rect l="l" t="t" r="r" b="b"/>
            <a:pathLst>
              <a:path w="1658466" h="1656393">
                <a:moveTo>
                  <a:pt x="0" y="0"/>
                </a:moveTo>
                <a:lnTo>
                  <a:pt x="1658466" y="0"/>
                </a:lnTo>
                <a:lnTo>
                  <a:pt x="1658466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26" name="Group 26"/>
          <p:cNvGrpSpPr/>
          <p:nvPr/>
        </p:nvGrpSpPr>
        <p:grpSpPr>
          <a:xfrm>
            <a:off x="1410448" y="6368821"/>
            <a:ext cx="1634041" cy="1634041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 flipH="1">
            <a:off x="2059083" y="6934100"/>
            <a:ext cx="336771" cy="503483"/>
          </a:xfrm>
          <a:custGeom>
            <a:avLst/>
            <a:gdLst/>
            <a:ahLst/>
            <a:cxnLst/>
            <a:rect l="l" t="t" r="r" b="b"/>
            <a:pathLst>
              <a:path w="336771" h="503483">
                <a:moveTo>
                  <a:pt x="336770" y="0"/>
                </a:moveTo>
                <a:lnTo>
                  <a:pt x="0" y="0"/>
                </a:lnTo>
                <a:lnTo>
                  <a:pt x="0" y="503483"/>
                </a:lnTo>
                <a:lnTo>
                  <a:pt x="336770" y="503483"/>
                </a:lnTo>
                <a:lnTo>
                  <a:pt x="33677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15164756" y="6435106"/>
            <a:ext cx="1658466" cy="1656393"/>
          </a:xfrm>
          <a:custGeom>
            <a:avLst/>
            <a:gdLst/>
            <a:ahLst/>
            <a:cxnLst/>
            <a:rect l="l" t="t" r="r" b="b"/>
            <a:pathLst>
              <a:path w="1658466" h="1656393">
                <a:moveTo>
                  <a:pt x="0" y="0"/>
                </a:moveTo>
                <a:lnTo>
                  <a:pt x="1658465" y="0"/>
                </a:lnTo>
                <a:lnTo>
                  <a:pt x="1658465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1" name="Group 31"/>
          <p:cNvGrpSpPr/>
          <p:nvPr/>
        </p:nvGrpSpPr>
        <p:grpSpPr>
          <a:xfrm>
            <a:off x="15126089" y="6368821"/>
            <a:ext cx="1634041" cy="163404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5774724" y="6934100"/>
            <a:ext cx="336771" cy="503483"/>
          </a:xfrm>
          <a:custGeom>
            <a:avLst/>
            <a:gdLst/>
            <a:ahLst/>
            <a:cxnLst/>
            <a:rect l="l" t="t" r="r" b="b"/>
            <a:pathLst>
              <a:path w="336771" h="503483">
                <a:moveTo>
                  <a:pt x="0" y="0"/>
                </a:moveTo>
                <a:lnTo>
                  <a:pt x="336771" y="0"/>
                </a:lnTo>
                <a:lnTo>
                  <a:pt x="336771" y="503483"/>
                </a:lnTo>
                <a:lnTo>
                  <a:pt x="0" y="503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5980701" y="3475894"/>
            <a:ext cx="6322709" cy="320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0"/>
              </a:lnSpc>
            </a:pPr>
            <a:r>
              <a:rPr lang="en-US" sz="11602" b="1" dirty="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The</a:t>
            </a:r>
          </a:p>
          <a:p>
            <a:pPr algn="ctr">
              <a:lnSpc>
                <a:spcPts val="11950"/>
              </a:lnSpc>
            </a:pPr>
            <a:r>
              <a:rPr lang="en-US" sz="11602" b="1" dirty="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Ask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17156" y="6782672"/>
            <a:ext cx="6318820" cy="131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dirty="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$150,000 seed funding · 15% equity · Advisory board seat  |  $60K Engineering · $40K Data · $30K GTM · $20K Operations  |  90 days: 10 paying customers · 12 months: $25K MRR · 18 months: Enterprise API  |  The human risk gap is real. The product is live. </a:t>
            </a:r>
          </a:p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dirty="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Are you in?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90054" y="8343238"/>
            <a:ext cx="4453560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behavrix.ai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458</Words>
  <Application>Microsoft Office PowerPoint</Application>
  <PresentationFormat>Custom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Poppins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Modern Pitch Deck Presentation</dc:title>
  <cp:lastModifiedBy>satwika maddukuri</cp:lastModifiedBy>
  <cp:revision>3</cp:revision>
  <dcterms:created xsi:type="dcterms:W3CDTF">2006-08-16T00:00:00Z</dcterms:created>
  <dcterms:modified xsi:type="dcterms:W3CDTF">2026-07-11T01:08:57Z</dcterms:modified>
  <dc:identifier>DAHPA-3zTMs</dc:identifier>
</cp:coreProperties>
</file>