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703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live compliance tool called Sentinel GRC Ops. It's running right now — you can open it on your phone. Let me show you the problem it solves.
A bit of context on why I built this — this summer I'm also taking a Cybersecurity and Audit course, and while going through that material I kept thinking, a lot of this compliance work is repetitive and manual. And I realized that with AI we can make this process much quicker and more efficient. That's what led me to build Sentinel.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analysts get 20-30 new CISA security advisories every Monday. Each one needs to be read, triaged, and mapped to compliance frameworks like ISO 27001 or SOC 2. That's 2-3 hours of manual spreadsheet work — every single week.
The alternative is enterprise tools like ServiceNow — $50K a year, months to set up. Most small teams can't afford that.
So they're stuck doing it manually. That's the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does this in four steps. But first — CISA stands for the Cybersecurity and Infrastructure Security Agency. It's a US government body that publishes real-time advisories about active cybersecurity vulnerabilities and threats. Think of it as the official source of truth for what's being exploited right now.
So Sentinel pulls those live advisories automatically. Validates them. Sends each one to an AI that maps it to the right compliance controls — with severity and a recommended action. Outputs a briefing you can download.
2-3 hours becomes under 10 minutes. Free.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 we use AI to translate security language into compliance language automatically.
This works because Groq offers free-tier LLM inference plus CISA's feed is public. Zero dollars a month to run.
Think of it like Google's PageRank — PageRank automatically ranked billions of web pages by authority so you didn't have to manually sort them. Sentinel does the same thing for vulnerabilities — our AI automatically ranks and maps each one by compliance risk, so the analyst doesn't have to do it by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Freemium. Free gets analysts in — no signup needed.
Pro at $29 a month adds scheduled runs and email delivery. Team at $99 adds five seats and audit trail exports.
200 Pro users in year one is $70K ARR. GRC market is $2.3 billion.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 Reddit and LinkedIn GRC communities where analysts already hang out.
Month two — free weekly newsletter. We run the tool, send you the output, you convert when you want automation.
Month three onwards — direct LinkedIn outreach and ISACA chapter presentations.
5% conversion rate, under $15 customer acquisition cost.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competitors — none doing what we do.
ServiceNow — enterprise standard, $50K minimum, can't go free. Drata — good for audit evidence but no automatic AI-reasoned CISA mapping. Tines — routes alerts, not compliance reasoning.
The gap: nobody maps live CISA advisories to named controls using AI, for free, with zero setup. That's our position.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live today. Next quarter — scheduled runs and billing. After that — team accounts and API access. Longer term — enterprise features.
Goal right now is real users on the free tier.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tool actually looks like — running live right now on HuggingFace Spaces.
You can see the two inputs on the left, hit Run Analysis, and within seconds you get a full compliance briefing. Real CISA advisories, real AI analysis, real output you can download.
Three professionals have already tested it. It works. Go ahead and try it yourself — URL is on screen, no signup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6217920" y="274320"/>
            <a:ext cx="2743200" cy="2743200"/>
          </a:xfrm>
          <a:prstGeom prst="ellipse">
            <a:avLst/>
          </a:prstGeom>
          <a:solidFill>
            <a:srgbClr val="1D6FA4">
              <a:alpha val="30000"/>
            </a:srgbClr>
          </a:solidFill>
          <a:ln/>
        </p:spPr>
      </p:sp>
      <p:sp>
        <p:nvSpPr>
          <p:cNvPr id="3" name="Shape 1"/>
          <p:cNvSpPr/>
          <p:nvPr/>
        </p:nvSpPr>
        <p:spPr>
          <a:xfrm>
            <a:off x="6492240" y="548640"/>
            <a:ext cx="2194560" cy="2194560"/>
          </a:xfrm>
          <a:prstGeom prst="ellipse">
            <a:avLst/>
          </a:prstGeom>
          <a:solidFill>
            <a:srgbClr val="2196CC">
              <a:alpha val="50000"/>
            </a:srgbClr>
          </a:solidFill>
          <a:ln/>
        </p:spPr>
      </p:sp>
      <p:sp>
        <p:nvSpPr>
          <p:cNvPr id="4" name="Text 2"/>
          <p:cNvSpPr/>
          <p:nvPr/>
        </p:nvSpPr>
        <p:spPr>
          <a:xfrm>
            <a:off x="6766560" y="685800"/>
            <a:ext cx="1645920" cy="1645920"/>
          </a:xfrm>
          <a:prstGeom prst="rect">
            <a:avLst/>
          </a:prstGeom>
          <a:noFill/>
          <a:ln/>
        </p:spPr>
        <p:txBody>
          <a:bodyPr wrap="square" rtlCol="0" anchor="ctr"/>
          <a:lstStyle/>
          <a:p>
            <a:pPr marL="0" indent="0" algn="ctr">
              <a:buNone/>
            </a:pPr>
            <a:r>
              <a:rPr lang="en-US" sz="6400" dirty="0">
                <a:solidFill>
                  <a:srgbClr val="000000"/>
                </a:solidFill>
              </a:rPr>
              <a:t>🛡️</a:t>
            </a:r>
            <a:endParaRPr lang="en-US" sz="6400" dirty="0"/>
          </a:p>
        </p:txBody>
      </p:sp>
      <p:sp>
        <p:nvSpPr>
          <p:cNvPr id="5" name="Text 3"/>
          <p:cNvSpPr/>
          <p:nvPr/>
        </p:nvSpPr>
        <p:spPr>
          <a:xfrm>
            <a:off x="457200" y="1097280"/>
            <a:ext cx="5486400" cy="914400"/>
          </a:xfrm>
          <a:prstGeom prst="rect">
            <a:avLst/>
          </a:prstGeom>
          <a:noFill/>
          <a:ln/>
        </p:spPr>
        <p:txBody>
          <a:bodyPr wrap="square"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Sentinel GRC Ops</a:t>
            </a:r>
            <a:endParaRPr lang="en-US" sz="4200" dirty="0"/>
          </a:p>
        </p:txBody>
      </p:sp>
      <p:sp>
        <p:nvSpPr>
          <p:cNvPr id="6" name="Text 4"/>
          <p:cNvSpPr/>
          <p:nvPr/>
        </p:nvSpPr>
        <p:spPr>
          <a:xfrm>
            <a:off x="457200" y="2148840"/>
            <a:ext cx="5486400" cy="731520"/>
          </a:xfrm>
          <a:prstGeom prst="rect">
            <a:avLst/>
          </a:prstGeom>
          <a:noFill/>
          <a:ln/>
        </p:spPr>
        <p:txBody>
          <a:bodyPr wrap="square" rtlCol="0" anchor="ctr"/>
          <a:lstStyle/>
          <a:p>
            <a:pPr marL="0" indent="0">
              <a:buNone/>
            </a:pPr>
            <a:r>
              <a:rPr lang="en-US" sz="1600" i="1" dirty="0">
                <a:solidFill>
                  <a:srgbClr val="93C5FD"/>
                </a:solidFill>
                <a:latin typeface="Calibri" pitchFamily="34" charset="0"/>
                <a:ea typeface="Calibri" pitchFamily="34" charset="-122"/>
                <a:cs typeface="Calibri" pitchFamily="34" charset="-120"/>
              </a:rPr>
              <a:t>AI-Powered Compliance Intelligence</a:t>
            </a:r>
            <a:endParaRPr lang="en-US" sz="1600" dirty="0"/>
          </a:p>
          <a:p>
            <a:pPr marL="0" indent="0">
              <a:buNone/>
            </a:pPr>
            <a:r>
              <a:rPr lang="en-US" sz="1600" i="1" dirty="0">
                <a:solidFill>
                  <a:srgbClr val="93C5FD"/>
                </a:solidFill>
                <a:latin typeface="Calibri" pitchFamily="34" charset="0"/>
                <a:ea typeface="Calibri" pitchFamily="34" charset="-122"/>
                <a:cs typeface="Calibri" pitchFamily="34" charset="-120"/>
              </a:rPr>
              <a:t>for the Modern GRC Analysts</a:t>
            </a:r>
            <a:endParaRPr lang="en-US" sz="1600" dirty="0"/>
          </a:p>
        </p:txBody>
      </p:sp>
      <p:sp>
        <p:nvSpPr>
          <p:cNvPr id="7" name="Shape 5"/>
          <p:cNvSpPr/>
          <p:nvPr/>
        </p:nvSpPr>
        <p:spPr>
          <a:xfrm>
            <a:off x="457200" y="3017520"/>
            <a:ext cx="5029200" cy="27432"/>
          </a:xfrm>
          <a:prstGeom prst="rect">
            <a:avLst/>
          </a:prstGeom>
          <a:solidFill>
            <a:srgbClr val="2196CC"/>
          </a:solidFill>
          <a:ln/>
        </p:spPr>
      </p:sp>
      <p:sp>
        <p:nvSpPr>
          <p:cNvPr id="8" name="Text 6"/>
          <p:cNvSpPr/>
          <p:nvPr/>
        </p:nvSpPr>
        <p:spPr>
          <a:xfrm>
            <a:off x="457200" y="3200400"/>
            <a:ext cx="82296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Hammad Rana  ·  INFO 7375 — Branding &amp; AI  ·  Northeastern University</a:t>
            </a:r>
            <a:endParaRPr lang="en-US" sz="1100" dirty="0"/>
          </a:p>
        </p:txBody>
      </p:sp>
      <p:sp>
        <p:nvSpPr>
          <p:cNvPr id="9" name="Text 7"/>
          <p:cNvSpPr/>
          <p:nvPr/>
        </p:nvSpPr>
        <p:spPr>
          <a:xfrm>
            <a:off x="457200" y="3566160"/>
            <a:ext cx="8229600" cy="256032"/>
          </a:xfrm>
          <a:prstGeom prst="rect">
            <a:avLst/>
          </a:prstGeom>
          <a:noFill/>
          <a:ln/>
        </p:spPr>
        <p:txBody>
          <a:bodyPr wrap="square" rtlCol="0" anchor="ctr"/>
          <a:lstStyle/>
          <a:p>
            <a:pPr marL="0" indent="0">
              <a:buNone/>
            </a:pPr>
            <a:r>
              <a:rPr lang="en-US" sz="1000" dirty="0">
                <a:solidFill>
                  <a:srgbClr val="2196CC"/>
                </a:solidFill>
                <a:latin typeface="Calibri" pitchFamily="34" charset="0"/>
                <a:ea typeface="Calibri" pitchFamily="34" charset="-122"/>
                <a:cs typeface="Calibri" pitchFamily="34" charset="-120"/>
              </a:rPr>
              <a:t>huggingface.co/spaces/HammadRana1/sentinel-grc-ops</a:t>
            </a:r>
            <a:endParaRPr lang="en-US" sz="1000" dirty="0"/>
          </a:p>
        </p:txBody>
      </p:sp>
      <p:sp>
        <p:nvSpPr>
          <p:cNvPr id="10" name="Shape 8"/>
          <p:cNvSpPr/>
          <p:nvPr/>
        </p:nvSpPr>
        <p:spPr>
          <a:xfrm>
            <a:off x="457200" y="4114800"/>
            <a:ext cx="1280160" cy="292608"/>
          </a:xfrm>
          <a:prstGeom prst="roundRect">
            <a:avLst>
              <a:gd name="adj" fmla="val 18750"/>
            </a:avLst>
          </a:prstGeom>
          <a:solidFill>
            <a:srgbClr val="16A34A"/>
          </a:solidFill>
          <a:ln/>
        </p:spPr>
      </p:sp>
      <p:sp>
        <p:nvSpPr>
          <p:cNvPr id="11" name="Text 9"/>
          <p:cNvSpPr/>
          <p:nvPr/>
        </p:nvSpPr>
        <p:spPr>
          <a:xfrm>
            <a:off x="457200" y="411480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 LIVE MVP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THE PROBLEM</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0F2B4B"/>
                </a:solidFill>
                <a:latin typeface="Calibri" pitchFamily="34" charset="0"/>
                <a:ea typeface="Calibri" pitchFamily="34" charset="-122"/>
                <a:cs typeface="Calibri" pitchFamily="34" charset="-120"/>
              </a:rPr>
              <a:t>Every Monday Morning, GRC Analysts Face This:</a:t>
            </a:r>
            <a:endParaRPr lang="en-US" sz="2600" dirty="0"/>
          </a:p>
        </p:txBody>
      </p:sp>
      <p:sp>
        <p:nvSpPr>
          <p:cNvPr id="5" name="Shape 3"/>
          <p:cNvSpPr/>
          <p:nvPr/>
        </p:nvSpPr>
        <p:spPr>
          <a:xfrm>
            <a:off x="457200" y="1234440"/>
            <a:ext cx="2651760" cy="2560320"/>
          </a:xfrm>
          <a:prstGeom prst="roundRect">
            <a:avLst>
              <a:gd name="adj" fmla="val 4286"/>
            </a:avLst>
          </a:prstGeom>
          <a:solidFill>
            <a:srgbClr val="FFFFFF"/>
          </a:solidFill>
          <a:ln/>
          <a:effectLst>
            <a:outerShdw blurRad="101600" dist="38100" dir="2700000" algn="bl" rotWithShape="0">
              <a:srgbClr val="000000">
                <a:alpha val="12000"/>
              </a:srgbClr>
            </a:outerShdw>
          </a:effectLst>
        </p:spPr>
      </p:sp>
      <p:sp>
        <p:nvSpPr>
          <p:cNvPr id="6" name="Shape 4"/>
          <p:cNvSpPr/>
          <p:nvPr/>
        </p:nvSpPr>
        <p:spPr>
          <a:xfrm>
            <a:off x="1325880" y="1371600"/>
            <a:ext cx="868680" cy="868680"/>
          </a:xfrm>
          <a:prstGeom prst="ellipse">
            <a:avLst/>
          </a:prstGeom>
          <a:solidFill>
            <a:srgbClr val="DC2626"/>
          </a:solidFill>
          <a:ln/>
        </p:spPr>
      </p:sp>
      <p:sp>
        <p:nvSpPr>
          <p:cNvPr id="7" name="Text 5"/>
          <p:cNvSpPr/>
          <p:nvPr/>
        </p:nvSpPr>
        <p:spPr>
          <a:xfrm>
            <a:off x="1325880" y="13716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548640" y="2359152"/>
            <a:ext cx="2468880" cy="365760"/>
          </a:xfrm>
          <a:prstGeom prst="rect">
            <a:avLst/>
          </a:prstGeom>
          <a:noFill/>
          <a:ln/>
        </p:spPr>
        <p:txBody>
          <a:bodyPr wrap="square" rtlCol="0" anchor="ctr"/>
          <a:lstStyle/>
          <a:p>
            <a:pPr marL="0" indent="0" algn="ctr">
              <a:buNone/>
            </a:pPr>
            <a:r>
              <a:rPr lang="en-US" sz="1300" b="1" dirty="0">
                <a:solidFill>
                  <a:srgbClr val="0F2B4B"/>
                </a:solidFill>
                <a:latin typeface="Calibri" pitchFamily="34" charset="0"/>
                <a:ea typeface="Calibri" pitchFamily="34" charset="-122"/>
                <a:cs typeface="Calibri" pitchFamily="34" charset="-120"/>
              </a:rPr>
              <a:t>2–3 Hours Wasted</a:t>
            </a:r>
            <a:endParaRPr lang="en-US" sz="1300" dirty="0"/>
          </a:p>
        </p:txBody>
      </p:sp>
      <p:sp>
        <p:nvSpPr>
          <p:cNvPr id="9" name="Text 7"/>
          <p:cNvSpPr/>
          <p:nvPr/>
        </p:nvSpPr>
        <p:spPr>
          <a:xfrm>
            <a:off x="594360" y="2761488"/>
            <a:ext cx="2377440" cy="9144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Manual review of 20–30 weekly CISA advisories. Cross-referencing spreadsheets by hand.</a:t>
            </a:r>
            <a:endParaRPr lang="en-US" sz="1000" dirty="0"/>
          </a:p>
        </p:txBody>
      </p:sp>
      <p:sp>
        <p:nvSpPr>
          <p:cNvPr id="10" name="Shape 8"/>
          <p:cNvSpPr/>
          <p:nvPr/>
        </p:nvSpPr>
        <p:spPr>
          <a:xfrm>
            <a:off x="3291840" y="1234440"/>
            <a:ext cx="2651760" cy="2560320"/>
          </a:xfrm>
          <a:prstGeom prst="roundRect">
            <a:avLst>
              <a:gd name="adj" fmla="val 4286"/>
            </a:avLst>
          </a:prstGeom>
          <a:solidFill>
            <a:srgbClr val="FFFFFF"/>
          </a:solidFill>
          <a:ln/>
          <a:effectLst>
            <a:outerShdw blurRad="101600" dist="38100" dir="2700000" algn="bl" rotWithShape="0">
              <a:srgbClr val="000000">
                <a:alpha val="12000"/>
              </a:srgbClr>
            </a:outerShdw>
          </a:effectLst>
        </p:spPr>
      </p:sp>
      <p:sp>
        <p:nvSpPr>
          <p:cNvPr id="11" name="Shape 9"/>
          <p:cNvSpPr/>
          <p:nvPr/>
        </p:nvSpPr>
        <p:spPr>
          <a:xfrm>
            <a:off x="4160520" y="1371600"/>
            <a:ext cx="868680" cy="868680"/>
          </a:xfrm>
          <a:prstGeom prst="ellipse">
            <a:avLst/>
          </a:prstGeom>
          <a:solidFill>
            <a:srgbClr val="1D6FA4"/>
          </a:solidFill>
          <a:ln/>
        </p:spPr>
      </p:sp>
      <p:sp>
        <p:nvSpPr>
          <p:cNvPr id="12" name="Text 10"/>
          <p:cNvSpPr/>
          <p:nvPr/>
        </p:nvSpPr>
        <p:spPr>
          <a:xfrm>
            <a:off x="4160520" y="1371600"/>
            <a:ext cx="868680" cy="86868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3383280" y="2359152"/>
            <a:ext cx="2468880" cy="365760"/>
          </a:xfrm>
          <a:prstGeom prst="rect">
            <a:avLst/>
          </a:prstGeom>
          <a:noFill/>
          <a:ln/>
        </p:spPr>
        <p:txBody>
          <a:bodyPr wrap="square" rtlCol="0" anchor="ctr"/>
          <a:lstStyle/>
          <a:p>
            <a:pPr marL="0" indent="0" algn="ctr">
              <a:buNone/>
            </a:pPr>
            <a:r>
              <a:rPr lang="en-US" sz="1300" b="1" dirty="0">
                <a:solidFill>
                  <a:srgbClr val="0F2B4B"/>
                </a:solidFill>
                <a:latin typeface="Calibri" pitchFamily="34" charset="0"/>
                <a:ea typeface="Calibri" pitchFamily="34" charset="-122"/>
                <a:cs typeface="Calibri" pitchFamily="34" charset="-120"/>
              </a:rPr>
              <a:t>$20K–$200K/Year</a:t>
            </a:r>
            <a:endParaRPr lang="en-US" sz="1300" dirty="0"/>
          </a:p>
        </p:txBody>
      </p:sp>
      <p:sp>
        <p:nvSpPr>
          <p:cNvPr id="14" name="Text 12"/>
          <p:cNvSpPr/>
          <p:nvPr/>
        </p:nvSpPr>
        <p:spPr>
          <a:xfrm>
            <a:off x="3429000" y="2761488"/>
            <a:ext cx="2377440" cy="9144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Enterprise GRC platforms (ServiceNow, LogicGate) require huge budgets and IT teams to configure.</a:t>
            </a:r>
            <a:endParaRPr lang="en-US" sz="1000" dirty="0"/>
          </a:p>
        </p:txBody>
      </p:sp>
      <p:sp>
        <p:nvSpPr>
          <p:cNvPr id="15" name="Shape 13"/>
          <p:cNvSpPr/>
          <p:nvPr/>
        </p:nvSpPr>
        <p:spPr>
          <a:xfrm>
            <a:off x="6126480" y="1234440"/>
            <a:ext cx="2651760" cy="2560320"/>
          </a:xfrm>
          <a:prstGeom prst="roundRect">
            <a:avLst>
              <a:gd name="adj" fmla="val 4286"/>
            </a:avLst>
          </a:prstGeom>
          <a:solidFill>
            <a:srgbClr val="FFFFFF"/>
          </a:solidFill>
          <a:ln/>
          <a:effectLst>
            <a:outerShdw blurRad="101600" dist="38100" dir="2700000" algn="bl" rotWithShape="0">
              <a:srgbClr val="000000">
                <a:alpha val="12000"/>
              </a:srgbClr>
            </a:outerShdw>
          </a:effectLst>
        </p:spPr>
      </p:sp>
      <p:sp>
        <p:nvSpPr>
          <p:cNvPr id="16" name="Shape 14"/>
          <p:cNvSpPr/>
          <p:nvPr/>
        </p:nvSpPr>
        <p:spPr>
          <a:xfrm>
            <a:off x="6995160" y="1371600"/>
            <a:ext cx="868680" cy="868680"/>
          </a:xfrm>
          <a:prstGeom prst="ellipse">
            <a:avLst/>
          </a:prstGeom>
          <a:solidFill>
            <a:srgbClr val="EA580C"/>
          </a:solidFill>
          <a:ln/>
        </p:spPr>
      </p:sp>
      <p:sp>
        <p:nvSpPr>
          <p:cNvPr id="17" name="Text 15"/>
          <p:cNvSpPr/>
          <p:nvPr/>
        </p:nvSpPr>
        <p:spPr>
          <a:xfrm>
            <a:off x="6995160" y="1371600"/>
            <a:ext cx="868680" cy="86868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8" name="Text 16"/>
          <p:cNvSpPr/>
          <p:nvPr/>
        </p:nvSpPr>
        <p:spPr>
          <a:xfrm>
            <a:off x="6217920" y="2359152"/>
            <a:ext cx="2468880" cy="365760"/>
          </a:xfrm>
          <a:prstGeom prst="rect">
            <a:avLst/>
          </a:prstGeom>
          <a:noFill/>
          <a:ln/>
        </p:spPr>
        <p:txBody>
          <a:bodyPr wrap="square" rtlCol="0" anchor="ctr"/>
          <a:lstStyle/>
          <a:p>
            <a:pPr marL="0" indent="0" algn="ctr">
              <a:buNone/>
            </a:pPr>
            <a:r>
              <a:rPr lang="en-US" sz="1300" b="1" dirty="0">
                <a:solidFill>
                  <a:srgbClr val="0F2B4B"/>
                </a:solidFill>
                <a:latin typeface="Calibri" pitchFamily="34" charset="0"/>
                <a:ea typeface="Calibri" pitchFamily="34" charset="-122"/>
                <a:cs typeface="Calibri" pitchFamily="34" charset="-120"/>
              </a:rPr>
              <a:t>No Time to React</a:t>
            </a:r>
            <a:endParaRPr lang="en-US" sz="1300" dirty="0"/>
          </a:p>
        </p:txBody>
      </p:sp>
      <p:sp>
        <p:nvSpPr>
          <p:cNvPr id="19" name="Text 17"/>
          <p:cNvSpPr/>
          <p:nvPr/>
        </p:nvSpPr>
        <p:spPr>
          <a:xfrm>
            <a:off x="6263640" y="2761488"/>
            <a:ext cx="2377440" cy="9144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By the time an analyst finishes manual triage, critical vulnerabilities are already being exploited.</a:t>
            </a:r>
            <a:endParaRPr lang="en-US" sz="1000" dirty="0"/>
          </a:p>
        </p:txBody>
      </p:sp>
      <p:sp>
        <p:nvSpPr>
          <p:cNvPr id="20" name="Shape 18"/>
          <p:cNvSpPr/>
          <p:nvPr/>
        </p:nvSpPr>
        <p:spPr>
          <a:xfrm>
            <a:off x="457200" y="3977640"/>
            <a:ext cx="8229600" cy="685800"/>
          </a:xfrm>
          <a:prstGeom prst="roundRect">
            <a:avLst>
              <a:gd name="adj" fmla="val 10667"/>
            </a:avLst>
          </a:prstGeom>
          <a:solidFill>
            <a:srgbClr val="FEF2F2"/>
          </a:solidFill>
          <a:ln/>
        </p:spPr>
      </p:sp>
      <p:sp>
        <p:nvSpPr>
          <p:cNvPr id="21" name="Text 19"/>
          <p:cNvSpPr/>
          <p:nvPr/>
        </p:nvSpPr>
        <p:spPr>
          <a:xfrm>
            <a:off x="640080" y="4005072"/>
            <a:ext cx="7863840" cy="621792"/>
          </a:xfrm>
          <a:prstGeom prst="rect">
            <a:avLst/>
          </a:prstGeom>
          <a:noFill/>
          <a:ln/>
        </p:spPr>
        <p:txBody>
          <a:bodyPr wrap="square" rtlCol="0" anchor="ctr"/>
          <a:lstStyle/>
          <a:p>
            <a:pPr marL="0" indent="0" algn="ctr">
              <a:buNone/>
            </a:pPr>
            <a:r>
              <a:rPr lang="en-US" sz="1100" i="1" dirty="0">
                <a:solidFill>
                  <a:srgbClr val="DC2626"/>
                </a:solidFill>
                <a:latin typeface="Calibri" pitchFamily="34" charset="0"/>
                <a:ea typeface="Calibri" pitchFamily="34" charset="-122"/>
                <a:cs typeface="Calibri" pitchFamily="34" charset="-120"/>
              </a:rPr>
              <a:t>"A GRC analyst at a 200-person company doesn't have $50K for ServiceNow, an IT team to configure Drata,</a:t>
            </a:r>
            <a:endParaRPr lang="en-US" sz="1100" dirty="0"/>
          </a:p>
          <a:p>
            <a:pPr marL="0" indent="0" algn="ctr">
              <a:buNone/>
            </a:pPr>
            <a:r>
              <a:rPr lang="en-US" sz="1100" i="1" dirty="0">
                <a:solidFill>
                  <a:srgbClr val="DC2626"/>
                </a:solidFill>
                <a:latin typeface="Calibri" pitchFamily="34" charset="0"/>
                <a:ea typeface="Calibri" pitchFamily="34" charset="-122"/>
                <a:cs typeface="Calibri" pitchFamily="34" charset="-120"/>
              </a:rPr>
              <a:t>or 3 hours every Monday to manually read 25 CISA advisories."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THE SOLUTION</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From Advisory to Briefing in Under 10 Minutes</a:t>
            </a:r>
            <a:endParaRPr lang="en-US" sz="2600" dirty="0"/>
          </a:p>
        </p:txBody>
      </p:sp>
      <p:sp>
        <p:nvSpPr>
          <p:cNvPr id="5" name="Shape 3"/>
          <p:cNvSpPr/>
          <p:nvPr/>
        </p:nvSpPr>
        <p:spPr>
          <a:xfrm>
            <a:off x="731520" y="1188720"/>
            <a:ext cx="1371600" cy="1371600"/>
          </a:xfrm>
          <a:prstGeom prst="ellipse">
            <a:avLst/>
          </a:prstGeom>
          <a:solidFill>
            <a:srgbClr val="1D6FA4"/>
          </a:solidFill>
          <a:ln/>
        </p:spPr>
      </p:sp>
      <p:sp>
        <p:nvSpPr>
          <p:cNvPr id="6" name="Text 4"/>
          <p:cNvSpPr/>
          <p:nvPr/>
        </p:nvSpPr>
        <p:spPr>
          <a:xfrm>
            <a:off x="731520" y="1188720"/>
            <a:ext cx="1371600" cy="1371600"/>
          </a:xfrm>
          <a:prstGeom prst="rect">
            <a:avLst/>
          </a:prstGeom>
          <a:no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7" name="Text 5"/>
          <p:cNvSpPr/>
          <p:nvPr/>
        </p:nvSpPr>
        <p:spPr>
          <a:xfrm>
            <a:off x="365760" y="2697480"/>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Live CISA Feed</a:t>
            </a:r>
            <a:endParaRPr lang="en-US" sz="1100" dirty="0"/>
          </a:p>
        </p:txBody>
      </p:sp>
      <p:sp>
        <p:nvSpPr>
          <p:cNvPr id="8" name="Text 6"/>
          <p:cNvSpPr/>
          <p:nvPr/>
        </p:nvSpPr>
        <p:spPr>
          <a:xfrm>
            <a:off x="365760" y="3017520"/>
            <a:ext cx="2103120" cy="45720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Auto-fetched</a:t>
            </a:r>
            <a:endParaRPr lang="en-US" sz="900" dirty="0"/>
          </a:p>
          <a:p>
            <a:pPr marL="0" indent="0" algn="ctr">
              <a:buNone/>
            </a:pPr>
            <a:r>
              <a:rPr lang="en-US" sz="900" dirty="0">
                <a:solidFill>
                  <a:srgbClr val="93C5FD"/>
                </a:solidFill>
                <a:latin typeface="Calibri" pitchFamily="34" charset="0"/>
                <a:ea typeface="Calibri" pitchFamily="34" charset="-122"/>
                <a:cs typeface="Calibri" pitchFamily="34" charset="-120"/>
              </a:rPr>
              <a:t>every run</a:t>
            </a:r>
            <a:endParaRPr lang="en-US" sz="900" dirty="0"/>
          </a:p>
        </p:txBody>
      </p:sp>
      <p:sp>
        <p:nvSpPr>
          <p:cNvPr id="9" name="Text 7"/>
          <p:cNvSpPr/>
          <p:nvPr/>
        </p:nvSpPr>
        <p:spPr>
          <a:xfrm>
            <a:off x="2148840" y="1691640"/>
            <a:ext cx="411480" cy="457200"/>
          </a:xfrm>
          <a:prstGeom prst="rect">
            <a:avLst/>
          </a:prstGeom>
          <a:noFill/>
          <a:ln/>
        </p:spPr>
        <p:txBody>
          <a:bodyPr wrap="square" rtlCol="0" anchor="ctr"/>
          <a:lstStyle/>
          <a:p>
            <a:pPr marL="0" indent="0" algn="ctr">
              <a:buNone/>
            </a:pPr>
            <a:r>
              <a:rPr lang="en-US" sz="2200" b="1" dirty="0">
                <a:solidFill>
                  <a:srgbClr val="2196CC"/>
                </a:solidFill>
              </a:rPr>
              <a:t>→</a:t>
            </a:r>
            <a:endParaRPr lang="en-US" sz="2200" dirty="0"/>
          </a:p>
        </p:txBody>
      </p:sp>
      <p:sp>
        <p:nvSpPr>
          <p:cNvPr id="10" name="Shape 8"/>
          <p:cNvSpPr/>
          <p:nvPr/>
        </p:nvSpPr>
        <p:spPr>
          <a:xfrm>
            <a:off x="2880360" y="1188720"/>
            <a:ext cx="1371600" cy="1371600"/>
          </a:xfrm>
          <a:prstGeom prst="ellipse">
            <a:avLst/>
          </a:prstGeom>
          <a:solidFill>
            <a:srgbClr val="0D9488"/>
          </a:solidFill>
          <a:ln/>
        </p:spPr>
      </p:sp>
      <p:sp>
        <p:nvSpPr>
          <p:cNvPr id="11" name="Text 9"/>
          <p:cNvSpPr/>
          <p:nvPr/>
        </p:nvSpPr>
        <p:spPr>
          <a:xfrm>
            <a:off x="2880360" y="1188720"/>
            <a:ext cx="1371600" cy="1371600"/>
          </a:xfrm>
          <a:prstGeom prst="rect">
            <a:avLst/>
          </a:prstGeom>
          <a:no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2" name="Text 10"/>
          <p:cNvSpPr/>
          <p:nvPr/>
        </p:nvSpPr>
        <p:spPr>
          <a:xfrm>
            <a:off x="2514600" y="2697480"/>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Validation</a:t>
            </a:r>
            <a:endParaRPr lang="en-US" sz="1100" dirty="0"/>
          </a:p>
        </p:txBody>
      </p:sp>
      <p:sp>
        <p:nvSpPr>
          <p:cNvPr id="13" name="Text 11"/>
          <p:cNvSpPr/>
          <p:nvPr/>
        </p:nvSpPr>
        <p:spPr>
          <a:xfrm>
            <a:off x="2514600" y="3017520"/>
            <a:ext cx="2103120" cy="45720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Quality gate</a:t>
            </a:r>
            <a:endParaRPr lang="en-US" sz="900" dirty="0"/>
          </a:p>
          <a:p>
            <a:pPr marL="0" indent="0" algn="ctr">
              <a:buNone/>
            </a:pPr>
            <a:r>
              <a:rPr lang="en-US" sz="900" dirty="0">
                <a:solidFill>
                  <a:srgbClr val="93C5FD"/>
                </a:solidFill>
                <a:latin typeface="Calibri" pitchFamily="34" charset="0"/>
                <a:ea typeface="Calibri" pitchFamily="34" charset="-122"/>
                <a:cs typeface="Calibri" pitchFamily="34" charset="-120"/>
              </a:rPr>
              <a:t>filters noise</a:t>
            </a:r>
            <a:endParaRPr lang="en-US" sz="900" dirty="0"/>
          </a:p>
        </p:txBody>
      </p:sp>
      <p:sp>
        <p:nvSpPr>
          <p:cNvPr id="14" name="Text 12"/>
          <p:cNvSpPr/>
          <p:nvPr/>
        </p:nvSpPr>
        <p:spPr>
          <a:xfrm>
            <a:off x="4297680" y="1691640"/>
            <a:ext cx="411480" cy="457200"/>
          </a:xfrm>
          <a:prstGeom prst="rect">
            <a:avLst/>
          </a:prstGeom>
          <a:noFill/>
          <a:ln/>
        </p:spPr>
        <p:txBody>
          <a:bodyPr wrap="square" rtlCol="0" anchor="ctr"/>
          <a:lstStyle/>
          <a:p>
            <a:pPr marL="0" indent="0" algn="ctr">
              <a:buNone/>
            </a:pPr>
            <a:r>
              <a:rPr lang="en-US" sz="2200" b="1" dirty="0">
                <a:solidFill>
                  <a:srgbClr val="2196CC"/>
                </a:solidFill>
              </a:rPr>
              <a:t>→</a:t>
            </a:r>
            <a:endParaRPr lang="en-US" sz="2200" dirty="0"/>
          </a:p>
        </p:txBody>
      </p:sp>
      <p:sp>
        <p:nvSpPr>
          <p:cNvPr id="15" name="Shape 13"/>
          <p:cNvSpPr/>
          <p:nvPr/>
        </p:nvSpPr>
        <p:spPr>
          <a:xfrm>
            <a:off x="5029200" y="1188720"/>
            <a:ext cx="1371600" cy="1371600"/>
          </a:xfrm>
          <a:prstGeom prst="ellipse">
            <a:avLst/>
          </a:prstGeom>
          <a:solidFill>
            <a:srgbClr val="2196CC"/>
          </a:solidFill>
          <a:ln/>
        </p:spPr>
      </p:sp>
      <p:sp>
        <p:nvSpPr>
          <p:cNvPr id="16" name="Text 14"/>
          <p:cNvSpPr/>
          <p:nvPr/>
        </p:nvSpPr>
        <p:spPr>
          <a:xfrm>
            <a:off x="5029200" y="1188720"/>
            <a:ext cx="1371600" cy="1371600"/>
          </a:xfrm>
          <a:prstGeom prst="rect">
            <a:avLst/>
          </a:prstGeom>
          <a:no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17" name="Text 15"/>
          <p:cNvSpPr/>
          <p:nvPr/>
        </p:nvSpPr>
        <p:spPr>
          <a:xfrm>
            <a:off x="4663440" y="2697480"/>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Groq AI Analysis</a:t>
            </a:r>
            <a:endParaRPr lang="en-US" sz="1100" dirty="0"/>
          </a:p>
        </p:txBody>
      </p:sp>
      <p:sp>
        <p:nvSpPr>
          <p:cNvPr id="18" name="Text 16"/>
          <p:cNvSpPr/>
          <p:nvPr/>
        </p:nvSpPr>
        <p:spPr>
          <a:xfrm>
            <a:off x="4663440" y="3017520"/>
            <a:ext cx="2103120" cy="45720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Llama 3.1 maps</a:t>
            </a:r>
            <a:endParaRPr lang="en-US" sz="900" dirty="0"/>
          </a:p>
          <a:p>
            <a:pPr marL="0" indent="0" algn="ctr">
              <a:buNone/>
            </a:pPr>
            <a:r>
              <a:rPr lang="en-US" sz="900" dirty="0">
                <a:solidFill>
                  <a:srgbClr val="93C5FD"/>
                </a:solidFill>
                <a:latin typeface="Calibri" pitchFamily="34" charset="0"/>
                <a:ea typeface="Calibri" pitchFamily="34" charset="-122"/>
                <a:cs typeface="Calibri" pitchFamily="34" charset="-120"/>
              </a:rPr>
              <a:t>to controls</a:t>
            </a:r>
            <a:endParaRPr lang="en-US" sz="900" dirty="0"/>
          </a:p>
        </p:txBody>
      </p:sp>
      <p:sp>
        <p:nvSpPr>
          <p:cNvPr id="19" name="Text 17"/>
          <p:cNvSpPr/>
          <p:nvPr/>
        </p:nvSpPr>
        <p:spPr>
          <a:xfrm>
            <a:off x="6446520" y="1691640"/>
            <a:ext cx="411480" cy="457200"/>
          </a:xfrm>
          <a:prstGeom prst="rect">
            <a:avLst/>
          </a:prstGeom>
          <a:noFill/>
          <a:ln/>
        </p:spPr>
        <p:txBody>
          <a:bodyPr wrap="square" rtlCol="0" anchor="ctr"/>
          <a:lstStyle/>
          <a:p>
            <a:pPr marL="0" indent="0" algn="ctr">
              <a:buNone/>
            </a:pPr>
            <a:r>
              <a:rPr lang="en-US" sz="2200" b="1" dirty="0">
                <a:solidFill>
                  <a:srgbClr val="2196CC"/>
                </a:solidFill>
              </a:rPr>
              <a:t>→</a:t>
            </a:r>
            <a:endParaRPr lang="en-US" sz="2200" dirty="0"/>
          </a:p>
        </p:txBody>
      </p:sp>
      <p:sp>
        <p:nvSpPr>
          <p:cNvPr id="20" name="Shape 18"/>
          <p:cNvSpPr/>
          <p:nvPr/>
        </p:nvSpPr>
        <p:spPr>
          <a:xfrm>
            <a:off x="7178040" y="1188720"/>
            <a:ext cx="1371600" cy="1371600"/>
          </a:xfrm>
          <a:prstGeom prst="ellipse">
            <a:avLst/>
          </a:prstGeom>
          <a:solidFill>
            <a:srgbClr val="16A34A"/>
          </a:solidFill>
          <a:ln/>
        </p:spPr>
      </p:sp>
      <p:sp>
        <p:nvSpPr>
          <p:cNvPr id="21" name="Text 19"/>
          <p:cNvSpPr/>
          <p:nvPr/>
        </p:nvSpPr>
        <p:spPr>
          <a:xfrm>
            <a:off x="7178040" y="1188720"/>
            <a:ext cx="1371600" cy="1371600"/>
          </a:xfrm>
          <a:prstGeom prst="rect">
            <a:avLst/>
          </a:prstGeom>
          <a:noFill/>
          <a:ln/>
        </p:spPr>
        <p:txBody>
          <a:bodyPr wrap="square" lIns="0" tIns="0" rIns="0" bIns="0" rtlCol="0" anchor="ctr"/>
          <a:lstStyle/>
          <a:p>
            <a:pPr marL="0" indent="0" algn="ctr">
              <a:buNone/>
            </a:pPr>
            <a:r>
              <a:rPr lang="en-US" sz="2800" b="1" dirty="0">
                <a:solidFill>
                  <a:srgbClr val="FFFFFF"/>
                </a:solidFill>
              </a:rPr>
              <a:t>4</a:t>
            </a:r>
            <a:endParaRPr lang="en-US" sz="2800" dirty="0"/>
          </a:p>
        </p:txBody>
      </p:sp>
      <p:sp>
        <p:nvSpPr>
          <p:cNvPr id="22" name="Text 20"/>
          <p:cNvSpPr/>
          <p:nvPr/>
        </p:nvSpPr>
        <p:spPr>
          <a:xfrm>
            <a:off x="6812280" y="2697480"/>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Briefing Report</a:t>
            </a:r>
            <a:endParaRPr lang="en-US" sz="1100" dirty="0"/>
          </a:p>
        </p:txBody>
      </p:sp>
      <p:sp>
        <p:nvSpPr>
          <p:cNvPr id="23" name="Text 21"/>
          <p:cNvSpPr/>
          <p:nvPr/>
        </p:nvSpPr>
        <p:spPr>
          <a:xfrm>
            <a:off x="6812280" y="3017520"/>
            <a:ext cx="2103120" cy="45720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HTML cards</a:t>
            </a:r>
            <a:endParaRPr lang="en-US" sz="900" dirty="0"/>
          </a:p>
          <a:p>
            <a:pPr marL="0" indent="0" algn="ctr">
              <a:buNone/>
            </a:pPr>
            <a:r>
              <a:rPr lang="en-US" sz="900" dirty="0">
                <a:solidFill>
                  <a:srgbClr val="93C5FD"/>
                </a:solidFill>
                <a:latin typeface="Calibri" pitchFamily="34" charset="0"/>
                <a:ea typeface="Calibri" pitchFamily="34" charset="-122"/>
                <a:cs typeface="Calibri" pitchFamily="34" charset="-120"/>
              </a:rPr>
              <a:t>you can download</a:t>
            </a:r>
            <a:endParaRPr lang="en-US" sz="900" dirty="0"/>
          </a:p>
        </p:txBody>
      </p:sp>
      <p:sp>
        <p:nvSpPr>
          <p:cNvPr id="24" name="Shape 22"/>
          <p:cNvSpPr/>
          <p:nvPr/>
        </p:nvSpPr>
        <p:spPr>
          <a:xfrm>
            <a:off x="457200" y="3657600"/>
            <a:ext cx="8229600" cy="1097280"/>
          </a:xfrm>
          <a:prstGeom prst="roundRect">
            <a:avLst>
              <a:gd name="adj" fmla="val 8333"/>
            </a:avLst>
          </a:prstGeom>
          <a:solidFill>
            <a:srgbClr val="0A1929"/>
          </a:solidFill>
          <a:ln/>
        </p:spPr>
      </p:sp>
      <p:sp>
        <p:nvSpPr>
          <p:cNvPr id="25" name="Text 23"/>
          <p:cNvSpPr/>
          <p:nvPr/>
        </p:nvSpPr>
        <p:spPr>
          <a:xfrm>
            <a:off x="731520" y="3749040"/>
            <a:ext cx="1097280" cy="320040"/>
          </a:xfrm>
          <a:prstGeom prst="rect">
            <a:avLst/>
          </a:prstGeom>
          <a:noFill/>
          <a:ln/>
        </p:spPr>
        <p:txBody>
          <a:bodyPr wrap="square" lIns="0" tIns="0" rIns="0" bIns="0" rtlCol="0" anchor="ctr"/>
          <a:lstStyle/>
          <a:p>
            <a:pPr marL="0" indent="0">
              <a:buNone/>
            </a:pPr>
            <a:r>
              <a:rPr lang="en-US" sz="1000" b="1" dirty="0">
                <a:solidFill>
                  <a:srgbClr val="2196CC"/>
                </a:solidFill>
                <a:latin typeface="Calibri" pitchFamily="34" charset="0"/>
                <a:ea typeface="Calibri" pitchFamily="34" charset="-122"/>
                <a:cs typeface="Calibri" pitchFamily="34" charset="-120"/>
              </a:rPr>
              <a:t>OUTPUT: </a:t>
            </a:r>
            <a:endParaRPr lang="en-US" sz="1000" dirty="0"/>
          </a:p>
        </p:txBody>
      </p:sp>
      <p:sp>
        <p:nvSpPr>
          <p:cNvPr id="26" name="Text 24"/>
          <p:cNvSpPr/>
          <p:nvPr/>
        </p:nvSpPr>
        <p:spPr>
          <a:xfrm>
            <a:off x="1828800" y="3749040"/>
            <a:ext cx="6583680" cy="32004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Advisory #1 CISA KEV  |  Severity: CRITICAL  |  ISO 27001: A.12.6.1  |  SOC 2: CC7.1  |  GDPR: Art. 32  |  Action: Apply patch...</a:t>
            </a:r>
            <a:endParaRPr lang="en-US" sz="900" dirty="0"/>
          </a:p>
        </p:txBody>
      </p:sp>
      <p:sp>
        <p:nvSpPr>
          <p:cNvPr id="27" name="Text 25"/>
          <p:cNvSpPr/>
          <p:nvPr/>
        </p:nvSpPr>
        <p:spPr>
          <a:xfrm>
            <a:off x="731520" y="4160520"/>
            <a:ext cx="7772400" cy="457200"/>
          </a:xfrm>
          <a:prstGeom prst="rect">
            <a:avLst/>
          </a:prstGeom>
          <a:noFill/>
          <a:ln/>
        </p:spPr>
        <p:txBody>
          <a:bodyPr wrap="square" rtlCol="0" anchor="ctr"/>
          <a:lstStyle/>
          <a:p>
            <a:pPr marL="0" indent="0">
              <a:buNone/>
            </a:pPr>
            <a:r>
              <a:rPr lang="en-US" sz="1000" dirty="0">
                <a:solidFill>
                  <a:srgbClr val="16A34A"/>
                </a:solidFill>
                <a:latin typeface="Calibri" pitchFamily="34" charset="0"/>
                <a:ea typeface="Calibri" pitchFamily="34" charset="-122"/>
                <a:cs typeface="Calibri" pitchFamily="34" charset="-120"/>
              </a:rPr>
              <a:t>✅ 5 advisories analyzed  ·  ✅ 3 frameworks mapped  ·  ✅ Download HTML report  ·  ✅ Zero cost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THE MAGIC</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0F2B4B"/>
                </a:solidFill>
                <a:latin typeface="Calibri" pitchFamily="34" charset="0"/>
                <a:ea typeface="Calibri" pitchFamily="34" charset="-122"/>
                <a:cs typeface="Calibri" pitchFamily="34" charset="-120"/>
              </a:rPr>
              <a:t>The Secret Sauce</a:t>
            </a:r>
            <a:endParaRPr lang="en-US" sz="2600" dirty="0"/>
          </a:p>
        </p:txBody>
      </p:sp>
      <p:sp>
        <p:nvSpPr>
          <p:cNvPr id="5" name="Shape 3"/>
          <p:cNvSpPr/>
          <p:nvPr/>
        </p:nvSpPr>
        <p:spPr>
          <a:xfrm>
            <a:off x="457200" y="1234440"/>
            <a:ext cx="502920" cy="502920"/>
          </a:xfrm>
          <a:prstGeom prst="ellipse">
            <a:avLst/>
          </a:prstGeom>
          <a:solidFill>
            <a:srgbClr val="2196CC"/>
          </a:solidFill>
          <a:ln/>
        </p:spPr>
      </p:sp>
      <p:sp>
        <p:nvSpPr>
          <p:cNvPr id="6" name="Text 4"/>
          <p:cNvSpPr/>
          <p:nvPr/>
        </p:nvSpPr>
        <p:spPr>
          <a:xfrm>
            <a:off x="457200" y="123444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AI</a:t>
            </a:r>
            <a:endParaRPr lang="en-US" sz="1000" dirty="0"/>
          </a:p>
        </p:txBody>
      </p:sp>
      <p:sp>
        <p:nvSpPr>
          <p:cNvPr id="7" name="Text 5"/>
          <p:cNvSpPr/>
          <p:nvPr/>
        </p:nvSpPr>
        <p:spPr>
          <a:xfrm>
            <a:off x="1097280" y="1188720"/>
            <a:ext cx="4114800" cy="292608"/>
          </a:xfrm>
          <a:prstGeom prst="rect">
            <a:avLst/>
          </a:prstGeom>
          <a:noFill/>
          <a:ln/>
        </p:spPr>
        <p:txBody>
          <a:bodyPr wrap="square" lIns="0" tIns="0" rIns="0" bIns="0" rtlCol="0" anchor="ctr"/>
          <a:lstStyle/>
          <a:p>
            <a:pPr marL="0" indent="0">
              <a:buNone/>
            </a:pPr>
            <a:r>
              <a:rPr lang="en-US" sz="1300" b="1" dirty="0">
                <a:solidFill>
                  <a:srgbClr val="0F2B4B"/>
                </a:solidFill>
                <a:latin typeface="Calibri" pitchFamily="34" charset="0"/>
                <a:ea typeface="Calibri" pitchFamily="34" charset="-122"/>
                <a:cs typeface="Calibri" pitchFamily="34" charset="-120"/>
              </a:rPr>
              <a:t>We use AI to...</a:t>
            </a:r>
            <a:endParaRPr lang="en-US" sz="1300" dirty="0"/>
          </a:p>
        </p:txBody>
      </p:sp>
      <p:sp>
        <p:nvSpPr>
          <p:cNvPr id="8" name="Text 6"/>
          <p:cNvSpPr/>
          <p:nvPr/>
        </p:nvSpPr>
        <p:spPr>
          <a:xfrm>
            <a:off x="1097280" y="1463040"/>
            <a:ext cx="4114800" cy="73152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translate raw vulnerability language into named compliance controls automatically — what a GRC analyst does manually in 3 hours, Sentinel does in seconds.</a:t>
            </a:r>
            <a:endParaRPr lang="en-US" sz="1000" dirty="0"/>
          </a:p>
        </p:txBody>
      </p:sp>
      <p:sp>
        <p:nvSpPr>
          <p:cNvPr id="9" name="Shape 7"/>
          <p:cNvSpPr/>
          <p:nvPr/>
        </p:nvSpPr>
        <p:spPr>
          <a:xfrm>
            <a:off x="457200" y="2377440"/>
            <a:ext cx="502920" cy="502920"/>
          </a:xfrm>
          <a:prstGeom prst="ellipse">
            <a:avLst/>
          </a:prstGeom>
          <a:solidFill>
            <a:srgbClr val="0D9488"/>
          </a:solidFill>
          <a:ln/>
        </p:spPr>
      </p:sp>
      <p:sp>
        <p:nvSpPr>
          <p:cNvPr id="10" name="Text 8"/>
          <p:cNvSpPr/>
          <p:nvPr/>
        </p:nvSpPr>
        <p:spPr>
          <a:xfrm>
            <a:off x="457200" y="23774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097280" y="2331720"/>
            <a:ext cx="4114800" cy="292608"/>
          </a:xfrm>
          <a:prstGeom prst="rect">
            <a:avLst/>
          </a:prstGeom>
          <a:noFill/>
          <a:ln/>
        </p:spPr>
        <p:txBody>
          <a:bodyPr wrap="square" lIns="0" tIns="0" rIns="0" bIns="0" rtlCol="0" anchor="ctr"/>
          <a:lstStyle/>
          <a:p>
            <a:pPr marL="0" indent="0">
              <a:buNone/>
            </a:pPr>
            <a:r>
              <a:rPr lang="en-US" sz="1300" b="1" dirty="0">
                <a:solidFill>
                  <a:srgbClr val="0F2B4B"/>
                </a:solidFill>
                <a:latin typeface="Calibri" pitchFamily="34" charset="0"/>
                <a:ea typeface="Calibri" pitchFamily="34" charset="-122"/>
                <a:cs typeface="Calibri" pitchFamily="34" charset="-120"/>
              </a:rPr>
              <a:t>Why now?</a:t>
            </a:r>
            <a:endParaRPr lang="en-US" sz="1300" dirty="0"/>
          </a:p>
        </p:txBody>
      </p:sp>
      <p:sp>
        <p:nvSpPr>
          <p:cNvPr id="12" name="Text 10"/>
          <p:cNvSpPr/>
          <p:nvPr/>
        </p:nvSpPr>
        <p:spPr>
          <a:xfrm>
            <a:off x="1097280" y="2606040"/>
            <a:ext cx="4114800" cy="73152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Free-tier LLM inference (Groq's Llama 3.1 8B) + public CISA RSS feed = a $0/month pipeline that simply wasn't possible without accessible AI APIs.</a:t>
            </a:r>
            <a:endParaRPr lang="en-US" sz="1000" dirty="0"/>
          </a:p>
        </p:txBody>
      </p:sp>
      <p:sp>
        <p:nvSpPr>
          <p:cNvPr id="13" name="Shape 11"/>
          <p:cNvSpPr/>
          <p:nvPr/>
        </p:nvSpPr>
        <p:spPr>
          <a:xfrm>
            <a:off x="457200" y="3520440"/>
            <a:ext cx="502920" cy="502920"/>
          </a:xfrm>
          <a:prstGeom prst="ellipse">
            <a:avLst/>
          </a:prstGeom>
          <a:solidFill>
            <a:srgbClr val="1D6FA4"/>
          </a:solidFill>
          <a:ln/>
        </p:spPr>
      </p:sp>
      <p:sp>
        <p:nvSpPr>
          <p:cNvPr id="14" name="Text 12"/>
          <p:cNvSpPr/>
          <p:nvPr/>
        </p:nvSpPr>
        <p:spPr>
          <a:xfrm>
            <a:off x="457200" y="35204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a:t>
            </a:r>
            <a:endParaRPr lang="en-US" sz="1600" dirty="0"/>
          </a:p>
        </p:txBody>
      </p:sp>
      <p:sp>
        <p:nvSpPr>
          <p:cNvPr id="15" name="Text 13"/>
          <p:cNvSpPr/>
          <p:nvPr/>
        </p:nvSpPr>
        <p:spPr>
          <a:xfrm>
            <a:off x="1097280" y="3474720"/>
            <a:ext cx="4114800" cy="292608"/>
          </a:xfrm>
          <a:prstGeom prst="rect">
            <a:avLst/>
          </a:prstGeom>
          <a:noFill/>
          <a:ln/>
        </p:spPr>
        <p:txBody>
          <a:bodyPr wrap="square" lIns="0" tIns="0" rIns="0" bIns="0" rtlCol="0" anchor="ctr"/>
          <a:lstStyle/>
          <a:p>
            <a:pPr marL="0" indent="0">
              <a:buNone/>
            </a:pPr>
            <a:r>
              <a:rPr lang="en-US" sz="1300" b="1" dirty="0">
                <a:solidFill>
                  <a:srgbClr val="0F2B4B"/>
                </a:solidFill>
                <a:latin typeface="Calibri" pitchFamily="34" charset="0"/>
                <a:ea typeface="Calibri" pitchFamily="34" charset="-122"/>
                <a:cs typeface="Calibri" pitchFamily="34" charset="-120"/>
              </a:rPr>
              <a:t>Think of it like Google's PageRank...</a:t>
            </a:r>
            <a:endParaRPr lang="en-US" sz="1300" dirty="0"/>
          </a:p>
        </p:txBody>
      </p:sp>
      <p:sp>
        <p:nvSpPr>
          <p:cNvPr id="16" name="Text 14"/>
          <p:cNvSpPr/>
          <p:nvPr/>
        </p:nvSpPr>
        <p:spPr>
          <a:xfrm>
            <a:off x="1097280" y="3749040"/>
            <a:ext cx="4114800" cy="73152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PageRank automatically ranked billions of web pages by authority so you didn't have to manually sort them. Sentinel does the same for vulnerabilities — our AI automatically ranks and maps each one by compliance risk, so the analyst doesn't have to do it by hand.</a:t>
            </a:r>
            <a:endParaRPr lang="en-US" sz="1000" dirty="0"/>
          </a:p>
        </p:txBody>
      </p:sp>
      <p:sp>
        <p:nvSpPr>
          <p:cNvPr id="17" name="Shape 15"/>
          <p:cNvSpPr/>
          <p:nvPr/>
        </p:nvSpPr>
        <p:spPr>
          <a:xfrm>
            <a:off x="5486400" y="1097280"/>
            <a:ext cx="3200400" cy="3474720"/>
          </a:xfrm>
          <a:prstGeom prst="roundRect">
            <a:avLst>
              <a:gd name="adj" fmla="val 3429"/>
            </a:avLst>
          </a:prstGeom>
          <a:solidFill>
            <a:srgbClr val="0F2B4B"/>
          </a:solidFill>
          <a:ln/>
          <a:effectLst>
            <a:outerShdw blurRad="101600" dist="38100" dir="2700000" algn="bl" rotWithShape="0">
              <a:srgbClr val="000000">
                <a:alpha val="12000"/>
              </a:srgbClr>
            </a:outerShdw>
          </a:effectLst>
        </p:spPr>
      </p:sp>
      <p:sp>
        <p:nvSpPr>
          <p:cNvPr id="18" name="Text 16"/>
          <p:cNvSpPr/>
          <p:nvPr/>
        </p:nvSpPr>
        <p:spPr>
          <a:xfrm>
            <a:off x="5669280" y="1234440"/>
            <a:ext cx="28346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Tech Stack</a:t>
            </a:r>
            <a:endParaRPr lang="en-US" sz="1200" dirty="0"/>
          </a:p>
        </p:txBody>
      </p:sp>
      <p:sp>
        <p:nvSpPr>
          <p:cNvPr id="19" name="Shape 17"/>
          <p:cNvSpPr/>
          <p:nvPr/>
        </p:nvSpPr>
        <p:spPr>
          <a:xfrm>
            <a:off x="5669280" y="1737360"/>
            <a:ext cx="2834640" cy="384048"/>
          </a:xfrm>
          <a:prstGeom prst="roundRect">
            <a:avLst>
              <a:gd name="adj" fmla="val 14286"/>
            </a:avLst>
          </a:prstGeom>
          <a:solidFill>
            <a:srgbClr val="0A1929"/>
          </a:solidFill>
          <a:ln/>
        </p:spPr>
      </p:sp>
      <p:sp>
        <p:nvSpPr>
          <p:cNvPr id="20" name="Text 18"/>
          <p:cNvSpPr/>
          <p:nvPr/>
        </p:nvSpPr>
        <p:spPr>
          <a:xfrm>
            <a:off x="5806440" y="1773936"/>
            <a:ext cx="731520" cy="310896"/>
          </a:xfrm>
          <a:prstGeom prst="rect">
            <a:avLst/>
          </a:prstGeom>
          <a:noFill/>
          <a:ln/>
        </p:spPr>
        <p:txBody>
          <a:bodyPr wrap="square" lIns="0" tIns="0" rIns="0" bIns="0" rtlCol="0" anchor="ctr"/>
          <a:lstStyle/>
          <a:p>
            <a:pPr marL="0" indent="0">
              <a:buNone/>
            </a:pPr>
            <a:r>
              <a:rPr lang="en-US" sz="900" b="1" dirty="0">
                <a:solidFill>
                  <a:srgbClr val="1D6FA4"/>
                </a:solidFill>
                <a:latin typeface="Calibri" pitchFamily="34" charset="0"/>
                <a:ea typeface="Calibri" pitchFamily="34" charset="-122"/>
                <a:cs typeface="Calibri" pitchFamily="34" charset="-120"/>
              </a:rPr>
              <a:t>Data: </a:t>
            </a:r>
            <a:endParaRPr lang="en-US" sz="900" dirty="0"/>
          </a:p>
        </p:txBody>
      </p:sp>
      <p:sp>
        <p:nvSpPr>
          <p:cNvPr id="21" name="Text 19"/>
          <p:cNvSpPr/>
          <p:nvPr/>
        </p:nvSpPr>
        <p:spPr>
          <a:xfrm>
            <a:off x="6492240" y="1773936"/>
            <a:ext cx="1920240" cy="310896"/>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CISA RSS Feed (live)</a:t>
            </a:r>
            <a:endParaRPr lang="en-US" sz="900" dirty="0"/>
          </a:p>
        </p:txBody>
      </p:sp>
      <p:sp>
        <p:nvSpPr>
          <p:cNvPr id="22" name="Shape 20"/>
          <p:cNvSpPr/>
          <p:nvPr/>
        </p:nvSpPr>
        <p:spPr>
          <a:xfrm>
            <a:off x="5669280" y="2267712"/>
            <a:ext cx="2834640" cy="384048"/>
          </a:xfrm>
          <a:prstGeom prst="roundRect">
            <a:avLst>
              <a:gd name="adj" fmla="val 14286"/>
            </a:avLst>
          </a:prstGeom>
          <a:solidFill>
            <a:srgbClr val="0A1929"/>
          </a:solidFill>
          <a:ln/>
        </p:spPr>
      </p:sp>
      <p:sp>
        <p:nvSpPr>
          <p:cNvPr id="23" name="Text 21"/>
          <p:cNvSpPr/>
          <p:nvPr/>
        </p:nvSpPr>
        <p:spPr>
          <a:xfrm>
            <a:off x="5806440" y="2304288"/>
            <a:ext cx="731520" cy="310896"/>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AI: </a:t>
            </a:r>
            <a:endParaRPr lang="en-US" sz="900" dirty="0"/>
          </a:p>
        </p:txBody>
      </p:sp>
      <p:sp>
        <p:nvSpPr>
          <p:cNvPr id="24" name="Text 22"/>
          <p:cNvSpPr/>
          <p:nvPr/>
        </p:nvSpPr>
        <p:spPr>
          <a:xfrm>
            <a:off x="6492240" y="2304288"/>
            <a:ext cx="1920240" cy="310896"/>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Groq Llama 3.1 8B</a:t>
            </a:r>
            <a:endParaRPr lang="en-US" sz="900" dirty="0"/>
          </a:p>
        </p:txBody>
      </p:sp>
      <p:sp>
        <p:nvSpPr>
          <p:cNvPr id="25" name="Shape 23"/>
          <p:cNvSpPr/>
          <p:nvPr/>
        </p:nvSpPr>
        <p:spPr>
          <a:xfrm>
            <a:off x="5669280" y="2798064"/>
            <a:ext cx="2834640" cy="384048"/>
          </a:xfrm>
          <a:prstGeom prst="roundRect">
            <a:avLst>
              <a:gd name="adj" fmla="val 14286"/>
            </a:avLst>
          </a:prstGeom>
          <a:solidFill>
            <a:srgbClr val="0A1929"/>
          </a:solidFill>
          <a:ln/>
        </p:spPr>
      </p:sp>
      <p:sp>
        <p:nvSpPr>
          <p:cNvPr id="26" name="Text 24"/>
          <p:cNvSpPr/>
          <p:nvPr/>
        </p:nvSpPr>
        <p:spPr>
          <a:xfrm>
            <a:off x="5806440" y="2834640"/>
            <a:ext cx="731520" cy="310896"/>
          </a:xfrm>
          <a:prstGeom prst="rect">
            <a:avLst/>
          </a:prstGeom>
          <a:noFill/>
          <a:ln/>
        </p:spPr>
        <p:txBody>
          <a:bodyPr wrap="square" lIns="0" tIns="0" rIns="0" bIns="0" rtlCol="0" anchor="ctr"/>
          <a:lstStyle/>
          <a:p>
            <a:pPr marL="0" indent="0">
              <a:buNone/>
            </a:pPr>
            <a:r>
              <a:rPr lang="en-US" sz="900" b="1" dirty="0">
                <a:solidFill>
                  <a:srgbClr val="2196CC"/>
                </a:solidFill>
                <a:latin typeface="Calibri" pitchFamily="34" charset="0"/>
                <a:ea typeface="Calibri" pitchFamily="34" charset="-122"/>
                <a:cs typeface="Calibri" pitchFamily="34" charset="-120"/>
              </a:rPr>
              <a:t>UI: </a:t>
            </a:r>
            <a:endParaRPr lang="en-US" sz="900" dirty="0"/>
          </a:p>
        </p:txBody>
      </p:sp>
      <p:sp>
        <p:nvSpPr>
          <p:cNvPr id="27" name="Text 25"/>
          <p:cNvSpPr/>
          <p:nvPr/>
        </p:nvSpPr>
        <p:spPr>
          <a:xfrm>
            <a:off x="6492240" y="2834640"/>
            <a:ext cx="1920240" cy="310896"/>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Gradio on HF Spaces</a:t>
            </a:r>
            <a:endParaRPr lang="en-US" sz="900" dirty="0"/>
          </a:p>
        </p:txBody>
      </p:sp>
      <p:sp>
        <p:nvSpPr>
          <p:cNvPr id="28" name="Shape 26"/>
          <p:cNvSpPr/>
          <p:nvPr/>
        </p:nvSpPr>
        <p:spPr>
          <a:xfrm>
            <a:off x="5669280" y="3328416"/>
            <a:ext cx="2834640" cy="384048"/>
          </a:xfrm>
          <a:prstGeom prst="roundRect">
            <a:avLst>
              <a:gd name="adj" fmla="val 14286"/>
            </a:avLst>
          </a:prstGeom>
          <a:solidFill>
            <a:srgbClr val="0A1929"/>
          </a:solidFill>
          <a:ln/>
        </p:spPr>
      </p:sp>
      <p:sp>
        <p:nvSpPr>
          <p:cNvPr id="29" name="Text 27"/>
          <p:cNvSpPr/>
          <p:nvPr/>
        </p:nvSpPr>
        <p:spPr>
          <a:xfrm>
            <a:off x="5806440" y="3364992"/>
            <a:ext cx="731520" cy="310896"/>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Cost: </a:t>
            </a:r>
            <a:endParaRPr lang="en-US" sz="900" dirty="0"/>
          </a:p>
        </p:txBody>
      </p:sp>
      <p:sp>
        <p:nvSpPr>
          <p:cNvPr id="30" name="Text 28"/>
          <p:cNvSpPr/>
          <p:nvPr/>
        </p:nvSpPr>
        <p:spPr>
          <a:xfrm>
            <a:off x="6492240" y="3364992"/>
            <a:ext cx="1920240" cy="310896"/>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$0 / month</a:t>
            </a:r>
            <a:endParaRPr lang="en-US" sz="900" dirty="0"/>
          </a:p>
        </p:txBody>
      </p:sp>
      <p:sp>
        <p:nvSpPr>
          <p:cNvPr id="31" name="Shape 29"/>
          <p:cNvSpPr/>
          <p:nvPr/>
        </p:nvSpPr>
        <p:spPr>
          <a:xfrm>
            <a:off x="5669280" y="3858768"/>
            <a:ext cx="2834640" cy="384048"/>
          </a:xfrm>
          <a:prstGeom prst="roundRect">
            <a:avLst>
              <a:gd name="adj" fmla="val 14286"/>
            </a:avLst>
          </a:prstGeom>
          <a:solidFill>
            <a:srgbClr val="0A1929"/>
          </a:solidFill>
          <a:ln/>
        </p:spPr>
      </p:sp>
      <p:sp>
        <p:nvSpPr>
          <p:cNvPr id="32" name="Text 30"/>
          <p:cNvSpPr/>
          <p:nvPr/>
        </p:nvSpPr>
        <p:spPr>
          <a:xfrm>
            <a:off x="5806440" y="3895344"/>
            <a:ext cx="731520" cy="310896"/>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Setup: </a:t>
            </a:r>
            <a:endParaRPr lang="en-US" sz="900" dirty="0"/>
          </a:p>
        </p:txBody>
      </p:sp>
      <p:sp>
        <p:nvSpPr>
          <p:cNvPr id="33" name="Text 31"/>
          <p:cNvSpPr/>
          <p:nvPr/>
        </p:nvSpPr>
        <p:spPr>
          <a:xfrm>
            <a:off x="6492240" y="3895344"/>
            <a:ext cx="1920240" cy="310896"/>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Zero config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BUSINESS MODEL</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Our Intended Go-to-Market &amp; Revenue Model</a:t>
            </a:r>
            <a:endParaRPr lang="en-US" sz="2400" dirty="0"/>
          </a:p>
        </p:txBody>
      </p:sp>
      <p:sp>
        <p:nvSpPr>
          <p:cNvPr id="5" name="Shape 3"/>
          <p:cNvSpPr/>
          <p:nvPr/>
        </p:nvSpPr>
        <p:spPr>
          <a:xfrm>
            <a:off x="457200" y="1188720"/>
            <a:ext cx="2651760" cy="3200400"/>
          </a:xfrm>
          <a:prstGeom prst="roundRect">
            <a:avLst>
              <a:gd name="adj" fmla="val 4138"/>
            </a:avLst>
          </a:prstGeom>
          <a:solidFill>
            <a:srgbClr val="0A1929"/>
          </a:solidFill>
          <a:ln/>
          <a:effectLst>
            <a:outerShdw blurRad="101600" dist="38100" dir="2700000" algn="bl" rotWithShape="0">
              <a:srgbClr val="000000">
                <a:alpha val="12000"/>
              </a:srgbClr>
            </a:outerShdw>
          </a:effectLst>
        </p:spPr>
      </p:sp>
      <p:sp>
        <p:nvSpPr>
          <p:cNvPr id="6" name="Text 4"/>
          <p:cNvSpPr/>
          <p:nvPr/>
        </p:nvSpPr>
        <p:spPr>
          <a:xfrm>
            <a:off x="457200" y="1280160"/>
            <a:ext cx="2651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Free</a:t>
            </a:r>
            <a:endParaRPr lang="en-US" sz="1600" dirty="0"/>
          </a:p>
        </p:txBody>
      </p:sp>
      <p:sp>
        <p:nvSpPr>
          <p:cNvPr id="7" name="Text 5"/>
          <p:cNvSpPr/>
          <p:nvPr/>
        </p:nvSpPr>
        <p:spPr>
          <a:xfrm>
            <a:off x="457200" y="1691640"/>
            <a:ext cx="2651760" cy="502920"/>
          </a:xfrm>
          <a:prstGeom prst="rect">
            <a:avLst/>
          </a:prstGeom>
          <a:noFill/>
          <a:ln/>
        </p:spPr>
        <p:txBody>
          <a:bodyPr wrap="square" lIns="0" tIns="0" rIns="0" bIns="0" rtlCol="0" anchor="ctr"/>
          <a:lstStyle/>
          <a:p>
            <a:pPr marL="0" indent="0" algn="ctr">
              <a:buNone/>
            </a:pPr>
            <a:r>
              <a:rPr lang="en-US" sz="3200" b="1" dirty="0">
                <a:solidFill>
                  <a:srgbClr val="2196CC"/>
                </a:solidFill>
              </a:rPr>
              <a:t>$0</a:t>
            </a:r>
            <a:endParaRPr lang="en-US" sz="3200" dirty="0"/>
          </a:p>
        </p:txBody>
      </p:sp>
      <p:sp>
        <p:nvSpPr>
          <p:cNvPr id="8" name="Text 6"/>
          <p:cNvSpPr/>
          <p:nvPr/>
        </p:nvSpPr>
        <p:spPr>
          <a:xfrm>
            <a:off x="457200" y="2212848"/>
            <a:ext cx="2651760" cy="256032"/>
          </a:xfrm>
          <a:prstGeom prst="rect">
            <a:avLst/>
          </a:prstGeom>
          <a:noFill/>
          <a:ln/>
        </p:spPr>
        <p:txBody>
          <a:bodyPr wrap="square" rtlCol="0" anchor="ctr"/>
          <a:lstStyle/>
          <a:p>
            <a:pPr marL="0" indent="0" algn="ctr">
              <a:buNone/>
            </a:pPr>
            <a:r>
              <a:rPr lang="en-US" sz="1000" dirty="0">
                <a:solidFill>
                  <a:srgbClr val="94A3B8"/>
                </a:solidFill>
              </a:rPr>
              <a:t>forever</a:t>
            </a:r>
            <a:endParaRPr lang="en-US" sz="1000" dirty="0"/>
          </a:p>
        </p:txBody>
      </p:sp>
      <p:sp>
        <p:nvSpPr>
          <p:cNvPr id="9" name="Text 7"/>
          <p:cNvSpPr/>
          <p:nvPr/>
        </p:nvSpPr>
        <p:spPr>
          <a:xfrm>
            <a:off x="640080" y="2560320"/>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Up to 10 advisories/run</a:t>
            </a:r>
            <a:endParaRPr lang="en-US" sz="900" dirty="0"/>
          </a:p>
        </p:txBody>
      </p:sp>
      <p:sp>
        <p:nvSpPr>
          <p:cNvPr id="10" name="Text 8"/>
          <p:cNvSpPr/>
          <p:nvPr/>
        </p:nvSpPr>
        <p:spPr>
          <a:xfrm>
            <a:off x="640080" y="2944368"/>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All 3 frameworks</a:t>
            </a:r>
            <a:endParaRPr lang="en-US" sz="900" dirty="0"/>
          </a:p>
        </p:txBody>
      </p:sp>
      <p:sp>
        <p:nvSpPr>
          <p:cNvPr id="11" name="Text 9"/>
          <p:cNvSpPr/>
          <p:nvPr/>
        </p:nvSpPr>
        <p:spPr>
          <a:xfrm>
            <a:off x="640080" y="3328416"/>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HTML report download</a:t>
            </a:r>
            <a:endParaRPr lang="en-US" sz="900" dirty="0"/>
          </a:p>
        </p:txBody>
      </p:sp>
      <p:sp>
        <p:nvSpPr>
          <p:cNvPr id="12" name="Text 10"/>
          <p:cNvSpPr/>
          <p:nvPr/>
        </p:nvSpPr>
        <p:spPr>
          <a:xfrm>
            <a:off x="640080" y="3712464"/>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Public HF Spaces</a:t>
            </a:r>
            <a:endParaRPr lang="en-US" sz="900" dirty="0"/>
          </a:p>
        </p:txBody>
      </p:sp>
      <p:sp>
        <p:nvSpPr>
          <p:cNvPr id="13" name="Shape 11"/>
          <p:cNvSpPr/>
          <p:nvPr/>
        </p:nvSpPr>
        <p:spPr>
          <a:xfrm>
            <a:off x="3291840" y="1188720"/>
            <a:ext cx="2651760" cy="3200400"/>
          </a:xfrm>
          <a:prstGeom prst="roundRect">
            <a:avLst>
              <a:gd name="adj" fmla="val 4138"/>
            </a:avLst>
          </a:prstGeom>
          <a:solidFill>
            <a:srgbClr val="2196CC"/>
          </a:solidFill>
          <a:ln/>
          <a:effectLst>
            <a:outerShdw blurRad="101600" dist="38100" dir="2700000" algn="bl" rotWithShape="0">
              <a:srgbClr val="000000">
                <a:alpha val="12000"/>
              </a:srgbClr>
            </a:outerShdw>
          </a:effectLst>
        </p:spPr>
      </p:sp>
      <p:sp>
        <p:nvSpPr>
          <p:cNvPr id="14" name="Shape 12"/>
          <p:cNvSpPr/>
          <p:nvPr/>
        </p:nvSpPr>
        <p:spPr>
          <a:xfrm>
            <a:off x="3840480" y="1078992"/>
            <a:ext cx="1554480" cy="237744"/>
          </a:xfrm>
          <a:prstGeom prst="roundRect">
            <a:avLst>
              <a:gd name="adj" fmla="val 23077"/>
            </a:avLst>
          </a:prstGeom>
          <a:solidFill>
            <a:srgbClr val="D97706"/>
          </a:solidFill>
          <a:ln/>
        </p:spPr>
      </p:sp>
      <p:sp>
        <p:nvSpPr>
          <p:cNvPr id="15" name="Text 13"/>
          <p:cNvSpPr/>
          <p:nvPr/>
        </p:nvSpPr>
        <p:spPr>
          <a:xfrm>
            <a:off x="3840480" y="1078992"/>
            <a:ext cx="1554480" cy="237744"/>
          </a:xfrm>
          <a:prstGeom prst="rect">
            <a:avLst/>
          </a:prstGeom>
          <a:noFill/>
          <a:ln/>
        </p:spPr>
        <p:txBody>
          <a:bodyPr wrap="square" lIns="0" tIns="0" rIns="0" bIns="0" rtlCol="0" anchor="ctr"/>
          <a:lstStyle/>
          <a:p>
            <a:pPr marL="0" indent="0" algn="ctr">
              <a:buNone/>
            </a:pPr>
            <a:r>
              <a:rPr lang="en-US" sz="700" b="1" dirty="0">
                <a:solidFill>
                  <a:srgbClr val="FFFFFF"/>
                </a:solidFill>
              </a:rPr>
              <a:t>MOST POPULAR</a:t>
            </a:r>
            <a:endParaRPr lang="en-US" sz="700" dirty="0"/>
          </a:p>
        </p:txBody>
      </p:sp>
      <p:sp>
        <p:nvSpPr>
          <p:cNvPr id="16" name="Text 14"/>
          <p:cNvSpPr/>
          <p:nvPr/>
        </p:nvSpPr>
        <p:spPr>
          <a:xfrm>
            <a:off x="3291840" y="1280160"/>
            <a:ext cx="2651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a:t>
            </a:r>
            <a:endParaRPr lang="en-US" sz="1600" dirty="0"/>
          </a:p>
        </p:txBody>
      </p:sp>
      <p:sp>
        <p:nvSpPr>
          <p:cNvPr id="17" name="Text 15"/>
          <p:cNvSpPr/>
          <p:nvPr/>
        </p:nvSpPr>
        <p:spPr>
          <a:xfrm>
            <a:off x="3291840" y="1691640"/>
            <a:ext cx="2651760" cy="502920"/>
          </a:xfrm>
          <a:prstGeom prst="rect">
            <a:avLst/>
          </a:prstGeom>
          <a:noFill/>
          <a:ln/>
        </p:spPr>
        <p:txBody>
          <a:bodyPr wrap="square" lIns="0" tIns="0" rIns="0" bIns="0" rtlCol="0" anchor="ctr"/>
          <a:lstStyle/>
          <a:p>
            <a:pPr marL="0" indent="0" algn="ctr">
              <a:buNone/>
            </a:pPr>
            <a:r>
              <a:rPr lang="en-US" sz="3200" b="1" dirty="0">
                <a:solidFill>
                  <a:srgbClr val="FFFFFF"/>
                </a:solidFill>
              </a:rPr>
              <a:t>$39</a:t>
            </a:r>
            <a:endParaRPr lang="en-US" sz="3200" dirty="0"/>
          </a:p>
        </p:txBody>
      </p:sp>
      <p:sp>
        <p:nvSpPr>
          <p:cNvPr id="18" name="Text 16"/>
          <p:cNvSpPr/>
          <p:nvPr/>
        </p:nvSpPr>
        <p:spPr>
          <a:xfrm>
            <a:off x="3291840" y="2212848"/>
            <a:ext cx="2651760" cy="256032"/>
          </a:xfrm>
          <a:prstGeom prst="rect">
            <a:avLst/>
          </a:prstGeom>
          <a:noFill/>
          <a:ln/>
        </p:spPr>
        <p:txBody>
          <a:bodyPr wrap="square" rtlCol="0" anchor="ctr"/>
          <a:lstStyle/>
          <a:p>
            <a:pPr marL="0" indent="0" algn="ctr">
              <a:buNone/>
            </a:pPr>
            <a:r>
              <a:rPr lang="en-US" sz="1000" dirty="0">
                <a:solidFill>
                  <a:srgbClr val="94A3B8"/>
                </a:solidFill>
              </a:rPr>
              <a:t>/ month</a:t>
            </a:r>
            <a:endParaRPr lang="en-US" sz="1000" dirty="0"/>
          </a:p>
        </p:txBody>
      </p:sp>
      <p:sp>
        <p:nvSpPr>
          <p:cNvPr id="19" name="Text 17"/>
          <p:cNvSpPr/>
          <p:nvPr/>
        </p:nvSpPr>
        <p:spPr>
          <a:xfrm>
            <a:off x="3474720" y="2560320"/>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Unlimited advisories</a:t>
            </a:r>
            <a:endParaRPr lang="en-US" sz="900" dirty="0"/>
          </a:p>
        </p:txBody>
      </p:sp>
      <p:sp>
        <p:nvSpPr>
          <p:cNvPr id="20" name="Text 18"/>
          <p:cNvSpPr/>
          <p:nvPr/>
        </p:nvSpPr>
        <p:spPr>
          <a:xfrm>
            <a:off x="3474720" y="2944368"/>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Scheduled weekly runs</a:t>
            </a:r>
            <a:endParaRPr lang="en-US" sz="900" dirty="0"/>
          </a:p>
        </p:txBody>
      </p:sp>
      <p:sp>
        <p:nvSpPr>
          <p:cNvPr id="21" name="Text 19"/>
          <p:cNvSpPr/>
          <p:nvPr/>
        </p:nvSpPr>
        <p:spPr>
          <a:xfrm>
            <a:off x="3474720" y="3328416"/>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Email briefing delivery</a:t>
            </a:r>
            <a:endParaRPr lang="en-US" sz="900" dirty="0"/>
          </a:p>
        </p:txBody>
      </p:sp>
      <p:sp>
        <p:nvSpPr>
          <p:cNvPr id="22" name="Text 20"/>
          <p:cNvSpPr/>
          <p:nvPr/>
        </p:nvSpPr>
        <p:spPr>
          <a:xfrm>
            <a:off x="3474720" y="3712464"/>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API access</a:t>
            </a:r>
            <a:endParaRPr lang="en-US" sz="900" dirty="0"/>
          </a:p>
        </p:txBody>
      </p:sp>
      <p:sp>
        <p:nvSpPr>
          <p:cNvPr id="23" name="Shape 21"/>
          <p:cNvSpPr/>
          <p:nvPr/>
        </p:nvSpPr>
        <p:spPr>
          <a:xfrm>
            <a:off x="6126480" y="1188720"/>
            <a:ext cx="2651760" cy="3200400"/>
          </a:xfrm>
          <a:prstGeom prst="roundRect">
            <a:avLst>
              <a:gd name="adj" fmla="val 4138"/>
            </a:avLst>
          </a:prstGeom>
          <a:solidFill>
            <a:srgbClr val="0A1929"/>
          </a:solidFill>
          <a:ln/>
          <a:effectLst>
            <a:outerShdw blurRad="101600" dist="38100" dir="2700000" algn="bl" rotWithShape="0">
              <a:srgbClr val="000000">
                <a:alpha val="12000"/>
              </a:srgbClr>
            </a:outerShdw>
          </a:effectLst>
        </p:spPr>
      </p:sp>
      <p:sp>
        <p:nvSpPr>
          <p:cNvPr id="24" name="Text 22"/>
          <p:cNvSpPr/>
          <p:nvPr/>
        </p:nvSpPr>
        <p:spPr>
          <a:xfrm>
            <a:off x="6126480" y="1280160"/>
            <a:ext cx="2651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Team</a:t>
            </a:r>
            <a:endParaRPr lang="en-US" sz="1600" dirty="0"/>
          </a:p>
        </p:txBody>
      </p:sp>
      <p:sp>
        <p:nvSpPr>
          <p:cNvPr id="25" name="Text 23"/>
          <p:cNvSpPr/>
          <p:nvPr/>
        </p:nvSpPr>
        <p:spPr>
          <a:xfrm>
            <a:off x="6126480" y="1691640"/>
            <a:ext cx="2651760" cy="502920"/>
          </a:xfrm>
          <a:prstGeom prst="rect">
            <a:avLst/>
          </a:prstGeom>
          <a:noFill/>
          <a:ln/>
        </p:spPr>
        <p:txBody>
          <a:bodyPr wrap="square" lIns="0" tIns="0" rIns="0" bIns="0" rtlCol="0" anchor="ctr"/>
          <a:lstStyle/>
          <a:p>
            <a:pPr marL="0" indent="0" algn="ctr">
              <a:buNone/>
            </a:pPr>
            <a:r>
              <a:rPr lang="en-US" sz="3200" b="1" dirty="0">
                <a:solidFill>
                  <a:srgbClr val="2196CC"/>
                </a:solidFill>
              </a:rPr>
              <a:t>$99</a:t>
            </a:r>
            <a:endParaRPr lang="en-US" sz="3200" dirty="0"/>
          </a:p>
        </p:txBody>
      </p:sp>
      <p:sp>
        <p:nvSpPr>
          <p:cNvPr id="26" name="Text 24"/>
          <p:cNvSpPr/>
          <p:nvPr/>
        </p:nvSpPr>
        <p:spPr>
          <a:xfrm>
            <a:off x="6126480" y="2212848"/>
            <a:ext cx="2651760" cy="256032"/>
          </a:xfrm>
          <a:prstGeom prst="rect">
            <a:avLst/>
          </a:prstGeom>
          <a:noFill/>
          <a:ln/>
        </p:spPr>
        <p:txBody>
          <a:bodyPr wrap="square" rtlCol="0" anchor="ctr"/>
          <a:lstStyle/>
          <a:p>
            <a:pPr marL="0" indent="0" algn="ctr">
              <a:buNone/>
            </a:pPr>
            <a:r>
              <a:rPr lang="en-US" sz="1000" dirty="0">
                <a:solidFill>
                  <a:srgbClr val="94A3B8"/>
                </a:solidFill>
              </a:rPr>
              <a:t>/ month</a:t>
            </a:r>
            <a:endParaRPr lang="en-US" sz="1000" dirty="0"/>
          </a:p>
        </p:txBody>
      </p:sp>
      <p:sp>
        <p:nvSpPr>
          <p:cNvPr id="27" name="Text 25"/>
          <p:cNvSpPr/>
          <p:nvPr/>
        </p:nvSpPr>
        <p:spPr>
          <a:xfrm>
            <a:off x="6309360" y="2560320"/>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5 user seats</a:t>
            </a:r>
            <a:endParaRPr lang="en-US" sz="900" dirty="0"/>
          </a:p>
        </p:txBody>
      </p:sp>
      <p:sp>
        <p:nvSpPr>
          <p:cNvPr id="28" name="Text 26"/>
          <p:cNvSpPr/>
          <p:nvPr/>
        </p:nvSpPr>
        <p:spPr>
          <a:xfrm>
            <a:off x="6309360" y="2944368"/>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Custom framework rules</a:t>
            </a:r>
            <a:endParaRPr lang="en-US" sz="900" dirty="0"/>
          </a:p>
        </p:txBody>
      </p:sp>
      <p:sp>
        <p:nvSpPr>
          <p:cNvPr id="29" name="Text 27"/>
          <p:cNvSpPr/>
          <p:nvPr/>
        </p:nvSpPr>
        <p:spPr>
          <a:xfrm>
            <a:off x="6309360" y="3328416"/>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Audit trail export</a:t>
            </a:r>
            <a:endParaRPr lang="en-US" sz="900" dirty="0"/>
          </a:p>
        </p:txBody>
      </p:sp>
      <p:sp>
        <p:nvSpPr>
          <p:cNvPr id="30" name="Text 28"/>
          <p:cNvSpPr/>
          <p:nvPr/>
        </p:nvSpPr>
        <p:spPr>
          <a:xfrm>
            <a:off x="6309360" y="3712464"/>
            <a:ext cx="2286000" cy="347472"/>
          </a:xfrm>
          <a:prstGeom prst="rect">
            <a:avLst/>
          </a:prstGeom>
          <a:noFill/>
          <a:ln/>
        </p:spPr>
        <p:txBody>
          <a:bodyPr wrap="square" rtlCol="0" anchor="ctr"/>
          <a:lstStyle/>
          <a:p>
            <a:pPr marL="0" indent="0">
              <a:buNone/>
            </a:pPr>
            <a:r>
              <a:rPr lang="en-US" sz="900" dirty="0">
                <a:solidFill>
                  <a:srgbClr val="FFFFFF"/>
                </a:solidFill>
                <a:latin typeface="Calibri" pitchFamily="34" charset="0"/>
                <a:ea typeface="Calibri" pitchFamily="34" charset="-122"/>
                <a:cs typeface="Calibri" pitchFamily="34" charset="-120"/>
              </a:rPr>
              <a:t>✓  Priority support</a:t>
            </a:r>
            <a:endParaRPr lang="en-US" sz="900" dirty="0"/>
          </a:p>
        </p:txBody>
      </p:sp>
      <p:sp>
        <p:nvSpPr>
          <p:cNvPr id="31" name="Shape 29"/>
          <p:cNvSpPr/>
          <p:nvPr/>
        </p:nvSpPr>
        <p:spPr>
          <a:xfrm>
            <a:off x="457200" y="4572000"/>
            <a:ext cx="8229600" cy="411480"/>
          </a:xfrm>
          <a:prstGeom prst="roundRect">
            <a:avLst>
              <a:gd name="adj" fmla="val 17778"/>
            </a:avLst>
          </a:prstGeom>
          <a:solidFill>
            <a:srgbClr val="0A1929"/>
          </a:solidFill>
          <a:ln/>
        </p:spPr>
      </p:sp>
      <p:sp>
        <p:nvSpPr>
          <p:cNvPr id="32" name="Text 30"/>
          <p:cNvSpPr/>
          <p:nvPr/>
        </p:nvSpPr>
        <p:spPr>
          <a:xfrm>
            <a:off x="640080" y="4608576"/>
            <a:ext cx="7863840" cy="338328"/>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Projected Year 1: 200 Pro users = $93,600 ARR  ·  Year 2: 50 Team accounts = $59,400 ARR  ·  Total TAM: $2.3B GRC software market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GO-TO-MARKET</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0F2B4B"/>
                </a:solidFill>
                <a:latin typeface="Calibri" pitchFamily="34" charset="0"/>
                <a:ea typeface="Calibri" pitchFamily="34" charset="-122"/>
                <a:cs typeface="Calibri" pitchFamily="34" charset="-120"/>
              </a:rPr>
              <a:t>How We Get the First 10 Customers</a:t>
            </a:r>
            <a:endParaRPr lang="en-US" sz="2600" dirty="0"/>
          </a:p>
        </p:txBody>
      </p:sp>
      <p:sp>
        <p:nvSpPr>
          <p:cNvPr id="5" name="Shape 3"/>
          <p:cNvSpPr/>
          <p:nvPr/>
        </p:nvSpPr>
        <p:spPr>
          <a:xfrm>
            <a:off x="365760" y="1234440"/>
            <a:ext cx="2743200" cy="2743200"/>
          </a:xfrm>
          <a:prstGeom prst="roundRect">
            <a:avLst>
              <a:gd name="adj" fmla="val 4000"/>
            </a:avLst>
          </a:prstGeom>
          <a:solidFill>
            <a:srgbClr val="FFFFFF"/>
          </a:solidFill>
          <a:ln/>
          <a:effectLst>
            <a:outerShdw blurRad="101600" dist="38100" dir="2700000" algn="bl" rotWithShape="0">
              <a:srgbClr val="000000">
                <a:alpha val="12000"/>
              </a:srgbClr>
            </a:outerShdw>
          </a:effectLst>
        </p:spPr>
      </p:sp>
      <p:sp>
        <p:nvSpPr>
          <p:cNvPr id="6" name="Shape 4"/>
          <p:cNvSpPr/>
          <p:nvPr/>
        </p:nvSpPr>
        <p:spPr>
          <a:xfrm>
            <a:off x="1371600" y="1325880"/>
            <a:ext cx="731520" cy="731520"/>
          </a:xfrm>
          <a:prstGeom prst="ellipse">
            <a:avLst/>
          </a:prstGeom>
          <a:solidFill>
            <a:srgbClr val="1D6FA4"/>
          </a:solidFill>
          <a:ln/>
        </p:spPr>
      </p:sp>
      <p:sp>
        <p:nvSpPr>
          <p:cNvPr id="7" name="Text 5"/>
          <p:cNvSpPr/>
          <p:nvPr/>
        </p:nvSpPr>
        <p:spPr>
          <a:xfrm>
            <a:off x="1371600" y="132588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8" name="Shape 6"/>
          <p:cNvSpPr/>
          <p:nvPr/>
        </p:nvSpPr>
        <p:spPr>
          <a:xfrm>
            <a:off x="822960" y="2148840"/>
            <a:ext cx="1828800" cy="219456"/>
          </a:xfrm>
          <a:prstGeom prst="roundRect">
            <a:avLst>
              <a:gd name="adj" fmla="val 20833"/>
            </a:avLst>
          </a:prstGeom>
          <a:solidFill>
            <a:srgbClr val="1D6FA4"/>
          </a:solidFill>
          <a:ln/>
        </p:spPr>
      </p:sp>
      <p:sp>
        <p:nvSpPr>
          <p:cNvPr id="9" name="Text 7"/>
          <p:cNvSpPr/>
          <p:nvPr/>
        </p:nvSpPr>
        <p:spPr>
          <a:xfrm>
            <a:off x="822960" y="2148840"/>
            <a:ext cx="1828800" cy="219456"/>
          </a:xfrm>
          <a:prstGeom prst="rect">
            <a:avLst/>
          </a:prstGeom>
          <a:noFill/>
          <a:ln/>
        </p:spPr>
        <p:txBody>
          <a:bodyPr wrap="square" lIns="0" tIns="0" rIns="0" bIns="0" rtlCol="0" anchor="ctr"/>
          <a:lstStyle/>
          <a:p>
            <a:pPr marL="0" indent="0" algn="ctr">
              <a:buNone/>
            </a:pPr>
            <a:r>
              <a:rPr lang="en-US" sz="700" b="1" dirty="0">
                <a:solidFill>
                  <a:srgbClr val="FFFFFF"/>
                </a:solidFill>
              </a:rPr>
              <a:t>Week 1–4</a:t>
            </a:r>
            <a:endParaRPr lang="en-US" sz="700" dirty="0"/>
          </a:p>
        </p:txBody>
      </p:sp>
      <p:sp>
        <p:nvSpPr>
          <p:cNvPr id="10" name="Text 8"/>
          <p:cNvSpPr/>
          <p:nvPr/>
        </p:nvSpPr>
        <p:spPr>
          <a:xfrm>
            <a:off x="365760" y="2423160"/>
            <a:ext cx="2743200" cy="292608"/>
          </a:xfrm>
          <a:prstGeom prst="rect">
            <a:avLst/>
          </a:prstGeom>
          <a:noFill/>
          <a:ln/>
        </p:spPr>
        <p:txBody>
          <a:bodyPr wrap="square" rtlCol="0" anchor="ctr"/>
          <a:lstStyle/>
          <a:p>
            <a:pPr marL="0" indent="0" algn="ctr">
              <a:buNone/>
            </a:pPr>
            <a:r>
              <a:rPr lang="en-US" sz="1200" b="1" dirty="0">
                <a:solidFill>
                  <a:srgbClr val="0F2B4B"/>
                </a:solidFill>
                <a:latin typeface="Calibri" pitchFamily="34" charset="0"/>
                <a:ea typeface="Calibri" pitchFamily="34" charset="-122"/>
                <a:cs typeface="Calibri" pitchFamily="34" charset="-120"/>
              </a:rPr>
              <a:t>Community Launch</a:t>
            </a:r>
            <a:endParaRPr lang="en-US" sz="1200" dirty="0"/>
          </a:p>
        </p:txBody>
      </p:sp>
      <p:sp>
        <p:nvSpPr>
          <p:cNvPr id="11" name="Text 9"/>
          <p:cNvSpPr/>
          <p:nvPr/>
        </p:nvSpPr>
        <p:spPr>
          <a:xfrm>
            <a:off x="548640" y="2788920"/>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Post to r/cybersecurity, r/netsec</a:t>
            </a:r>
            <a:endParaRPr lang="en-US" sz="900" dirty="0"/>
          </a:p>
        </p:txBody>
      </p:sp>
      <p:sp>
        <p:nvSpPr>
          <p:cNvPr id="12" name="Text 10"/>
          <p:cNvSpPr/>
          <p:nvPr/>
        </p:nvSpPr>
        <p:spPr>
          <a:xfrm>
            <a:off x="548640" y="3136392"/>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Share on LinkedIn GRC groups</a:t>
            </a:r>
            <a:endParaRPr lang="en-US" sz="900" dirty="0"/>
          </a:p>
        </p:txBody>
      </p:sp>
      <p:sp>
        <p:nvSpPr>
          <p:cNvPr id="13" name="Text 11"/>
          <p:cNvSpPr/>
          <p:nvPr/>
        </p:nvSpPr>
        <p:spPr>
          <a:xfrm>
            <a:off x="548640" y="3483864"/>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Submit to HuggingFace trending</a:t>
            </a:r>
            <a:endParaRPr lang="en-US" sz="900" dirty="0"/>
          </a:p>
        </p:txBody>
      </p:sp>
      <p:sp>
        <p:nvSpPr>
          <p:cNvPr id="14" name="Shape 12"/>
          <p:cNvSpPr/>
          <p:nvPr/>
        </p:nvSpPr>
        <p:spPr>
          <a:xfrm>
            <a:off x="3246120" y="1234440"/>
            <a:ext cx="2743200" cy="2743200"/>
          </a:xfrm>
          <a:prstGeom prst="roundRect">
            <a:avLst>
              <a:gd name="adj" fmla="val 4000"/>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4251960" y="1325880"/>
            <a:ext cx="731520" cy="731520"/>
          </a:xfrm>
          <a:prstGeom prst="ellipse">
            <a:avLst/>
          </a:prstGeom>
          <a:solidFill>
            <a:srgbClr val="0D9488"/>
          </a:solidFill>
          <a:ln/>
        </p:spPr>
      </p:sp>
      <p:sp>
        <p:nvSpPr>
          <p:cNvPr id="16" name="Text 14"/>
          <p:cNvSpPr/>
          <p:nvPr/>
        </p:nvSpPr>
        <p:spPr>
          <a:xfrm>
            <a:off x="4251960" y="132588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Shape 15"/>
          <p:cNvSpPr/>
          <p:nvPr/>
        </p:nvSpPr>
        <p:spPr>
          <a:xfrm>
            <a:off x="3703320" y="2148840"/>
            <a:ext cx="1828800" cy="219456"/>
          </a:xfrm>
          <a:prstGeom prst="roundRect">
            <a:avLst>
              <a:gd name="adj" fmla="val 20833"/>
            </a:avLst>
          </a:prstGeom>
          <a:solidFill>
            <a:srgbClr val="0D9488"/>
          </a:solidFill>
          <a:ln/>
        </p:spPr>
      </p:sp>
      <p:sp>
        <p:nvSpPr>
          <p:cNvPr id="18" name="Text 16"/>
          <p:cNvSpPr/>
          <p:nvPr/>
        </p:nvSpPr>
        <p:spPr>
          <a:xfrm>
            <a:off x="3703320" y="2148840"/>
            <a:ext cx="1828800" cy="219456"/>
          </a:xfrm>
          <a:prstGeom prst="rect">
            <a:avLst/>
          </a:prstGeom>
          <a:noFill/>
          <a:ln/>
        </p:spPr>
        <p:txBody>
          <a:bodyPr wrap="square" lIns="0" tIns="0" rIns="0" bIns="0" rtlCol="0" anchor="ctr"/>
          <a:lstStyle/>
          <a:p>
            <a:pPr marL="0" indent="0" algn="ctr">
              <a:buNone/>
            </a:pPr>
            <a:r>
              <a:rPr lang="en-US" sz="700" b="1" dirty="0">
                <a:solidFill>
                  <a:srgbClr val="FFFFFF"/>
                </a:solidFill>
              </a:rPr>
              <a:t>Month 2–3</a:t>
            </a:r>
            <a:endParaRPr lang="en-US" sz="700" dirty="0"/>
          </a:p>
        </p:txBody>
      </p:sp>
      <p:sp>
        <p:nvSpPr>
          <p:cNvPr id="19" name="Text 17"/>
          <p:cNvSpPr/>
          <p:nvPr/>
        </p:nvSpPr>
        <p:spPr>
          <a:xfrm>
            <a:off x="3246120" y="2423160"/>
            <a:ext cx="2743200" cy="292608"/>
          </a:xfrm>
          <a:prstGeom prst="rect">
            <a:avLst/>
          </a:prstGeom>
          <a:noFill/>
          <a:ln/>
        </p:spPr>
        <p:txBody>
          <a:bodyPr wrap="square" rtlCol="0" anchor="ctr"/>
          <a:lstStyle/>
          <a:p>
            <a:pPr marL="0" indent="0" algn="ctr">
              <a:buNone/>
            </a:pPr>
            <a:r>
              <a:rPr lang="en-US" sz="1200" b="1" dirty="0">
                <a:solidFill>
                  <a:srgbClr val="0F2B4B"/>
                </a:solidFill>
                <a:latin typeface="Calibri" pitchFamily="34" charset="0"/>
                <a:ea typeface="Calibri" pitchFamily="34" charset="-122"/>
                <a:cs typeface="Calibri" pitchFamily="34" charset="-120"/>
              </a:rPr>
              <a:t>Content Engine</a:t>
            </a:r>
            <a:endParaRPr lang="en-US" sz="1200" dirty="0"/>
          </a:p>
        </p:txBody>
      </p:sp>
      <p:sp>
        <p:nvSpPr>
          <p:cNvPr id="20" name="Text 18"/>
          <p:cNvSpPr/>
          <p:nvPr/>
        </p:nvSpPr>
        <p:spPr>
          <a:xfrm>
            <a:off x="3429000" y="2788920"/>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Weekly 'CISA Advisory Digest' newsletter</a:t>
            </a:r>
            <a:endParaRPr lang="en-US" sz="900" dirty="0"/>
          </a:p>
        </p:txBody>
      </p:sp>
      <p:sp>
        <p:nvSpPr>
          <p:cNvPr id="21" name="Text 19"/>
          <p:cNvSpPr/>
          <p:nvPr/>
        </p:nvSpPr>
        <p:spPr>
          <a:xfrm>
            <a:off x="3429000" y="3136392"/>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YouTube: 'Monday GRC Briefing' series</a:t>
            </a:r>
            <a:endParaRPr lang="en-US" sz="900" dirty="0"/>
          </a:p>
        </p:txBody>
      </p:sp>
      <p:sp>
        <p:nvSpPr>
          <p:cNvPr id="22" name="Text 20"/>
          <p:cNvSpPr/>
          <p:nvPr/>
        </p:nvSpPr>
        <p:spPr>
          <a:xfrm>
            <a:off x="3429000" y="3483864"/>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SEO: 'CISA advisory compliance mapping'</a:t>
            </a:r>
            <a:endParaRPr lang="en-US" sz="900" dirty="0"/>
          </a:p>
        </p:txBody>
      </p:sp>
      <p:sp>
        <p:nvSpPr>
          <p:cNvPr id="23" name="Shape 21"/>
          <p:cNvSpPr/>
          <p:nvPr/>
        </p:nvSpPr>
        <p:spPr>
          <a:xfrm>
            <a:off x="6126480" y="1234440"/>
            <a:ext cx="2743200" cy="2743200"/>
          </a:xfrm>
          <a:prstGeom prst="roundRect">
            <a:avLst>
              <a:gd name="adj" fmla="val 4000"/>
            </a:avLst>
          </a:prstGeom>
          <a:solidFill>
            <a:srgbClr val="FFFFFF"/>
          </a:solidFill>
          <a:ln/>
          <a:effectLst>
            <a:outerShdw blurRad="101600" dist="38100" dir="2700000" algn="bl" rotWithShape="0">
              <a:srgbClr val="000000">
                <a:alpha val="12000"/>
              </a:srgbClr>
            </a:outerShdw>
          </a:effectLst>
        </p:spPr>
      </p:sp>
      <p:sp>
        <p:nvSpPr>
          <p:cNvPr id="24" name="Shape 22"/>
          <p:cNvSpPr/>
          <p:nvPr/>
        </p:nvSpPr>
        <p:spPr>
          <a:xfrm>
            <a:off x="7132320" y="1325880"/>
            <a:ext cx="731520" cy="731520"/>
          </a:xfrm>
          <a:prstGeom prst="ellipse">
            <a:avLst/>
          </a:prstGeom>
          <a:solidFill>
            <a:srgbClr val="2196CC"/>
          </a:solidFill>
          <a:ln/>
        </p:spPr>
      </p:sp>
      <p:sp>
        <p:nvSpPr>
          <p:cNvPr id="25" name="Text 23"/>
          <p:cNvSpPr/>
          <p:nvPr/>
        </p:nvSpPr>
        <p:spPr>
          <a:xfrm>
            <a:off x="7132320" y="132588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Shape 24"/>
          <p:cNvSpPr/>
          <p:nvPr/>
        </p:nvSpPr>
        <p:spPr>
          <a:xfrm>
            <a:off x="6583680" y="2148840"/>
            <a:ext cx="1828800" cy="219456"/>
          </a:xfrm>
          <a:prstGeom prst="roundRect">
            <a:avLst>
              <a:gd name="adj" fmla="val 20833"/>
            </a:avLst>
          </a:prstGeom>
          <a:solidFill>
            <a:srgbClr val="2196CC"/>
          </a:solidFill>
          <a:ln/>
        </p:spPr>
      </p:sp>
      <p:sp>
        <p:nvSpPr>
          <p:cNvPr id="27" name="Text 25"/>
          <p:cNvSpPr/>
          <p:nvPr/>
        </p:nvSpPr>
        <p:spPr>
          <a:xfrm>
            <a:off x="6583680" y="2148840"/>
            <a:ext cx="1828800" cy="219456"/>
          </a:xfrm>
          <a:prstGeom prst="rect">
            <a:avLst/>
          </a:prstGeom>
          <a:noFill/>
          <a:ln/>
        </p:spPr>
        <p:txBody>
          <a:bodyPr wrap="square" lIns="0" tIns="0" rIns="0" bIns="0" rtlCol="0" anchor="ctr"/>
          <a:lstStyle/>
          <a:p>
            <a:pPr marL="0" indent="0" algn="ctr">
              <a:buNone/>
            </a:pPr>
            <a:r>
              <a:rPr lang="en-US" sz="700" b="1" dirty="0">
                <a:solidFill>
                  <a:srgbClr val="FFFFFF"/>
                </a:solidFill>
              </a:rPr>
              <a:t>Month 3–6</a:t>
            </a:r>
            <a:endParaRPr lang="en-US" sz="700" dirty="0"/>
          </a:p>
        </p:txBody>
      </p:sp>
      <p:sp>
        <p:nvSpPr>
          <p:cNvPr id="28" name="Text 26"/>
          <p:cNvSpPr/>
          <p:nvPr/>
        </p:nvSpPr>
        <p:spPr>
          <a:xfrm>
            <a:off x="6126480" y="2423160"/>
            <a:ext cx="2743200" cy="292608"/>
          </a:xfrm>
          <a:prstGeom prst="rect">
            <a:avLst/>
          </a:prstGeom>
          <a:noFill/>
          <a:ln/>
        </p:spPr>
        <p:txBody>
          <a:bodyPr wrap="square" rtlCol="0" anchor="ctr"/>
          <a:lstStyle/>
          <a:p>
            <a:pPr marL="0" indent="0" algn="ctr">
              <a:buNone/>
            </a:pPr>
            <a:r>
              <a:rPr lang="en-US" sz="1200" b="1" dirty="0">
                <a:solidFill>
                  <a:srgbClr val="0F2B4B"/>
                </a:solidFill>
                <a:latin typeface="Calibri" pitchFamily="34" charset="0"/>
                <a:ea typeface="Calibri" pitchFamily="34" charset="-122"/>
                <a:cs typeface="Calibri" pitchFamily="34" charset="-120"/>
              </a:rPr>
              <a:t>Direct Outreach</a:t>
            </a:r>
            <a:endParaRPr lang="en-US" sz="1200" dirty="0"/>
          </a:p>
        </p:txBody>
      </p:sp>
      <p:sp>
        <p:nvSpPr>
          <p:cNvPr id="29" name="Text 27"/>
          <p:cNvSpPr/>
          <p:nvPr/>
        </p:nvSpPr>
        <p:spPr>
          <a:xfrm>
            <a:off x="6309360" y="2788920"/>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LinkedIn to solo GRC analysts</a:t>
            </a:r>
            <a:endParaRPr lang="en-US" sz="900" dirty="0"/>
          </a:p>
        </p:txBody>
      </p:sp>
      <p:sp>
        <p:nvSpPr>
          <p:cNvPr id="30" name="Text 28"/>
          <p:cNvSpPr/>
          <p:nvPr/>
        </p:nvSpPr>
        <p:spPr>
          <a:xfrm>
            <a:off x="6309360" y="3136392"/>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ISACA / (ISC)² chapter presentations</a:t>
            </a:r>
            <a:endParaRPr lang="en-US" sz="900" dirty="0"/>
          </a:p>
        </p:txBody>
      </p:sp>
      <p:sp>
        <p:nvSpPr>
          <p:cNvPr id="31" name="Text 29"/>
          <p:cNvSpPr/>
          <p:nvPr/>
        </p:nvSpPr>
        <p:spPr>
          <a:xfrm>
            <a:off x="6309360" y="3483864"/>
            <a:ext cx="2423160" cy="32004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Partner with GRC bootcamps</a:t>
            </a:r>
            <a:endParaRPr lang="en-US" sz="900" dirty="0"/>
          </a:p>
        </p:txBody>
      </p:sp>
      <p:sp>
        <p:nvSpPr>
          <p:cNvPr id="32" name="Shape 30"/>
          <p:cNvSpPr/>
          <p:nvPr/>
        </p:nvSpPr>
        <p:spPr>
          <a:xfrm>
            <a:off x="457200" y="4206240"/>
            <a:ext cx="8229600" cy="658368"/>
          </a:xfrm>
          <a:prstGeom prst="roundRect">
            <a:avLst>
              <a:gd name="adj" fmla="val 13889"/>
            </a:avLst>
          </a:prstGeom>
          <a:solidFill>
            <a:srgbClr val="0F2B4B"/>
          </a:solidFill>
          <a:ln/>
        </p:spPr>
      </p:sp>
      <p:sp>
        <p:nvSpPr>
          <p:cNvPr id="33" name="Text 31"/>
          <p:cNvSpPr/>
          <p:nvPr/>
        </p:nvSpPr>
        <p:spPr>
          <a:xfrm>
            <a:off x="640080" y="4279392"/>
            <a:ext cx="7863840" cy="47548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Key metric: Free → Pro conversion at 5% = 1 paying customer per 20 free users  ·  CAC target: &lt;$15 via organic community channels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COMPETITION</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 Own the White Space</a:t>
            </a:r>
            <a:endParaRPr lang="en-US" sz="2600" dirty="0"/>
          </a:p>
        </p:txBody>
      </p:sp>
      <p:sp>
        <p:nvSpPr>
          <p:cNvPr id="5" name="Text 3"/>
          <p:cNvSpPr/>
          <p:nvPr/>
        </p:nvSpPr>
        <p:spPr>
          <a:xfrm>
            <a:off x="1645920" y="1005840"/>
            <a:ext cx="2560320" cy="256032"/>
          </a:xfrm>
          <a:prstGeom prst="rect">
            <a:avLst/>
          </a:prstGeom>
          <a:noFill/>
          <a:ln/>
        </p:spPr>
        <p:txBody>
          <a:bodyPr wrap="square" rtlCol="0" anchor="ctr"/>
          <a:lstStyle/>
          <a:p>
            <a:pPr marL="0" indent="0" algn="ctr">
              <a:buNone/>
            </a:pPr>
            <a:r>
              <a:rPr lang="en-US" sz="900" b="1" dirty="0">
                <a:solidFill>
                  <a:srgbClr val="2196CC"/>
                </a:solidFill>
                <a:latin typeface="Calibri" pitchFamily="34" charset="0"/>
                <a:ea typeface="Calibri" pitchFamily="34" charset="-122"/>
                <a:cs typeface="Calibri" pitchFamily="34" charset="-120"/>
              </a:rPr>
              <a:t>LOW ACCESS BARRIER</a:t>
            </a:r>
            <a:endParaRPr lang="en-US" sz="900" dirty="0"/>
          </a:p>
        </p:txBody>
      </p:sp>
      <p:sp>
        <p:nvSpPr>
          <p:cNvPr id="6" name="Text 4"/>
          <p:cNvSpPr/>
          <p:nvPr/>
        </p:nvSpPr>
        <p:spPr>
          <a:xfrm>
            <a:off x="5029200" y="1005840"/>
            <a:ext cx="2560320" cy="256032"/>
          </a:xfrm>
          <a:prstGeom prst="rect">
            <a:avLst/>
          </a:prstGeom>
          <a:noFill/>
          <a:ln/>
        </p:spPr>
        <p:txBody>
          <a:bodyPr wrap="square" rtlCol="0" anchor="ctr"/>
          <a:lstStyle/>
          <a:p>
            <a:pPr marL="0" indent="0" algn="ctr">
              <a:buNone/>
            </a:pPr>
            <a:r>
              <a:rPr lang="en-US" sz="900" b="1" dirty="0">
                <a:solidFill>
                  <a:srgbClr val="94A3B8"/>
                </a:solidFill>
                <a:latin typeface="Calibri" pitchFamily="34" charset="0"/>
                <a:ea typeface="Calibri" pitchFamily="34" charset="-122"/>
                <a:cs typeface="Calibri" pitchFamily="34" charset="-120"/>
              </a:rPr>
              <a:t>HIGH ACCESS BARRIER</a:t>
            </a:r>
            <a:endParaRPr lang="en-US" sz="900" dirty="0"/>
          </a:p>
        </p:txBody>
      </p:sp>
      <p:sp>
        <p:nvSpPr>
          <p:cNvPr id="7" name="Shape 5"/>
          <p:cNvSpPr/>
          <p:nvPr/>
        </p:nvSpPr>
        <p:spPr>
          <a:xfrm>
            <a:off x="1097280" y="1325880"/>
            <a:ext cx="3017520" cy="1737360"/>
          </a:xfrm>
          <a:prstGeom prst="roundRect">
            <a:avLst>
              <a:gd name="adj" fmla="val 4211"/>
            </a:avLst>
          </a:prstGeom>
          <a:solidFill>
            <a:srgbClr val="0D2137"/>
          </a:solidFill>
          <a:ln/>
        </p:spPr>
      </p:sp>
      <p:sp>
        <p:nvSpPr>
          <p:cNvPr id="8" name="Shape 6"/>
          <p:cNvSpPr/>
          <p:nvPr/>
        </p:nvSpPr>
        <p:spPr>
          <a:xfrm>
            <a:off x="4846320" y="1325880"/>
            <a:ext cx="3017520" cy="1737360"/>
          </a:xfrm>
          <a:prstGeom prst="roundRect">
            <a:avLst>
              <a:gd name="adj" fmla="val 4211"/>
            </a:avLst>
          </a:prstGeom>
          <a:solidFill>
            <a:srgbClr val="0D2137"/>
          </a:solidFill>
          <a:ln/>
        </p:spPr>
      </p:sp>
      <p:sp>
        <p:nvSpPr>
          <p:cNvPr id="9" name="Shape 7"/>
          <p:cNvSpPr/>
          <p:nvPr/>
        </p:nvSpPr>
        <p:spPr>
          <a:xfrm>
            <a:off x="1097280" y="3200400"/>
            <a:ext cx="3017520" cy="1463040"/>
          </a:xfrm>
          <a:prstGeom prst="roundRect">
            <a:avLst>
              <a:gd name="adj" fmla="val 5000"/>
            </a:avLst>
          </a:prstGeom>
          <a:solidFill>
            <a:srgbClr val="0D2137"/>
          </a:solidFill>
          <a:ln/>
        </p:spPr>
      </p:sp>
      <p:sp>
        <p:nvSpPr>
          <p:cNvPr id="10" name="Shape 8"/>
          <p:cNvSpPr/>
          <p:nvPr/>
        </p:nvSpPr>
        <p:spPr>
          <a:xfrm>
            <a:off x="4846320" y="3200400"/>
            <a:ext cx="3017520" cy="1463040"/>
          </a:xfrm>
          <a:prstGeom prst="roundRect">
            <a:avLst>
              <a:gd name="adj" fmla="val 5000"/>
            </a:avLst>
          </a:prstGeom>
          <a:solidFill>
            <a:srgbClr val="0D2137"/>
          </a:solidFill>
          <a:ln/>
        </p:spPr>
      </p:sp>
      <p:sp>
        <p:nvSpPr>
          <p:cNvPr id="11" name="Shape 9"/>
          <p:cNvSpPr/>
          <p:nvPr/>
        </p:nvSpPr>
        <p:spPr>
          <a:xfrm>
            <a:off x="1097280" y="1325880"/>
            <a:ext cx="3017520" cy="1737360"/>
          </a:xfrm>
          <a:prstGeom prst="roundRect">
            <a:avLst>
              <a:gd name="adj" fmla="val 4211"/>
            </a:avLst>
          </a:prstGeom>
          <a:solidFill>
            <a:srgbClr val="0D3B5E"/>
          </a:solidFill>
          <a:ln w="25400">
            <a:solidFill>
              <a:srgbClr val="2196CC"/>
            </a:solidFill>
            <a:prstDash val="solid"/>
          </a:ln>
        </p:spPr>
      </p:sp>
      <p:sp>
        <p:nvSpPr>
          <p:cNvPr id="12" name="Text 10"/>
          <p:cNvSpPr/>
          <p:nvPr/>
        </p:nvSpPr>
        <p:spPr>
          <a:xfrm rot="16200000">
            <a:off x="45720" y="1463040"/>
            <a:ext cx="1005840" cy="1371600"/>
          </a:xfrm>
          <a:prstGeom prst="rect">
            <a:avLst/>
          </a:prstGeom>
          <a:noFill/>
          <a:ln/>
        </p:spPr>
        <p:txBody>
          <a:bodyPr wrap="square" rtlCol="0" anchor="ctr"/>
          <a:lstStyle/>
          <a:p>
            <a:pPr marL="0" indent="0" algn="ctr">
              <a:buNone/>
            </a:pPr>
            <a:r>
              <a:rPr lang="en-US" sz="800" b="1" dirty="0">
                <a:solidFill>
                  <a:srgbClr val="2196CC"/>
                </a:solidFill>
                <a:latin typeface="Calibri" pitchFamily="34" charset="0"/>
                <a:ea typeface="Calibri" pitchFamily="34" charset="-122"/>
                <a:cs typeface="Calibri" pitchFamily="34" charset="-120"/>
              </a:rPr>
              <a:t>HIGH OUTPUT</a:t>
            </a:r>
            <a:endParaRPr lang="en-US" sz="800" dirty="0"/>
          </a:p>
          <a:p>
            <a:pPr marL="0" indent="0" algn="ctr">
              <a:buNone/>
            </a:pPr>
            <a:r>
              <a:rPr lang="en-US" sz="800" b="1" dirty="0">
                <a:solidFill>
                  <a:srgbClr val="2196CC"/>
                </a:solidFill>
                <a:latin typeface="Calibri" pitchFamily="34" charset="0"/>
                <a:ea typeface="Calibri" pitchFamily="34" charset="-122"/>
                <a:cs typeface="Calibri" pitchFamily="34" charset="-120"/>
              </a:rPr>
              <a:t>SPECIFICITY</a:t>
            </a:r>
            <a:endParaRPr lang="en-US" sz="800" dirty="0"/>
          </a:p>
        </p:txBody>
      </p:sp>
      <p:sp>
        <p:nvSpPr>
          <p:cNvPr id="13" name="Text 11"/>
          <p:cNvSpPr/>
          <p:nvPr/>
        </p:nvSpPr>
        <p:spPr>
          <a:xfrm rot="16200000">
            <a:off x="45720" y="3200400"/>
            <a:ext cx="1005840" cy="1371600"/>
          </a:xfrm>
          <a:prstGeom prst="rect">
            <a:avLst/>
          </a:prstGeom>
          <a:noFill/>
          <a:ln/>
        </p:spPr>
        <p:txBody>
          <a:bodyPr wrap="square" rtlCol="0" anchor="ctr"/>
          <a:lstStyle/>
          <a:p>
            <a:pPr marL="0" indent="0" algn="ctr">
              <a:buNone/>
            </a:pPr>
            <a:r>
              <a:rPr lang="en-US" sz="800" b="1" dirty="0">
                <a:solidFill>
                  <a:srgbClr val="94A3B8"/>
                </a:solidFill>
                <a:latin typeface="Calibri" pitchFamily="34" charset="0"/>
                <a:ea typeface="Calibri" pitchFamily="34" charset="-122"/>
                <a:cs typeface="Calibri" pitchFamily="34" charset="-120"/>
              </a:rPr>
              <a:t>LOW OUTPUT</a:t>
            </a:r>
            <a:endParaRPr lang="en-US" sz="800" dirty="0"/>
          </a:p>
          <a:p>
            <a:pPr marL="0" indent="0" algn="ctr">
              <a:buNone/>
            </a:pPr>
            <a:r>
              <a:rPr lang="en-US" sz="800" b="1" dirty="0">
                <a:solidFill>
                  <a:srgbClr val="94A3B8"/>
                </a:solidFill>
                <a:latin typeface="Calibri" pitchFamily="34" charset="0"/>
                <a:ea typeface="Calibri" pitchFamily="34" charset="-122"/>
                <a:cs typeface="Calibri" pitchFamily="34" charset="-120"/>
              </a:rPr>
              <a:t>SPECIFICITY</a:t>
            </a:r>
            <a:endParaRPr lang="en-US" sz="800" dirty="0"/>
          </a:p>
        </p:txBody>
      </p:sp>
      <p:sp>
        <p:nvSpPr>
          <p:cNvPr id="14" name="Text 12"/>
          <p:cNvSpPr/>
          <p:nvPr/>
        </p:nvSpPr>
        <p:spPr>
          <a:xfrm>
            <a:off x="1371600" y="1463040"/>
            <a:ext cx="548640" cy="54864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5" name="Text 13"/>
          <p:cNvSpPr/>
          <p:nvPr/>
        </p:nvSpPr>
        <p:spPr>
          <a:xfrm>
            <a:off x="1371600" y="2011680"/>
            <a:ext cx="2560320" cy="274320"/>
          </a:xfrm>
          <a:prstGeom prst="rect">
            <a:avLst/>
          </a:prstGeom>
          <a:noFill/>
          <a:ln/>
        </p:spPr>
        <p:txBody>
          <a:bodyPr wrap="square" rtlCol="0" anchor="ctr"/>
          <a:lstStyle/>
          <a:p>
            <a:pPr marL="0" indent="0" algn="ctr">
              <a:buNone/>
            </a:pPr>
            <a:r>
              <a:rPr lang="en-US" sz="1000" b="1" dirty="0">
                <a:solidFill>
                  <a:srgbClr val="2196CC"/>
                </a:solidFill>
                <a:latin typeface="Calibri" pitchFamily="34" charset="0"/>
                <a:ea typeface="Calibri" pitchFamily="34" charset="-122"/>
                <a:cs typeface="Calibri" pitchFamily="34" charset="-120"/>
              </a:rPr>
              <a:t>SENTINEL GRC OPS</a:t>
            </a:r>
            <a:endParaRPr lang="en-US" sz="1000" dirty="0"/>
          </a:p>
        </p:txBody>
      </p:sp>
      <p:sp>
        <p:nvSpPr>
          <p:cNvPr id="16" name="Text 14"/>
          <p:cNvSpPr/>
          <p:nvPr/>
        </p:nvSpPr>
        <p:spPr>
          <a:xfrm>
            <a:off x="1371600" y="2304288"/>
            <a:ext cx="2560320" cy="685800"/>
          </a:xfrm>
          <a:prstGeom prst="rect">
            <a:avLst/>
          </a:prstGeom>
          <a:noFill/>
          <a:ln/>
        </p:spPr>
        <p:txBody>
          <a:bodyPr wrap="square"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Free · Live feed · Named controls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AI severity · Zero setup</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 WHITE SPACE</a:t>
            </a:r>
            <a:endParaRPr lang="en-US" sz="800" dirty="0"/>
          </a:p>
        </p:txBody>
      </p:sp>
      <p:sp>
        <p:nvSpPr>
          <p:cNvPr id="17" name="Text 15"/>
          <p:cNvSpPr/>
          <p:nvPr/>
        </p:nvSpPr>
        <p:spPr>
          <a:xfrm>
            <a:off x="5029200" y="1508760"/>
            <a:ext cx="2743200" cy="274320"/>
          </a:xfrm>
          <a:prstGeom prst="rect">
            <a:avLst/>
          </a:prstGeom>
          <a:noFill/>
          <a:ln/>
        </p:spPr>
        <p:txBody>
          <a:bodyPr wrap="square" rtlCol="0" anchor="ctr"/>
          <a:lstStyle/>
          <a:p>
            <a:pPr marL="0" indent="0" algn="ctr">
              <a:buNone/>
            </a:pPr>
            <a:r>
              <a:rPr lang="en-US" sz="1100" b="1" dirty="0">
                <a:solidFill>
                  <a:srgbClr val="94A3B8"/>
                </a:solidFill>
              </a:rPr>
              <a:t>Drata</a:t>
            </a:r>
            <a:endParaRPr lang="en-US" sz="1100" dirty="0"/>
          </a:p>
        </p:txBody>
      </p:sp>
      <p:sp>
        <p:nvSpPr>
          <p:cNvPr id="18" name="Text 16"/>
          <p:cNvSpPr/>
          <p:nvPr/>
        </p:nvSpPr>
        <p:spPr>
          <a:xfrm>
            <a:off x="5029200" y="1828800"/>
            <a:ext cx="2743200" cy="731520"/>
          </a:xfrm>
          <a:prstGeom prst="rect">
            <a:avLst/>
          </a:prstGeom>
          <a:noFill/>
          <a:ln/>
        </p:spPr>
        <p:txBody>
          <a:bodyPr wrap="square" rtlCol="0" anchor="ctr"/>
          <a:lstStyle/>
          <a:p>
            <a:pPr marL="0" indent="0" algn="ctr">
              <a:buNone/>
            </a:pPr>
            <a:r>
              <a:rPr lang="en-US" sz="800" dirty="0">
                <a:solidFill>
                  <a:srgbClr val="64748B"/>
                </a:solidFill>
              </a:rPr>
              <a:t>Paid · Integration setup</a:t>
            </a:r>
            <a:endParaRPr lang="en-US" sz="800" dirty="0"/>
          </a:p>
          <a:p>
            <a:pPr marL="0" indent="0" algn="ctr">
              <a:buNone/>
            </a:pPr>
            <a:r>
              <a:rPr lang="en-US" sz="800" dirty="0">
                <a:solidFill>
                  <a:srgbClr val="64748B"/>
                </a:solidFill>
              </a:rPr>
              <a:t>SOC 2/ISO 27001 evidence</a:t>
            </a:r>
            <a:endParaRPr lang="en-US" sz="800" dirty="0"/>
          </a:p>
          <a:p>
            <a:pPr marL="0" indent="0" algn="ctr">
              <a:buNone/>
            </a:pPr>
            <a:r>
              <a:rPr lang="en-US" sz="800" dirty="0">
                <a:solidFill>
                  <a:srgbClr val="64748B"/>
                </a:solidFill>
              </a:rPr>
              <a:t>No AI-reasoned CISA mapping</a:t>
            </a:r>
            <a:endParaRPr lang="en-US" sz="800" dirty="0"/>
          </a:p>
        </p:txBody>
      </p:sp>
      <p:sp>
        <p:nvSpPr>
          <p:cNvPr id="19" name="Text 17"/>
          <p:cNvSpPr/>
          <p:nvPr/>
        </p:nvSpPr>
        <p:spPr>
          <a:xfrm>
            <a:off x="5029200" y="3337560"/>
            <a:ext cx="2743200" cy="256032"/>
          </a:xfrm>
          <a:prstGeom prst="rect">
            <a:avLst/>
          </a:prstGeom>
          <a:noFill/>
          <a:ln/>
        </p:spPr>
        <p:txBody>
          <a:bodyPr wrap="square" rtlCol="0" anchor="ctr"/>
          <a:lstStyle/>
          <a:p>
            <a:pPr marL="0" indent="0" algn="ctr">
              <a:buNone/>
            </a:pPr>
            <a:r>
              <a:rPr lang="en-US" sz="1000" b="1" dirty="0">
                <a:solidFill>
                  <a:srgbClr val="94A3B8"/>
                </a:solidFill>
              </a:rPr>
              <a:t>ServiceNow GRC</a:t>
            </a:r>
            <a:endParaRPr lang="en-US" sz="1000" dirty="0"/>
          </a:p>
        </p:txBody>
      </p:sp>
      <p:sp>
        <p:nvSpPr>
          <p:cNvPr id="20" name="Text 18"/>
          <p:cNvSpPr/>
          <p:nvPr/>
        </p:nvSpPr>
        <p:spPr>
          <a:xfrm>
            <a:off x="5029200" y="3611880"/>
            <a:ext cx="2743200" cy="256032"/>
          </a:xfrm>
          <a:prstGeom prst="rect">
            <a:avLst/>
          </a:prstGeom>
          <a:noFill/>
          <a:ln/>
        </p:spPr>
        <p:txBody>
          <a:bodyPr wrap="square" rtlCol="0" anchor="ctr"/>
          <a:lstStyle/>
          <a:p>
            <a:pPr marL="0" indent="0" algn="ctr">
              <a:buNone/>
            </a:pPr>
            <a:r>
              <a:rPr lang="en-US" sz="800" dirty="0">
                <a:solidFill>
                  <a:srgbClr val="64748B"/>
                </a:solidFill>
              </a:rPr>
              <a:t>$50K–$200K/yr · Enterprise only</a:t>
            </a:r>
            <a:endParaRPr lang="en-US" sz="800" dirty="0"/>
          </a:p>
        </p:txBody>
      </p:sp>
      <p:sp>
        <p:nvSpPr>
          <p:cNvPr id="21" name="Text 19"/>
          <p:cNvSpPr/>
          <p:nvPr/>
        </p:nvSpPr>
        <p:spPr>
          <a:xfrm>
            <a:off x="5029200" y="3931920"/>
            <a:ext cx="2743200" cy="256032"/>
          </a:xfrm>
          <a:prstGeom prst="rect">
            <a:avLst/>
          </a:prstGeom>
          <a:noFill/>
          <a:ln/>
        </p:spPr>
        <p:txBody>
          <a:bodyPr wrap="square" rtlCol="0" anchor="ctr"/>
          <a:lstStyle/>
          <a:p>
            <a:pPr marL="0" indent="0" algn="ctr">
              <a:buNone/>
            </a:pPr>
            <a:r>
              <a:rPr lang="en-US" sz="1000" b="1" dirty="0">
                <a:solidFill>
                  <a:srgbClr val="94A3B8"/>
                </a:solidFill>
              </a:rPr>
              <a:t>Tines</a:t>
            </a:r>
            <a:endParaRPr lang="en-US" sz="1000" dirty="0"/>
          </a:p>
        </p:txBody>
      </p:sp>
      <p:sp>
        <p:nvSpPr>
          <p:cNvPr id="22" name="Text 20"/>
          <p:cNvSpPr/>
          <p:nvPr/>
        </p:nvSpPr>
        <p:spPr>
          <a:xfrm>
            <a:off x="5029200" y="4206240"/>
            <a:ext cx="2743200" cy="256032"/>
          </a:xfrm>
          <a:prstGeom prst="rect">
            <a:avLst/>
          </a:prstGeom>
          <a:noFill/>
          <a:ln/>
        </p:spPr>
        <p:txBody>
          <a:bodyPr wrap="square" rtlCol="0" anchor="ctr"/>
          <a:lstStyle/>
          <a:p>
            <a:pPr marL="0" indent="0" algn="ctr">
              <a:buNone/>
            </a:pPr>
            <a:r>
              <a:rPr lang="en-US" sz="800" dirty="0">
                <a:solidFill>
                  <a:srgbClr val="64748B"/>
                </a:solidFill>
              </a:rPr>
              <a:t>Enterprise · Alerts only, no mapping</a:t>
            </a:r>
            <a:endParaRPr lang="en-US" sz="800" dirty="0"/>
          </a:p>
        </p:txBody>
      </p:sp>
      <p:sp>
        <p:nvSpPr>
          <p:cNvPr id="23" name="Text 21"/>
          <p:cNvSpPr/>
          <p:nvPr/>
        </p:nvSpPr>
        <p:spPr>
          <a:xfrm>
            <a:off x="1280160" y="3794760"/>
            <a:ext cx="2651760" cy="347472"/>
          </a:xfrm>
          <a:prstGeom prst="rect">
            <a:avLst/>
          </a:prstGeom>
          <a:noFill/>
          <a:ln/>
        </p:spPr>
        <p:txBody>
          <a:bodyPr wrap="square" rtlCol="0" anchor="ctr"/>
          <a:lstStyle/>
          <a:p>
            <a:pPr marL="0" indent="0" algn="ctr">
              <a:buNone/>
            </a:pPr>
            <a:r>
              <a:rPr lang="en-US" sz="900" i="1" dirty="0">
                <a:solidFill>
                  <a:srgbClr val="475569"/>
                </a:solidFill>
              </a:rPr>
              <a:t>[Open — no tool here]</a:t>
            </a:r>
            <a:endParaRPr lang="en-US" sz="900" dirty="0"/>
          </a:p>
        </p:txBody>
      </p:sp>
      <p:sp>
        <p:nvSpPr>
          <p:cNvPr id="24" name="Shape 22"/>
          <p:cNvSpPr/>
          <p:nvPr/>
        </p:nvSpPr>
        <p:spPr>
          <a:xfrm>
            <a:off x="457200" y="4645152"/>
            <a:ext cx="8229600" cy="347472"/>
          </a:xfrm>
          <a:prstGeom prst="roundRect">
            <a:avLst>
              <a:gd name="adj" fmla="val 18421"/>
            </a:avLst>
          </a:prstGeom>
          <a:solidFill>
            <a:srgbClr val="0A1929"/>
          </a:solidFill>
          <a:ln/>
        </p:spPr>
      </p:sp>
      <p:sp>
        <p:nvSpPr>
          <p:cNvPr id="25" name="Text 23"/>
          <p:cNvSpPr/>
          <p:nvPr/>
        </p:nvSpPr>
        <p:spPr>
          <a:xfrm>
            <a:off x="640080" y="4663440"/>
            <a:ext cx="7863840" cy="310896"/>
          </a:xfrm>
          <a:prstGeom prst="rect">
            <a:avLst/>
          </a:prstGeom>
          <a:noFill/>
          <a:ln/>
        </p:spPr>
        <p:txBody>
          <a:bodyPr wrap="square" rtlCol="0" anchor="ctr"/>
          <a:lstStyle/>
          <a:p>
            <a:pPr marL="0" indent="0" algn="ctr">
              <a:buNone/>
            </a:pPr>
            <a:r>
              <a:rPr lang="en-US" sz="900" dirty="0">
                <a:solidFill>
                  <a:srgbClr val="2196CC"/>
                </a:solidFill>
                <a:latin typeface="Calibri" pitchFamily="34" charset="0"/>
                <a:ea typeface="Calibri" pitchFamily="34" charset="-122"/>
                <a:cs typeface="Calibri" pitchFamily="34" charset="-120"/>
              </a:rPr>
              <a:t>The gap: nobody offers automatic AI-reasoned CISA-to-control mapping, for free, with zero setup. Enterprise vendors can't. Automation tools don't.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DEVELOPMENT PLAN</a:t>
            </a:r>
            <a:endParaRPr lang="en-US" sz="700" dirty="0"/>
          </a:p>
        </p:txBody>
      </p:sp>
      <p:sp>
        <p:nvSpPr>
          <p:cNvPr id="4" name="Text 2"/>
          <p:cNvSpPr/>
          <p:nvPr/>
        </p:nvSpPr>
        <p:spPr>
          <a:xfrm>
            <a:off x="457200" y="548640"/>
            <a:ext cx="8229600" cy="502920"/>
          </a:xfrm>
          <a:prstGeom prst="rect">
            <a:avLst/>
          </a:prstGeom>
          <a:noFill/>
          <a:ln/>
        </p:spPr>
        <p:txBody>
          <a:bodyPr wrap="square" rtlCol="0" anchor="ctr"/>
          <a:lstStyle/>
          <a:p>
            <a:pPr marL="0" indent="0">
              <a:buNone/>
            </a:pPr>
            <a:r>
              <a:rPr lang="en-US" sz="2600" b="1" dirty="0">
                <a:solidFill>
                  <a:srgbClr val="0F2B4B"/>
                </a:solidFill>
                <a:latin typeface="Calibri" pitchFamily="34" charset="0"/>
                <a:ea typeface="Calibri" pitchFamily="34" charset="-122"/>
                <a:cs typeface="Calibri" pitchFamily="34" charset="-120"/>
              </a:rPr>
              <a:t>Where We Are. Where We're Going.</a:t>
            </a:r>
            <a:endParaRPr lang="en-US" sz="2600" dirty="0"/>
          </a:p>
        </p:txBody>
      </p:sp>
      <p:sp>
        <p:nvSpPr>
          <p:cNvPr id="5" name="Shape 3"/>
          <p:cNvSpPr/>
          <p:nvPr/>
        </p:nvSpPr>
        <p:spPr>
          <a:xfrm>
            <a:off x="457200" y="1143000"/>
            <a:ext cx="2011680" cy="347472"/>
          </a:xfrm>
          <a:prstGeom prst="roundRect">
            <a:avLst>
              <a:gd name="adj" fmla="val 21053"/>
            </a:avLst>
          </a:prstGeom>
          <a:solidFill>
            <a:srgbClr val="16A34A"/>
          </a:solidFill>
          <a:ln/>
        </p:spPr>
      </p:sp>
      <p:sp>
        <p:nvSpPr>
          <p:cNvPr id="6" name="Text 4"/>
          <p:cNvSpPr/>
          <p:nvPr/>
        </p:nvSpPr>
        <p:spPr>
          <a:xfrm>
            <a:off x="457200" y="1143000"/>
            <a:ext cx="2011680" cy="347472"/>
          </a:xfrm>
          <a:prstGeom prst="rect">
            <a:avLst/>
          </a:prstGeom>
          <a:noFill/>
          <a:ln/>
        </p:spPr>
        <p:txBody>
          <a:bodyPr wrap="square" lIns="0" tIns="0" rIns="0" bIns="0" rtlCol="0" anchor="ctr"/>
          <a:lstStyle/>
          <a:p>
            <a:pPr marL="0" indent="0" algn="ctr">
              <a:buNone/>
            </a:pPr>
            <a:r>
              <a:rPr lang="en-US" sz="1100" b="1" dirty="0">
                <a:solidFill>
                  <a:srgbClr val="FFFFFF"/>
                </a:solidFill>
              </a:rPr>
              <a:t>● LIVE MVP</a:t>
            </a:r>
            <a:endParaRPr lang="en-US" sz="1100" dirty="0"/>
          </a:p>
        </p:txBody>
      </p:sp>
      <p:sp>
        <p:nvSpPr>
          <p:cNvPr id="7" name="Shape 5"/>
          <p:cNvSpPr/>
          <p:nvPr/>
        </p:nvSpPr>
        <p:spPr>
          <a:xfrm>
            <a:off x="365760" y="1645920"/>
            <a:ext cx="2011680" cy="2926080"/>
          </a:xfrm>
          <a:prstGeom prst="roundRect">
            <a:avLst>
              <a:gd name="adj" fmla="val 4545"/>
            </a:avLst>
          </a:prstGeom>
          <a:solidFill>
            <a:srgbClr val="F0FDF4"/>
          </a:solidFill>
          <a:ln w="19050">
            <a:solidFill>
              <a:srgbClr val="16A34A"/>
            </a:solidFill>
            <a:prstDash val="solid"/>
          </a:ln>
          <a:effectLst>
            <a:outerShdw blurRad="101600" dist="38100" dir="2700000" algn="bl" rotWithShape="0">
              <a:srgbClr val="000000">
                <a:alpha val="12000"/>
              </a:srgbClr>
            </a:outerShdw>
          </a:effectLst>
        </p:spPr>
      </p:sp>
      <p:sp>
        <p:nvSpPr>
          <p:cNvPr id="8" name="Shape 6"/>
          <p:cNvSpPr/>
          <p:nvPr/>
        </p:nvSpPr>
        <p:spPr>
          <a:xfrm>
            <a:off x="1005840" y="1719072"/>
            <a:ext cx="731520" cy="731520"/>
          </a:xfrm>
          <a:prstGeom prst="ellipse">
            <a:avLst/>
          </a:prstGeom>
          <a:solidFill>
            <a:srgbClr val="16A34A"/>
          </a:solidFill>
          <a:ln/>
        </p:spPr>
      </p:sp>
      <p:sp>
        <p:nvSpPr>
          <p:cNvPr id="9" name="Text 7"/>
          <p:cNvSpPr/>
          <p:nvPr/>
        </p:nvSpPr>
        <p:spPr>
          <a:xfrm>
            <a:off x="1005840" y="1719072"/>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10" name="Text 8"/>
          <p:cNvSpPr/>
          <p:nvPr/>
        </p:nvSpPr>
        <p:spPr>
          <a:xfrm>
            <a:off x="365760" y="2514600"/>
            <a:ext cx="2011680" cy="228600"/>
          </a:xfrm>
          <a:prstGeom prst="rect">
            <a:avLst/>
          </a:prstGeom>
          <a:noFill/>
          <a:ln/>
        </p:spPr>
        <p:txBody>
          <a:bodyPr wrap="square" lIns="0" tIns="0" rIns="0" bIns="0" rtlCol="0" anchor="ctr"/>
          <a:lstStyle/>
          <a:p>
            <a:pPr marL="0" indent="0" algn="ctr">
              <a:buNone/>
            </a:pPr>
            <a:r>
              <a:rPr lang="en-US" sz="800" b="1" dirty="0">
                <a:solidFill>
                  <a:srgbClr val="16A34A"/>
                </a:solidFill>
              </a:rPr>
              <a:t>NOW</a:t>
            </a:r>
            <a:endParaRPr lang="en-US" sz="800" dirty="0"/>
          </a:p>
        </p:txBody>
      </p:sp>
      <p:sp>
        <p:nvSpPr>
          <p:cNvPr id="11" name="Text 9"/>
          <p:cNvSpPr/>
          <p:nvPr/>
        </p:nvSpPr>
        <p:spPr>
          <a:xfrm>
            <a:off x="365760" y="2743200"/>
            <a:ext cx="2011680" cy="274320"/>
          </a:xfrm>
          <a:prstGeom prst="rect">
            <a:avLst/>
          </a:prstGeom>
          <a:noFill/>
          <a:ln/>
        </p:spPr>
        <p:txBody>
          <a:bodyPr wrap="square" rtlCol="0" anchor="ctr"/>
          <a:lstStyle/>
          <a:p>
            <a:pPr marL="0" indent="0" algn="ctr">
              <a:buNone/>
            </a:pPr>
            <a:r>
              <a:rPr lang="en-US" sz="1100" b="1" dirty="0">
                <a:solidFill>
                  <a:srgbClr val="0F2B4B"/>
                </a:solidFill>
                <a:latin typeface="Calibri" pitchFamily="34" charset="0"/>
                <a:ea typeface="Calibri" pitchFamily="34" charset="-122"/>
                <a:cs typeface="Calibri" pitchFamily="34" charset="-120"/>
              </a:rPr>
              <a:t>Live MVP</a:t>
            </a:r>
            <a:endParaRPr lang="en-US" sz="1100" dirty="0"/>
          </a:p>
        </p:txBody>
      </p:sp>
      <p:sp>
        <p:nvSpPr>
          <p:cNvPr id="12" name="Text 10"/>
          <p:cNvSpPr/>
          <p:nvPr/>
        </p:nvSpPr>
        <p:spPr>
          <a:xfrm>
            <a:off x="502920" y="3090672"/>
            <a:ext cx="1783080" cy="310896"/>
          </a:xfrm>
          <a:prstGeom prst="rect">
            <a:avLst/>
          </a:prstGeom>
          <a:noFill/>
          <a:ln/>
        </p:spPr>
        <p:txBody>
          <a:bodyPr wrap="square" rtlCol="0" anchor="ctr"/>
          <a:lstStyle/>
          <a:p>
            <a:pPr marL="0" indent="0">
              <a:buNone/>
            </a:pPr>
            <a:r>
              <a:rPr lang="en-US" sz="900" dirty="0">
                <a:solidFill>
                  <a:srgbClr val="16A34A"/>
                </a:solidFill>
                <a:latin typeface="Calibri" pitchFamily="34" charset="0"/>
                <a:ea typeface="Calibri" pitchFamily="34" charset="-122"/>
                <a:cs typeface="Calibri" pitchFamily="34" charset="-120"/>
              </a:rPr>
              <a:t>✓ Gradio UI deployed</a:t>
            </a:r>
            <a:endParaRPr lang="en-US" sz="900" dirty="0"/>
          </a:p>
        </p:txBody>
      </p:sp>
      <p:sp>
        <p:nvSpPr>
          <p:cNvPr id="13" name="Text 11"/>
          <p:cNvSpPr/>
          <p:nvPr/>
        </p:nvSpPr>
        <p:spPr>
          <a:xfrm>
            <a:off x="502920" y="3438144"/>
            <a:ext cx="1783080" cy="310896"/>
          </a:xfrm>
          <a:prstGeom prst="rect">
            <a:avLst/>
          </a:prstGeom>
          <a:noFill/>
          <a:ln/>
        </p:spPr>
        <p:txBody>
          <a:bodyPr wrap="square" rtlCol="0" anchor="ctr"/>
          <a:lstStyle/>
          <a:p>
            <a:pPr marL="0" indent="0">
              <a:buNone/>
            </a:pPr>
            <a:r>
              <a:rPr lang="en-US" sz="900" dirty="0">
                <a:solidFill>
                  <a:srgbClr val="16A34A"/>
                </a:solidFill>
                <a:latin typeface="Calibri" pitchFamily="34" charset="0"/>
                <a:ea typeface="Calibri" pitchFamily="34" charset="-122"/>
                <a:cs typeface="Calibri" pitchFamily="34" charset="-120"/>
              </a:rPr>
              <a:t>✓ CISA feed live</a:t>
            </a:r>
            <a:endParaRPr lang="en-US" sz="900" dirty="0"/>
          </a:p>
        </p:txBody>
      </p:sp>
      <p:sp>
        <p:nvSpPr>
          <p:cNvPr id="14" name="Text 12"/>
          <p:cNvSpPr/>
          <p:nvPr/>
        </p:nvSpPr>
        <p:spPr>
          <a:xfrm>
            <a:off x="502920" y="3785616"/>
            <a:ext cx="1783080" cy="310896"/>
          </a:xfrm>
          <a:prstGeom prst="rect">
            <a:avLst/>
          </a:prstGeom>
          <a:noFill/>
          <a:ln/>
        </p:spPr>
        <p:txBody>
          <a:bodyPr wrap="square" rtlCol="0" anchor="ctr"/>
          <a:lstStyle/>
          <a:p>
            <a:pPr marL="0" indent="0">
              <a:buNone/>
            </a:pPr>
            <a:r>
              <a:rPr lang="en-US" sz="900" dirty="0">
                <a:solidFill>
                  <a:srgbClr val="16A34A"/>
                </a:solidFill>
                <a:latin typeface="Calibri" pitchFamily="34" charset="0"/>
                <a:ea typeface="Calibri" pitchFamily="34" charset="-122"/>
                <a:cs typeface="Calibri" pitchFamily="34" charset="-120"/>
              </a:rPr>
              <a:t>✓ Groq AI working</a:t>
            </a:r>
            <a:endParaRPr lang="en-US" sz="900" dirty="0"/>
          </a:p>
        </p:txBody>
      </p:sp>
      <p:sp>
        <p:nvSpPr>
          <p:cNvPr id="15" name="Text 13"/>
          <p:cNvSpPr/>
          <p:nvPr/>
        </p:nvSpPr>
        <p:spPr>
          <a:xfrm>
            <a:off x="502920" y="4133088"/>
            <a:ext cx="1783080" cy="310896"/>
          </a:xfrm>
          <a:prstGeom prst="rect">
            <a:avLst/>
          </a:prstGeom>
          <a:noFill/>
          <a:ln/>
        </p:spPr>
        <p:txBody>
          <a:bodyPr wrap="square" rtlCol="0" anchor="ctr"/>
          <a:lstStyle/>
          <a:p>
            <a:pPr marL="0" indent="0">
              <a:buNone/>
            </a:pPr>
            <a:r>
              <a:rPr lang="en-US" sz="900" dirty="0">
                <a:solidFill>
                  <a:srgbClr val="16A34A"/>
                </a:solidFill>
                <a:latin typeface="Calibri" pitchFamily="34" charset="0"/>
                <a:ea typeface="Calibri" pitchFamily="34" charset="-122"/>
                <a:cs typeface="Calibri" pitchFamily="34" charset="-120"/>
              </a:rPr>
              <a:t>✓ 3-framework mapping</a:t>
            </a:r>
            <a:endParaRPr lang="en-US" sz="900" dirty="0"/>
          </a:p>
        </p:txBody>
      </p:sp>
      <p:sp>
        <p:nvSpPr>
          <p:cNvPr id="16" name="Shape 14"/>
          <p:cNvSpPr/>
          <p:nvPr/>
        </p:nvSpPr>
        <p:spPr>
          <a:xfrm>
            <a:off x="2514600" y="1645920"/>
            <a:ext cx="2011680" cy="2926080"/>
          </a:xfrm>
          <a:prstGeom prst="roundRect">
            <a:avLst>
              <a:gd name="adj" fmla="val 4545"/>
            </a:avLst>
          </a:prstGeom>
          <a:solidFill>
            <a:srgbClr val="FFFFFF"/>
          </a:solidFill>
          <a:ln/>
          <a:effectLst>
            <a:outerShdw blurRad="101600" dist="38100" dir="2700000" algn="bl" rotWithShape="0">
              <a:srgbClr val="000000">
                <a:alpha val="12000"/>
              </a:srgbClr>
            </a:outerShdw>
          </a:effectLst>
        </p:spPr>
      </p:sp>
      <p:sp>
        <p:nvSpPr>
          <p:cNvPr id="17" name="Shape 15"/>
          <p:cNvSpPr/>
          <p:nvPr/>
        </p:nvSpPr>
        <p:spPr>
          <a:xfrm>
            <a:off x="3154680" y="1719072"/>
            <a:ext cx="731520" cy="731520"/>
          </a:xfrm>
          <a:prstGeom prst="ellipse">
            <a:avLst/>
          </a:prstGeom>
          <a:solidFill>
            <a:srgbClr val="1D6FA4"/>
          </a:solidFill>
          <a:ln/>
        </p:spPr>
      </p:sp>
      <p:sp>
        <p:nvSpPr>
          <p:cNvPr id="18" name="Text 16"/>
          <p:cNvSpPr/>
          <p:nvPr/>
        </p:nvSpPr>
        <p:spPr>
          <a:xfrm>
            <a:off x="3154680" y="1719072"/>
            <a:ext cx="731520" cy="731520"/>
          </a:xfrm>
          <a:prstGeom prst="rect">
            <a:avLst/>
          </a:prstGeom>
          <a:noFill/>
          <a:ln/>
        </p:spPr>
        <p:txBody>
          <a:bodyPr wrap="square" lIns="0" tIns="0" rIns="0" bIns="0" rtlCol="0" anchor="ctr"/>
          <a:lstStyle/>
          <a:p>
            <a:pPr marL="0" indent="0" algn="ctr">
              <a:buNone/>
            </a:pPr>
            <a:r>
              <a:rPr lang="en-US" sz="1100" b="1" dirty="0">
                <a:solidFill>
                  <a:srgbClr val="FFFFFF"/>
                </a:solidFill>
              </a:rPr>
              <a:t>Q3</a:t>
            </a:r>
            <a:endParaRPr lang="en-US" sz="1100" dirty="0"/>
          </a:p>
        </p:txBody>
      </p:sp>
      <p:sp>
        <p:nvSpPr>
          <p:cNvPr id="19" name="Text 17"/>
          <p:cNvSpPr/>
          <p:nvPr/>
        </p:nvSpPr>
        <p:spPr>
          <a:xfrm>
            <a:off x="2514600" y="2514600"/>
            <a:ext cx="2011680" cy="228600"/>
          </a:xfrm>
          <a:prstGeom prst="rect">
            <a:avLst/>
          </a:prstGeom>
          <a:noFill/>
          <a:ln/>
        </p:spPr>
        <p:txBody>
          <a:bodyPr wrap="square" lIns="0" tIns="0" rIns="0" bIns="0" rtlCol="0" anchor="ctr"/>
          <a:lstStyle/>
          <a:p>
            <a:pPr marL="0" indent="0" algn="ctr">
              <a:buNone/>
            </a:pPr>
            <a:r>
              <a:rPr lang="en-US" sz="800" b="1" dirty="0">
                <a:solidFill>
                  <a:srgbClr val="1D6FA4"/>
                </a:solidFill>
              </a:rPr>
              <a:t>Q3 2026</a:t>
            </a:r>
            <a:endParaRPr lang="en-US" sz="800" dirty="0"/>
          </a:p>
        </p:txBody>
      </p:sp>
      <p:sp>
        <p:nvSpPr>
          <p:cNvPr id="20" name="Text 18"/>
          <p:cNvSpPr/>
          <p:nvPr/>
        </p:nvSpPr>
        <p:spPr>
          <a:xfrm>
            <a:off x="2514600" y="2743200"/>
            <a:ext cx="2011680" cy="274320"/>
          </a:xfrm>
          <a:prstGeom prst="rect">
            <a:avLst/>
          </a:prstGeom>
          <a:noFill/>
          <a:ln/>
        </p:spPr>
        <p:txBody>
          <a:bodyPr wrap="square" rtlCol="0" anchor="ctr"/>
          <a:lstStyle/>
          <a:p>
            <a:pPr marL="0" indent="0" algn="ctr">
              <a:buNone/>
            </a:pPr>
            <a:r>
              <a:rPr lang="en-US" sz="1100" b="1" dirty="0">
                <a:solidFill>
                  <a:srgbClr val="0F2B4B"/>
                </a:solidFill>
                <a:latin typeface="Calibri" pitchFamily="34" charset="0"/>
                <a:ea typeface="Calibri" pitchFamily="34" charset="-122"/>
                <a:cs typeface="Calibri" pitchFamily="34" charset="-120"/>
              </a:rPr>
              <a:t>v1.0 Launch</a:t>
            </a:r>
            <a:endParaRPr lang="en-US" sz="1100" dirty="0"/>
          </a:p>
        </p:txBody>
      </p:sp>
      <p:sp>
        <p:nvSpPr>
          <p:cNvPr id="21" name="Text 19"/>
          <p:cNvSpPr/>
          <p:nvPr/>
        </p:nvSpPr>
        <p:spPr>
          <a:xfrm>
            <a:off x="2651760" y="3090672"/>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Scheduled runs</a:t>
            </a:r>
            <a:endParaRPr lang="en-US" sz="900" dirty="0"/>
          </a:p>
        </p:txBody>
      </p:sp>
      <p:sp>
        <p:nvSpPr>
          <p:cNvPr id="22" name="Text 20"/>
          <p:cNvSpPr/>
          <p:nvPr/>
        </p:nvSpPr>
        <p:spPr>
          <a:xfrm>
            <a:off x="2651760" y="3438144"/>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Email delivery</a:t>
            </a:r>
            <a:endParaRPr lang="en-US" sz="900" dirty="0"/>
          </a:p>
        </p:txBody>
      </p:sp>
      <p:sp>
        <p:nvSpPr>
          <p:cNvPr id="23" name="Text 21"/>
          <p:cNvSpPr/>
          <p:nvPr/>
        </p:nvSpPr>
        <p:spPr>
          <a:xfrm>
            <a:off x="2651760" y="3785616"/>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User accounts</a:t>
            </a:r>
            <a:endParaRPr lang="en-US" sz="900" dirty="0"/>
          </a:p>
        </p:txBody>
      </p:sp>
      <p:sp>
        <p:nvSpPr>
          <p:cNvPr id="24" name="Text 22"/>
          <p:cNvSpPr/>
          <p:nvPr/>
        </p:nvSpPr>
        <p:spPr>
          <a:xfrm>
            <a:off x="2651760" y="4133088"/>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Pro tier billing</a:t>
            </a:r>
            <a:endParaRPr lang="en-US" sz="900" dirty="0"/>
          </a:p>
        </p:txBody>
      </p:sp>
      <p:sp>
        <p:nvSpPr>
          <p:cNvPr id="25" name="Shape 23"/>
          <p:cNvSpPr/>
          <p:nvPr/>
        </p:nvSpPr>
        <p:spPr>
          <a:xfrm>
            <a:off x="4663440" y="1645920"/>
            <a:ext cx="2011680" cy="2926080"/>
          </a:xfrm>
          <a:prstGeom prst="roundRect">
            <a:avLst>
              <a:gd name="adj" fmla="val 4545"/>
            </a:avLst>
          </a:prstGeom>
          <a:solidFill>
            <a:srgbClr val="FFFFFF"/>
          </a:solidFill>
          <a:ln/>
          <a:effectLst>
            <a:outerShdw blurRad="101600" dist="38100" dir="2700000" algn="bl" rotWithShape="0">
              <a:srgbClr val="000000">
                <a:alpha val="12000"/>
              </a:srgbClr>
            </a:outerShdw>
          </a:effectLst>
        </p:spPr>
      </p:sp>
      <p:sp>
        <p:nvSpPr>
          <p:cNvPr id="26" name="Shape 24"/>
          <p:cNvSpPr/>
          <p:nvPr/>
        </p:nvSpPr>
        <p:spPr>
          <a:xfrm>
            <a:off x="5303520" y="1719072"/>
            <a:ext cx="731520" cy="731520"/>
          </a:xfrm>
          <a:prstGeom prst="ellipse">
            <a:avLst/>
          </a:prstGeom>
          <a:solidFill>
            <a:srgbClr val="0D9488"/>
          </a:solidFill>
          <a:ln/>
        </p:spPr>
      </p:sp>
      <p:sp>
        <p:nvSpPr>
          <p:cNvPr id="27" name="Text 25"/>
          <p:cNvSpPr/>
          <p:nvPr/>
        </p:nvSpPr>
        <p:spPr>
          <a:xfrm>
            <a:off x="5303520" y="1719072"/>
            <a:ext cx="731520" cy="731520"/>
          </a:xfrm>
          <a:prstGeom prst="rect">
            <a:avLst/>
          </a:prstGeom>
          <a:noFill/>
          <a:ln/>
        </p:spPr>
        <p:txBody>
          <a:bodyPr wrap="square" lIns="0" tIns="0" rIns="0" bIns="0" rtlCol="0" anchor="ctr"/>
          <a:lstStyle/>
          <a:p>
            <a:pPr marL="0" indent="0" algn="ctr">
              <a:buNone/>
            </a:pPr>
            <a:r>
              <a:rPr lang="en-US" sz="1100" b="1" dirty="0">
                <a:solidFill>
                  <a:srgbClr val="FFFFFF"/>
                </a:solidFill>
              </a:rPr>
              <a:t>Q4</a:t>
            </a:r>
            <a:endParaRPr lang="en-US" sz="1100" dirty="0"/>
          </a:p>
        </p:txBody>
      </p:sp>
      <p:sp>
        <p:nvSpPr>
          <p:cNvPr id="28" name="Text 26"/>
          <p:cNvSpPr/>
          <p:nvPr/>
        </p:nvSpPr>
        <p:spPr>
          <a:xfrm>
            <a:off x="4663440" y="2514600"/>
            <a:ext cx="2011680" cy="228600"/>
          </a:xfrm>
          <a:prstGeom prst="rect">
            <a:avLst/>
          </a:prstGeom>
          <a:noFill/>
          <a:ln/>
        </p:spPr>
        <p:txBody>
          <a:bodyPr wrap="square" lIns="0" tIns="0" rIns="0" bIns="0" rtlCol="0" anchor="ctr"/>
          <a:lstStyle/>
          <a:p>
            <a:pPr marL="0" indent="0" algn="ctr">
              <a:buNone/>
            </a:pPr>
            <a:r>
              <a:rPr lang="en-US" sz="800" b="1" dirty="0">
                <a:solidFill>
                  <a:srgbClr val="0D9488"/>
                </a:solidFill>
              </a:rPr>
              <a:t>Q4 2026</a:t>
            </a:r>
            <a:endParaRPr lang="en-US" sz="800" dirty="0"/>
          </a:p>
        </p:txBody>
      </p:sp>
      <p:sp>
        <p:nvSpPr>
          <p:cNvPr id="29" name="Text 27"/>
          <p:cNvSpPr/>
          <p:nvPr/>
        </p:nvSpPr>
        <p:spPr>
          <a:xfrm>
            <a:off x="4663440" y="2743200"/>
            <a:ext cx="2011680" cy="274320"/>
          </a:xfrm>
          <a:prstGeom prst="rect">
            <a:avLst/>
          </a:prstGeom>
          <a:noFill/>
          <a:ln/>
        </p:spPr>
        <p:txBody>
          <a:bodyPr wrap="square" rtlCol="0" anchor="ctr"/>
          <a:lstStyle/>
          <a:p>
            <a:pPr marL="0" indent="0" algn="ctr">
              <a:buNone/>
            </a:pPr>
            <a:r>
              <a:rPr lang="en-US" sz="1100" b="1" dirty="0">
                <a:solidFill>
                  <a:srgbClr val="0F2B4B"/>
                </a:solidFill>
                <a:latin typeface="Calibri" pitchFamily="34" charset="0"/>
                <a:ea typeface="Calibri" pitchFamily="34" charset="-122"/>
                <a:cs typeface="Calibri" pitchFamily="34" charset="-120"/>
              </a:rPr>
              <a:t>v2.0 Scale</a:t>
            </a:r>
            <a:endParaRPr lang="en-US" sz="1100" dirty="0"/>
          </a:p>
        </p:txBody>
      </p:sp>
      <p:sp>
        <p:nvSpPr>
          <p:cNvPr id="30" name="Text 28"/>
          <p:cNvSpPr/>
          <p:nvPr/>
        </p:nvSpPr>
        <p:spPr>
          <a:xfrm>
            <a:off x="4800600" y="3090672"/>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Team accounts</a:t>
            </a:r>
            <a:endParaRPr lang="en-US" sz="900" dirty="0"/>
          </a:p>
        </p:txBody>
      </p:sp>
      <p:sp>
        <p:nvSpPr>
          <p:cNvPr id="31" name="Text 29"/>
          <p:cNvSpPr/>
          <p:nvPr/>
        </p:nvSpPr>
        <p:spPr>
          <a:xfrm>
            <a:off x="4800600" y="3438144"/>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Custom frameworks</a:t>
            </a:r>
            <a:endParaRPr lang="en-US" sz="900" dirty="0"/>
          </a:p>
        </p:txBody>
      </p:sp>
      <p:sp>
        <p:nvSpPr>
          <p:cNvPr id="32" name="Text 30"/>
          <p:cNvSpPr/>
          <p:nvPr/>
        </p:nvSpPr>
        <p:spPr>
          <a:xfrm>
            <a:off x="4800600" y="3785616"/>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API access</a:t>
            </a:r>
            <a:endParaRPr lang="en-US" sz="900" dirty="0"/>
          </a:p>
        </p:txBody>
      </p:sp>
      <p:sp>
        <p:nvSpPr>
          <p:cNvPr id="33" name="Text 31"/>
          <p:cNvSpPr/>
          <p:nvPr/>
        </p:nvSpPr>
        <p:spPr>
          <a:xfrm>
            <a:off x="4800600" y="4133088"/>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Audit trail export</a:t>
            </a:r>
            <a:endParaRPr lang="en-US" sz="900" dirty="0"/>
          </a:p>
        </p:txBody>
      </p:sp>
      <p:sp>
        <p:nvSpPr>
          <p:cNvPr id="34" name="Shape 32"/>
          <p:cNvSpPr/>
          <p:nvPr/>
        </p:nvSpPr>
        <p:spPr>
          <a:xfrm>
            <a:off x="6812280" y="1645920"/>
            <a:ext cx="2011680" cy="2926080"/>
          </a:xfrm>
          <a:prstGeom prst="roundRect">
            <a:avLst>
              <a:gd name="adj" fmla="val 4545"/>
            </a:avLst>
          </a:prstGeom>
          <a:solidFill>
            <a:srgbClr val="FFFFFF"/>
          </a:solidFill>
          <a:ln/>
          <a:effectLst>
            <a:outerShdw blurRad="101600" dist="38100" dir="2700000" algn="bl" rotWithShape="0">
              <a:srgbClr val="000000">
                <a:alpha val="12000"/>
              </a:srgbClr>
            </a:outerShdw>
          </a:effectLst>
        </p:spPr>
      </p:sp>
      <p:sp>
        <p:nvSpPr>
          <p:cNvPr id="35" name="Shape 33"/>
          <p:cNvSpPr/>
          <p:nvPr/>
        </p:nvSpPr>
        <p:spPr>
          <a:xfrm>
            <a:off x="7452360" y="1719072"/>
            <a:ext cx="731520" cy="731520"/>
          </a:xfrm>
          <a:prstGeom prst="ellipse">
            <a:avLst/>
          </a:prstGeom>
          <a:solidFill>
            <a:srgbClr val="475569"/>
          </a:solidFill>
          <a:ln/>
        </p:spPr>
      </p:sp>
      <p:sp>
        <p:nvSpPr>
          <p:cNvPr id="36" name="Text 34"/>
          <p:cNvSpPr/>
          <p:nvPr/>
        </p:nvSpPr>
        <p:spPr>
          <a:xfrm>
            <a:off x="7452360" y="1719072"/>
            <a:ext cx="731520" cy="731520"/>
          </a:xfrm>
          <a:prstGeom prst="rect">
            <a:avLst/>
          </a:prstGeom>
          <a:noFill/>
          <a:ln/>
        </p:spPr>
        <p:txBody>
          <a:bodyPr wrap="square" lIns="0" tIns="0" rIns="0" bIns="0" rtlCol="0" anchor="ctr"/>
          <a:lstStyle/>
          <a:p>
            <a:pPr marL="0" indent="0" algn="ctr">
              <a:buNone/>
            </a:pPr>
            <a:r>
              <a:rPr lang="en-US" sz="1100" b="1" dirty="0">
                <a:solidFill>
                  <a:srgbClr val="FFFFFF"/>
                </a:solidFill>
              </a:rPr>
              <a:t>Q1</a:t>
            </a:r>
            <a:endParaRPr lang="en-US" sz="1100" dirty="0"/>
          </a:p>
        </p:txBody>
      </p:sp>
      <p:sp>
        <p:nvSpPr>
          <p:cNvPr id="37" name="Text 35"/>
          <p:cNvSpPr/>
          <p:nvPr/>
        </p:nvSpPr>
        <p:spPr>
          <a:xfrm>
            <a:off x="6812280" y="2514600"/>
            <a:ext cx="2011680" cy="228600"/>
          </a:xfrm>
          <a:prstGeom prst="rect">
            <a:avLst/>
          </a:prstGeom>
          <a:noFill/>
          <a:ln/>
        </p:spPr>
        <p:txBody>
          <a:bodyPr wrap="square" lIns="0" tIns="0" rIns="0" bIns="0" rtlCol="0" anchor="ctr"/>
          <a:lstStyle/>
          <a:p>
            <a:pPr marL="0" indent="0" algn="ctr">
              <a:buNone/>
            </a:pPr>
            <a:r>
              <a:rPr lang="en-US" sz="800" b="1" dirty="0">
                <a:solidFill>
                  <a:srgbClr val="475569"/>
                </a:solidFill>
              </a:rPr>
              <a:t>Q1 2027</a:t>
            </a:r>
            <a:endParaRPr lang="en-US" sz="800" dirty="0"/>
          </a:p>
        </p:txBody>
      </p:sp>
      <p:sp>
        <p:nvSpPr>
          <p:cNvPr id="38" name="Text 36"/>
          <p:cNvSpPr/>
          <p:nvPr/>
        </p:nvSpPr>
        <p:spPr>
          <a:xfrm>
            <a:off x="6812280" y="2743200"/>
            <a:ext cx="2011680" cy="274320"/>
          </a:xfrm>
          <a:prstGeom prst="rect">
            <a:avLst/>
          </a:prstGeom>
          <a:noFill/>
          <a:ln/>
        </p:spPr>
        <p:txBody>
          <a:bodyPr wrap="square" rtlCol="0" anchor="ctr"/>
          <a:lstStyle/>
          <a:p>
            <a:pPr marL="0" indent="0" algn="ctr">
              <a:buNone/>
            </a:pPr>
            <a:r>
              <a:rPr lang="en-US" sz="1100" b="1" dirty="0">
                <a:solidFill>
                  <a:srgbClr val="0F2B4B"/>
                </a:solidFill>
                <a:latin typeface="Calibri" pitchFamily="34" charset="0"/>
                <a:ea typeface="Calibri" pitchFamily="34" charset="-122"/>
                <a:cs typeface="Calibri" pitchFamily="34" charset="-120"/>
              </a:rPr>
              <a:t>Enterprise</a:t>
            </a:r>
            <a:endParaRPr lang="en-US" sz="1100" dirty="0"/>
          </a:p>
        </p:txBody>
      </p:sp>
      <p:sp>
        <p:nvSpPr>
          <p:cNvPr id="39" name="Text 37"/>
          <p:cNvSpPr/>
          <p:nvPr/>
        </p:nvSpPr>
        <p:spPr>
          <a:xfrm>
            <a:off x="6949440" y="3090672"/>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SSO / SAML</a:t>
            </a:r>
            <a:endParaRPr lang="en-US" sz="900" dirty="0"/>
          </a:p>
        </p:txBody>
      </p:sp>
      <p:sp>
        <p:nvSpPr>
          <p:cNvPr id="40" name="Text 38"/>
          <p:cNvSpPr/>
          <p:nvPr/>
        </p:nvSpPr>
        <p:spPr>
          <a:xfrm>
            <a:off x="6949440" y="3438144"/>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Custom LLM prompts</a:t>
            </a:r>
            <a:endParaRPr lang="en-US" sz="900" dirty="0"/>
          </a:p>
        </p:txBody>
      </p:sp>
      <p:sp>
        <p:nvSpPr>
          <p:cNvPr id="41" name="Text 39"/>
          <p:cNvSpPr/>
          <p:nvPr/>
        </p:nvSpPr>
        <p:spPr>
          <a:xfrm>
            <a:off x="6949440" y="3785616"/>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White-label option</a:t>
            </a:r>
            <a:endParaRPr lang="en-US" sz="900" dirty="0"/>
          </a:p>
        </p:txBody>
      </p:sp>
      <p:sp>
        <p:nvSpPr>
          <p:cNvPr id="42" name="Text 40"/>
          <p:cNvSpPr/>
          <p:nvPr/>
        </p:nvSpPr>
        <p:spPr>
          <a:xfrm>
            <a:off x="6949440" y="4133088"/>
            <a:ext cx="1783080" cy="310896"/>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 SLA guarantees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457200" y="182880"/>
            <a:ext cx="1645920" cy="256032"/>
          </a:xfrm>
          <a:prstGeom prst="roundRect">
            <a:avLst>
              <a:gd name="adj" fmla="val 17857"/>
            </a:avLst>
          </a:prstGeom>
          <a:solidFill>
            <a:srgbClr val="2196CC"/>
          </a:solidFill>
          <a:ln/>
        </p:spPr>
      </p:sp>
      <p:sp>
        <p:nvSpPr>
          <p:cNvPr id="3" name="Text 1"/>
          <p:cNvSpPr/>
          <p:nvPr/>
        </p:nvSpPr>
        <p:spPr>
          <a:xfrm>
            <a:off x="457200" y="182880"/>
            <a:ext cx="1645920" cy="256032"/>
          </a:xfrm>
          <a:prstGeom prst="rect">
            <a:avLst/>
          </a:prstGeom>
          <a:noFill/>
          <a:ln/>
        </p:spPr>
        <p:txBody>
          <a:bodyPr wrap="square" lIns="0" tIns="0" rIns="0" bIns="0" rtlCol="0" anchor="ctr"/>
          <a:lstStyle/>
          <a:p>
            <a:pPr marL="0" indent="0" algn="ctr">
              <a:buNone/>
            </a:pPr>
            <a:r>
              <a:rPr lang="en-US" sz="700" b="1" dirty="0">
                <a:solidFill>
                  <a:srgbClr val="FFFFFF"/>
                </a:solidFill>
              </a:rPr>
              <a:t>PROOF OF CONCEPT</a:t>
            </a:r>
            <a:endParaRPr lang="en-US" sz="700" dirty="0"/>
          </a:p>
        </p:txBody>
      </p:sp>
      <p:sp>
        <p:nvSpPr>
          <p:cNvPr id="4" name="Text 2"/>
          <p:cNvSpPr/>
          <p:nvPr/>
        </p:nvSpPr>
        <p:spPr>
          <a:xfrm>
            <a:off x="457200" y="548640"/>
            <a:ext cx="5486400" cy="45720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This Is What It Looks Like</a:t>
            </a:r>
            <a:endParaRPr lang="en-US" sz="2600" dirty="0"/>
          </a:p>
        </p:txBody>
      </p:sp>
      <p:sp>
        <p:nvSpPr>
          <p:cNvPr id="5" name="Shape 3"/>
          <p:cNvSpPr/>
          <p:nvPr/>
        </p:nvSpPr>
        <p:spPr>
          <a:xfrm>
            <a:off x="5669280" y="566928"/>
            <a:ext cx="3017520" cy="347472"/>
          </a:xfrm>
          <a:prstGeom prst="roundRect">
            <a:avLst>
              <a:gd name="adj" fmla="val 21053"/>
            </a:avLst>
          </a:prstGeom>
          <a:solidFill>
            <a:srgbClr val="0A1929"/>
          </a:solidFill>
          <a:ln w="12700">
            <a:solidFill>
              <a:srgbClr val="2196CC"/>
            </a:solidFill>
            <a:prstDash val="solid"/>
          </a:ln>
        </p:spPr>
      </p:sp>
      <p:sp>
        <p:nvSpPr>
          <p:cNvPr id="6" name="Text 4"/>
          <p:cNvSpPr/>
          <p:nvPr/>
        </p:nvSpPr>
        <p:spPr>
          <a:xfrm>
            <a:off x="5760720" y="576072"/>
            <a:ext cx="2834640" cy="329184"/>
          </a:xfrm>
          <a:prstGeom prst="rect">
            <a:avLst/>
          </a:prstGeom>
          <a:noFill/>
          <a:ln/>
        </p:spPr>
        <p:txBody>
          <a:bodyPr wrap="square" rtlCol="0" anchor="ctr"/>
          <a:lstStyle/>
          <a:p>
            <a:pPr marL="0" indent="0">
              <a:buNone/>
            </a:pPr>
            <a:r>
              <a:rPr lang="en-US" sz="700" dirty="0">
                <a:solidFill>
                  <a:srgbClr val="2196CC"/>
                </a:solidFill>
                <a:latin typeface="Courier New" pitchFamily="34" charset="0"/>
                <a:ea typeface="Courier New" pitchFamily="34" charset="-122"/>
                <a:cs typeface="Courier New" pitchFamily="34" charset="-120"/>
              </a:rPr>
              <a:t>huggingface.co/spaces/</a:t>
            </a:r>
            <a:endParaRPr lang="en-US" sz="700" dirty="0"/>
          </a:p>
          <a:p>
            <a:pPr marL="0" indent="0">
              <a:buNone/>
            </a:pPr>
            <a:r>
              <a:rPr lang="en-US" sz="700" dirty="0">
                <a:solidFill>
                  <a:srgbClr val="2196CC"/>
                </a:solidFill>
                <a:latin typeface="Courier New" pitchFamily="34" charset="0"/>
                <a:ea typeface="Courier New" pitchFamily="34" charset="-122"/>
                <a:cs typeface="Courier New" pitchFamily="34" charset="-120"/>
              </a:rPr>
              <a:t>HammadRana1/sentinel-grc-ops</a:t>
            </a:r>
            <a:endParaRPr lang="en-US" sz="700" dirty="0"/>
          </a:p>
        </p:txBody>
      </p:sp>
      <p:pic>
        <p:nvPicPr>
          <p:cNvPr id="7" name="Image 0" descr="/home/claude/product_screenshot.png"/>
          <p:cNvPicPr>
            <a:picLocks noChangeAspect="1"/>
          </p:cNvPicPr>
          <p:nvPr/>
        </p:nvPicPr>
        <p:blipFill>
          <a:blip r:embed="rId3"/>
          <a:stretch>
            <a:fillRect/>
          </a:stretch>
        </p:blipFill>
        <p:spPr>
          <a:xfrm>
            <a:off x="274320" y="1097280"/>
            <a:ext cx="5669280" cy="3566160"/>
          </a:xfrm>
          <a:prstGeom prst="rect">
            <a:avLst/>
          </a:prstGeom>
          <a:effectLst>
            <a:outerShdw blurRad="101600" dist="38100" dir="2700000" algn="bl" rotWithShape="0">
              <a:srgbClr val="000000">
                <a:alpha val="12000"/>
              </a:srgbClr>
            </a:outerShdw>
          </a:effectLst>
        </p:spPr>
      </p:pic>
      <p:sp>
        <p:nvSpPr>
          <p:cNvPr id="8" name="Shape 5"/>
          <p:cNvSpPr/>
          <p:nvPr/>
        </p:nvSpPr>
        <p:spPr>
          <a:xfrm>
            <a:off x="6126480" y="1143000"/>
            <a:ext cx="2834640" cy="713232"/>
          </a:xfrm>
          <a:prstGeom prst="roundRect">
            <a:avLst>
              <a:gd name="adj" fmla="val 10256"/>
            </a:avLst>
          </a:prstGeom>
          <a:solidFill>
            <a:srgbClr val="0A1929"/>
          </a:solidFill>
          <a:ln/>
          <a:effectLst>
            <a:outerShdw blurRad="101600" dist="38100" dir="2700000" algn="bl" rotWithShape="0">
              <a:srgbClr val="000000">
                <a:alpha val="12000"/>
              </a:srgbClr>
            </a:outerShdw>
          </a:effectLst>
        </p:spPr>
      </p:sp>
      <p:sp>
        <p:nvSpPr>
          <p:cNvPr id="9" name="Shape 6"/>
          <p:cNvSpPr/>
          <p:nvPr/>
        </p:nvSpPr>
        <p:spPr>
          <a:xfrm>
            <a:off x="6236208" y="1271016"/>
            <a:ext cx="457200" cy="457200"/>
          </a:xfrm>
          <a:prstGeom prst="ellipse">
            <a:avLst/>
          </a:prstGeom>
          <a:solidFill>
            <a:srgbClr val="16A34A"/>
          </a:solidFill>
          <a:ln/>
        </p:spPr>
      </p:sp>
      <p:sp>
        <p:nvSpPr>
          <p:cNvPr id="10" name="Text 7"/>
          <p:cNvSpPr/>
          <p:nvPr/>
        </p:nvSpPr>
        <p:spPr>
          <a:xfrm>
            <a:off x="6236208" y="1271016"/>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8"/>
          <p:cNvSpPr/>
          <p:nvPr/>
        </p:nvSpPr>
        <p:spPr>
          <a:xfrm>
            <a:off x="6766560" y="1216152"/>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Live CISA data</a:t>
            </a:r>
            <a:endParaRPr lang="en-US" sz="1100" dirty="0"/>
          </a:p>
        </p:txBody>
      </p:sp>
      <p:sp>
        <p:nvSpPr>
          <p:cNvPr id="12" name="Text 9"/>
          <p:cNvSpPr/>
          <p:nvPr/>
        </p:nvSpPr>
        <p:spPr>
          <a:xfrm>
            <a:off x="6766560" y="1508760"/>
            <a:ext cx="210312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Real advisories, not mock data</a:t>
            </a:r>
            <a:endParaRPr lang="en-US" sz="900" dirty="0"/>
          </a:p>
        </p:txBody>
      </p:sp>
      <p:sp>
        <p:nvSpPr>
          <p:cNvPr id="13" name="Shape 10"/>
          <p:cNvSpPr/>
          <p:nvPr/>
        </p:nvSpPr>
        <p:spPr>
          <a:xfrm>
            <a:off x="6126480" y="1984248"/>
            <a:ext cx="2834640" cy="713232"/>
          </a:xfrm>
          <a:prstGeom prst="roundRect">
            <a:avLst>
              <a:gd name="adj" fmla="val 10256"/>
            </a:avLst>
          </a:prstGeom>
          <a:solidFill>
            <a:srgbClr val="0A1929"/>
          </a:solidFill>
          <a:ln/>
          <a:effectLst>
            <a:outerShdw blurRad="101600" dist="38100" dir="2700000" algn="bl" rotWithShape="0">
              <a:srgbClr val="000000">
                <a:alpha val="12000"/>
              </a:srgbClr>
            </a:outerShdw>
          </a:effectLst>
        </p:spPr>
      </p:sp>
      <p:sp>
        <p:nvSpPr>
          <p:cNvPr id="14" name="Shape 11"/>
          <p:cNvSpPr/>
          <p:nvPr/>
        </p:nvSpPr>
        <p:spPr>
          <a:xfrm>
            <a:off x="6236208" y="2112264"/>
            <a:ext cx="457200" cy="457200"/>
          </a:xfrm>
          <a:prstGeom prst="ellipse">
            <a:avLst/>
          </a:prstGeom>
          <a:solidFill>
            <a:srgbClr val="2196CC"/>
          </a:solidFill>
          <a:ln/>
        </p:spPr>
      </p:sp>
      <p:sp>
        <p:nvSpPr>
          <p:cNvPr id="15" name="Text 12"/>
          <p:cNvSpPr/>
          <p:nvPr/>
        </p:nvSpPr>
        <p:spPr>
          <a:xfrm>
            <a:off x="6236208" y="2112264"/>
            <a:ext cx="45720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AI</a:t>
            </a:r>
            <a:endParaRPr lang="en-US" sz="900" dirty="0"/>
          </a:p>
        </p:txBody>
      </p:sp>
      <p:sp>
        <p:nvSpPr>
          <p:cNvPr id="16" name="Text 13"/>
          <p:cNvSpPr/>
          <p:nvPr/>
        </p:nvSpPr>
        <p:spPr>
          <a:xfrm>
            <a:off x="6766560" y="2057400"/>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AI analysis</a:t>
            </a:r>
            <a:endParaRPr lang="en-US" sz="1100" dirty="0"/>
          </a:p>
        </p:txBody>
      </p:sp>
      <p:sp>
        <p:nvSpPr>
          <p:cNvPr id="17" name="Text 14"/>
          <p:cNvSpPr/>
          <p:nvPr/>
        </p:nvSpPr>
        <p:spPr>
          <a:xfrm>
            <a:off x="6766560" y="2350008"/>
            <a:ext cx="210312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Groq Llama 3.1 mapping controls</a:t>
            </a:r>
            <a:endParaRPr lang="en-US" sz="900" dirty="0"/>
          </a:p>
        </p:txBody>
      </p:sp>
      <p:sp>
        <p:nvSpPr>
          <p:cNvPr id="18" name="Shape 15"/>
          <p:cNvSpPr/>
          <p:nvPr/>
        </p:nvSpPr>
        <p:spPr>
          <a:xfrm>
            <a:off x="6126480" y="2825496"/>
            <a:ext cx="2834640" cy="713232"/>
          </a:xfrm>
          <a:prstGeom prst="roundRect">
            <a:avLst>
              <a:gd name="adj" fmla="val 10256"/>
            </a:avLst>
          </a:prstGeom>
          <a:solidFill>
            <a:srgbClr val="0A1929"/>
          </a:solidFill>
          <a:ln/>
          <a:effectLst>
            <a:outerShdw blurRad="101600" dist="38100" dir="2700000" algn="bl" rotWithShape="0">
              <a:srgbClr val="000000">
                <a:alpha val="12000"/>
              </a:srgbClr>
            </a:outerShdw>
          </a:effectLst>
        </p:spPr>
      </p:sp>
      <p:sp>
        <p:nvSpPr>
          <p:cNvPr id="19" name="Shape 16"/>
          <p:cNvSpPr/>
          <p:nvPr/>
        </p:nvSpPr>
        <p:spPr>
          <a:xfrm>
            <a:off x="6236208" y="2953512"/>
            <a:ext cx="457200" cy="457200"/>
          </a:xfrm>
          <a:prstGeom prst="ellipse">
            <a:avLst/>
          </a:prstGeom>
          <a:solidFill>
            <a:srgbClr val="0D9488"/>
          </a:solidFill>
          <a:ln/>
        </p:spPr>
      </p:sp>
      <p:sp>
        <p:nvSpPr>
          <p:cNvPr id="20" name="Text 17"/>
          <p:cNvSpPr/>
          <p:nvPr/>
        </p:nvSpPr>
        <p:spPr>
          <a:xfrm>
            <a:off x="6236208" y="29535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8"/>
          <p:cNvSpPr/>
          <p:nvPr/>
        </p:nvSpPr>
        <p:spPr>
          <a:xfrm>
            <a:off x="6766560" y="2898648"/>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3 frameworks</a:t>
            </a:r>
            <a:endParaRPr lang="en-US" sz="1100" dirty="0"/>
          </a:p>
        </p:txBody>
      </p:sp>
      <p:sp>
        <p:nvSpPr>
          <p:cNvPr id="22" name="Text 19"/>
          <p:cNvSpPr/>
          <p:nvPr/>
        </p:nvSpPr>
        <p:spPr>
          <a:xfrm>
            <a:off x="6766560" y="3191256"/>
            <a:ext cx="210312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ISO 27001, SOC 2, GDPR</a:t>
            </a:r>
            <a:endParaRPr lang="en-US" sz="900" dirty="0"/>
          </a:p>
        </p:txBody>
      </p:sp>
      <p:sp>
        <p:nvSpPr>
          <p:cNvPr id="23" name="Shape 20"/>
          <p:cNvSpPr/>
          <p:nvPr/>
        </p:nvSpPr>
        <p:spPr>
          <a:xfrm>
            <a:off x="6126480" y="3666744"/>
            <a:ext cx="2834640" cy="713232"/>
          </a:xfrm>
          <a:prstGeom prst="roundRect">
            <a:avLst>
              <a:gd name="adj" fmla="val 10256"/>
            </a:avLst>
          </a:prstGeom>
          <a:solidFill>
            <a:srgbClr val="0A1929"/>
          </a:solidFill>
          <a:ln/>
          <a:effectLst>
            <a:outerShdw blurRad="101600" dist="38100" dir="2700000" algn="bl" rotWithShape="0">
              <a:srgbClr val="000000">
                <a:alpha val="12000"/>
              </a:srgbClr>
            </a:outerShdw>
          </a:effectLst>
        </p:spPr>
      </p:sp>
      <p:sp>
        <p:nvSpPr>
          <p:cNvPr id="24" name="Shape 21"/>
          <p:cNvSpPr/>
          <p:nvPr/>
        </p:nvSpPr>
        <p:spPr>
          <a:xfrm>
            <a:off x="6236208" y="3794760"/>
            <a:ext cx="457200" cy="457200"/>
          </a:xfrm>
          <a:prstGeom prst="ellipse">
            <a:avLst/>
          </a:prstGeom>
          <a:solidFill>
            <a:srgbClr val="1D6FA4"/>
          </a:solidFill>
          <a:ln/>
        </p:spPr>
      </p:sp>
      <p:sp>
        <p:nvSpPr>
          <p:cNvPr id="25" name="Text 22"/>
          <p:cNvSpPr/>
          <p:nvPr/>
        </p:nvSpPr>
        <p:spPr>
          <a:xfrm>
            <a:off x="6236208" y="379476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6" name="Text 23"/>
          <p:cNvSpPr/>
          <p:nvPr/>
        </p:nvSpPr>
        <p:spPr>
          <a:xfrm>
            <a:off x="6766560" y="3739896"/>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User-tested</a:t>
            </a:r>
            <a:endParaRPr lang="en-US" sz="1100" dirty="0"/>
          </a:p>
        </p:txBody>
      </p:sp>
      <p:sp>
        <p:nvSpPr>
          <p:cNvPr id="27" name="Text 24"/>
          <p:cNvSpPr/>
          <p:nvPr/>
        </p:nvSpPr>
        <p:spPr>
          <a:xfrm>
            <a:off x="6766560" y="4032504"/>
            <a:ext cx="2103120" cy="256032"/>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3 real GRC professionals</a:t>
            </a:r>
            <a:endParaRPr lang="en-US" sz="900" dirty="0"/>
          </a:p>
        </p:txBody>
      </p:sp>
      <p:sp>
        <p:nvSpPr>
          <p:cNvPr id="28" name="Shape 25"/>
          <p:cNvSpPr/>
          <p:nvPr/>
        </p:nvSpPr>
        <p:spPr>
          <a:xfrm>
            <a:off x="274320" y="4754880"/>
            <a:ext cx="8686800" cy="292608"/>
          </a:xfrm>
          <a:prstGeom prst="roundRect">
            <a:avLst>
              <a:gd name="adj" fmla="val 21875"/>
            </a:avLst>
          </a:prstGeom>
          <a:solidFill>
            <a:srgbClr val="0A1929"/>
          </a:solidFill>
          <a:ln/>
        </p:spPr>
        <p:txBody>
          <a:bodyPr/>
          <a:lstStyle/>
          <a:p>
            <a:endParaRPr lang="en-US" dirty="0"/>
          </a:p>
        </p:txBody>
      </p:sp>
      <p:sp>
        <p:nvSpPr>
          <p:cNvPr id="29" name="Text 26"/>
          <p:cNvSpPr/>
          <p:nvPr/>
        </p:nvSpPr>
        <p:spPr>
          <a:xfrm>
            <a:off x="457200" y="4773168"/>
            <a:ext cx="8321040" cy="256032"/>
          </a:xfrm>
          <a:prstGeom prst="rect">
            <a:avLst/>
          </a:prstGeom>
          <a:noFill/>
          <a:ln/>
        </p:spPr>
        <p:txBody>
          <a:bodyPr wrap="square" rtlCol="0" anchor="ctr"/>
          <a:lstStyle/>
          <a:p>
            <a:pPr marL="0" indent="0" algn="ctr">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B4B"/>
        </a:solidFill>
        <a:effectLst/>
      </p:bgPr>
    </p:bg>
    <p:spTree>
      <p:nvGrpSpPr>
        <p:cNvPr id="1" name=""/>
        <p:cNvGrpSpPr/>
        <p:nvPr/>
      </p:nvGrpSpPr>
      <p:grpSpPr>
        <a:xfrm>
          <a:off x="0" y="0"/>
          <a:ext cx="0" cy="0"/>
          <a:chOff x="0" y="0"/>
          <a:chExt cx="0" cy="0"/>
        </a:xfrm>
      </p:grpSpPr>
      <p:sp>
        <p:nvSpPr>
          <p:cNvPr id="2" name="Shape 0"/>
          <p:cNvSpPr/>
          <p:nvPr/>
        </p:nvSpPr>
        <p:spPr>
          <a:xfrm>
            <a:off x="2926080" y="365760"/>
            <a:ext cx="3291840" cy="3291840"/>
          </a:xfrm>
          <a:prstGeom prst="ellipse">
            <a:avLst/>
          </a:prstGeom>
          <a:solidFill>
            <a:srgbClr val="1D6FA4">
              <a:alpha val="20000"/>
            </a:srgbClr>
          </a:solidFill>
          <a:ln/>
        </p:spPr>
      </p:sp>
      <p:sp>
        <p:nvSpPr>
          <p:cNvPr id="3" name="Shape 1"/>
          <p:cNvSpPr/>
          <p:nvPr/>
        </p:nvSpPr>
        <p:spPr>
          <a:xfrm>
            <a:off x="3291840" y="731520"/>
            <a:ext cx="2560320" cy="2560320"/>
          </a:xfrm>
          <a:prstGeom prst="ellipse">
            <a:avLst/>
          </a:prstGeom>
          <a:solidFill>
            <a:srgbClr val="2196CC">
              <a:alpha val="35000"/>
            </a:srgbClr>
          </a:solidFill>
          <a:ln/>
        </p:spPr>
      </p:sp>
      <p:sp>
        <p:nvSpPr>
          <p:cNvPr id="4" name="Text 2"/>
          <p:cNvSpPr/>
          <p:nvPr/>
        </p:nvSpPr>
        <p:spPr>
          <a:xfrm>
            <a:off x="3566160" y="914400"/>
            <a:ext cx="2011680" cy="201168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5" name="Text 3"/>
          <p:cNvSpPr/>
          <p:nvPr/>
        </p:nvSpPr>
        <p:spPr>
          <a:xfrm>
            <a:off x="995680" y="3640667"/>
            <a:ext cx="731520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6" name="Text 4"/>
          <p:cNvSpPr/>
          <p:nvPr/>
        </p:nvSpPr>
        <p:spPr>
          <a:xfrm>
            <a:off x="914400" y="3977640"/>
            <a:ext cx="7315200" cy="411480"/>
          </a:xfrm>
          <a:prstGeom prst="rect">
            <a:avLst/>
          </a:prstGeom>
          <a:noFill/>
          <a:ln/>
        </p:spPr>
        <p:txBody>
          <a:bodyPr wrap="square" rtlCol="0" anchor="ctr"/>
          <a:lstStyle/>
          <a:p>
            <a:pPr marL="0" indent="0" algn="ctr">
              <a:buNone/>
            </a:pPr>
            <a:endParaRPr lang="en-US" sz="1800" dirty="0"/>
          </a:p>
        </p:txBody>
      </p:sp>
      <p:sp>
        <p:nvSpPr>
          <p:cNvPr id="7" name="Shape 5"/>
          <p:cNvSpPr/>
          <p:nvPr/>
        </p:nvSpPr>
        <p:spPr>
          <a:xfrm>
            <a:off x="3200400" y="4480560"/>
            <a:ext cx="2743200" cy="27432"/>
          </a:xfrm>
          <a:prstGeom prst="rect">
            <a:avLst/>
          </a:prstGeom>
          <a:solidFill>
            <a:srgbClr val="2196CC"/>
          </a:solidFill>
          <a:ln/>
        </p:spPr>
      </p:sp>
      <p:sp>
        <p:nvSpPr>
          <p:cNvPr id="8" name="Text 6"/>
          <p:cNvSpPr/>
          <p:nvPr/>
        </p:nvSpPr>
        <p:spPr>
          <a:xfrm>
            <a:off x="914400" y="4617720"/>
            <a:ext cx="7315200" cy="256032"/>
          </a:xfrm>
          <a:prstGeom prst="rect">
            <a:avLst/>
          </a:prstGeom>
          <a:noFill/>
          <a:ln/>
        </p:spPr>
        <p:txBody>
          <a:bodyPr wrap="square" rtlCol="0" anchor="ctr"/>
          <a:lstStyle/>
          <a:p>
            <a:pPr marL="0" indent="0" algn="ctr">
              <a:buNone/>
            </a:pPr>
            <a:r>
              <a:rPr lang="en-US" sz="1000" dirty="0">
                <a:solidFill>
                  <a:srgbClr val="2196CC"/>
                </a:solidFill>
                <a:latin typeface="Courier New" pitchFamily="34" charset="0"/>
                <a:ea typeface="Courier New" pitchFamily="34" charset="-122"/>
                <a:cs typeface="Courier New" pitchFamily="34" charset="-120"/>
              </a:rPr>
              <a:t>huggingface.co/spaces/HammadRana1/sentinel-grc-ops</a:t>
            </a:r>
            <a:endParaRPr lang="en-US" sz="1000" dirty="0"/>
          </a:p>
        </p:txBody>
      </p:sp>
      <p:sp>
        <p:nvSpPr>
          <p:cNvPr id="9" name="Text 7"/>
          <p:cNvSpPr/>
          <p:nvPr/>
        </p:nvSpPr>
        <p:spPr>
          <a:xfrm>
            <a:off x="914400" y="4864608"/>
            <a:ext cx="7315200" cy="228600"/>
          </a:xfrm>
          <a:prstGeom prst="rect">
            <a:avLst/>
          </a:prstGeom>
          <a:noFill/>
          <a:ln/>
        </p:spPr>
        <p:txBody>
          <a:bodyPr wrap="square" rtlCol="0" anchor="ctr"/>
          <a:lstStyle/>
          <a:p>
            <a:pPr marL="0" indent="0" algn="ctr">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1599</Words>
  <Application>Microsoft Office PowerPoint</Application>
  <PresentationFormat>On-screen Show (16:9)</PresentationFormat>
  <Paragraphs>205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GRC Ops — Kawasaki Pitch</dc:title>
  <dc:subject>PptxGenJS Presentation</dc:subject>
  <dc:creator>Hammad Rana</dc:creator>
  <cp:lastModifiedBy>Hammad</cp:lastModifiedBy>
  <cp:revision>5</cp:revision>
  <dcterms:created xsi:type="dcterms:W3CDTF">2026-06-20T15:03:00Z</dcterms:created>
  <dcterms:modified xsi:type="dcterms:W3CDTF">2026-07-07T01:44:32Z</dcterms:modified>
</cp:coreProperties>
</file>