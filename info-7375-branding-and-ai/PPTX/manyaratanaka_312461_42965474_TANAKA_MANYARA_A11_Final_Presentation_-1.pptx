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1" d="100"/>
          <a:sy n="101" d="100"/>
        </p:scale>
        <p:origin x="66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54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 is Tanaka Manyara. I am a Software and AI Engineer, and this semester I built MentionMap -- a brand intelligence tool that gives every brand owner their own morning briefing, powered by AI. Over the next 15 minutes I will walk you through the strategy behind it, the visual identity, the brand story, and a live demo of the tool. Let's get into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positioning is Intelligence by Design. I am a Software and AI Engineer -- I build tools that help brands understand what people are saying about them, and what to do about it. My brand rests on five pillars. First: Intelligence by Design -- AI should be an architecture, not something bolted on at the end. Second: Brand-First -- every tool I build puts your brand at the center. Third: Built for Real People -- no technical background required to use what I make. Fourth: Ships to Production -- I build things that go live, not just prototypes. And fifth: Always Improving -- every mistake the system makes becomes the lesson that makes it better. MentionMap is everything I stand for, built into one product.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situation. There are 4.9 billion people on social media right now. Every single day they are talking about brands -- your brand. And most founders have no idea what is being said. The big companies spend $800 to $3,000 every single month on monitoring tools that need a dedicated analyst just to read the reports. Most small teams cannot afford that. So what do they do? They Google themselves. They find out about a customer problem after it has already gone viral. That is the pain. Not knowing what your audience actually thinks about you -- in real time -- until it is too late to do anything about it. That is the gap MentionMap was built to close.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MentionMap serves two primary audiences. The first is the startup founder -- a CEO running a small team with no dedicated brand team. Every product decision carries the weight of the brand, and they need something that can think brand-first for them. The second is the growth marketer at a scaling company -- someone with too much data from dashboards that show numbers but not meaning. Both personas are at the exact intersection of brand and intelligence, and no existing tool was built specifically for that gap. MentionMap was.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MentionMap is simple. You collect your brand mentions -- tweets, Reddit posts, Google reviews, whatever people are saying about you -- and you paste them in. That is it. Hit submit. And within seconds you get a plain-English morning briefing. Not raw data. Not a spreadsheet full of numbers. A briefing. It tells you how people are feeling about your brand today, whether there has been an unusual spike in negative comments, what personality your audience is projecting onto you, and it gives you draft responses ready to copy and post. No account required. No setup. No analyst. The tool is live right now at mentionmap.vercel.app -- anyone can try it in about thirty 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actually happening under the hood -- in plain English? One sentence: we use AI to understand brand personality, not just count mentions. Other tools tell you how many times your name appeared. MentionMap tells you HOW people feel, WHAT personality they are projecting onto your brand, and WHEN something unusual is happening -- before it becomes a crisis. Think of it like a smoke alarm for your brand reputation. You do not want to know your house burned down. You want to know when the smoke starts. That kind of early warning system existed before only for companies with big budgets. We made it free.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MentionMap visual identity is built around three principles: clarity, authority, and intelligence. The color system follows a 60-25-15 ratio. Navy at 60% is the dominant color -- serious, trusted, authoritative. Teal at 25% is the intelligence color -- it signals precision and innovation. Gold at 15% is the accent -- used for the moments that matter most. The typography pairs Cambria for headlines -- a serif that signals permanence -- with Calibri for body copy, which keeps things clean and readable. The tagline is Intelligence by Design. Everything in this system was built to be consistent across every channel.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MentionMap brand shows up consistently across three channels. The website at mentionmap.vercel.app is fully deployed and live -- it carries the complete brand identity. On LinkedIn, the brand is generating real traction: 37,706 post impressions and 91 profile viewers. The most recent post used the hook: Most developers add AI like a dependency. They are wrong. That framing worked because it is both provocative and true. And on Substack, I launched Intelligence by Design -- a newsletter for builders at the intersection of AI and brand. LinkedIn drives discovery. Substack drives depth. The website drives action. Three channels, one brand voice.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the landscape, MentionMap sits in a position no other tool occupies. Brandwatch is the gold standard -- deep intelligence, enterprise reporting. But it costs up to $3,000 a month and needs a dedicated analyst. That is not a product for founders, that is a department. Sprout Social is a scheduling tool that added some monitoring. Useful, but not built for intelligence. Mention dot com is the closest to us -- low barrier to entry, easy to use. But it only gives you keyword alerts. It does not understand WHY people are reacting or what to do about it. MentionMap is the only tool in the low-barrier, deep-output corner. Nobody else built there. That is our unfair advantage.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tell you why I built this. Every AI tool I worked with had the same failure mode. It was not wrong -- it was hollow. The output came back and something felt off. The AI did not know who it was talking to. I started recognizing the pattern: the prompts were afterthoughts. The fallbacks did not exist. Nobody had designed how the AI should reason -- they just bolted it on after the product was built and hoped for the best. Millions in compute, zero in architecture. MentionMap was built on a different principle. Before the AI touches anything, it already knows your brand -- your history, your voice, your audience. The result is not just an answer. It is your brand's answer. That is the story. That is why this exists.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show you what MentionMap actually does. I am opening it live right now at mentionmap.vercel.app. This is the production deployment -- not a mockup. I will paste in some brand mentions -- imagine these are tweets and reviews about a small brand. Hit submit. Watch what comes back. First: an overall mood score -- what percentage of people feel positive, negative, or neutral. Second: the brand personality analysis -- which archetype this audience is projecting onto the brand. Third: an anomaly flag -- if there is an unusual spike in certain kinds of comments, the tool catches it automatically. And finally: draft responses, platform-specific, ready to copy and post. That entire analysis just took about eight seconds. This is not a demo environment. It is live. Try it yourself.</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model is freemium with a clear upgrade path. Anyone can use MentionMap for free, forever. Paste your mentions, get your report -- no strings attached. That is how we build trust and grow the user base. When a brand is ready to go deeper -- they want live social media data, team sharing, 90 days of history, Slack alerts -- that is the Pro plan at $29 a month. Agencies managing multiple clients pay $99 a month for white-label reports and a multi-brand dashboard. The math is simple: 500 Pro users generates $174,000 in annual revenue. Year two target: 2,000 users, $840K ARR. Freemium works because the free tier does the marketing for us.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we are and where we are going. The tool is live right now at mentionmap.vercel.app. In August we add live social media connections -- no more manual pasting, the tool pulls your mentions automatically. In September the team dashboard launches with history and Slack alerts. In October, public launch on Product Hunt with the paid Pro tier. Our milestone is 100 paying customers by the end of 2026. That is the proof point we are building toward. The foundation is already running.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semester I built a complete brand system from scratch. A brand strategy with a defensible position that nobody else owns. A visual identity consistent across mentionmap.vercel.app, LinkedIn, Substack, and this deck. A brand story that explains exactly why this tool exists. And a live AI tool that proves it works in the real world. The website is live. The newsletter is launched. The LinkedIn is generating impressions. The demo runs in production. That is not a prototype. That is a brand system. Thank you.</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4A"/>
        </a:solidFill>
        <a:effectLst/>
      </p:bgPr>
    </p:bg>
    <p:spTree>
      <p:nvGrpSpPr>
        <p:cNvPr id="1" name=""/>
        <p:cNvGrpSpPr/>
        <p:nvPr/>
      </p:nvGrpSpPr>
      <p:grpSpPr>
        <a:xfrm>
          <a:off x="0" y="0"/>
          <a:ext cx="0" cy="0"/>
          <a:chOff x="0" y="0"/>
          <a:chExt cx="0" cy="0"/>
        </a:xfrm>
      </p:grpSpPr>
      <p:sp>
        <p:nvSpPr>
          <p:cNvPr id="2" name="Text 0"/>
          <p:cNvSpPr/>
          <p:nvPr/>
        </p:nvSpPr>
        <p:spPr>
          <a:xfrm>
            <a:off x="457200" y="256032"/>
            <a:ext cx="2743200" cy="256032"/>
          </a:xfrm>
          <a:prstGeom prst="rect">
            <a:avLst/>
          </a:prstGeom>
          <a:noFill/>
          <a:ln/>
        </p:spPr>
        <p:txBody>
          <a:bodyPr wrap="square" rtlCol="0" anchor="ctr"/>
          <a:lstStyle/>
          <a:p>
            <a:pPr marL="0" indent="0">
              <a:buNone/>
            </a:pPr>
            <a:r>
              <a:rPr lang="en-US" sz="1000" b="1" kern="0" spc="400" dirty="0">
                <a:solidFill>
                  <a:srgbClr val="1E8C8C"/>
                </a:solidFill>
                <a:latin typeface="Calibri" pitchFamily="34" charset="0"/>
                <a:ea typeface="Calibri" pitchFamily="34" charset="-122"/>
                <a:cs typeface="Calibri" pitchFamily="34" charset="-120"/>
              </a:rPr>
              <a:t>MENTIONMAP</a:t>
            </a:r>
            <a:endParaRPr lang="en-US" sz="1000" dirty="0"/>
          </a:p>
        </p:txBody>
      </p:sp>
      <p:sp>
        <p:nvSpPr>
          <p:cNvPr id="3" name="Shape 1"/>
          <p:cNvSpPr/>
          <p:nvPr/>
        </p:nvSpPr>
        <p:spPr>
          <a:xfrm>
            <a:off x="6858000" y="182880"/>
            <a:ext cx="2011680" cy="292608"/>
          </a:xfrm>
          <a:prstGeom prst="rect">
            <a:avLst/>
          </a:prstGeom>
          <a:solidFill>
            <a:srgbClr val="1E3A5A"/>
          </a:solidFill>
          <a:ln w="10160">
            <a:solidFill>
              <a:srgbClr val="1E8C8C"/>
            </a:solidFill>
            <a:prstDash val="solid"/>
          </a:ln>
        </p:spPr>
      </p:sp>
      <p:sp>
        <p:nvSpPr>
          <p:cNvPr id="4" name="Text 2"/>
          <p:cNvSpPr/>
          <p:nvPr/>
        </p:nvSpPr>
        <p:spPr>
          <a:xfrm>
            <a:off x="6858000" y="201168"/>
            <a:ext cx="2011680" cy="256032"/>
          </a:xfrm>
          <a:prstGeom prst="rect">
            <a:avLst/>
          </a:prstGeom>
          <a:noFill/>
          <a:ln/>
        </p:spPr>
        <p:txBody>
          <a:bodyPr wrap="square" rtlCol="0" anchor="ctr"/>
          <a:lstStyle/>
          <a:p>
            <a:pPr marL="0" indent="0" algn="ctr">
              <a:buNone/>
            </a:pPr>
            <a:r>
              <a:rPr lang="en-US" sz="800" dirty="0">
                <a:solidFill>
                  <a:srgbClr val="1E8C8C"/>
                </a:solidFill>
                <a:latin typeface="Calibri" pitchFamily="34" charset="0"/>
                <a:ea typeface="Calibri" pitchFamily="34" charset="-122"/>
                <a:cs typeface="Calibri" pitchFamily="34" charset="-120"/>
              </a:rPr>
              <a:t>INFO 7375 · BRANDING &amp; AI</a:t>
            </a:r>
            <a:endParaRPr lang="en-US" sz="800" dirty="0"/>
          </a:p>
        </p:txBody>
      </p:sp>
      <p:sp>
        <p:nvSpPr>
          <p:cNvPr id="5" name="Text 3"/>
          <p:cNvSpPr/>
          <p:nvPr/>
        </p:nvSpPr>
        <p:spPr>
          <a:xfrm>
            <a:off x="457200" y="914400"/>
            <a:ext cx="8229600" cy="1828800"/>
          </a:xfrm>
          <a:prstGeom prst="rect">
            <a:avLst/>
          </a:prstGeom>
          <a:noFill/>
          <a:ln/>
        </p:spPr>
        <p:txBody>
          <a:bodyPr wrap="square" rtlCol="0" anchor="ctr"/>
          <a:lstStyle/>
          <a:p>
            <a:pPr marL="0" indent="0" algn="ctr">
              <a:buNone/>
            </a:pPr>
            <a:r>
              <a:rPr lang="en-US" sz="7200" b="1" dirty="0" err="1">
                <a:solidFill>
                  <a:srgbClr val="F4A827"/>
                </a:solidFill>
                <a:latin typeface="Cambria" pitchFamily="34" charset="0"/>
                <a:ea typeface="Cambria" pitchFamily="34" charset="-122"/>
              </a:rPr>
              <a:t>BrandPulse</a:t>
            </a:r>
            <a:endParaRPr lang="en-US" sz="7200" b="1" dirty="0">
              <a:solidFill>
                <a:srgbClr val="F4A827"/>
              </a:solidFill>
              <a:latin typeface="Cambria" pitchFamily="34" charset="0"/>
              <a:ea typeface="Cambria" pitchFamily="34" charset="-122"/>
            </a:endParaRPr>
          </a:p>
        </p:txBody>
      </p:sp>
      <p:sp>
        <p:nvSpPr>
          <p:cNvPr id="6" name="Text 4"/>
          <p:cNvSpPr/>
          <p:nvPr/>
        </p:nvSpPr>
        <p:spPr>
          <a:xfrm>
            <a:off x="1371600" y="2834640"/>
            <a:ext cx="6400800" cy="594360"/>
          </a:xfrm>
          <a:prstGeom prst="rect">
            <a:avLst/>
          </a:prstGeom>
          <a:noFill/>
          <a:ln/>
        </p:spPr>
        <p:txBody>
          <a:bodyPr wrap="square" rtlCol="0" anchor="ctr"/>
          <a:lstStyle/>
          <a:p>
            <a:pPr marL="0" indent="0" algn="ctr">
              <a:buNone/>
            </a:pPr>
            <a:r>
              <a:rPr lang="en-US" sz="2200" dirty="0">
                <a:solidFill>
                  <a:srgbClr val="CBD5E1"/>
                </a:solidFill>
                <a:latin typeface="Calibri" pitchFamily="34" charset="0"/>
                <a:ea typeface="Calibri" pitchFamily="34" charset="-122"/>
                <a:cs typeface="Calibri" pitchFamily="34" charset="-120"/>
              </a:rPr>
              <a:t>Your brand's morning briefing, powered by AI</a:t>
            </a:r>
            <a:endParaRPr lang="en-US" sz="2200" dirty="0"/>
          </a:p>
        </p:txBody>
      </p:sp>
      <p:sp>
        <p:nvSpPr>
          <p:cNvPr id="7" name="Text 5"/>
          <p:cNvSpPr/>
          <p:nvPr/>
        </p:nvSpPr>
        <p:spPr>
          <a:xfrm>
            <a:off x="457200" y="4663440"/>
            <a:ext cx="8229600" cy="256032"/>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Tanaka Brian Manyara  ·  Software and AI Engineer  ·  Northeastern University  ·  August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02920" y="228600"/>
            <a:ext cx="7772400" cy="219456"/>
          </a:xfrm>
          <a:prstGeom prst="rect">
            <a:avLst/>
          </a:prstGeom>
          <a:noFill/>
          <a:ln/>
        </p:spPr>
        <p:txBody>
          <a:bodyPr wrap="square" rtlCol="0" anchor="ctr"/>
          <a:lstStyle/>
          <a:p>
            <a:pPr marL="0" indent="0">
              <a:buNone/>
            </a:pPr>
            <a:r>
              <a:rPr lang="en-US" sz="800" b="1" kern="0" spc="300" dirty="0">
                <a:solidFill>
                  <a:srgbClr val="1E8C8C"/>
                </a:solidFill>
                <a:latin typeface="Calibri" pitchFamily="34" charset="0"/>
                <a:ea typeface="Calibri" pitchFamily="34" charset="-122"/>
                <a:cs typeface="Calibri" pitchFamily="34" charset="-120"/>
              </a:rPr>
              <a:t>ABOUT ME</a:t>
            </a:r>
            <a:endParaRPr lang="en-US" sz="800" dirty="0"/>
          </a:p>
        </p:txBody>
      </p:sp>
      <p:sp>
        <p:nvSpPr>
          <p:cNvPr id="3" name="Shape 1"/>
          <p:cNvSpPr/>
          <p:nvPr/>
        </p:nvSpPr>
        <p:spPr>
          <a:xfrm>
            <a:off x="502920" y="475488"/>
            <a:ext cx="8138160" cy="18288"/>
          </a:xfrm>
          <a:prstGeom prst="rect">
            <a:avLst/>
          </a:prstGeom>
          <a:solidFill>
            <a:srgbClr val="E2E8F0"/>
          </a:solidFill>
          <a:ln/>
        </p:spPr>
      </p:sp>
      <p:sp>
        <p:nvSpPr>
          <p:cNvPr id="4" name="Text 2"/>
          <p:cNvSpPr/>
          <p:nvPr/>
        </p:nvSpPr>
        <p:spPr>
          <a:xfrm>
            <a:off x="502920" y="594360"/>
            <a:ext cx="4754880" cy="777240"/>
          </a:xfrm>
          <a:prstGeom prst="rect">
            <a:avLst/>
          </a:prstGeom>
          <a:noFill/>
          <a:ln/>
        </p:spPr>
        <p:txBody>
          <a:bodyPr wrap="square" rtlCol="0" anchor="ctr"/>
          <a:lstStyle/>
          <a:p>
            <a:pPr marL="0" indent="0">
              <a:buNone/>
            </a:pPr>
            <a:r>
              <a:rPr lang="en-US" sz="4000" b="1" dirty="0">
                <a:solidFill>
                  <a:srgbClr val="1A2B4A"/>
                </a:solidFill>
                <a:latin typeface="Cambria" pitchFamily="34" charset="0"/>
                <a:ea typeface="Cambria" pitchFamily="34" charset="-122"/>
                <a:cs typeface="Cambria" pitchFamily="34" charset="-120"/>
              </a:rPr>
              <a:t>Tanaka Manyara</a:t>
            </a:r>
            <a:endParaRPr lang="en-US" sz="4000" dirty="0"/>
          </a:p>
        </p:txBody>
      </p:sp>
      <p:sp>
        <p:nvSpPr>
          <p:cNvPr id="5" name="Text 3"/>
          <p:cNvSpPr/>
          <p:nvPr/>
        </p:nvSpPr>
        <p:spPr>
          <a:xfrm>
            <a:off x="502920" y="1371600"/>
            <a:ext cx="4754880" cy="365760"/>
          </a:xfrm>
          <a:prstGeom prst="rect">
            <a:avLst/>
          </a:prstGeom>
          <a:noFill/>
          <a:ln/>
        </p:spPr>
        <p:txBody>
          <a:bodyPr wrap="square" rtlCol="0" anchor="ctr"/>
          <a:lstStyle/>
          <a:p>
            <a:pPr marL="0" indent="0">
              <a:buNone/>
            </a:pPr>
            <a:r>
              <a:rPr lang="en-US" sz="1800" b="1" dirty="0">
                <a:solidFill>
                  <a:srgbClr val="1E8C8C"/>
                </a:solidFill>
                <a:latin typeface="Calibri" pitchFamily="34" charset="0"/>
                <a:ea typeface="Calibri" pitchFamily="34" charset="-122"/>
                <a:cs typeface="Calibri" pitchFamily="34" charset="-120"/>
              </a:rPr>
              <a:t>Software and AI Engineer</a:t>
            </a:r>
            <a:endParaRPr lang="en-US" sz="1800" dirty="0"/>
          </a:p>
        </p:txBody>
      </p:sp>
      <p:sp>
        <p:nvSpPr>
          <p:cNvPr id="6" name="Text 4"/>
          <p:cNvSpPr/>
          <p:nvPr/>
        </p:nvSpPr>
        <p:spPr>
          <a:xfrm>
            <a:off x="502920" y="1828800"/>
            <a:ext cx="4754880" cy="731520"/>
          </a:xfrm>
          <a:prstGeom prst="rect">
            <a:avLst/>
          </a:prstGeom>
          <a:noFill/>
          <a:ln/>
        </p:spPr>
        <p:txBody>
          <a:bodyPr wrap="square" rtlCol="0" anchor="ctr"/>
          <a:lstStyle/>
          <a:p>
            <a:pPr marL="0" indent="0">
              <a:buNone/>
            </a:pPr>
            <a:r>
              <a:rPr lang="en-US" sz="1350" dirty="0">
                <a:solidFill>
                  <a:srgbClr val="475569"/>
                </a:solidFill>
                <a:latin typeface="Calibri" pitchFamily="34" charset="0"/>
                <a:ea typeface="Calibri" pitchFamily="34" charset="-122"/>
                <a:cs typeface="Calibri" pitchFamily="34" charset="-120"/>
              </a:rPr>
              <a:t>I build tools that turn thousands of online brand conversations into clear, actionable intelligence -- for the founders and marketers who need it most.</a:t>
            </a:r>
            <a:endParaRPr lang="en-US" sz="1350" dirty="0"/>
          </a:p>
        </p:txBody>
      </p:sp>
      <p:sp>
        <p:nvSpPr>
          <p:cNvPr id="7" name="Shape 5"/>
          <p:cNvSpPr/>
          <p:nvPr/>
        </p:nvSpPr>
        <p:spPr>
          <a:xfrm>
            <a:off x="5486400" y="594360"/>
            <a:ext cx="3383280" cy="640080"/>
          </a:xfrm>
          <a:prstGeom prst="rect">
            <a:avLst/>
          </a:prstGeom>
          <a:solidFill>
            <a:srgbClr val="FFFFFF"/>
          </a:solidFill>
          <a:ln w="6350">
            <a:solidFill>
              <a:srgbClr val="E2E8F0"/>
            </a:solidFill>
            <a:prstDash val="solid"/>
          </a:ln>
        </p:spPr>
      </p:sp>
      <p:sp>
        <p:nvSpPr>
          <p:cNvPr id="8" name="Text 6"/>
          <p:cNvSpPr/>
          <p:nvPr/>
        </p:nvSpPr>
        <p:spPr>
          <a:xfrm>
            <a:off x="5596128" y="667512"/>
            <a:ext cx="3154680" cy="219456"/>
          </a:xfrm>
          <a:prstGeom prst="rect">
            <a:avLst/>
          </a:prstGeom>
          <a:noFill/>
          <a:ln/>
        </p:spPr>
        <p:txBody>
          <a:bodyPr wrap="square" rtlCol="0" anchor="ctr"/>
          <a:lstStyle/>
          <a:p>
            <a:pPr marL="0" indent="0">
              <a:buNone/>
            </a:pPr>
            <a:r>
              <a:rPr lang="en-US" sz="1000" b="1" dirty="0">
                <a:solidFill>
                  <a:srgbClr val="1E8C8C"/>
                </a:solidFill>
                <a:latin typeface="Calibri" pitchFamily="34" charset="0"/>
                <a:ea typeface="Calibri" pitchFamily="34" charset="-122"/>
                <a:cs typeface="Calibri" pitchFamily="34" charset="-120"/>
              </a:rPr>
              <a:t>Intelligence by Design</a:t>
            </a:r>
            <a:endParaRPr lang="en-US" sz="1000" dirty="0"/>
          </a:p>
        </p:txBody>
      </p:sp>
      <p:sp>
        <p:nvSpPr>
          <p:cNvPr id="9" name="Text 7"/>
          <p:cNvSpPr/>
          <p:nvPr/>
        </p:nvSpPr>
        <p:spPr>
          <a:xfrm>
            <a:off x="5596128" y="905256"/>
            <a:ext cx="3154680" cy="237744"/>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AI is an architecture, not an add-on</a:t>
            </a:r>
            <a:endParaRPr lang="en-US" sz="950" dirty="0"/>
          </a:p>
        </p:txBody>
      </p:sp>
      <p:sp>
        <p:nvSpPr>
          <p:cNvPr id="10" name="Shape 8"/>
          <p:cNvSpPr/>
          <p:nvPr/>
        </p:nvSpPr>
        <p:spPr>
          <a:xfrm>
            <a:off x="5486400" y="1298448"/>
            <a:ext cx="3383280" cy="640080"/>
          </a:xfrm>
          <a:prstGeom prst="rect">
            <a:avLst/>
          </a:prstGeom>
          <a:solidFill>
            <a:srgbClr val="FFFFFF"/>
          </a:solidFill>
          <a:ln w="6350">
            <a:solidFill>
              <a:srgbClr val="E2E8F0"/>
            </a:solidFill>
            <a:prstDash val="solid"/>
          </a:ln>
        </p:spPr>
      </p:sp>
      <p:sp>
        <p:nvSpPr>
          <p:cNvPr id="11" name="Text 9"/>
          <p:cNvSpPr/>
          <p:nvPr/>
        </p:nvSpPr>
        <p:spPr>
          <a:xfrm>
            <a:off x="5596128" y="1371600"/>
            <a:ext cx="3154680" cy="219456"/>
          </a:xfrm>
          <a:prstGeom prst="rect">
            <a:avLst/>
          </a:prstGeom>
          <a:noFill/>
          <a:ln/>
        </p:spPr>
        <p:txBody>
          <a:bodyPr wrap="square" rtlCol="0" anchor="ctr"/>
          <a:lstStyle/>
          <a:p>
            <a:pPr marL="0" indent="0">
              <a:buNone/>
            </a:pPr>
            <a:r>
              <a:rPr lang="en-US" sz="1000" b="1" dirty="0">
                <a:solidFill>
                  <a:srgbClr val="1E8C8C"/>
                </a:solidFill>
                <a:latin typeface="Calibri" pitchFamily="34" charset="0"/>
                <a:ea typeface="Calibri" pitchFamily="34" charset="-122"/>
                <a:cs typeface="Calibri" pitchFamily="34" charset="-120"/>
              </a:rPr>
              <a:t>Brand-First</a:t>
            </a:r>
            <a:endParaRPr lang="en-US" sz="1000" dirty="0"/>
          </a:p>
        </p:txBody>
      </p:sp>
      <p:sp>
        <p:nvSpPr>
          <p:cNvPr id="12" name="Text 10"/>
          <p:cNvSpPr/>
          <p:nvPr/>
        </p:nvSpPr>
        <p:spPr>
          <a:xfrm>
            <a:off x="5596128" y="1609344"/>
            <a:ext cx="3154680" cy="237744"/>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Every output knows who your brand is</a:t>
            </a:r>
            <a:endParaRPr lang="en-US" sz="950" dirty="0"/>
          </a:p>
        </p:txBody>
      </p:sp>
      <p:sp>
        <p:nvSpPr>
          <p:cNvPr id="13" name="Shape 11"/>
          <p:cNvSpPr/>
          <p:nvPr/>
        </p:nvSpPr>
        <p:spPr>
          <a:xfrm>
            <a:off x="5486400" y="2002536"/>
            <a:ext cx="3383280" cy="640080"/>
          </a:xfrm>
          <a:prstGeom prst="rect">
            <a:avLst/>
          </a:prstGeom>
          <a:solidFill>
            <a:srgbClr val="FFFFFF"/>
          </a:solidFill>
          <a:ln w="6350">
            <a:solidFill>
              <a:srgbClr val="E2E8F0"/>
            </a:solidFill>
            <a:prstDash val="solid"/>
          </a:ln>
        </p:spPr>
      </p:sp>
      <p:sp>
        <p:nvSpPr>
          <p:cNvPr id="14" name="Text 12"/>
          <p:cNvSpPr/>
          <p:nvPr/>
        </p:nvSpPr>
        <p:spPr>
          <a:xfrm>
            <a:off x="5596128" y="2075688"/>
            <a:ext cx="3154680" cy="219456"/>
          </a:xfrm>
          <a:prstGeom prst="rect">
            <a:avLst/>
          </a:prstGeom>
          <a:noFill/>
          <a:ln/>
        </p:spPr>
        <p:txBody>
          <a:bodyPr wrap="square" rtlCol="0" anchor="ctr"/>
          <a:lstStyle/>
          <a:p>
            <a:pPr marL="0" indent="0">
              <a:buNone/>
            </a:pPr>
            <a:r>
              <a:rPr lang="en-US" sz="1000" b="1" dirty="0">
                <a:solidFill>
                  <a:srgbClr val="1E8C8C"/>
                </a:solidFill>
                <a:latin typeface="Calibri" pitchFamily="34" charset="0"/>
                <a:ea typeface="Calibri" pitchFamily="34" charset="-122"/>
                <a:cs typeface="Calibri" pitchFamily="34" charset="-120"/>
              </a:rPr>
              <a:t>Built for Real People</a:t>
            </a:r>
            <a:endParaRPr lang="en-US" sz="1000" dirty="0"/>
          </a:p>
        </p:txBody>
      </p:sp>
      <p:sp>
        <p:nvSpPr>
          <p:cNvPr id="15" name="Text 13"/>
          <p:cNvSpPr/>
          <p:nvPr/>
        </p:nvSpPr>
        <p:spPr>
          <a:xfrm>
            <a:off x="5596128" y="2313432"/>
            <a:ext cx="3154680" cy="237744"/>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No IT department required</a:t>
            </a:r>
            <a:endParaRPr lang="en-US" sz="950" dirty="0"/>
          </a:p>
        </p:txBody>
      </p:sp>
      <p:sp>
        <p:nvSpPr>
          <p:cNvPr id="16" name="Shape 14"/>
          <p:cNvSpPr/>
          <p:nvPr/>
        </p:nvSpPr>
        <p:spPr>
          <a:xfrm>
            <a:off x="5486400" y="2706624"/>
            <a:ext cx="3383280" cy="640080"/>
          </a:xfrm>
          <a:prstGeom prst="rect">
            <a:avLst/>
          </a:prstGeom>
          <a:solidFill>
            <a:srgbClr val="FFFFFF"/>
          </a:solidFill>
          <a:ln w="6350">
            <a:solidFill>
              <a:srgbClr val="E2E8F0"/>
            </a:solidFill>
            <a:prstDash val="solid"/>
          </a:ln>
        </p:spPr>
      </p:sp>
      <p:sp>
        <p:nvSpPr>
          <p:cNvPr id="17" name="Text 15"/>
          <p:cNvSpPr/>
          <p:nvPr/>
        </p:nvSpPr>
        <p:spPr>
          <a:xfrm>
            <a:off x="5596128" y="2779776"/>
            <a:ext cx="3154680" cy="219456"/>
          </a:xfrm>
          <a:prstGeom prst="rect">
            <a:avLst/>
          </a:prstGeom>
          <a:noFill/>
          <a:ln/>
        </p:spPr>
        <p:txBody>
          <a:bodyPr wrap="square" rtlCol="0" anchor="ctr"/>
          <a:lstStyle/>
          <a:p>
            <a:pPr marL="0" indent="0">
              <a:buNone/>
            </a:pPr>
            <a:r>
              <a:rPr lang="en-US" sz="1000" b="1" dirty="0">
                <a:solidFill>
                  <a:srgbClr val="1E8C8C"/>
                </a:solidFill>
                <a:latin typeface="Calibri" pitchFamily="34" charset="0"/>
                <a:ea typeface="Calibri" pitchFamily="34" charset="-122"/>
                <a:cs typeface="Calibri" pitchFamily="34" charset="-120"/>
              </a:rPr>
              <a:t>Ships to Production</a:t>
            </a:r>
            <a:endParaRPr lang="en-US" sz="1000" dirty="0"/>
          </a:p>
        </p:txBody>
      </p:sp>
      <p:sp>
        <p:nvSpPr>
          <p:cNvPr id="18" name="Text 16"/>
          <p:cNvSpPr/>
          <p:nvPr/>
        </p:nvSpPr>
        <p:spPr>
          <a:xfrm>
            <a:off x="5596128" y="3017520"/>
            <a:ext cx="3154680" cy="237744"/>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Real products -- not just demos</a:t>
            </a:r>
            <a:endParaRPr lang="en-US" sz="950" dirty="0"/>
          </a:p>
        </p:txBody>
      </p:sp>
      <p:sp>
        <p:nvSpPr>
          <p:cNvPr id="19" name="Shape 17"/>
          <p:cNvSpPr/>
          <p:nvPr/>
        </p:nvSpPr>
        <p:spPr>
          <a:xfrm>
            <a:off x="5486400" y="3410712"/>
            <a:ext cx="3383280" cy="640080"/>
          </a:xfrm>
          <a:prstGeom prst="rect">
            <a:avLst/>
          </a:prstGeom>
          <a:solidFill>
            <a:srgbClr val="FFFFFF"/>
          </a:solidFill>
          <a:ln w="6350">
            <a:solidFill>
              <a:srgbClr val="E2E8F0"/>
            </a:solidFill>
            <a:prstDash val="solid"/>
          </a:ln>
        </p:spPr>
      </p:sp>
      <p:sp>
        <p:nvSpPr>
          <p:cNvPr id="20" name="Text 18"/>
          <p:cNvSpPr/>
          <p:nvPr/>
        </p:nvSpPr>
        <p:spPr>
          <a:xfrm>
            <a:off x="5596128" y="3483864"/>
            <a:ext cx="3154680" cy="219456"/>
          </a:xfrm>
          <a:prstGeom prst="rect">
            <a:avLst/>
          </a:prstGeom>
          <a:noFill/>
          <a:ln/>
        </p:spPr>
        <p:txBody>
          <a:bodyPr wrap="square" rtlCol="0" anchor="ctr"/>
          <a:lstStyle/>
          <a:p>
            <a:pPr marL="0" indent="0">
              <a:buNone/>
            </a:pPr>
            <a:r>
              <a:rPr lang="en-US" sz="1000" b="1" dirty="0">
                <a:solidFill>
                  <a:srgbClr val="1E8C8C"/>
                </a:solidFill>
                <a:latin typeface="Calibri" pitchFamily="34" charset="0"/>
                <a:ea typeface="Calibri" pitchFamily="34" charset="-122"/>
                <a:cs typeface="Calibri" pitchFamily="34" charset="-120"/>
              </a:rPr>
              <a:t>Always Improving</a:t>
            </a:r>
            <a:endParaRPr lang="en-US" sz="1000" dirty="0"/>
          </a:p>
        </p:txBody>
      </p:sp>
      <p:sp>
        <p:nvSpPr>
          <p:cNvPr id="21" name="Text 19"/>
          <p:cNvSpPr/>
          <p:nvPr/>
        </p:nvSpPr>
        <p:spPr>
          <a:xfrm>
            <a:off x="5596128" y="3721608"/>
            <a:ext cx="3154680" cy="237744"/>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Every mistake makes the system smarter</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02920" y="228600"/>
            <a:ext cx="7772400" cy="219456"/>
          </a:xfrm>
          <a:prstGeom prst="rect">
            <a:avLst/>
          </a:prstGeom>
          <a:noFill/>
          <a:ln/>
        </p:spPr>
        <p:txBody>
          <a:bodyPr wrap="square" rtlCol="0" anchor="ctr"/>
          <a:lstStyle/>
          <a:p>
            <a:pPr marL="0" indent="0">
              <a:buNone/>
            </a:pPr>
            <a:r>
              <a:rPr lang="en-US" sz="800" b="1" kern="0" spc="300" dirty="0">
                <a:solidFill>
                  <a:srgbClr val="1E8C8C"/>
                </a:solidFill>
                <a:latin typeface="Calibri" pitchFamily="34" charset="0"/>
                <a:ea typeface="Calibri" pitchFamily="34" charset="-122"/>
                <a:cs typeface="Calibri" pitchFamily="34" charset="-120"/>
              </a:rPr>
              <a:t>THE PROBLEM</a:t>
            </a:r>
            <a:endParaRPr lang="en-US" sz="800" dirty="0"/>
          </a:p>
        </p:txBody>
      </p:sp>
      <p:sp>
        <p:nvSpPr>
          <p:cNvPr id="3" name="Shape 1"/>
          <p:cNvSpPr/>
          <p:nvPr/>
        </p:nvSpPr>
        <p:spPr>
          <a:xfrm>
            <a:off x="502920" y="475488"/>
            <a:ext cx="8138160" cy="18288"/>
          </a:xfrm>
          <a:prstGeom prst="rect">
            <a:avLst/>
          </a:prstGeom>
          <a:solidFill>
            <a:srgbClr val="E2E8F0"/>
          </a:solidFill>
          <a:ln/>
        </p:spPr>
      </p:sp>
      <p:sp>
        <p:nvSpPr>
          <p:cNvPr id="4" name="Text 2"/>
          <p:cNvSpPr/>
          <p:nvPr/>
        </p:nvSpPr>
        <p:spPr>
          <a:xfrm>
            <a:off x="502920" y="594360"/>
            <a:ext cx="5303520" cy="749808"/>
          </a:xfrm>
          <a:prstGeom prst="rect">
            <a:avLst/>
          </a:prstGeom>
          <a:noFill/>
          <a:ln/>
        </p:spPr>
        <p:txBody>
          <a:bodyPr wrap="square" rtlCol="0" anchor="ctr"/>
          <a:lstStyle/>
          <a:p>
            <a:pPr marL="0" indent="0">
              <a:buNone/>
            </a:pPr>
            <a:r>
              <a:rPr lang="en-US" sz="4200" b="1" dirty="0">
                <a:solidFill>
                  <a:srgbClr val="1A2B4A"/>
                </a:solidFill>
                <a:latin typeface="Cambria" pitchFamily="34" charset="0"/>
                <a:ea typeface="Cambria" pitchFamily="34" charset="-122"/>
                <a:cs typeface="Cambria" pitchFamily="34" charset="-120"/>
              </a:rPr>
              <a:t>4.9 billion voices.</a:t>
            </a:r>
            <a:endParaRPr lang="en-US" sz="4200" dirty="0"/>
          </a:p>
        </p:txBody>
      </p:sp>
      <p:sp>
        <p:nvSpPr>
          <p:cNvPr id="5" name="Text 3"/>
          <p:cNvSpPr/>
          <p:nvPr/>
        </p:nvSpPr>
        <p:spPr>
          <a:xfrm>
            <a:off x="502920" y="1298448"/>
            <a:ext cx="5303520" cy="749808"/>
          </a:xfrm>
          <a:prstGeom prst="rect">
            <a:avLst/>
          </a:prstGeom>
          <a:noFill/>
          <a:ln/>
        </p:spPr>
        <p:txBody>
          <a:bodyPr wrap="square" rtlCol="0" anchor="ctr"/>
          <a:lstStyle/>
          <a:p>
            <a:pPr marL="0" indent="0">
              <a:buNone/>
            </a:pPr>
            <a:r>
              <a:rPr lang="en-US" sz="4200" b="1" dirty="0">
                <a:solidFill>
                  <a:srgbClr val="1A2B4A"/>
                </a:solidFill>
                <a:latin typeface="Cambria" pitchFamily="34" charset="0"/>
                <a:ea typeface="Cambria" pitchFamily="34" charset="-122"/>
                <a:cs typeface="Cambria" pitchFamily="34" charset="-120"/>
              </a:rPr>
              <a:t>Zero signal.</a:t>
            </a:r>
            <a:endParaRPr lang="en-US" sz="4200" dirty="0"/>
          </a:p>
        </p:txBody>
      </p:sp>
      <p:sp>
        <p:nvSpPr>
          <p:cNvPr id="6" name="Text 4"/>
          <p:cNvSpPr/>
          <p:nvPr/>
        </p:nvSpPr>
        <p:spPr>
          <a:xfrm>
            <a:off x="502920" y="2148840"/>
            <a:ext cx="5029200" cy="658368"/>
          </a:xfrm>
          <a:prstGeom prst="rect">
            <a:avLst/>
          </a:prstGeom>
          <a:noFill/>
          <a:ln/>
        </p:spPr>
        <p:txBody>
          <a:bodyPr wrap="square" rtlCol="0" anchor="ctr"/>
          <a:lstStyle/>
          <a:p>
            <a:pPr marL="0" indent="0">
              <a:buNone/>
            </a:pPr>
            <a:r>
              <a:rPr lang="en-US" sz="1350" dirty="0">
                <a:solidFill>
                  <a:srgbClr val="475569"/>
                </a:solidFill>
                <a:latin typeface="Calibri" pitchFamily="34" charset="0"/>
                <a:ea typeface="Calibri" pitchFamily="34" charset="-122"/>
                <a:cs typeface="Calibri" pitchFamily="34" charset="-120"/>
              </a:rPr>
              <a:t>Solo founders and small teams get hundreds of brand mentions every week -- and have no idea what's being said. By the time they find out, the damage is done.</a:t>
            </a:r>
            <a:endParaRPr lang="en-US" sz="1350" dirty="0"/>
          </a:p>
        </p:txBody>
      </p:sp>
      <p:sp>
        <p:nvSpPr>
          <p:cNvPr id="7" name="Shape 5"/>
          <p:cNvSpPr/>
          <p:nvPr/>
        </p:nvSpPr>
        <p:spPr>
          <a:xfrm>
            <a:off x="502920" y="2926080"/>
            <a:ext cx="5029200" cy="594360"/>
          </a:xfrm>
          <a:prstGeom prst="rect">
            <a:avLst/>
          </a:prstGeom>
          <a:solidFill>
            <a:srgbClr val="FEF2F2"/>
          </a:solidFill>
          <a:ln w="6350">
            <a:solidFill>
              <a:srgbClr val="FECACA"/>
            </a:solidFill>
            <a:prstDash val="solid"/>
          </a:ln>
        </p:spPr>
      </p:sp>
      <p:sp>
        <p:nvSpPr>
          <p:cNvPr id="8" name="Shape 6"/>
          <p:cNvSpPr/>
          <p:nvPr/>
        </p:nvSpPr>
        <p:spPr>
          <a:xfrm>
            <a:off x="502920" y="2926080"/>
            <a:ext cx="54864" cy="594360"/>
          </a:xfrm>
          <a:prstGeom prst="rect">
            <a:avLst/>
          </a:prstGeom>
          <a:solidFill>
            <a:srgbClr val="DC2626"/>
          </a:solidFill>
          <a:ln/>
        </p:spPr>
      </p:sp>
      <p:sp>
        <p:nvSpPr>
          <p:cNvPr id="9" name="Text 7"/>
          <p:cNvSpPr/>
          <p:nvPr/>
        </p:nvSpPr>
        <p:spPr>
          <a:xfrm>
            <a:off x="658368" y="2999232"/>
            <a:ext cx="4754880" cy="438912"/>
          </a:xfrm>
          <a:prstGeom prst="rect">
            <a:avLst/>
          </a:prstGeom>
          <a:noFill/>
          <a:ln/>
        </p:spPr>
        <p:txBody>
          <a:bodyPr wrap="square" rtlCol="0" anchor="ctr"/>
          <a:lstStyle/>
          <a:p>
            <a:pPr marL="0" indent="0">
              <a:buNone/>
            </a:pPr>
            <a:r>
              <a:rPr lang="en-US" sz="1200" b="1" dirty="0">
                <a:solidFill>
                  <a:srgbClr val="DC2626"/>
                </a:solidFill>
                <a:latin typeface="Calibri" pitchFamily="34" charset="0"/>
                <a:ea typeface="Calibri" pitchFamily="34" charset="-122"/>
                <a:cs typeface="Calibri" pitchFamily="34" charset="-120"/>
              </a:rPr>
              <a:t>By the time you notice a brand crisis, it's already gone viral.</a:t>
            </a:r>
            <a:endParaRPr lang="en-US" sz="1200" dirty="0"/>
          </a:p>
        </p:txBody>
      </p:sp>
      <p:sp>
        <p:nvSpPr>
          <p:cNvPr id="10" name="Shape 8"/>
          <p:cNvSpPr/>
          <p:nvPr/>
        </p:nvSpPr>
        <p:spPr>
          <a:xfrm>
            <a:off x="5760720" y="594360"/>
            <a:ext cx="3108960" cy="1234440"/>
          </a:xfrm>
          <a:prstGeom prst="rect">
            <a:avLst/>
          </a:prstGeom>
          <a:solidFill>
            <a:srgbClr val="FFFFFF"/>
          </a:solidFill>
          <a:ln w="6350">
            <a:solidFill>
              <a:srgbClr val="E2E8F0"/>
            </a:solidFill>
            <a:prstDash val="solid"/>
          </a:ln>
        </p:spPr>
      </p:sp>
      <p:sp>
        <p:nvSpPr>
          <p:cNvPr id="11" name="Text 9"/>
          <p:cNvSpPr/>
          <p:nvPr/>
        </p:nvSpPr>
        <p:spPr>
          <a:xfrm>
            <a:off x="5870448" y="685800"/>
            <a:ext cx="2880360" cy="658368"/>
          </a:xfrm>
          <a:prstGeom prst="rect">
            <a:avLst/>
          </a:prstGeom>
          <a:noFill/>
          <a:ln/>
        </p:spPr>
        <p:txBody>
          <a:bodyPr wrap="square" rtlCol="0" anchor="ctr"/>
          <a:lstStyle/>
          <a:p>
            <a:pPr marL="0" indent="0">
              <a:buNone/>
            </a:pPr>
            <a:r>
              <a:rPr lang="en-US" sz="4000" b="1" dirty="0">
                <a:solidFill>
                  <a:srgbClr val="1A2B4A"/>
                </a:solidFill>
                <a:latin typeface="Cambria" pitchFamily="34" charset="0"/>
                <a:ea typeface="Cambria" pitchFamily="34" charset="-122"/>
                <a:cs typeface="Cambria" pitchFamily="34" charset="-120"/>
              </a:rPr>
              <a:t>4.9B</a:t>
            </a:r>
            <a:endParaRPr lang="en-US" sz="4000" dirty="0"/>
          </a:p>
        </p:txBody>
      </p:sp>
      <p:sp>
        <p:nvSpPr>
          <p:cNvPr id="12" name="Text 10"/>
          <p:cNvSpPr/>
          <p:nvPr/>
        </p:nvSpPr>
        <p:spPr>
          <a:xfrm>
            <a:off x="5870448" y="1362456"/>
            <a:ext cx="2880360" cy="347472"/>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active social media users daily</a:t>
            </a:r>
            <a:endParaRPr lang="en-US" sz="1100" dirty="0"/>
          </a:p>
        </p:txBody>
      </p:sp>
      <p:sp>
        <p:nvSpPr>
          <p:cNvPr id="13" name="Shape 11"/>
          <p:cNvSpPr/>
          <p:nvPr/>
        </p:nvSpPr>
        <p:spPr>
          <a:xfrm>
            <a:off x="5760720" y="1984248"/>
            <a:ext cx="3108960" cy="1234440"/>
          </a:xfrm>
          <a:prstGeom prst="rect">
            <a:avLst/>
          </a:prstGeom>
          <a:solidFill>
            <a:srgbClr val="FFFFFF"/>
          </a:solidFill>
          <a:ln w="6350">
            <a:solidFill>
              <a:srgbClr val="E2E8F0"/>
            </a:solidFill>
            <a:prstDash val="solid"/>
          </a:ln>
        </p:spPr>
      </p:sp>
      <p:sp>
        <p:nvSpPr>
          <p:cNvPr id="14" name="Text 12"/>
          <p:cNvSpPr/>
          <p:nvPr/>
        </p:nvSpPr>
        <p:spPr>
          <a:xfrm>
            <a:off x="5870448" y="2075688"/>
            <a:ext cx="2880360" cy="658368"/>
          </a:xfrm>
          <a:prstGeom prst="rect">
            <a:avLst/>
          </a:prstGeom>
          <a:noFill/>
          <a:ln/>
        </p:spPr>
        <p:txBody>
          <a:bodyPr wrap="square" rtlCol="0" anchor="ctr"/>
          <a:lstStyle/>
          <a:p>
            <a:pPr marL="0" indent="0">
              <a:buNone/>
            </a:pPr>
            <a:r>
              <a:rPr lang="en-US" sz="4000" b="1" dirty="0">
                <a:solidFill>
                  <a:srgbClr val="F4A827"/>
                </a:solidFill>
                <a:latin typeface="Cambria" pitchFamily="34" charset="0"/>
                <a:ea typeface="Cambria" pitchFamily="34" charset="-122"/>
                <a:cs typeface="Cambria" pitchFamily="34" charset="-120"/>
              </a:rPr>
              <a:t>$3K</a:t>
            </a:r>
            <a:endParaRPr lang="en-US" sz="4000" dirty="0"/>
          </a:p>
        </p:txBody>
      </p:sp>
      <p:sp>
        <p:nvSpPr>
          <p:cNvPr id="15" name="Text 13"/>
          <p:cNvSpPr/>
          <p:nvPr/>
        </p:nvSpPr>
        <p:spPr>
          <a:xfrm>
            <a:off x="5870448" y="2752344"/>
            <a:ext cx="2880360" cy="347472"/>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per month for enterprise monitoring</a:t>
            </a:r>
            <a:endParaRPr lang="en-US" sz="1100" dirty="0"/>
          </a:p>
        </p:txBody>
      </p:sp>
      <p:sp>
        <p:nvSpPr>
          <p:cNvPr id="16" name="Shape 14"/>
          <p:cNvSpPr/>
          <p:nvPr/>
        </p:nvSpPr>
        <p:spPr>
          <a:xfrm>
            <a:off x="5760720" y="3374136"/>
            <a:ext cx="3108960" cy="1234440"/>
          </a:xfrm>
          <a:prstGeom prst="rect">
            <a:avLst/>
          </a:prstGeom>
          <a:solidFill>
            <a:srgbClr val="FFFFFF"/>
          </a:solidFill>
          <a:ln w="6350">
            <a:solidFill>
              <a:srgbClr val="E2E8F0"/>
            </a:solidFill>
            <a:prstDash val="solid"/>
          </a:ln>
        </p:spPr>
      </p:sp>
      <p:sp>
        <p:nvSpPr>
          <p:cNvPr id="17" name="Text 15"/>
          <p:cNvSpPr/>
          <p:nvPr/>
        </p:nvSpPr>
        <p:spPr>
          <a:xfrm>
            <a:off x="5870448" y="3465576"/>
            <a:ext cx="2880360" cy="658368"/>
          </a:xfrm>
          <a:prstGeom prst="rect">
            <a:avLst/>
          </a:prstGeom>
          <a:noFill/>
          <a:ln/>
        </p:spPr>
        <p:txBody>
          <a:bodyPr wrap="square" rtlCol="0" anchor="ctr"/>
          <a:lstStyle/>
          <a:p>
            <a:pPr marL="0" indent="0">
              <a:buNone/>
            </a:pPr>
            <a:r>
              <a:rPr lang="en-US" sz="4000" b="1" dirty="0">
                <a:solidFill>
                  <a:srgbClr val="1E8C8C"/>
                </a:solidFill>
                <a:latin typeface="Cambria" pitchFamily="34" charset="0"/>
                <a:ea typeface="Cambria" pitchFamily="34" charset="-122"/>
                <a:cs typeface="Cambria" pitchFamily="34" charset="-120"/>
              </a:rPr>
              <a:t>$0</a:t>
            </a:r>
            <a:endParaRPr lang="en-US" sz="4000" dirty="0"/>
          </a:p>
        </p:txBody>
      </p:sp>
      <p:sp>
        <p:nvSpPr>
          <p:cNvPr id="18" name="Text 16"/>
          <p:cNvSpPr/>
          <p:nvPr/>
        </p:nvSpPr>
        <p:spPr>
          <a:xfrm>
            <a:off x="5870448" y="4142232"/>
            <a:ext cx="2880360" cy="347472"/>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what most small teams spend -- and learn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02920" y="228600"/>
            <a:ext cx="7772400" cy="219456"/>
          </a:xfrm>
          <a:prstGeom prst="rect">
            <a:avLst/>
          </a:prstGeom>
          <a:noFill/>
          <a:ln/>
        </p:spPr>
        <p:txBody>
          <a:bodyPr wrap="square" rtlCol="0" anchor="ctr"/>
          <a:lstStyle/>
          <a:p>
            <a:pPr marL="0" indent="0">
              <a:buNone/>
            </a:pPr>
            <a:r>
              <a:rPr lang="en-US" sz="800" b="1" kern="0" spc="300" dirty="0">
                <a:solidFill>
                  <a:srgbClr val="1E8C8C"/>
                </a:solidFill>
                <a:latin typeface="Calibri" pitchFamily="34" charset="0"/>
                <a:ea typeface="Calibri" pitchFamily="34" charset="-122"/>
                <a:cs typeface="Calibri" pitchFamily="34" charset="-120"/>
              </a:rPr>
              <a:t>WHO IT'S FOR</a:t>
            </a:r>
            <a:endParaRPr lang="en-US" sz="800" dirty="0"/>
          </a:p>
        </p:txBody>
      </p:sp>
      <p:sp>
        <p:nvSpPr>
          <p:cNvPr id="3" name="Shape 1"/>
          <p:cNvSpPr/>
          <p:nvPr/>
        </p:nvSpPr>
        <p:spPr>
          <a:xfrm>
            <a:off x="502920" y="475488"/>
            <a:ext cx="8138160" cy="18288"/>
          </a:xfrm>
          <a:prstGeom prst="rect">
            <a:avLst/>
          </a:prstGeom>
          <a:solidFill>
            <a:srgbClr val="E2E8F0"/>
          </a:solidFill>
          <a:ln/>
        </p:spPr>
      </p:sp>
      <p:sp>
        <p:nvSpPr>
          <p:cNvPr id="4" name="Text 2"/>
          <p:cNvSpPr/>
          <p:nvPr/>
        </p:nvSpPr>
        <p:spPr>
          <a:xfrm>
            <a:off x="502920" y="594360"/>
            <a:ext cx="8138160" cy="566928"/>
          </a:xfrm>
          <a:prstGeom prst="rect">
            <a:avLst/>
          </a:prstGeom>
          <a:noFill/>
          <a:ln/>
        </p:spPr>
        <p:txBody>
          <a:bodyPr wrap="square" rtlCol="0" anchor="ctr"/>
          <a:lstStyle/>
          <a:p>
            <a:pPr marL="0" indent="0">
              <a:buNone/>
            </a:pPr>
            <a:r>
              <a:rPr lang="en-US" sz="3000" b="1" dirty="0">
                <a:solidFill>
                  <a:srgbClr val="1A2B4A"/>
                </a:solidFill>
                <a:latin typeface="Cambria" pitchFamily="34" charset="0"/>
                <a:ea typeface="Cambria" pitchFamily="34" charset="-122"/>
                <a:cs typeface="Cambria" pitchFamily="34" charset="-120"/>
              </a:rPr>
              <a:t>Two people who need this most.</a:t>
            </a:r>
            <a:endParaRPr lang="en-US" sz="3000" dirty="0"/>
          </a:p>
        </p:txBody>
      </p:sp>
      <p:sp>
        <p:nvSpPr>
          <p:cNvPr id="5" name="Shape 3"/>
          <p:cNvSpPr/>
          <p:nvPr/>
        </p:nvSpPr>
        <p:spPr>
          <a:xfrm>
            <a:off x="457200" y="1325880"/>
            <a:ext cx="3977640" cy="3520440"/>
          </a:xfrm>
          <a:prstGeom prst="rect">
            <a:avLst/>
          </a:prstGeom>
          <a:solidFill>
            <a:srgbClr val="FFFFFF"/>
          </a:solidFill>
          <a:ln w="6350">
            <a:solidFill>
              <a:srgbClr val="E2E8F0"/>
            </a:solidFill>
            <a:prstDash val="solid"/>
          </a:ln>
        </p:spPr>
      </p:sp>
      <p:sp>
        <p:nvSpPr>
          <p:cNvPr id="6" name="Shape 4"/>
          <p:cNvSpPr/>
          <p:nvPr/>
        </p:nvSpPr>
        <p:spPr>
          <a:xfrm>
            <a:off x="457200" y="1325880"/>
            <a:ext cx="3977640" cy="384048"/>
          </a:xfrm>
          <a:prstGeom prst="rect">
            <a:avLst/>
          </a:prstGeom>
          <a:solidFill>
            <a:srgbClr val="1A2B4A"/>
          </a:solidFill>
          <a:ln/>
        </p:spPr>
      </p:sp>
      <p:sp>
        <p:nvSpPr>
          <p:cNvPr id="7" name="Text 5"/>
          <p:cNvSpPr/>
          <p:nvPr/>
        </p:nvSpPr>
        <p:spPr>
          <a:xfrm>
            <a:off x="566928" y="1389888"/>
            <a:ext cx="3749040" cy="274320"/>
          </a:xfrm>
          <a:prstGeom prst="rect">
            <a:avLst/>
          </a:prstGeom>
          <a:noFill/>
          <a:ln/>
        </p:spPr>
        <p:txBody>
          <a:bodyPr wrap="square" rtlCol="0" anchor="ctr"/>
          <a:lstStyle/>
          <a:p>
            <a:pPr marL="0" indent="0">
              <a:buNone/>
            </a:pPr>
            <a:r>
              <a:rPr lang="en-US" sz="950" b="1" kern="0" spc="100" dirty="0">
                <a:solidFill>
                  <a:srgbClr val="F4A827"/>
                </a:solidFill>
                <a:latin typeface="Calibri" pitchFamily="34" charset="0"/>
                <a:ea typeface="Calibri" pitchFamily="34" charset="-122"/>
                <a:cs typeface="Calibri" pitchFamily="34" charset="-120"/>
              </a:rPr>
              <a:t>THE STARTUP FOUNDER</a:t>
            </a:r>
            <a:endParaRPr lang="en-US" sz="950" dirty="0"/>
          </a:p>
        </p:txBody>
      </p:sp>
      <p:sp>
        <p:nvSpPr>
          <p:cNvPr id="8" name="Text 6"/>
          <p:cNvSpPr/>
          <p:nvPr/>
        </p:nvSpPr>
        <p:spPr>
          <a:xfrm>
            <a:off x="640080" y="1874520"/>
            <a:ext cx="3657600" cy="402336"/>
          </a:xfrm>
          <a:prstGeom prst="rect">
            <a:avLst/>
          </a:prstGeom>
          <a:noFill/>
          <a:ln/>
        </p:spPr>
        <p:txBody>
          <a:bodyPr wrap="square" rtlCol="0" anchor="ctr"/>
          <a:lstStyle/>
          <a:p>
            <a:pPr marL="0" indent="0">
              <a:buNone/>
            </a:pPr>
            <a:r>
              <a:rPr lang="en-US" sz="1250" dirty="0">
                <a:solidFill>
                  <a:srgbClr val="475569"/>
                </a:solidFill>
                <a:latin typeface="Calibri" pitchFamily="34" charset="0"/>
                <a:ea typeface="Calibri" pitchFamily="34" charset="-122"/>
                <a:cs typeface="Calibri" pitchFamily="34" charset="-120"/>
              </a:rPr>
              <a:t>•  Running everything -- product, sales, and brand -- alone</a:t>
            </a:r>
            <a:endParaRPr lang="en-US" sz="1250" dirty="0"/>
          </a:p>
        </p:txBody>
      </p:sp>
      <p:sp>
        <p:nvSpPr>
          <p:cNvPr id="9" name="Text 7"/>
          <p:cNvSpPr/>
          <p:nvPr/>
        </p:nvSpPr>
        <p:spPr>
          <a:xfrm>
            <a:off x="640080" y="2350008"/>
            <a:ext cx="3657600" cy="402336"/>
          </a:xfrm>
          <a:prstGeom prst="rect">
            <a:avLst/>
          </a:prstGeom>
          <a:noFill/>
          <a:ln/>
        </p:spPr>
        <p:txBody>
          <a:bodyPr wrap="square" rtlCol="0" anchor="ctr"/>
          <a:lstStyle/>
          <a:p>
            <a:pPr marL="0" indent="0">
              <a:buNone/>
            </a:pPr>
            <a:r>
              <a:rPr lang="en-US" sz="1250" dirty="0">
                <a:solidFill>
                  <a:srgbClr val="475569"/>
                </a:solidFill>
                <a:latin typeface="Calibri" pitchFamily="34" charset="0"/>
                <a:ea typeface="Calibri" pitchFamily="34" charset="-122"/>
                <a:cs typeface="Calibri" pitchFamily="34" charset="-120"/>
              </a:rPr>
              <a:t>•  No dedicated team to track what people say online</a:t>
            </a:r>
            <a:endParaRPr lang="en-US" sz="1250" dirty="0"/>
          </a:p>
        </p:txBody>
      </p:sp>
      <p:sp>
        <p:nvSpPr>
          <p:cNvPr id="10" name="Text 8"/>
          <p:cNvSpPr/>
          <p:nvPr/>
        </p:nvSpPr>
        <p:spPr>
          <a:xfrm>
            <a:off x="640080" y="2825496"/>
            <a:ext cx="3657600" cy="402336"/>
          </a:xfrm>
          <a:prstGeom prst="rect">
            <a:avLst/>
          </a:prstGeom>
          <a:noFill/>
          <a:ln/>
        </p:spPr>
        <p:txBody>
          <a:bodyPr wrap="square" rtlCol="0" anchor="ctr"/>
          <a:lstStyle/>
          <a:p>
            <a:pPr marL="0" indent="0">
              <a:buNone/>
            </a:pPr>
            <a:r>
              <a:rPr lang="en-US" sz="1250" dirty="0">
                <a:solidFill>
                  <a:srgbClr val="475569"/>
                </a:solidFill>
                <a:latin typeface="Calibri" pitchFamily="34" charset="0"/>
                <a:ea typeface="Calibri" pitchFamily="34" charset="-122"/>
                <a:cs typeface="Calibri" pitchFamily="34" charset="-120"/>
              </a:rPr>
              <a:t>•  Finds out about brand problems after they go viral</a:t>
            </a:r>
            <a:endParaRPr lang="en-US" sz="1250" dirty="0"/>
          </a:p>
        </p:txBody>
      </p:sp>
      <p:sp>
        <p:nvSpPr>
          <p:cNvPr id="11" name="Text 9"/>
          <p:cNvSpPr/>
          <p:nvPr/>
        </p:nvSpPr>
        <p:spPr>
          <a:xfrm>
            <a:off x="640080" y="3300984"/>
            <a:ext cx="3657600" cy="402336"/>
          </a:xfrm>
          <a:prstGeom prst="rect">
            <a:avLst/>
          </a:prstGeom>
          <a:noFill/>
          <a:ln/>
        </p:spPr>
        <p:txBody>
          <a:bodyPr wrap="square" rtlCol="0" anchor="ctr"/>
          <a:lstStyle/>
          <a:p>
            <a:pPr marL="0" indent="0">
              <a:buNone/>
            </a:pPr>
            <a:r>
              <a:rPr lang="en-US" sz="1250" dirty="0">
                <a:solidFill>
                  <a:srgbClr val="475569"/>
                </a:solidFill>
                <a:latin typeface="Calibri" pitchFamily="34" charset="0"/>
                <a:ea typeface="Calibri" pitchFamily="34" charset="-122"/>
                <a:cs typeface="Calibri" pitchFamily="34" charset="-120"/>
              </a:rPr>
              <a:t>•  Needs AI that thinks brand-first so they do not have to</a:t>
            </a:r>
            <a:endParaRPr lang="en-US" sz="1250" dirty="0"/>
          </a:p>
        </p:txBody>
      </p:sp>
      <p:sp>
        <p:nvSpPr>
          <p:cNvPr id="12" name="Shape 10"/>
          <p:cNvSpPr/>
          <p:nvPr/>
        </p:nvSpPr>
        <p:spPr>
          <a:xfrm>
            <a:off x="4663440" y="1325880"/>
            <a:ext cx="4206240" cy="3520440"/>
          </a:xfrm>
          <a:prstGeom prst="rect">
            <a:avLst/>
          </a:prstGeom>
          <a:solidFill>
            <a:srgbClr val="FFFFFF"/>
          </a:solidFill>
          <a:ln w="6350">
            <a:solidFill>
              <a:srgbClr val="E2E8F0"/>
            </a:solidFill>
            <a:prstDash val="solid"/>
          </a:ln>
        </p:spPr>
      </p:sp>
      <p:sp>
        <p:nvSpPr>
          <p:cNvPr id="13" name="Shape 11"/>
          <p:cNvSpPr/>
          <p:nvPr/>
        </p:nvSpPr>
        <p:spPr>
          <a:xfrm>
            <a:off x="4663440" y="1325880"/>
            <a:ext cx="4206240" cy="384048"/>
          </a:xfrm>
          <a:prstGeom prst="rect">
            <a:avLst/>
          </a:prstGeom>
          <a:solidFill>
            <a:srgbClr val="1E8C8C"/>
          </a:solidFill>
          <a:ln/>
        </p:spPr>
      </p:sp>
      <p:sp>
        <p:nvSpPr>
          <p:cNvPr id="14" name="Text 12"/>
          <p:cNvSpPr/>
          <p:nvPr/>
        </p:nvSpPr>
        <p:spPr>
          <a:xfrm>
            <a:off x="4773168" y="1389888"/>
            <a:ext cx="3977640" cy="274320"/>
          </a:xfrm>
          <a:prstGeom prst="rect">
            <a:avLst/>
          </a:prstGeom>
          <a:noFill/>
          <a:ln/>
        </p:spPr>
        <p:txBody>
          <a:bodyPr wrap="square" rtlCol="0" anchor="ctr"/>
          <a:lstStyle/>
          <a:p>
            <a:pPr marL="0" indent="0">
              <a:buNone/>
            </a:pPr>
            <a:r>
              <a:rPr lang="en-US" sz="950" b="1" kern="0" spc="100" dirty="0">
                <a:solidFill>
                  <a:srgbClr val="FFFFFF"/>
                </a:solidFill>
                <a:latin typeface="Calibri" pitchFamily="34" charset="0"/>
                <a:ea typeface="Calibri" pitchFamily="34" charset="-122"/>
                <a:cs typeface="Calibri" pitchFamily="34" charset="-120"/>
              </a:rPr>
              <a:t>THE GROWTH MARKETER</a:t>
            </a:r>
            <a:endParaRPr lang="en-US" sz="950" dirty="0"/>
          </a:p>
        </p:txBody>
      </p:sp>
      <p:sp>
        <p:nvSpPr>
          <p:cNvPr id="15" name="Text 13"/>
          <p:cNvSpPr/>
          <p:nvPr/>
        </p:nvSpPr>
        <p:spPr>
          <a:xfrm>
            <a:off x="4828032" y="1874520"/>
            <a:ext cx="3931920" cy="402336"/>
          </a:xfrm>
          <a:prstGeom prst="rect">
            <a:avLst/>
          </a:prstGeom>
          <a:noFill/>
          <a:ln/>
        </p:spPr>
        <p:txBody>
          <a:bodyPr wrap="square" rtlCol="0" anchor="ctr"/>
          <a:lstStyle/>
          <a:p>
            <a:pPr marL="0" indent="0">
              <a:buNone/>
            </a:pPr>
            <a:r>
              <a:rPr lang="en-US" sz="1250" dirty="0">
                <a:solidFill>
                  <a:srgbClr val="475569"/>
                </a:solidFill>
                <a:latin typeface="Calibri" pitchFamily="34" charset="0"/>
                <a:ea typeface="Calibri" pitchFamily="34" charset="-122"/>
                <a:cs typeface="Calibri" pitchFamily="34" charset="-120"/>
              </a:rPr>
              <a:t>•  Drowning in dashboards that show numbers, not meaning</a:t>
            </a:r>
            <a:endParaRPr lang="en-US" sz="1250" dirty="0"/>
          </a:p>
        </p:txBody>
      </p:sp>
      <p:sp>
        <p:nvSpPr>
          <p:cNvPr id="16" name="Text 14"/>
          <p:cNvSpPr/>
          <p:nvPr/>
        </p:nvSpPr>
        <p:spPr>
          <a:xfrm>
            <a:off x="4828032" y="2350008"/>
            <a:ext cx="3931920" cy="402336"/>
          </a:xfrm>
          <a:prstGeom prst="rect">
            <a:avLst/>
          </a:prstGeom>
          <a:noFill/>
          <a:ln/>
        </p:spPr>
        <p:txBody>
          <a:bodyPr wrap="square" rtlCol="0" anchor="ctr"/>
          <a:lstStyle/>
          <a:p>
            <a:pPr marL="0" indent="0">
              <a:buNone/>
            </a:pPr>
            <a:r>
              <a:rPr lang="en-US" sz="1250" dirty="0">
                <a:solidFill>
                  <a:srgbClr val="475569"/>
                </a:solidFill>
                <a:latin typeface="Calibri" pitchFamily="34" charset="0"/>
                <a:ea typeface="Calibri" pitchFamily="34" charset="-122"/>
                <a:cs typeface="Calibri" pitchFamily="34" charset="-120"/>
              </a:rPr>
              <a:t>•  Three monitoring tools that do not talk to each other</a:t>
            </a:r>
            <a:endParaRPr lang="en-US" sz="1250" dirty="0"/>
          </a:p>
        </p:txBody>
      </p:sp>
      <p:sp>
        <p:nvSpPr>
          <p:cNvPr id="17" name="Text 15"/>
          <p:cNvSpPr/>
          <p:nvPr/>
        </p:nvSpPr>
        <p:spPr>
          <a:xfrm>
            <a:off x="4828032" y="2825496"/>
            <a:ext cx="3931920" cy="402336"/>
          </a:xfrm>
          <a:prstGeom prst="rect">
            <a:avLst/>
          </a:prstGeom>
          <a:noFill/>
          <a:ln/>
        </p:spPr>
        <p:txBody>
          <a:bodyPr wrap="square" rtlCol="0" anchor="ctr"/>
          <a:lstStyle/>
          <a:p>
            <a:pPr marL="0" indent="0">
              <a:buNone/>
            </a:pPr>
            <a:r>
              <a:rPr lang="en-US" sz="1250" dirty="0">
                <a:solidFill>
                  <a:srgbClr val="475569"/>
                </a:solidFill>
                <a:latin typeface="Calibri" pitchFamily="34" charset="0"/>
                <a:ea typeface="Calibri" pitchFamily="34" charset="-122"/>
                <a:cs typeface="Calibri" pitchFamily="34" charset="-120"/>
              </a:rPr>
              <a:t>•  Spends hours in spreadsheets instead of making decisions</a:t>
            </a:r>
            <a:endParaRPr lang="en-US" sz="1250" dirty="0"/>
          </a:p>
        </p:txBody>
      </p:sp>
      <p:sp>
        <p:nvSpPr>
          <p:cNvPr id="18" name="Text 16"/>
          <p:cNvSpPr/>
          <p:nvPr/>
        </p:nvSpPr>
        <p:spPr>
          <a:xfrm>
            <a:off x="4828032" y="3300984"/>
            <a:ext cx="3931920" cy="402336"/>
          </a:xfrm>
          <a:prstGeom prst="rect">
            <a:avLst/>
          </a:prstGeom>
          <a:noFill/>
          <a:ln/>
        </p:spPr>
        <p:txBody>
          <a:bodyPr wrap="square" rtlCol="0" anchor="ctr"/>
          <a:lstStyle/>
          <a:p>
            <a:pPr marL="0" indent="0">
              <a:buNone/>
            </a:pPr>
            <a:r>
              <a:rPr lang="en-US" sz="1250" dirty="0">
                <a:solidFill>
                  <a:srgbClr val="475569"/>
                </a:solidFill>
                <a:latin typeface="Calibri" pitchFamily="34" charset="0"/>
                <a:ea typeface="Calibri" pitchFamily="34" charset="-122"/>
                <a:cs typeface="Calibri" pitchFamily="34" charset="-120"/>
              </a:rPr>
              <a:t>•  Needs one clear briefing -- not more raw data to interpret</a:t>
            </a:r>
            <a:endParaRPr lang="en-US" sz="1250" dirty="0"/>
          </a:p>
        </p:txBody>
      </p:sp>
      <p:sp>
        <p:nvSpPr>
          <p:cNvPr id="19" name="Text 17"/>
          <p:cNvSpPr/>
          <p:nvPr/>
        </p:nvSpPr>
        <p:spPr>
          <a:xfrm>
            <a:off x="457200" y="4846320"/>
            <a:ext cx="8412480" cy="256032"/>
          </a:xfrm>
          <a:prstGeom prst="rect">
            <a:avLst/>
          </a:prstGeom>
          <a:noFill/>
          <a:ln/>
        </p:spPr>
        <p:txBody>
          <a:bodyPr wrap="square" rtlCol="0" anchor="ctr"/>
          <a:lstStyle/>
          <a:p>
            <a:pPr marL="0" indent="0" algn="ctr">
              <a:buNone/>
            </a:pPr>
            <a:r>
              <a:rPr lang="en-US" sz="1050" b="1" dirty="0">
                <a:solidFill>
                  <a:srgbClr val="1E8C8C"/>
                </a:solidFill>
                <a:latin typeface="Calibri" pitchFamily="34" charset="0"/>
                <a:ea typeface="Calibri" pitchFamily="34" charset="-122"/>
                <a:cs typeface="Calibri" pitchFamily="34" charset="-120"/>
              </a:rPr>
              <a:t>Both are at the intersection of brand and AI -- and no existing tool was built specifically for them. MentionMap was.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02920" y="228600"/>
            <a:ext cx="7772400" cy="219456"/>
          </a:xfrm>
          <a:prstGeom prst="rect">
            <a:avLst/>
          </a:prstGeom>
          <a:noFill/>
          <a:ln/>
        </p:spPr>
        <p:txBody>
          <a:bodyPr wrap="square" rtlCol="0" anchor="ctr"/>
          <a:lstStyle/>
          <a:p>
            <a:pPr marL="0" indent="0">
              <a:buNone/>
            </a:pPr>
            <a:r>
              <a:rPr lang="en-US" sz="800" b="1" kern="0" spc="300" dirty="0">
                <a:solidFill>
                  <a:srgbClr val="1E8C8C"/>
                </a:solidFill>
                <a:latin typeface="Calibri" pitchFamily="34" charset="0"/>
                <a:ea typeface="Calibri" pitchFamily="34" charset="-122"/>
                <a:cs typeface="Calibri" pitchFamily="34" charset="-120"/>
              </a:rPr>
              <a:t>THE SOLUTION</a:t>
            </a:r>
            <a:endParaRPr lang="en-US" sz="800" dirty="0"/>
          </a:p>
        </p:txBody>
      </p:sp>
      <p:sp>
        <p:nvSpPr>
          <p:cNvPr id="3" name="Shape 1"/>
          <p:cNvSpPr/>
          <p:nvPr/>
        </p:nvSpPr>
        <p:spPr>
          <a:xfrm>
            <a:off x="502920" y="475488"/>
            <a:ext cx="8138160" cy="18288"/>
          </a:xfrm>
          <a:prstGeom prst="rect">
            <a:avLst/>
          </a:prstGeom>
          <a:solidFill>
            <a:srgbClr val="E2E8F0"/>
          </a:solidFill>
          <a:ln/>
        </p:spPr>
      </p:sp>
      <p:sp>
        <p:nvSpPr>
          <p:cNvPr id="4" name="Text 2"/>
          <p:cNvSpPr/>
          <p:nvPr/>
        </p:nvSpPr>
        <p:spPr>
          <a:xfrm>
            <a:off x="502920" y="594360"/>
            <a:ext cx="8138160" cy="731520"/>
          </a:xfrm>
          <a:prstGeom prst="rect">
            <a:avLst/>
          </a:prstGeom>
          <a:noFill/>
          <a:ln/>
        </p:spPr>
        <p:txBody>
          <a:bodyPr wrap="square" rtlCol="0" anchor="ctr"/>
          <a:lstStyle/>
          <a:p>
            <a:pPr marL="0" indent="0" algn="ctr">
              <a:buNone/>
            </a:pPr>
            <a:r>
              <a:rPr lang="en-US" sz="3400" b="1" dirty="0">
                <a:solidFill>
                  <a:srgbClr val="1A2B4A"/>
                </a:solidFill>
                <a:latin typeface="Cambria" pitchFamily="34" charset="0"/>
                <a:ea typeface="Cambria" pitchFamily="34" charset="-122"/>
                <a:cs typeface="Cambria" pitchFamily="34" charset="-120"/>
              </a:rPr>
              <a:t>Paste mentions. Get your morning brief.</a:t>
            </a:r>
            <a:endParaRPr lang="en-US" sz="3400" dirty="0"/>
          </a:p>
        </p:txBody>
      </p:sp>
      <p:sp>
        <p:nvSpPr>
          <p:cNvPr id="5" name="Shape 3"/>
          <p:cNvSpPr/>
          <p:nvPr/>
        </p:nvSpPr>
        <p:spPr>
          <a:xfrm>
            <a:off x="457200" y="1536192"/>
            <a:ext cx="2606040" cy="2514600"/>
          </a:xfrm>
          <a:prstGeom prst="rect">
            <a:avLst/>
          </a:prstGeom>
          <a:solidFill>
            <a:srgbClr val="FFFFFF"/>
          </a:solidFill>
          <a:ln w="6350">
            <a:solidFill>
              <a:srgbClr val="E2E8F0"/>
            </a:solidFill>
            <a:prstDash val="solid"/>
          </a:ln>
        </p:spPr>
      </p:sp>
      <p:sp>
        <p:nvSpPr>
          <p:cNvPr id="6" name="Shape 4"/>
          <p:cNvSpPr/>
          <p:nvPr/>
        </p:nvSpPr>
        <p:spPr>
          <a:xfrm>
            <a:off x="1463040" y="1664208"/>
            <a:ext cx="502920" cy="502920"/>
          </a:xfrm>
          <a:prstGeom prst="ellipse">
            <a:avLst/>
          </a:prstGeom>
          <a:solidFill>
            <a:srgbClr val="1E8C8C"/>
          </a:solidFill>
          <a:ln/>
        </p:spPr>
      </p:sp>
      <p:sp>
        <p:nvSpPr>
          <p:cNvPr id="7" name="Text 5"/>
          <p:cNvSpPr/>
          <p:nvPr/>
        </p:nvSpPr>
        <p:spPr>
          <a:xfrm>
            <a:off x="1463040" y="1673352"/>
            <a:ext cx="502920" cy="47548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594360" y="2286000"/>
            <a:ext cx="2331720" cy="347472"/>
          </a:xfrm>
          <a:prstGeom prst="rect">
            <a:avLst/>
          </a:prstGeom>
          <a:noFill/>
          <a:ln/>
        </p:spPr>
        <p:txBody>
          <a:bodyPr wrap="square" rtlCol="0" anchor="ctr"/>
          <a:lstStyle/>
          <a:p>
            <a:pPr marL="0" indent="0" algn="ctr">
              <a:buNone/>
            </a:pPr>
            <a:r>
              <a:rPr lang="en-US" sz="1500" b="1" dirty="0">
                <a:solidFill>
                  <a:srgbClr val="1A2B4A"/>
                </a:solidFill>
                <a:latin typeface="Cambria" pitchFamily="34" charset="0"/>
                <a:ea typeface="Cambria" pitchFamily="34" charset="-122"/>
                <a:cs typeface="Cambria" pitchFamily="34" charset="-120"/>
              </a:rPr>
              <a:t>Collect</a:t>
            </a:r>
            <a:endParaRPr lang="en-US" sz="1500" dirty="0"/>
          </a:p>
        </p:txBody>
      </p:sp>
      <p:sp>
        <p:nvSpPr>
          <p:cNvPr id="9" name="Text 7"/>
          <p:cNvSpPr/>
          <p:nvPr/>
        </p:nvSpPr>
        <p:spPr>
          <a:xfrm>
            <a:off x="640080" y="2697480"/>
            <a:ext cx="2240280" cy="1188720"/>
          </a:xfrm>
          <a:prstGeom prst="rect">
            <a:avLst/>
          </a:prstGeom>
          <a:noFill/>
          <a:ln/>
        </p:spPr>
        <p:txBody>
          <a:bodyPr wrap="square" rtlCol="0" anchor="ctr"/>
          <a:lstStyle/>
          <a:p>
            <a:pPr marL="0" indent="0" algn="ctr">
              <a:buNone/>
            </a:pPr>
            <a:r>
              <a:rPr lang="en-US" sz="1150" dirty="0">
                <a:solidFill>
                  <a:srgbClr val="475569"/>
                </a:solidFill>
                <a:latin typeface="Calibri" pitchFamily="34" charset="0"/>
                <a:ea typeface="Calibri" pitchFamily="34" charset="-122"/>
                <a:cs typeface="Calibri" pitchFamily="34" charset="-120"/>
              </a:rPr>
              <a:t>Copy comments, reviews, or tweets about your brand and paste them into MentionMap</a:t>
            </a:r>
            <a:endParaRPr lang="en-US" sz="1150" dirty="0"/>
          </a:p>
        </p:txBody>
      </p:sp>
      <p:sp>
        <p:nvSpPr>
          <p:cNvPr id="10" name="Text 8"/>
          <p:cNvSpPr/>
          <p:nvPr/>
        </p:nvSpPr>
        <p:spPr>
          <a:xfrm>
            <a:off x="3136392" y="2542032"/>
            <a:ext cx="256032" cy="274320"/>
          </a:xfrm>
          <a:prstGeom prst="rect">
            <a:avLst/>
          </a:prstGeom>
          <a:noFill/>
          <a:ln/>
        </p:spPr>
        <p:txBody>
          <a:bodyPr wrap="square" rtlCol="0" anchor="ctr"/>
          <a:lstStyle/>
          <a:p>
            <a:pPr marL="0" indent="0" algn="ctr">
              <a:buNone/>
            </a:pPr>
            <a:r>
              <a:rPr lang="en-US" sz="1800" dirty="0">
                <a:solidFill>
                  <a:srgbClr val="94A3B8"/>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3410712" y="1536192"/>
            <a:ext cx="2606040" cy="2514600"/>
          </a:xfrm>
          <a:prstGeom prst="rect">
            <a:avLst/>
          </a:prstGeom>
          <a:solidFill>
            <a:srgbClr val="FFFFFF"/>
          </a:solidFill>
          <a:ln w="6350">
            <a:solidFill>
              <a:srgbClr val="E2E8F0"/>
            </a:solidFill>
            <a:prstDash val="solid"/>
          </a:ln>
        </p:spPr>
      </p:sp>
      <p:sp>
        <p:nvSpPr>
          <p:cNvPr id="12" name="Shape 10"/>
          <p:cNvSpPr/>
          <p:nvPr/>
        </p:nvSpPr>
        <p:spPr>
          <a:xfrm>
            <a:off x="4416552" y="1664208"/>
            <a:ext cx="502920" cy="502920"/>
          </a:xfrm>
          <a:prstGeom prst="ellipse">
            <a:avLst/>
          </a:prstGeom>
          <a:solidFill>
            <a:srgbClr val="1E8C8C"/>
          </a:solidFill>
          <a:ln/>
        </p:spPr>
      </p:sp>
      <p:sp>
        <p:nvSpPr>
          <p:cNvPr id="13" name="Text 11"/>
          <p:cNvSpPr/>
          <p:nvPr/>
        </p:nvSpPr>
        <p:spPr>
          <a:xfrm>
            <a:off x="4416552" y="1673352"/>
            <a:ext cx="502920" cy="47548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3547872" y="2286000"/>
            <a:ext cx="2331720" cy="347472"/>
          </a:xfrm>
          <a:prstGeom prst="rect">
            <a:avLst/>
          </a:prstGeom>
          <a:noFill/>
          <a:ln/>
        </p:spPr>
        <p:txBody>
          <a:bodyPr wrap="square" rtlCol="0" anchor="ctr"/>
          <a:lstStyle/>
          <a:p>
            <a:pPr marL="0" indent="0" algn="ctr">
              <a:buNone/>
            </a:pPr>
            <a:r>
              <a:rPr lang="en-US" sz="1500" b="1" dirty="0">
                <a:solidFill>
                  <a:srgbClr val="1A2B4A"/>
                </a:solidFill>
                <a:latin typeface="Cambria" pitchFamily="34" charset="0"/>
                <a:ea typeface="Cambria" pitchFamily="34" charset="-122"/>
                <a:cs typeface="Cambria" pitchFamily="34" charset="-120"/>
              </a:rPr>
              <a:t>Analyze</a:t>
            </a:r>
            <a:endParaRPr lang="en-US" sz="1500" dirty="0"/>
          </a:p>
        </p:txBody>
      </p:sp>
      <p:sp>
        <p:nvSpPr>
          <p:cNvPr id="15" name="Text 13"/>
          <p:cNvSpPr/>
          <p:nvPr/>
        </p:nvSpPr>
        <p:spPr>
          <a:xfrm>
            <a:off x="3593592" y="2697480"/>
            <a:ext cx="2240280" cy="1188720"/>
          </a:xfrm>
          <a:prstGeom prst="rect">
            <a:avLst/>
          </a:prstGeom>
          <a:noFill/>
          <a:ln/>
        </p:spPr>
        <p:txBody>
          <a:bodyPr wrap="square" rtlCol="0" anchor="ctr"/>
          <a:lstStyle/>
          <a:p>
            <a:pPr marL="0" indent="0" algn="ctr">
              <a:buNone/>
            </a:pPr>
            <a:r>
              <a:rPr lang="en-US" sz="1150" dirty="0">
                <a:solidFill>
                  <a:srgbClr val="475569"/>
                </a:solidFill>
                <a:latin typeface="Calibri" pitchFamily="34" charset="0"/>
                <a:ea typeface="Calibri" pitchFamily="34" charset="-122"/>
                <a:cs typeface="Calibri" pitchFamily="34" charset="-120"/>
              </a:rPr>
              <a:t>AI reads the mood, spots unusual spikes, and identifies the personality your audience projects onto your brand</a:t>
            </a:r>
            <a:endParaRPr lang="en-US" sz="1150" dirty="0"/>
          </a:p>
        </p:txBody>
      </p:sp>
      <p:sp>
        <p:nvSpPr>
          <p:cNvPr id="16" name="Text 14"/>
          <p:cNvSpPr/>
          <p:nvPr/>
        </p:nvSpPr>
        <p:spPr>
          <a:xfrm>
            <a:off x="6089904" y="2542032"/>
            <a:ext cx="256032" cy="274320"/>
          </a:xfrm>
          <a:prstGeom prst="rect">
            <a:avLst/>
          </a:prstGeom>
          <a:noFill/>
          <a:ln/>
        </p:spPr>
        <p:txBody>
          <a:bodyPr wrap="square" rtlCol="0" anchor="ctr"/>
          <a:lstStyle/>
          <a:p>
            <a:pPr marL="0" indent="0" algn="ctr">
              <a:buNone/>
            </a:pPr>
            <a:r>
              <a:rPr lang="en-US" sz="1800" dirty="0">
                <a:solidFill>
                  <a:srgbClr val="94A3B8"/>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6364224" y="1536192"/>
            <a:ext cx="2606040" cy="2514600"/>
          </a:xfrm>
          <a:prstGeom prst="rect">
            <a:avLst/>
          </a:prstGeom>
          <a:solidFill>
            <a:srgbClr val="FFFFFF"/>
          </a:solidFill>
          <a:ln w="6350">
            <a:solidFill>
              <a:srgbClr val="E2E8F0"/>
            </a:solidFill>
            <a:prstDash val="solid"/>
          </a:ln>
        </p:spPr>
      </p:sp>
      <p:sp>
        <p:nvSpPr>
          <p:cNvPr id="18" name="Shape 16"/>
          <p:cNvSpPr/>
          <p:nvPr/>
        </p:nvSpPr>
        <p:spPr>
          <a:xfrm>
            <a:off x="7370064" y="1664208"/>
            <a:ext cx="502920" cy="502920"/>
          </a:xfrm>
          <a:prstGeom prst="ellipse">
            <a:avLst/>
          </a:prstGeom>
          <a:solidFill>
            <a:srgbClr val="1E8C8C"/>
          </a:solidFill>
          <a:ln/>
        </p:spPr>
      </p:sp>
      <p:sp>
        <p:nvSpPr>
          <p:cNvPr id="19" name="Text 17"/>
          <p:cNvSpPr/>
          <p:nvPr/>
        </p:nvSpPr>
        <p:spPr>
          <a:xfrm>
            <a:off x="7370064" y="1673352"/>
            <a:ext cx="502920" cy="47548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6501384" y="2286000"/>
            <a:ext cx="2331720" cy="347472"/>
          </a:xfrm>
          <a:prstGeom prst="rect">
            <a:avLst/>
          </a:prstGeom>
          <a:noFill/>
          <a:ln/>
        </p:spPr>
        <p:txBody>
          <a:bodyPr wrap="square" rtlCol="0" anchor="ctr"/>
          <a:lstStyle/>
          <a:p>
            <a:pPr marL="0" indent="0" algn="ctr">
              <a:buNone/>
            </a:pPr>
            <a:r>
              <a:rPr lang="en-US" sz="1500" b="1" dirty="0">
                <a:solidFill>
                  <a:srgbClr val="1A2B4A"/>
                </a:solidFill>
                <a:latin typeface="Cambria" pitchFamily="34" charset="0"/>
                <a:ea typeface="Cambria" pitchFamily="34" charset="-122"/>
                <a:cs typeface="Cambria" pitchFamily="34" charset="-120"/>
              </a:rPr>
              <a:t>Act</a:t>
            </a:r>
            <a:endParaRPr lang="en-US" sz="1500" dirty="0"/>
          </a:p>
        </p:txBody>
      </p:sp>
      <p:sp>
        <p:nvSpPr>
          <p:cNvPr id="21" name="Text 19"/>
          <p:cNvSpPr/>
          <p:nvPr/>
        </p:nvSpPr>
        <p:spPr>
          <a:xfrm>
            <a:off x="6547104" y="2697480"/>
            <a:ext cx="2240280" cy="1188720"/>
          </a:xfrm>
          <a:prstGeom prst="rect">
            <a:avLst/>
          </a:prstGeom>
          <a:noFill/>
          <a:ln/>
        </p:spPr>
        <p:txBody>
          <a:bodyPr wrap="square" rtlCol="0" anchor="ctr"/>
          <a:lstStyle/>
          <a:p>
            <a:pPr marL="0" indent="0" algn="ctr">
              <a:buNone/>
            </a:pPr>
            <a:r>
              <a:rPr lang="en-US" sz="1150" dirty="0">
                <a:solidFill>
                  <a:srgbClr val="475569"/>
                </a:solidFill>
                <a:latin typeface="Calibri" pitchFamily="34" charset="0"/>
                <a:ea typeface="Calibri" pitchFamily="34" charset="-122"/>
                <a:cs typeface="Calibri" pitchFamily="34" charset="-120"/>
              </a:rPr>
              <a:t>Wake up to a plain-English briefing with draft responses ready to copy and post</a:t>
            </a:r>
            <a:endParaRPr lang="en-US" sz="1150" dirty="0"/>
          </a:p>
        </p:txBody>
      </p:sp>
      <p:sp>
        <p:nvSpPr>
          <p:cNvPr id="22" name="Shape 20"/>
          <p:cNvSpPr/>
          <p:nvPr/>
        </p:nvSpPr>
        <p:spPr>
          <a:xfrm>
            <a:off x="1097280" y="4261104"/>
            <a:ext cx="6949440" cy="420624"/>
          </a:xfrm>
          <a:prstGeom prst="rect">
            <a:avLst/>
          </a:prstGeom>
          <a:solidFill>
            <a:srgbClr val="1E8C8C"/>
          </a:solidFill>
          <a:ln/>
        </p:spPr>
      </p:sp>
      <p:sp>
        <p:nvSpPr>
          <p:cNvPr id="23" name="Text 21"/>
          <p:cNvSpPr/>
          <p:nvPr/>
        </p:nvSpPr>
        <p:spPr>
          <a:xfrm>
            <a:off x="1097280" y="4297680"/>
            <a:ext cx="694944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No account. No setup. No analyst. Just answers.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B4A"/>
        </a:solidFill>
        <a:effectLst/>
      </p:bgPr>
    </p:bg>
    <p:spTree>
      <p:nvGrpSpPr>
        <p:cNvPr id="1" name=""/>
        <p:cNvGrpSpPr/>
        <p:nvPr/>
      </p:nvGrpSpPr>
      <p:grpSpPr>
        <a:xfrm>
          <a:off x="0" y="0"/>
          <a:ext cx="0" cy="0"/>
          <a:chOff x="0" y="0"/>
          <a:chExt cx="0" cy="0"/>
        </a:xfrm>
      </p:grpSpPr>
      <p:sp>
        <p:nvSpPr>
          <p:cNvPr id="2" name="Text 0"/>
          <p:cNvSpPr/>
          <p:nvPr/>
        </p:nvSpPr>
        <p:spPr>
          <a:xfrm>
            <a:off x="502920" y="228600"/>
            <a:ext cx="7772400" cy="219456"/>
          </a:xfrm>
          <a:prstGeom prst="rect">
            <a:avLst/>
          </a:prstGeom>
          <a:noFill/>
          <a:ln/>
        </p:spPr>
        <p:txBody>
          <a:bodyPr wrap="square" rtlCol="0" anchor="ctr"/>
          <a:lstStyle/>
          <a:p>
            <a:pPr marL="0" indent="0">
              <a:buNone/>
            </a:pPr>
            <a:r>
              <a:rPr lang="en-US" sz="800" b="1" kern="0" spc="300" dirty="0">
                <a:solidFill>
                  <a:srgbClr val="1E8C8C"/>
                </a:solidFill>
                <a:latin typeface="Calibri" pitchFamily="34" charset="0"/>
                <a:ea typeface="Calibri" pitchFamily="34" charset="-122"/>
                <a:cs typeface="Calibri" pitchFamily="34" charset="-120"/>
              </a:rPr>
              <a:t>THE SECRET SAUCE</a:t>
            </a:r>
            <a:endParaRPr lang="en-US" sz="800" dirty="0"/>
          </a:p>
        </p:txBody>
      </p:sp>
      <p:sp>
        <p:nvSpPr>
          <p:cNvPr id="3" name="Shape 1"/>
          <p:cNvSpPr/>
          <p:nvPr/>
        </p:nvSpPr>
        <p:spPr>
          <a:xfrm>
            <a:off x="502920" y="475488"/>
            <a:ext cx="8138160" cy="18288"/>
          </a:xfrm>
          <a:prstGeom prst="rect">
            <a:avLst/>
          </a:prstGeom>
          <a:solidFill>
            <a:srgbClr val="E2E8F0"/>
          </a:solidFill>
          <a:ln/>
        </p:spPr>
      </p:sp>
      <p:sp>
        <p:nvSpPr>
          <p:cNvPr id="4" name="Text 2"/>
          <p:cNvSpPr/>
          <p:nvPr/>
        </p:nvSpPr>
        <p:spPr>
          <a:xfrm>
            <a:off x="457200" y="594360"/>
            <a:ext cx="8229600" cy="658368"/>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"We use AI to understand</a:t>
            </a:r>
            <a:endParaRPr lang="en-US" sz="3400" dirty="0"/>
          </a:p>
        </p:txBody>
      </p:sp>
      <p:sp>
        <p:nvSpPr>
          <p:cNvPr id="5" name="Text 3"/>
          <p:cNvSpPr/>
          <p:nvPr/>
        </p:nvSpPr>
        <p:spPr>
          <a:xfrm>
            <a:off x="457200" y="1207008"/>
            <a:ext cx="8229600" cy="658368"/>
          </a:xfrm>
          <a:prstGeom prst="rect">
            <a:avLst/>
          </a:prstGeom>
          <a:noFill/>
          <a:ln/>
        </p:spPr>
        <p:txBody>
          <a:bodyPr wrap="square" rtlCol="0" anchor="ctr"/>
          <a:lstStyle/>
          <a:p>
            <a:pPr marL="0" indent="0" algn="ctr">
              <a:buNone/>
            </a:pPr>
            <a:r>
              <a:rPr lang="en-US" sz="3400" b="1" dirty="0">
                <a:solidFill>
                  <a:srgbClr val="F4A827"/>
                </a:solidFill>
                <a:latin typeface="Cambria" pitchFamily="34" charset="0"/>
                <a:ea typeface="Cambria" pitchFamily="34" charset="-122"/>
                <a:cs typeface="Cambria" pitchFamily="34" charset="-120"/>
              </a:rPr>
              <a:t>brand personality</a:t>
            </a:r>
            <a:endParaRPr lang="en-US" sz="3400" dirty="0"/>
          </a:p>
        </p:txBody>
      </p:sp>
      <p:sp>
        <p:nvSpPr>
          <p:cNvPr id="6" name="Text 4"/>
          <p:cNvSpPr/>
          <p:nvPr/>
        </p:nvSpPr>
        <p:spPr>
          <a:xfrm>
            <a:off x="457200" y="1828800"/>
            <a:ext cx="8229600" cy="658368"/>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not just count mentions."</a:t>
            </a:r>
            <a:endParaRPr lang="en-US" sz="3400" dirty="0"/>
          </a:p>
        </p:txBody>
      </p:sp>
      <p:sp>
        <p:nvSpPr>
          <p:cNvPr id="7" name="Shape 5"/>
          <p:cNvSpPr/>
          <p:nvPr/>
        </p:nvSpPr>
        <p:spPr>
          <a:xfrm>
            <a:off x="438912" y="2670048"/>
            <a:ext cx="2542032" cy="2194560"/>
          </a:xfrm>
          <a:prstGeom prst="rect">
            <a:avLst/>
          </a:prstGeom>
          <a:solidFill>
            <a:srgbClr val="243B5A"/>
          </a:solidFill>
          <a:ln w="6350">
            <a:solidFill>
              <a:srgbClr val="2D4E72"/>
            </a:solidFill>
            <a:prstDash val="solid"/>
          </a:ln>
        </p:spPr>
      </p:sp>
      <p:sp>
        <p:nvSpPr>
          <p:cNvPr id="8" name="Text 6"/>
          <p:cNvSpPr/>
          <p:nvPr/>
        </p:nvSpPr>
        <p:spPr>
          <a:xfrm>
            <a:off x="576072" y="2788920"/>
            <a:ext cx="2267712" cy="347472"/>
          </a:xfrm>
          <a:prstGeom prst="rect">
            <a:avLst/>
          </a:prstGeom>
          <a:noFill/>
          <a:ln/>
        </p:spPr>
        <p:txBody>
          <a:bodyPr wrap="square" rtlCol="0" anchor="ctr"/>
          <a:lstStyle/>
          <a:p>
            <a:pPr marL="0" indent="0" algn="ctr">
              <a:buNone/>
            </a:pPr>
            <a:r>
              <a:rPr lang="en-US" sz="1300" b="1" dirty="0">
                <a:solidFill>
                  <a:srgbClr val="F4A827"/>
                </a:solidFill>
                <a:latin typeface="Calibri" pitchFamily="34" charset="0"/>
                <a:ea typeface="Calibri" pitchFamily="34" charset="-122"/>
                <a:cs typeface="Calibri" pitchFamily="34" charset="-120"/>
              </a:rPr>
              <a:t>Mood Reader</a:t>
            </a:r>
            <a:endParaRPr lang="en-US" sz="1300" dirty="0"/>
          </a:p>
        </p:txBody>
      </p:sp>
      <p:sp>
        <p:nvSpPr>
          <p:cNvPr id="9" name="Text 7"/>
          <p:cNvSpPr/>
          <p:nvPr/>
        </p:nvSpPr>
        <p:spPr>
          <a:xfrm>
            <a:off x="576072" y="3200400"/>
            <a:ext cx="2267712" cy="150876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Smart AI that learns patterns in how people feel about your brand -- not just what they say</a:t>
            </a:r>
            <a:endParaRPr lang="en-US" sz="1100" dirty="0"/>
          </a:p>
        </p:txBody>
      </p:sp>
      <p:sp>
        <p:nvSpPr>
          <p:cNvPr id="10" name="Shape 8"/>
          <p:cNvSpPr/>
          <p:nvPr/>
        </p:nvSpPr>
        <p:spPr>
          <a:xfrm>
            <a:off x="3191256" y="2670048"/>
            <a:ext cx="2542032" cy="2194560"/>
          </a:xfrm>
          <a:prstGeom prst="rect">
            <a:avLst/>
          </a:prstGeom>
          <a:solidFill>
            <a:srgbClr val="243B5A"/>
          </a:solidFill>
          <a:ln w="6350">
            <a:solidFill>
              <a:srgbClr val="2D4E72"/>
            </a:solidFill>
            <a:prstDash val="solid"/>
          </a:ln>
        </p:spPr>
      </p:sp>
      <p:sp>
        <p:nvSpPr>
          <p:cNvPr id="11" name="Text 9"/>
          <p:cNvSpPr/>
          <p:nvPr/>
        </p:nvSpPr>
        <p:spPr>
          <a:xfrm>
            <a:off x="3328416" y="2788920"/>
            <a:ext cx="2267712" cy="347472"/>
          </a:xfrm>
          <a:prstGeom prst="rect">
            <a:avLst/>
          </a:prstGeom>
          <a:noFill/>
          <a:ln/>
        </p:spPr>
        <p:txBody>
          <a:bodyPr wrap="square" rtlCol="0" anchor="ctr"/>
          <a:lstStyle/>
          <a:p>
            <a:pPr marL="0" indent="0" algn="ctr">
              <a:buNone/>
            </a:pPr>
            <a:r>
              <a:rPr lang="en-US" sz="1300" b="1" dirty="0">
                <a:solidFill>
                  <a:srgbClr val="F4A827"/>
                </a:solidFill>
                <a:latin typeface="Calibri" pitchFamily="34" charset="0"/>
                <a:ea typeface="Calibri" pitchFamily="34" charset="-122"/>
                <a:cs typeface="Calibri" pitchFamily="34" charset="-120"/>
              </a:rPr>
              <a:t>Brand Personality</a:t>
            </a:r>
            <a:endParaRPr lang="en-US" sz="1300" dirty="0"/>
          </a:p>
        </p:txBody>
      </p:sp>
      <p:sp>
        <p:nvSpPr>
          <p:cNvPr id="12" name="Text 10"/>
          <p:cNvSpPr/>
          <p:nvPr/>
        </p:nvSpPr>
        <p:spPr>
          <a:xfrm>
            <a:off x="3328416" y="3200400"/>
            <a:ext cx="2267712" cy="150876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Identifies which of 12 archetypes your audience projects onto your brand -- Hero, Creator, Caregiver, and more</a:t>
            </a:r>
            <a:endParaRPr lang="en-US" sz="1100" dirty="0"/>
          </a:p>
        </p:txBody>
      </p:sp>
      <p:sp>
        <p:nvSpPr>
          <p:cNvPr id="13" name="Shape 11"/>
          <p:cNvSpPr/>
          <p:nvPr/>
        </p:nvSpPr>
        <p:spPr>
          <a:xfrm>
            <a:off x="5943600" y="2670048"/>
            <a:ext cx="2542032" cy="2194560"/>
          </a:xfrm>
          <a:prstGeom prst="rect">
            <a:avLst/>
          </a:prstGeom>
          <a:solidFill>
            <a:srgbClr val="243B5A"/>
          </a:solidFill>
          <a:ln w="6350">
            <a:solidFill>
              <a:srgbClr val="2D4E72"/>
            </a:solidFill>
            <a:prstDash val="solid"/>
          </a:ln>
        </p:spPr>
      </p:sp>
      <p:sp>
        <p:nvSpPr>
          <p:cNvPr id="14" name="Text 12"/>
          <p:cNvSpPr/>
          <p:nvPr/>
        </p:nvSpPr>
        <p:spPr>
          <a:xfrm>
            <a:off x="6080760" y="2788920"/>
            <a:ext cx="2267712" cy="347472"/>
          </a:xfrm>
          <a:prstGeom prst="rect">
            <a:avLst/>
          </a:prstGeom>
          <a:noFill/>
          <a:ln/>
        </p:spPr>
        <p:txBody>
          <a:bodyPr wrap="square" rtlCol="0" anchor="ctr"/>
          <a:lstStyle/>
          <a:p>
            <a:pPr marL="0" indent="0" algn="ctr">
              <a:buNone/>
            </a:pPr>
            <a:r>
              <a:rPr lang="en-US" sz="1300" b="1" dirty="0">
                <a:solidFill>
                  <a:srgbClr val="F4A827"/>
                </a:solidFill>
                <a:latin typeface="Calibri" pitchFamily="34" charset="0"/>
                <a:ea typeface="Calibri" pitchFamily="34" charset="-122"/>
                <a:cs typeface="Calibri" pitchFamily="34" charset="-120"/>
              </a:rPr>
              <a:t>Early Warning</a:t>
            </a:r>
            <a:endParaRPr lang="en-US" sz="1300" dirty="0"/>
          </a:p>
        </p:txBody>
      </p:sp>
      <p:sp>
        <p:nvSpPr>
          <p:cNvPr id="15" name="Text 13"/>
          <p:cNvSpPr/>
          <p:nvPr/>
        </p:nvSpPr>
        <p:spPr>
          <a:xfrm>
            <a:off x="6080760" y="3200400"/>
            <a:ext cx="2267712" cy="150876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Spots unusual spikes before a crisis goes viral. Think of it as a smoke alarm for your brand reputation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02920" y="228600"/>
            <a:ext cx="7772400" cy="219456"/>
          </a:xfrm>
          <a:prstGeom prst="rect">
            <a:avLst/>
          </a:prstGeom>
          <a:noFill/>
          <a:ln/>
        </p:spPr>
        <p:txBody>
          <a:bodyPr wrap="square" rtlCol="0" anchor="ctr"/>
          <a:lstStyle/>
          <a:p>
            <a:pPr marL="0" indent="0">
              <a:buNone/>
            </a:pPr>
            <a:r>
              <a:rPr lang="en-US" sz="800" b="1" kern="0" spc="300" dirty="0">
                <a:solidFill>
                  <a:srgbClr val="1E8C8C"/>
                </a:solidFill>
                <a:latin typeface="Calibri" pitchFamily="34" charset="0"/>
                <a:ea typeface="Calibri" pitchFamily="34" charset="-122"/>
                <a:cs typeface="Calibri" pitchFamily="34" charset="-120"/>
              </a:rPr>
              <a:t>BRAND IDENTITY</a:t>
            </a:r>
            <a:endParaRPr lang="en-US" sz="800" dirty="0"/>
          </a:p>
        </p:txBody>
      </p:sp>
      <p:sp>
        <p:nvSpPr>
          <p:cNvPr id="3" name="Shape 1"/>
          <p:cNvSpPr/>
          <p:nvPr/>
        </p:nvSpPr>
        <p:spPr>
          <a:xfrm>
            <a:off x="502920" y="475488"/>
            <a:ext cx="8138160" cy="18288"/>
          </a:xfrm>
          <a:prstGeom prst="rect">
            <a:avLst/>
          </a:prstGeom>
          <a:solidFill>
            <a:srgbClr val="E2E8F0"/>
          </a:solidFill>
          <a:ln/>
        </p:spPr>
      </p:sp>
      <p:sp>
        <p:nvSpPr>
          <p:cNvPr id="4" name="Text 2"/>
          <p:cNvSpPr/>
          <p:nvPr/>
        </p:nvSpPr>
        <p:spPr>
          <a:xfrm>
            <a:off x="502920" y="594360"/>
            <a:ext cx="7315200" cy="548640"/>
          </a:xfrm>
          <a:prstGeom prst="rect">
            <a:avLst/>
          </a:prstGeom>
          <a:noFill/>
          <a:ln/>
        </p:spPr>
        <p:txBody>
          <a:bodyPr wrap="square" rtlCol="0" anchor="ctr"/>
          <a:lstStyle/>
          <a:p>
            <a:pPr marL="0" indent="0">
              <a:buNone/>
            </a:pPr>
            <a:r>
              <a:rPr lang="en-US" sz="3000" b="1" dirty="0">
                <a:solidFill>
                  <a:srgbClr val="1A2B4A"/>
                </a:solidFill>
                <a:latin typeface="Cambria" pitchFamily="34" charset="0"/>
                <a:ea typeface="Cambria" pitchFamily="34" charset="-122"/>
                <a:cs typeface="Cambria" pitchFamily="34" charset="-120"/>
              </a:rPr>
              <a:t>The look and feel.</a:t>
            </a:r>
            <a:endParaRPr lang="en-US" sz="3000" dirty="0"/>
          </a:p>
        </p:txBody>
      </p:sp>
      <p:sp>
        <p:nvSpPr>
          <p:cNvPr id="5" name="Shape 3"/>
          <p:cNvSpPr/>
          <p:nvPr/>
        </p:nvSpPr>
        <p:spPr>
          <a:xfrm>
            <a:off x="457200" y="1261872"/>
            <a:ext cx="2578608" cy="1143000"/>
          </a:xfrm>
          <a:prstGeom prst="rect">
            <a:avLst/>
          </a:prstGeom>
          <a:solidFill>
            <a:srgbClr val="1A2B4A"/>
          </a:solidFill>
          <a:ln/>
        </p:spPr>
      </p:sp>
      <p:sp>
        <p:nvSpPr>
          <p:cNvPr id="6" name="Text 4"/>
          <p:cNvSpPr/>
          <p:nvPr/>
        </p:nvSpPr>
        <p:spPr>
          <a:xfrm>
            <a:off x="457200" y="1261872"/>
            <a:ext cx="2578608" cy="114300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Navy</a:t>
            </a:r>
            <a:endParaRPr lang="en-US" sz="2200" dirty="0"/>
          </a:p>
        </p:txBody>
      </p:sp>
      <p:sp>
        <p:nvSpPr>
          <p:cNvPr id="7" name="Text 5"/>
          <p:cNvSpPr/>
          <p:nvPr/>
        </p:nvSpPr>
        <p:spPr>
          <a:xfrm>
            <a:off x="457200" y="2432304"/>
            <a:ext cx="2578608" cy="237744"/>
          </a:xfrm>
          <a:prstGeom prst="rect">
            <a:avLst/>
          </a:prstGeom>
          <a:noFill/>
          <a:ln/>
        </p:spPr>
        <p:txBody>
          <a:bodyPr wrap="square" rtlCol="0" anchor="ctr"/>
          <a:lstStyle/>
          <a:p>
            <a:pPr marL="0" indent="0" algn="ctr">
              <a:buNone/>
            </a:pPr>
            <a:r>
              <a:rPr lang="en-US" sz="1000" b="1" dirty="0">
                <a:solidFill>
                  <a:srgbClr val="475569"/>
                </a:solidFill>
                <a:latin typeface="Calibri" pitchFamily="34" charset="0"/>
                <a:ea typeface="Calibri" pitchFamily="34" charset="-122"/>
                <a:cs typeface="Calibri" pitchFamily="34" charset="-120"/>
              </a:rPr>
              <a:t>#1A2B4A</a:t>
            </a:r>
            <a:endParaRPr lang="en-US" sz="1000" dirty="0"/>
          </a:p>
        </p:txBody>
      </p:sp>
      <p:sp>
        <p:nvSpPr>
          <p:cNvPr id="8" name="Text 6"/>
          <p:cNvSpPr/>
          <p:nvPr/>
        </p:nvSpPr>
        <p:spPr>
          <a:xfrm>
            <a:off x="457200" y="2670048"/>
            <a:ext cx="2578608" cy="219456"/>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60% -- Authority</a:t>
            </a:r>
            <a:endParaRPr lang="en-US" sz="1000" dirty="0"/>
          </a:p>
        </p:txBody>
      </p:sp>
      <p:sp>
        <p:nvSpPr>
          <p:cNvPr id="9" name="Shape 7"/>
          <p:cNvSpPr/>
          <p:nvPr/>
        </p:nvSpPr>
        <p:spPr>
          <a:xfrm>
            <a:off x="3291840" y="1261872"/>
            <a:ext cx="2578608" cy="1143000"/>
          </a:xfrm>
          <a:prstGeom prst="rect">
            <a:avLst/>
          </a:prstGeom>
          <a:solidFill>
            <a:srgbClr val="1E8C8C"/>
          </a:solidFill>
          <a:ln/>
        </p:spPr>
      </p:sp>
      <p:sp>
        <p:nvSpPr>
          <p:cNvPr id="10" name="Text 8"/>
          <p:cNvSpPr/>
          <p:nvPr/>
        </p:nvSpPr>
        <p:spPr>
          <a:xfrm>
            <a:off x="3291840" y="1261872"/>
            <a:ext cx="2578608" cy="114300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Teal</a:t>
            </a:r>
            <a:endParaRPr lang="en-US" sz="2200" dirty="0"/>
          </a:p>
        </p:txBody>
      </p:sp>
      <p:sp>
        <p:nvSpPr>
          <p:cNvPr id="11" name="Text 9"/>
          <p:cNvSpPr/>
          <p:nvPr/>
        </p:nvSpPr>
        <p:spPr>
          <a:xfrm>
            <a:off x="3291840" y="2432304"/>
            <a:ext cx="2578608" cy="237744"/>
          </a:xfrm>
          <a:prstGeom prst="rect">
            <a:avLst/>
          </a:prstGeom>
          <a:noFill/>
          <a:ln/>
        </p:spPr>
        <p:txBody>
          <a:bodyPr wrap="square" rtlCol="0" anchor="ctr"/>
          <a:lstStyle/>
          <a:p>
            <a:pPr marL="0" indent="0" algn="ctr">
              <a:buNone/>
            </a:pPr>
            <a:r>
              <a:rPr lang="en-US" sz="1000" b="1" dirty="0">
                <a:solidFill>
                  <a:srgbClr val="475569"/>
                </a:solidFill>
                <a:latin typeface="Calibri" pitchFamily="34" charset="0"/>
                <a:ea typeface="Calibri" pitchFamily="34" charset="-122"/>
                <a:cs typeface="Calibri" pitchFamily="34" charset="-120"/>
              </a:rPr>
              <a:t>#1E8C8C</a:t>
            </a:r>
            <a:endParaRPr lang="en-US" sz="1000" dirty="0"/>
          </a:p>
        </p:txBody>
      </p:sp>
      <p:sp>
        <p:nvSpPr>
          <p:cNvPr id="12" name="Text 10"/>
          <p:cNvSpPr/>
          <p:nvPr/>
        </p:nvSpPr>
        <p:spPr>
          <a:xfrm>
            <a:off x="3291840" y="2670048"/>
            <a:ext cx="2578608" cy="219456"/>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25% -- Intelligence</a:t>
            </a:r>
            <a:endParaRPr lang="en-US" sz="1000" dirty="0"/>
          </a:p>
        </p:txBody>
      </p:sp>
      <p:sp>
        <p:nvSpPr>
          <p:cNvPr id="13" name="Shape 11"/>
          <p:cNvSpPr/>
          <p:nvPr/>
        </p:nvSpPr>
        <p:spPr>
          <a:xfrm>
            <a:off x="6126480" y="1261872"/>
            <a:ext cx="2578608" cy="1143000"/>
          </a:xfrm>
          <a:prstGeom prst="rect">
            <a:avLst/>
          </a:prstGeom>
          <a:solidFill>
            <a:srgbClr val="F4A827"/>
          </a:solidFill>
          <a:ln/>
        </p:spPr>
      </p:sp>
      <p:sp>
        <p:nvSpPr>
          <p:cNvPr id="14" name="Text 12"/>
          <p:cNvSpPr/>
          <p:nvPr/>
        </p:nvSpPr>
        <p:spPr>
          <a:xfrm>
            <a:off x="6126480" y="1261872"/>
            <a:ext cx="2578608" cy="114300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Gold</a:t>
            </a:r>
            <a:endParaRPr lang="en-US" sz="2200" dirty="0"/>
          </a:p>
        </p:txBody>
      </p:sp>
      <p:sp>
        <p:nvSpPr>
          <p:cNvPr id="15" name="Text 13"/>
          <p:cNvSpPr/>
          <p:nvPr/>
        </p:nvSpPr>
        <p:spPr>
          <a:xfrm>
            <a:off x="6126480" y="2432304"/>
            <a:ext cx="2578608" cy="237744"/>
          </a:xfrm>
          <a:prstGeom prst="rect">
            <a:avLst/>
          </a:prstGeom>
          <a:noFill/>
          <a:ln/>
        </p:spPr>
        <p:txBody>
          <a:bodyPr wrap="square" rtlCol="0" anchor="ctr"/>
          <a:lstStyle/>
          <a:p>
            <a:pPr marL="0" indent="0" algn="ctr">
              <a:buNone/>
            </a:pPr>
            <a:r>
              <a:rPr lang="en-US" sz="1000" b="1" dirty="0">
                <a:solidFill>
                  <a:srgbClr val="475569"/>
                </a:solidFill>
                <a:latin typeface="Calibri" pitchFamily="34" charset="0"/>
                <a:ea typeface="Calibri" pitchFamily="34" charset="-122"/>
                <a:cs typeface="Calibri" pitchFamily="34" charset="-120"/>
              </a:rPr>
              <a:t>#F4A827</a:t>
            </a:r>
            <a:endParaRPr lang="en-US" sz="1000" dirty="0"/>
          </a:p>
        </p:txBody>
      </p:sp>
      <p:sp>
        <p:nvSpPr>
          <p:cNvPr id="16" name="Text 14"/>
          <p:cNvSpPr/>
          <p:nvPr/>
        </p:nvSpPr>
        <p:spPr>
          <a:xfrm>
            <a:off x="6126480" y="2670048"/>
            <a:ext cx="2578608" cy="219456"/>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15% -- Accent</a:t>
            </a:r>
            <a:endParaRPr lang="en-US" sz="1000" dirty="0"/>
          </a:p>
        </p:txBody>
      </p:sp>
      <p:sp>
        <p:nvSpPr>
          <p:cNvPr id="17" name="Shape 15"/>
          <p:cNvSpPr/>
          <p:nvPr/>
        </p:nvSpPr>
        <p:spPr>
          <a:xfrm>
            <a:off x="457200" y="2999232"/>
            <a:ext cx="4023360" cy="1691640"/>
          </a:xfrm>
          <a:prstGeom prst="rect">
            <a:avLst/>
          </a:prstGeom>
          <a:solidFill>
            <a:srgbClr val="FFFFFF"/>
          </a:solidFill>
          <a:ln w="6350">
            <a:solidFill>
              <a:srgbClr val="E2E8F0"/>
            </a:solidFill>
            <a:prstDash val="solid"/>
          </a:ln>
        </p:spPr>
      </p:sp>
      <p:sp>
        <p:nvSpPr>
          <p:cNvPr id="18" name="Text 16"/>
          <p:cNvSpPr/>
          <p:nvPr/>
        </p:nvSpPr>
        <p:spPr>
          <a:xfrm>
            <a:off x="594360" y="3108960"/>
            <a:ext cx="3749040" cy="219456"/>
          </a:xfrm>
          <a:prstGeom prst="rect">
            <a:avLst/>
          </a:prstGeom>
          <a:noFill/>
          <a:ln/>
        </p:spPr>
        <p:txBody>
          <a:bodyPr wrap="square" rtlCol="0" anchor="ctr"/>
          <a:lstStyle/>
          <a:p>
            <a:pPr marL="0" indent="0">
              <a:buNone/>
            </a:pPr>
            <a:r>
              <a:rPr lang="en-US" sz="800" b="1" kern="0" spc="200" dirty="0">
                <a:solidFill>
                  <a:srgbClr val="1E8C8C"/>
                </a:solidFill>
                <a:latin typeface="Calibri" pitchFamily="34" charset="0"/>
                <a:ea typeface="Calibri" pitchFamily="34" charset="-122"/>
                <a:cs typeface="Calibri" pitchFamily="34" charset="-120"/>
              </a:rPr>
              <a:t>TYPOGRAPHY</a:t>
            </a:r>
            <a:endParaRPr lang="en-US" sz="800" dirty="0"/>
          </a:p>
        </p:txBody>
      </p:sp>
      <p:sp>
        <p:nvSpPr>
          <p:cNvPr id="19" name="Text 17"/>
          <p:cNvSpPr/>
          <p:nvPr/>
        </p:nvSpPr>
        <p:spPr>
          <a:xfrm>
            <a:off x="594360" y="3364992"/>
            <a:ext cx="3749040" cy="438912"/>
          </a:xfrm>
          <a:prstGeom prst="rect">
            <a:avLst/>
          </a:prstGeom>
          <a:noFill/>
          <a:ln/>
        </p:spPr>
        <p:txBody>
          <a:bodyPr wrap="square" rtlCol="0" anchor="ctr"/>
          <a:lstStyle/>
          <a:p>
            <a:pPr marL="0" indent="0">
              <a:buNone/>
            </a:pPr>
            <a:r>
              <a:rPr lang="en-US" sz="2400" b="1" dirty="0">
                <a:solidFill>
                  <a:srgbClr val="1A2B4A"/>
                </a:solidFill>
                <a:latin typeface="Cambria" pitchFamily="34" charset="0"/>
                <a:ea typeface="Cambria" pitchFamily="34" charset="-122"/>
                <a:cs typeface="Cambria" pitchFamily="34" charset="-120"/>
              </a:rPr>
              <a:t>Cambria</a:t>
            </a:r>
            <a:endParaRPr lang="en-US" sz="2400" dirty="0"/>
          </a:p>
        </p:txBody>
      </p:sp>
      <p:sp>
        <p:nvSpPr>
          <p:cNvPr id="20" name="Text 18"/>
          <p:cNvSpPr/>
          <p:nvPr/>
        </p:nvSpPr>
        <p:spPr>
          <a:xfrm>
            <a:off x="594360" y="3822192"/>
            <a:ext cx="3749040" cy="219456"/>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Headings -- authority and permanence</a:t>
            </a:r>
            <a:endParaRPr lang="en-US" sz="1000" dirty="0"/>
          </a:p>
        </p:txBody>
      </p:sp>
      <p:sp>
        <p:nvSpPr>
          <p:cNvPr id="21" name="Text 19"/>
          <p:cNvSpPr/>
          <p:nvPr/>
        </p:nvSpPr>
        <p:spPr>
          <a:xfrm>
            <a:off x="594360" y="4096512"/>
            <a:ext cx="3749040" cy="256032"/>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Calibri -- body copy, clean and modern</a:t>
            </a:r>
            <a:endParaRPr lang="en-US" sz="1200" dirty="0"/>
          </a:p>
        </p:txBody>
      </p:sp>
      <p:sp>
        <p:nvSpPr>
          <p:cNvPr id="22" name="Shape 20"/>
          <p:cNvSpPr/>
          <p:nvPr/>
        </p:nvSpPr>
        <p:spPr>
          <a:xfrm>
            <a:off x="4663440" y="2999232"/>
            <a:ext cx="4206240" cy="1691640"/>
          </a:xfrm>
          <a:prstGeom prst="rect">
            <a:avLst/>
          </a:prstGeom>
          <a:solidFill>
            <a:srgbClr val="FFFFFF"/>
          </a:solidFill>
          <a:ln w="6350">
            <a:solidFill>
              <a:srgbClr val="E2E8F0"/>
            </a:solidFill>
            <a:prstDash val="solid"/>
          </a:ln>
        </p:spPr>
      </p:sp>
      <p:sp>
        <p:nvSpPr>
          <p:cNvPr id="23" name="Text 21"/>
          <p:cNvSpPr/>
          <p:nvPr/>
        </p:nvSpPr>
        <p:spPr>
          <a:xfrm>
            <a:off x="4800600" y="3108960"/>
            <a:ext cx="3931920" cy="219456"/>
          </a:xfrm>
          <a:prstGeom prst="rect">
            <a:avLst/>
          </a:prstGeom>
          <a:noFill/>
          <a:ln/>
        </p:spPr>
        <p:txBody>
          <a:bodyPr wrap="square" rtlCol="0" anchor="ctr"/>
          <a:lstStyle/>
          <a:p>
            <a:pPr marL="0" indent="0">
              <a:buNone/>
            </a:pPr>
            <a:r>
              <a:rPr lang="en-US" sz="800" b="1" kern="0" spc="200" dirty="0">
                <a:solidFill>
                  <a:srgbClr val="1E8C8C"/>
                </a:solidFill>
                <a:latin typeface="Calibri" pitchFamily="34" charset="0"/>
                <a:ea typeface="Calibri" pitchFamily="34" charset="-122"/>
                <a:cs typeface="Calibri" pitchFamily="34" charset="-120"/>
              </a:rPr>
              <a:t>BRAND TAGLINE</a:t>
            </a:r>
            <a:endParaRPr lang="en-US" sz="800" dirty="0"/>
          </a:p>
        </p:txBody>
      </p:sp>
      <p:sp>
        <p:nvSpPr>
          <p:cNvPr id="24" name="Text 22"/>
          <p:cNvSpPr/>
          <p:nvPr/>
        </p:nvSpPr>
        <p:spPr>
          <a:xfrm>
            <a:off x="4800600" y="3364992"/>
            <a:ext cx="3931920" cy="502920"/>
          </a:xfrm>
          <a:prstGeom prst="rect">
            <a:avLst/>
          </a:prstGeom>
          <a:noFill/>
          <a:ln/>
        </p:spPr>
        <p:txBody>
          <a:bodyPr wrap="square" rtlCol="0" anchor="ctr"/>
          <a:lstStyle/>
          <a:p>
            <a:pPr marL="0" indent="0">
              <a:buNone/>
            </a:pPr>
            <a:r>
              <a:rPr lang="en-US" sz="2800" b="1" dirty="0">
                <a:solidFill>
                  <a:srgbClr val="1A2B4A"/>
                </a:solidFill>
                <a:latin typeface="Cambria" pitchFamily="34" charset="0"/>
                <a:ea typeface="Cambria" pitchFamily="34" charset="-122"/>
                <a:cs typeface="Cambria" pitchFamily="34" charset="-120"/>
              </a:rPr>
              <a:t>Intelligence</a:t>
            </a:r>
            <a:endParaRPr lang="en-US" sz="2800" dirty="0"/>
          </a:p>
        </p:txBody>
      </p:sp>
      <p:sp>
        <p:nvSpPr>
          <p:cNvPr id="25" name="Text 23"/>
          <p:cNvSpPr/>
          <p:nvPr/>
        </p:nvSpPr>
        <p:spPr>
          <a:xfrm>
            <a:off x="4800600" y="3840480"/>
            <a:ext cx="3931920" cy="457200"/>
          </a:xfrm>
          <a:prstGeom prst="rect">
            <a:avLst/>
          </a:prstGeom>
          <a:noFill/>
          <a:ln/>
        </p:spPr>
        <p:txBody>
          <a:bodyPr wrap="square" rtlCol="0" anchor="ctr"/>
          <a:lstStyle/>
          <a:p>
            <a:pPr marL="0" indent="0">
              <a:buNone/>
            </a:pPr>
            <a:r>
              <a:rPr lang="en-US" sz="2800" b="1" dirty="0">
                <a:solidFill>
                  <a:srgbClr val="1E8C8C"/>
                </a:solidFill>
                <a:latin typeface="Cambria" pitchFamily="34" charset="0"/>
                <a:ea typeface="Cambria" pitchFamily="34" charset="-122"/>
                <a:cs typeface="Cambria" pitchFamily="34" charset="-120"/>
              </a:rPr>
              <a:t>by Design</a:t>
            </a:r>
            <a:endParaRPr lang="en-US" sz="2800" dirty="0"/>
          </a:p>
        </p:txBody>
      </p:sp>
      <p:sp>
        <p:nvSpPr>
          <p:cNvPr id="26" name="Text 24"/>
          <p:cNvSpPr/>
          <p:nvPr/>
        </p:nvSpPr>
        <p:spPr>
          <a:xfrm>
            <a:off x="4800600" y="4315968"/>
            <a:ext cx="3931920" cy="256032"/>
          </a:xfrm>
          <a:prstGeom prst="rect">
            <a:avLst/>
          </a:prstGeom>
          <a:noFill/>
          <a:ln/>
        </p:spPr>
        <p:txBody>
          <a:bodyPr wrap="square" rtlCol="0" anchor="ctr"/>
          <a:lstStyle/>
          <a:p>
            <a:pPr marL="0" indent="0">
              <a:buNone/>
            </a:pPr>
            <a:r>
              <a:rPr lang="en-US" sz="1000" b="1" kern="0" spc="400" dirty="0">
                <a:solidFill>
                  <a:srgbClr val="F4A827"/>
                </a:solidFill>
                <a:latin typeface="Calibri" pitchFamily="34" charset="0"/>
                <a:ea typeface="Calibri" pitchFamily="34" charset="-122"/>
                <a:cs typeface="Calibri" pitchFamily="34" charset="-120"/>
              </a:rPr>
              <a:t>M E N T I O N M A P</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B4A"/>
        </a:solidFill>
        <a:effectLst/>
      </p:bgPr>
    </p:bg>
    <p:spTree>
      <p:nvGrpSpPr>
        <p:cNvPr id="1" name=""/>
        <p:cNvGrpSpPr/>
        <p:nvPr/>
      </p:nvGrpSpPr>
      <p:grpSpPr>
        <a:xfrm>
          <a:off x="0" y="0"/>
          <a:ext cx="0" cy="0"/>
          <a:chOff x="0" y="0"/>
          <a:chExt cx="0" cy="0"/>
        </a:xfrm>
      </p:grpSpPr>
      <p:sp>
        <p:nvSpPr>
          <p:cNvPr id="2" name="Text 0"/>
          <p:cNvSpPr/>
          <p:nvPr/>
        </p:nvSpPr>
        <p:spPr>
          <a:xfrm>
            <a:off x="502920" y="228600"/>
            <a:ext cx="7772400" cy="219456"/>
          </a:xfrm>
          <a:prstGeom prst="rect">
            <a:avLst/>
          </a:prstGeom>
          <a:noFill/>
          <a:ln/>
        </p:spPr>
        <p:txBody>
          <a:bodyPr wrap="square" rtlCol="0" anchor="ctr"/>
          <a:lstStyle/>
          <a:p>
            <a:pPr marL="0" indent="0">
              <a:buNone/>
            </a:pPr>
            <a:r>
              <a:rPr lang="en-US" sz="800" b="1" kern="0" spc="300" dirty="0">
                <a:solidFill>
                  <a:srgbClr val="1E8C8C"/>
                </a:solidFill>
                <a:latin typeface="Calibri" pitchFamily="34" charset="0"/>
                <a:ea typeface="Calibri" pitchFamily="34" charset="-122"/>
                <a:cs typeface="Calibri" pitchFamily="34" charset="-120"/>
              </a:rPr>
              <a:t>BRAND PRESENCE</a:t>
            </a:r>
            <a:endParaRPr lang="en-US" sz="800" dirty="0"/>
          </a:p>
        </p:txBody>
      </p:sp>
      <p:sp>
        <p:nvSpPr>
          <p:cNvPr id="3" name="Shape 1"/>
          <p:cNvSpPr/>
          <p:nvPr/>
        </p:nvSpPr>
        <p:spPr>
          <a:xfrm>
            <a:off x="502920" y="475488"/>
            <a:ext cx="8138160" cy="18288"/>
          </a:xfrm>
          <a:prstGeom prst="rect">
            <a:avLst/>
          </a:prstGeom>
          <a:solidFill>
            <a:srgbClr val="E2E8F0"/>
          </a:solidFill>
          <a:ln/>
        </p:spPr>
      </p:sp>
      <p:sp>
        <p:nvSpPr>
          <p:cNvPr id="4" name="Text 2"/>
          <p:cNvSpPr/>
          <p:nvPr/>
        </p:nvSpPr>
        <p:spPr>
          <a:xfrm>
            <a:off x="502920" y="594360"/>
            <a:ext cx="8138160" cy="5943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Three channels. One brand voice.</a:t>
            </a:r>
            <a:endParaRPr lang="en-US" sz="3200" dirty="0"/>
          </a:p>
        </p:txBody>
      </p:sp>
      <p:sp>
        <p:nvSpPr>
          <p:cNvPr id="5" name="Shape 3"/>
          <p:cNvSpPr/>
          <p:nvPr/>
        </p:nvSpPr>
        <p:spPr>
          <a:xfrm>
            <a:off x="438912" y="1371600"/>
            <a:ext cx="2697480" cy="3401568"/>
          </a:xfrm>
          <a:prstGeom prst="rect">
            <a:avLst/>
          </a:prstGeom>
          <a:solidFill>
            <a:srgbClr val="243B5A"/>
          </a:solidFill>
          <a:ln w="6350">
            <a:solidFill>
              <a:srgbClr val="2D4E72"/>
            </a:solidFill>
            <a:prstDash val="solid"/>
          </a:ln>
        </p:spPr>
      </p:sp>
      <p:sp>
        <p:nvSpPr>
          <p:cNvPr id="6" name="Text 4"/>
          <p:cNvSpPr/>
          <p:nvPr/>
        </p:nvSpPr>
        <p:spPr>
          <a:xfrm>
            <a:off x="566928" y="1481328"/>
            <a:ext cx="2423160" cy="219456"/>
          </a:xfrm>
          <a:prstGeom prst="rect">
            <a:avLst/>
          </a:prstGeom>
          <a:noFill/>
          <a:ln/>
        </p:spPr>
        <p:txBody>
          <a:bodyPr wrap="square" rtlCol="0" anchor="ctr"/>
          <a:lstStyle/>
          <a:p>
            <a:pPr marL="0" indent="0">
              <a:buNone/>
            </a:pPr>
            <a:r>
              <a:rPr lang="en-US" sz="800" b="1" kern="0" spc="200" dirty="0">
                <a:solidFill>
                  <a:srgbClr val="1E8C8C"/>
                </a:solidFill>
                <a:latin typeface="Calibri" pitchFamily="34" charset="0"/>
                <a:ea typeface="Calibri" pitchFamily="34" charset="-122"/>
                <a:cs typeface="Calibri" pitchFamily="34" charset="-120"/>
              </a:rPr>
              <a:t>WEBSITE</a:t>
            </a:r>
            <a:endParaRPr lang="en-US" sz="800" dirty="0"/>
          </a:p>
        </p:txBody>
      </p:sp>
      <p:sp>
        <p:nvSpPr>
          <p:cNvPr id="7" name="Text 5"/>
          <p:cNvSpPr/>
          <p:nvPr/>
        </p:nvSpPr>
        <p:spPr>
          <a:xfrm>
            <a:off x="566928" y="1737360"/>
            <a:ext cx="2423160" cy="804672"/>
          </a:xfrm>
          <a:prstGeom prst="rect">
            <a:avLst/>
          </a:prstGeom>
          <a:noFill/>
          <a:ln/>
        </p:spPr>
        <p:txBody>
          <a:bodyPr wrap="square" rtlCol="0" anchor="ctr"/>
          <a:lstStyle/>
          <a:p>
            <a:r>
              <a:rPr lang="en-US" sz="1900" b="1" dirty="0">
                <a:solidFill>
                  <a:srgbClr val="F4A827"/>
                </a:solidFill>
                <a:latin typeface="Calibri" pitchFamily="34" charset="0"/>
                <a:ea typeface="Calibri" pitchFamily="34" charset="-122"/>
                <a:cs typeface="Calibri" pitchFamily="34" charset="-120"/>
              </a:rPr>
              <a:t>https://splitwolf-brandpulse.hf.space/?</a:t>
            </a:r>
            <a:endParaRPr lang="en-US" sz="1900" dirty="0"/>
          </a:p>
        </p:txBody>
      </p:sp>
      <p:sp>
        <p:nvSpPr>
          <p:cNvPr id="8" name="Text 6"/>
          <p:cNvSpPr/>
          <p:nvPr/>
        </p:nvSpPr>
        <p:spPr>
          <a:xfrm>
            <a:off x="566928" y="2615184"/>
            <a:ext cx="2423160" cy="8229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Fully deployed, live in production. The complete brand experience -- navy, teal, gold -- in one URL.</a:t>
            </a:r>
            <a:endParaRPr lang="en-US" sz="1100" dirty="0"/>
          </a:p>
        </p:txBody>
      </p:sp>
      <p:sp>
        <p:nvSpPr>
          <p:cNvPr id="9" name="Text 7"/>
          <p:cNvSpPr/>
          <p:nvPr/>
        </p:nvSpPr>
        <p:spPr>
          <a:xfrm>
            <a:off x="566928" y="3566160"/>
            <a:ext cx="2423160" cy="237744"/>
          </a:xfrm>
          <a:prstGeom prst="rect">
            <a:avLst/>
          </a:prstGeom>
          <a:noFill/>
          <a:ln/>
        </p:spPr>
        <p:txBody>
          <a:bodyPr wrap="square" rtlCol="0" anchor="ctr"/>
          <a:lstStyle/>
          <a:p>
            <a:pPr marL="0" indent="0">
              <a:buNone/>
            </a:pPr>
            <a:r>
              <a:rPr lang="en-US" sz="1000" b="1" dirty="0">
                <a:solidFill>
                  <a:srgbClr val="1E8C8C"/>
                </a:solidFill>
                <a:latin typeface="Calibri" pitchFamily="34" charset="0"/>
                <a:ea typeface="Calibri" pitchFamily="34" charset="-122"/>
                <a:cs typeface="Calibri" pitchFamily="34" charset="-120"/>
              </a:rPr>
              <a:t>LIVE NOW</a:t>
            </a:r>
            <a:endParaRPr lang="en-US" sz="1000" dirty="0"/>
          </a:p>
        </p:txBody>
      </p:sp>
      <p:sp>
        <p:nvSpPr>
          <p:cNvPr id="10" name="Shape 8"/>
          <p:cNvSpPr/>
          <p:nvPr/>
        </p:nvSpPr>
        <p:spPr>
          <a:xfrm>
            <a:off x="3255264" y="1371600"/>
            <a:ext cx="2697480" cy="3401568"/>
          </a:xfrm>
          <a:prstGeom prst="rect">
            <a:avLst/>
          </a:prstGeom>
          <a:solidFill>
            <a:srgbClr val="243B5A"/>
          </a:solidFill>
          <a:ln w="6350">
            <a:solidFill>
              <a:srgbClr val="2D4E72"/>
            </a:solidFill>
            <a:prstDash val="solid"/>
          </a:ln>
        </p:spPr>
      </p:sp>
      <p:sp>
        <p:nvSpPr>
          <p:cNvPr id="11" name="Text 9"/>
          <p:cNvSpPr/>
          <p:nvPr/>
        </p:nvSpPr>
        <p:spPr>
          <a:xfrm>
            <a:off x="3383280" y="1481328"/>
            <a:ext cx="2423160" cy="219456"/>
          </a:xfrm>
          <a:prstGeom prst="rect">
            <a:avLst/>
          </a:prstGeom>
          <a:noFill/>
          <a:ln/>
        </p:spPr>
        <p:txBody>
          <a:bodyPr wrap="square" rtlCol="0" anchor="ctr"/>
          <a:lstStyle/>
          <a:p>
            <a:pPr marL="0" indent="0">
              <a:buNone/>
            </a:pPr>
            <a:r>
              <a:rPr lang="en-US" sz="800" b="1" kern="0" spc="200" dirty="0">
                <a:solidFill>
                  <a:srgbClr val="1E8C8C"/>
                </a:solidFill>
                <a:latin typeface="Calibri" pitchFamily="34" charset="0"/>
                <a:ea typeface="Calibri" pitchFamily="34" charset="-122"/>
                <a:cs typeface="Calibri" pitchFamily="34" charset="-120"/>
              </a:rPr>
              <a:t>LINKEDIN</a:t>
            </a:r>
            <a:endParaRPr lang="en-US" sz="800" dirty="0"/>
          </a:p>
        </p:txBody>
      </p:sp>
      <p:sp>
        <p:nvSpPr>
          <p:cNvPr id="12" name="Text 10"/>
          <p:cNvSpPr/>
          <p:nvPr/>
        </p:nvSpPr>
        <p:spPr>
          <a:xfrm>
            <a:off x="3383280" y="1737360"/>
            <a:ext cx="2423160" cy="713232"/>
          </a:xfrm>
          <a:prstGeom prst="rect">
            <a:avLst/>
          </a:prstGeom>
          <a:noFill/>
          <a:ln/>
        </p:spPr>
        <p:txBody>
          <a:bodyPr wrap="square" rtlCol="0" anchor="ctr"/>
          <a:lstStyle/>
          <a:p>
            <a:pPr marL="0" indent="0">
              <a:buNone/>
            </a:pPr>
            <a:r>
              <a:rPr lang="en-US" sz="4000" b="1" dirty="0">
                <a:solidFill>
                  <a:srgbClr val="F4A827"/>
                </a:solidFill>
                <a:latin typeface="Cambria" pitchFamily="34" charset="0"/>
                <a:ea typeface="Cambria" pitchFamily="34" charset="-122"/>
                <a:cs typeface="Cambria" pitchFamily="34" charset="-120"/>
              </a:rPr>
              <a:t>37,706</a:t>
            </a:r>
            <a:endParaRPr lang="en-US" sz="4000" dirty="0"/>
          </a:p>
        </p:txBody>
      </p:sp>
      <p:sp>
        <p:nvSpPr>
          <p:cNvPr id="13" name="Text 11"/>
          <p:cNvSpPr/>
          <p:nvPr/>
        </p:nvSpPr>
        <p:spPr>
          <a:xfrm>
            <a:off x="3383280" y="2468880"/>
            <a:ext cx="2423160" cy="256032"/>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post impressions</a:t>
            </a:r>
            <a:endParaRPr lang="en-US" sz="1100" dirty="0"/>
          </a:p>
        </p:txBody>
      </p:sp>
      <p:sp>
        <p:nvSpPr>
          <p:cNvPr id="14" name="Text 12"/>
          <p:cNvSpPr/>
          <p:nvPr/>
        </p:nvSpPr>
        <p:spPr>
          <a:xfrm>
            <a:off x="3383280" y="2788920"/>
            <a:ext cx="242316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91 profile viewers</a:t>
            </a:r>
            <a:endParaRPr lang="en-US" sz="1300" dirty="0"/>
          </a:p>
        </p:txBody>
      </p:sp>
      <p:sp>
        <p:nvSpPr>
          <p:cNvPr id="15" name="Text 13"/>
          <p:cNvSpPr/>
          <p:nvPr/>
        </p:nvSpPr>
        <p:spPr>
          <a:xfrm>
            <a:off x="3383280" y="3200400"/>
            <a:ext cx="2423160" cy="640080"/>
          </a:xfrm>
          <a:prstGeom prst="rect">
            <a:avLst/>
          </a:prstGeom>
          <a:noFill/>
          <a:ln/>
        </p:spPr>
        <p:txBody>
          <a:bodyPr wrap="square" rtlCol="0" anchor="ctr"/>
          <a:lstStyle/>
          <a:p>
            <a:pPr marL="0" indent="0">
              <a:buNone/>
            </a:pPr>
            <a:r>
              <a:rPr lang="en-US" sz="1000" i="1" dirty="0">
                <a:solidFill>
                  <a:srgbClr val="CBD5E1"/>
                </a:solidFill>
                <a:latin typeface="Calibri" pitchFamily="34" charset="0"/>
                <a:ea typeface="Calibri" pitchFamily="34" charset="-122"/>
                <a:cs typeface="Calibri" pitchFamily="34" charset="-120"/>
              </a:rPr>
              <a:t>"Most developers add AI like a dependency. They're wrong." -- top-performing hook</a:t>
            </a:r>
            <a:endParaRPr lang="en-US" sz="1000" dirty="0"/>
          </a:p>
        </p:txBody>
      </p:sp>
      <p:sp>
        <p:nvSpPr>
          <p:cNvPr id="16" name="Shape 14"/>
          <p:cNvSpPr/>
          <p:nvPr/>
        </p:nvSpPr>
        <p:spPr>
          <a:xfrm>
            <a:off x="6053328" y="1371600"/>
            <a:ext cx="2834640" cy="3401568"/>
          </a:xfrm>
          <a:prstGeom prst="rect">
            <a:avLst/>
          </a:prstGeom>
          <a:solidFill>
            <a:srgbClr val="243B5A"/>
          </a:solidFill>
          <a:ln w="6350">
            <a:solidFill>
              <a:srgbClr val="2D4E72"/>
            </a:solidFill>
            <a:prstDash val="solid"/>
          </a:ln>
        </p:spPr>
      </p:sp>
      <p:sp>
        <p:nvSpPr>
          <p:cNvPr id="17" name="Text 15"/>
          <p:cNvSpPr/>
          <p:nvPr/>
        </p:nvSpPr>
        <p:spPr>
          <a:xfrm>
            <a:off x="6181344" y="1481328"/>
            <a:ext cx="2560320" cy="219456"/>
          </a:xfrm>
          <a:prstGeom prst="rect">
            <a:avLst/>
          </a:prstGeom>
          <a:noFill/>
          <a:ln/>
        </p:spPr>
        <p:txBody>
          <a:bodyPr wrap="square" rtlCol="0" anchor="ctr"/>
          <a:lstStyle/>
          <a:p>
            <a:pPr marL="0" indent="0">
              <a:buNone/>
            </a:pPr>
            <a:r>
              <a:rPr lang="en-US" sz="800" b="1" kern="0" spc="200" dirty="0">
                <a:solidFill>
                  <a:srgbClr val="1E8C8C"/>
                </a:solidFill>
                <a:latin typeface="Calibri" pitchFamily="34" charset="0"/>
                <a:ea typeface="Calibri" pitchFamily="34" charset="-122"/>
                <a:cs typeface="Calibri" pitchFamily="34" charset="-120"/>
              </a:rPr>
              <a:t>SUBSTACK</a:t>
            </a:r>
            <a:endParaRPr lang="en-US" sz="800" dirty="0"/>
          </a:p>
        </p:txBody>
      </p:sp>
      <p:sp>
        <p:nvSpPr>
          <p:cNvPr id="18" name="Text 16"/>
          <p:cNvSpPr/>
          <p:nvPr/>
        </p:nvSpPr>
        <p:spPr>
          <a:xfrm>
            <a:off x="6181344" y="1737360"/>
            <a:ext cx="2560320" cy="804672"/>
          </a:xfrm>
          <a:prstGeom prst="rect">
            <a:avLst/>
          </a:prstGeom>
          <a:noFill/>
          <a:ln/>
        </p:spPr>
        <p:txBody>
          <a:bodyPr wrap="square" rtlCol="0" anchor="ctr"/>
          <a:lstStyle/>
          <a:p>
            <a:pPr marL="0" indent="0">
              <a:buNone/>
            </a:pPr>
            <a:r>
              <a:rPr lang="en-US" sz="2000" b="1" dirty="0">
                <a:solidFill>
                  <a:srgbClr val="F4A827"/>
                </a:solidFill>
                <a:latin typeface="Cambria" pitchFamily="34" charset="0"/>
                <a:ea typeface="Cambria" pitchFamily="34" charset="-122"/>
                <a:cs typeface="Cambria" pitchFamily="34" charset="-120"/>
              </a:rPr>
              <a:t>Intelligence</a:t>
            </a:r>
            <a:endParaRPr lang="en-US" sz="2000" dirty="0"/>
          </a:p>
          <a:p>
            <a:pPr marL="0" indent="0">
              <a:buNone/>
            </a:pPr>
            <a:r>
              <a:rPr lang="en-US" sz="2000" b="1" dirty="0">
                <a:solidFill>
                  <a:srgbClr val="F4A827"/>
                </a:solidFill>
                <a:latin typeface="Cambria" pitchFamily="34" charset="0"/>
                <a:ea typeface="Cambria" pitchFamily="34" charset="-122"/>
                <a:cs typeface="Cambria" pitchFamily="34" charset="-120"/>
              </a:rPr>
              <a:t>by Design</a:t>
            </a:r>
            <a:endParaRPr lang="en-US" sz="2000" dirty="0"/>
          </a:p>
        </p:txBody>
      </p:sp>
      <p:sp>
        <p:nvSpPr>
          <p:cNvPr id="19" name="Text 17"/>
          <p:cNvSpPr/>
          <p:nvPr/>
        </p:nvSpPr>
        <p:spPr>
          <a:xfrm>
            <a:off x="6181344" y="2633472"/>
            <a:ext cx="2560320" cy="5943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Newsletter for builders at the intersection of AI and brand strategy.</a:t>
            </a:r>
            <a:endParaRPr lang="en-US" sz="1100" dirty="0"/>
          </a:p>
        </p:txBody>
      </p:sp>
      <p:sp>
        <p:nvSpPr>
          <p:cNvPr id="20" name="Text 18"/>
          <p:cNvSpPr/>
          <p:nvPr/>
        </p:nvSpPr>
        <p:spPr>
          <a:xfrm>
            <a:off x="6181344" y="3337560"/>
            <a:ext cx="2560320" cy="237744"/>
          </a:xfrm>
          <a:prstGeom prst="rect">
            <a:avLst/>
          </a:prstGeom>
          <a:noFill/>
          <a:ln/>
        </p:spPr>
        <p:txBody>
          <a:bodyPr wrap="square" rtlCol="0" anchor="ctr"/>
          <a:lstStyle/>
          <a:p>
            <a:pPr marL="0" indent="0">
              <a:buNone/>
            </a:pPr>
            <a:r>
              <a:rPr lang="en-US" sz="1000" b="1" dirty="0">
                <a:solidFill>
                  <a:srgbClr val="1E8C8C"/>
                </a:solidFill>
                <a:latin typeface="Calibri" pitchFamily="34" charset="0"/>
                <a:ea typeface="Calibri" pitchFamily="34" charset="-122"/>
                <a:cs typeface="Calibri" pitchFamily="34" charset="-120"/>
              </a:rPr>
              <a:t>Launched August 2026</a:t>
            </a:r>
            <a:endParaRPr lang="en-US" sz="1000" dirty="0"/>
          </a:p>
        </p:txBody>
      </p:sp>
      <p:sp>
        <p:nvSpPr>
          <p:cNvPr id="21" name="Text 19"/>
          <p:cNvSpPr/>
          <p:nvPr/>
        </p:nvSpPr>
        <p:spPr>
          <a:xfrm>
            <a:off x="6181344" y="3639312"/>
            <a:ext cx="2560320" cy="219456"/>
          </a:xfrm>
          <a:prstGeom prst="rect">
            <a:avLst/>
          </a:prstGeom>
          <a:noFill/>
          <a:ln/>
        </p:spPr>
        <p:txBody>
          <a:bodyPr wrap="square" rtlCol="0" anchor="ctr"/>
          <a:lstStyle/>
          <a:p>
            <a:pPr marL="0" indent="0">
              <a:buNone/>
            </a:pPr>
            <a:r>
              <a:rPr lang="en-US" sz="900" dirty="0">
                <a:solidFill>
                  <a:srgbClr val="CBD5E1"/>
                </a:solidFill>
                <a:latin typeface="Calibri" pitchFamily="34" charset="0"/>
                <a:ea typeface="Calibri" pitchFamily="34" charset="-122"/>
                <a:cs typeface="Calibri" pitchFamily="34" charset="-120"/>
              </a:rPr>
              <a:t>tanakamanyarab.substack.com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02920" y="228600"/>
            <a:ext cx="7772400" cy="219456"/>
          </a:xfrm>
          <a:prstGeom prst="rect">
            <a:avLst/>
          </a:prstGeom>
          <a:noFill/>
          <a:ln/>
        </p:spPr>
        <p:txBody>
          <a:bodyPr wrap="square" rtlCol="0" anchor="ctr"/>
          <a:lstStyle/>
          <a:p>
            <a:pPr marL="0" indent="0">
              <a:buNone/>
            </a:pPr>
            <a:r>
              <a:rPr lang="en-US" sz="800" b="1" kern="0" spc="300" dirty="0">
                <a:solidFill>
                  <a:srgbClr val="1E8C8C"/>
                </a:solidFill>
                <a:latin typeface="Calibri" pitchFamily="34" charset="0"/>
                <a:ea typeface="Calibri" pitchFamily="34" charset="-122"/>
                <a:cs typeface="Calibri" pitchFamily="34" charset="-120"/>
              </a:rPr>
              <a:t>COMPETITION</a:t>
            </a:r>
            <a:endParaRPr lang="en-US" sz="800" dirty="0"/>
          </a:p>
        </p:txBody>
      </p:sp>
      <p:sp>
        <p:nvSpPr>
          <p:cNvPr id="3" name="Shape 1"/>
          <p:cNvSpPr/>
          <p:nvPr/>
        </p:nvSpPr>
        <p:spPr>
          <a:xfrm>
            <a:off x="502920" y="475488"/>
            <a:ext cx="8138160" cy="18288"/>
          </a:xfrm>
          <a:prstGeom prst="rect">
            <a:avLst/>
          </a:prstGeom>
          <a:solidFill>
            <a:srgbClr val="E2E8F0"/>
          </a:solidFill>
          <a:ln/>
        </p:spPr>
      </p:sp>
      <p:sp>
        <p:nvSpPr>
          <p:cNvPr id="4" name="Text 2"/>
          <p:cNvSpPr/>
          <p:nvPr/>
        </p:nvSpPr>
        <p:spPr>
          <a:xfrm>
            <a:off x="502920" y="594360"/>
            <a:ext cx="4754880" cy="566928"/>
          </a:xfrm>
          <a:prstGeom prst="rect">
            <a:avLst/>
          </a:prstGeom>
          <a:noFill/>
          <a:ln/>
        </p:spPr>
        <p:txBody>
          <a:bodyPr wrap="square" rtlCol="0" anchor="ctr"/>
          <a:lstStyle/>
          <a:p>
            <a:pPr marL="0" indent="0">
              <a:buNone/>
            </a:pPr>
            <a:r>
              <a:rPr lang="en-US" sz="3000" b="1" dirty="0">
                <a:solidFill>
                  <a:srgbClr val="1A2B4A"/>
                </a:solidFill>
                <a:latin typeface="Cambria" pitchFamily="34" charset="0"/>
                <a:ea typeface="Cambria" pitchFamily="34" charset="-122"/>
                <a:cs typeface="Cambria" pitchFamily="34" charset="-120"/>
              </a:rPr>
              <a:t>Nobody owns this corner.</a:t>
            </a:r>
            <a:endParaRPr lang="en-US" sz="3000" dirty="0"/>
          </a:p>
        </p:txBody>
      </p:sp>
      <p:sp>
        <p:nvSpPr>
          <p:cNvPr id="5" name="Shape 3"/>
          <p:cNvSpPr/>
          <p:nvPr/>
        </p:nvSpPr>
        <p:spPr>
          <a:xfrm>
            <a:off x="438912" y="1298448"/>
            <a:ext cx="4114800" cy="3520440"/>
          </a:xfrm>
          <a:prstGeom prst="rect">
            <a:avLst/>
          </a:prstGeom>
          <a:solidFill>
            <a:srgbClr val="FFFFFF"/>
          </a:solidFill>
          <a:ln w="6350">
            <a:solidFill>
              <a:srgbClr val="E2E8F0"/>
            </a:solidFill>
            <a:prstDash val="solid"/>
          </a:ln>
        </p:spPr>
      </p:sp>
      <p:sp>
        <p:nvSpPr>
          <p:cNvPr id="6" name="Shape 4"/>
          <p:cNvSpPr/>
          <p:nvPr/>
        </p:nvSpPr>
        <p:spPr>
          <a:xfrm>
            <a:off x="2482596" y="1298448"/>
            <a:ext cx="27432" cy="3520440"/>
          </a:xfrm>
          <a:prstGeom prst="rect">
            <a:avLst/>
          </a:prstGeom>
          <a:solidFill>
            <a:srgbClr val="E2E8F0"/>
          </a:solidFill>
          <a:ln/>
        </p:spPr>
      </p:sp>
      <p:sp>
        <p:nvSpPr>
          <p:cNvPr id="7" name="Shape 5"/>
          <p:cNvSpPr/>
          <p:nvPr/>
        </p:nvSpPr>
        <p:spPr>
          <a:xfrm>
            <a:off x="438912" y="3044952"/>
            <a:ext cx="4114800" cy="27432"/>
          </a:xfrm>
          <a:prstGeom prst="rect">
            <a:avLst/>
          </a:prstGeom>
          <a:solidFill>
            <a:srgbClr val="E2E8F0"/>
          </a:solidFill>
          <a:ln/>
        </p:spPr>
      </p:sp>
      <p:sp>
        <p:nvSpPr>
          <p:cNvPr id="8" name="Text 6"/>
          <p:cNvSpPr/>
          <p:nvPr/>
        </p:nvSpPr>
        <p:spPr>
          <a:xfrm>
            <a:off x="438912" y="1042416"/>
            <a:ext cx="4114800" cy="201168"/>
          </a:xfrm>
          <a:prstGeom prst="rect">
            <a:avLst/>
          </a:prstGeom>
          <a:noFill/>
          <a:ln/>
        </p:spPr>
        <p:txBody>
          <a:bodyPr wrap="square" rtlCol="0" anchor="ctr"/>
          <a:lstStyle/>
          <a:p>
            <a:pPr marL="0" indent="0" algn="ctr">
              <a:buNone/>
            </a:pPr>
            <a:r>
              <a:rPr lang="en-US" sz="750" b="1" kern="0" spc="100" dirty="0">
                <a:solidFill>
                  <a:srgbClr val="475569"/>
                </a:solidFill>
                <a:latin typeface="Calibri" pitchFamily="34" charset="0"/>
                <a:ea typeface="Calibri" pitchFamily="34" charset="-122"/>
                <a:cs typeface="Calibri" pitchFamily="34" charset="-120"/>
              </a:rPr>
              <a:t>DEEP REPORTS</a:t>
            </a:r>
            <a:endParaRPr lang="en-US" sz="750" dirty="0"/>
          </a:p>
        </p:txBody>
      </p:sp>
      <p:sp>
        <p:nvSpPr>
          <p:cNvPr id="9" name="Text 7"/>
          <p:cNvSpPr/>
          <p:nvPr/>
        </p:nvSpPr>
        <p:spPr>
          <a:xfrm>
            <a:off x="438912" y="4864608"/>
            <a:ext cx="4114800" cy="201168"/>
          </a:xfrm>
          <a:prstGeom prst="rect">
            <a:avLst/>
          </a:prstGeom>
          <a:noFill/>
          <a:ln/>
        </p:spPr>
        <p:txBody>
          <a:bodyPr wrap="square" rtlCol="0" anchor="ctr"/>
          <a:lstStyle/>
          <a:p>
            <a:pPr marL="0" indent="0" algn="ctr">
              <a:buNone/>
            </a:pPr>
            <a:r>
              <a:rPr lang="en-US" sz="750" b="1" kern="0" spc="100" dirty="0">
                <a:solidFill>
                  <a:srgbClr val="475569"/>
                </a:solidFill>
                <a:latin typeface="Calibri" pitchFamily="34" charset="0"/>
                <a:ea typeface="Calibri" pitchFamily="34" charset="-122"/>
                <a:cs typeface="Calibri" pitchFamily="34" charset="-120"/>
              </a:rPr>
              <a:t>BASIC ALERTS</a:t>
            </a:r>
            <a:endParaRPr lang="en-US" sz="750" dirty="0"/>
          </a:p>
        </p:txBody>
      </p:sp>
      <p:sp>
        <p:nvSpPr>
          <p:cNvPr id="10" name="Text 8"/>
          <p:cNvSpPr/>
          <p:nvPr/>
        </p:nvSpPr>
        <p:spPr>
          <a:xfrm>
            <a:off x="91440" y="2948940"/>
            <a:ext cx="320040" cy="201168"/>
          </a:xfrm>
          <a:prstGeom prst="rect">
            <a:avLst/>
          </a:prstGeom>
          <a:noFill/>
          <a:ln/>
        </p:spPr>
        <p:txBody>
          <a:bodyPr wrap="square" rtlCol="0" anchor="ctr"/>
          <a:lstStyle/>
          <a:p>
            <a:pPr marL="0" indent="0" algn="ctr">
              <a:buNone/>
            </a:pPr>
            <a:r>
              <a:rPr lang="en-US" sz="700" dirty="0">
                <a:solidFill>
                  <a:srgbClr val="475569"/>
                </a:solidFill>
                <a:latin typeface="Calibri" pitchFamily="34" charset="0"/>
                <a:ea typeface="Calibri" pitchFamily="34" charset="-122"/>
                <a:cs typeface="Calibri" pitchFamily="34" charset="-120"/>
              </a:rPr>
              <a:t>EASY</a:t>
            </a:r>
            <a:endParaRPr lang="en-US" sz="700" dirty="0"/>
          </a:p>
        </p:txBody>
      </p:sp>
      <p:sp>
        <p:nvSpPr>
          <p:cNvPr id="11" name="Text 9"/>
          <p:cNvSpPr/>
          <p:nvPr/>
        </p:nvSpPr>
        <p:spPr>
          <a:xfrm>
            <a:off x="4581144" y="2948940"/>
            <a:ext cx="320040" cy="201168"/>
          </a:xfrm>
          <a:prstGeom prst="rect">
            <a:avLst/>
          </a:prstGeom>
          <a:noFill/>
          <a:ln/>
        </p:spPr>
        <p:txBody>
          <a:bodyPr wrap="square" rtlCol="0" anchor="ctr"/>
          <a:lstStyle/>
          <a:p>
            <a:pPr marL="0" indent="0" algn="ctr">
              <a:buNone/>
            </a:pPr>
            <a:r>
              <a:rPr lang="en-US" sz="700" dirty="0">
                <a:solidFill>
                  <a:srgbClr val="475569"/>
                </a:solidFill>
                <a:latin typeface="Calibri" pitchFamily="34" charset="0"/>
                <a:ea typeface="Calibri" pitchFamily="34" charset="-122"/>
                <a:cs typeface="Calibri" pitchFamily="34" charset="-120"/>
              </a:rPr>
              <a:t>HARD</a:t>
            </a:r>
            <a:endParaRPr lang="en-US" sz="700" dirty="0"/>
          </a:p>
        </p:txBody>
      </p:sp>
      <p:sp>
        <p:nvSpPr>
          <p:cNvPr id="12" name="Shape 10"/>
          <p:cNvSpPr/>
          <p:nvPr/>
        </p:nvSpPr>
        <p:spPr>
          <a:xfrm>
            <a:off x="475488" y="1335024"/>
            <a:ext cx="2002536" cy="1705356"/>
          </a:xfrm>
          <a:prstGeom prst="rect">
            <a:avLst/>
          </a:prstGeom>
          <a:solidFill>
            <a:srgbClr val="EBF8F8"/>
          </a:solidFill>
          <a:ln w="5080">
            <a:solidFill>
              <a:srgbClr val="1E8C8C"/>
            </a:solidFill>
            <a:prstDash val="solid"/>
          </a:ln>
        </p:spPr>
      </p:sp>
      <p:sp>
        <p:nvSpPr>
          <p:cNvPr id="13" name="Text 11"/>
          <p:cNvSpPr/>
          <p:nvPr/>
        </p:nvSpPr>
        <p:spPr>
          <a:xfrm>
            <a:off x="548640" y="1408176"/>
            <a:ext cx="1371600" cy="201168"/>
          </a:xfrm>
          <a:prstGeom prst="rect">
            <a:avLst/>
          </a:prstGeom>
          <a:noFill/>
          <a:ln/>
        </p:spPr>
        <p:txBody>
          <a:bodyPr wrap="square" rtlCol="0" anchor="ctr"/>
          <a:lstStyle/>
          <a:p>
            <a:pPr marL="0" indent="0">
              <a:buNone/>
            </a:pPr>
            <a:r>
              <a:rPr lang="en-US" sz="750" b="1" kern="0" spc="100" dirty="0">
                <a:solidFill>
                  <a:srgbClr val="1E8C8C"/>
                </a:solidFill>
                <a:latin typeface="Calibri" pitchFamily="34" charset="0"/>
                <a:ea typeface="Calibri" pitchFamily="34" charset="-122"/>
                <a:cs typeface="Calibri" pitchFamily="34" charset="-120"/>
              </a:rPr>
              <a:t>OUR ZONE</a:t>
            </a:r>
            <a:endParaRPr lang="en-US" sz="750" dirty="0"/>
          </a:p>
        </p:txBody>
      </p:sp>
      <p:sp>
        <p:nvSpPr>
          <p:cNvPr id="14" name="Shape 12"/>
          <p:cNvSpPr/>
          <p:nvPr/>
        </p:nvSpPr>
        <p:spPr>
          <a:xfrm>
            <a:off x="1216152" y="1956816"/>
            <a:ext cx="274320" cy="274320"/>
          </a:xfrm>
          <a:prstGeom prst="ellipse">
            <a:avLst/>
          </a:prstGeom>
          <a:solidFill>
            <a:srgbClr val="1E8C8C"/>
          </a:solidFill>
          <a:ln/>
        </p:spPr>
      </p:sp>
      <p:sp>
        <p:nvSpPr>
          <p:cNvPr id="15" name="Text 13"/>
          <p:cNvSpPr/>
          <p:nvPr/>
        </p:nvSpPr>
        <p:spPr>
          <a:xfrm>
            <a:off x="512064" y="2304288"/>
            <a:ext cx="1645920" cy="201168"/>
          </a:xfrm>
          <a:prstGeom prst="rect">
            <a:avLst/>
          </a:prstGeom>
          <a:noFill/>
          <a:ln/>
        </p:spPr>
        <p:txBody>
          <a:bodyPr wrap="square" rtlCol="0" anchor="ctr"/>
          <a:lstStyle/>
          <a:p>
            <a:pPr marL="0" indent="0" algn="ctr">
              <a:buNone/>
            </a:pPr>
            <a:r>
              <a:rPr lang="en-US" sz="900" b="1" dirty="0">
                <a:solidFill>
                  <a:srgbClr val="1E8C8C"/>
                </a:solidFill>
                <a:latin typeface="Calibri" pitchFamily="34" charset="0"/>
                <a:ea typeface="Calibri" pitchFamily="34" charset="-122"/>
                <a:cs typeface="Calibri" pitchFamily="34" charset="-120"/>
              </a:rPr>
              <a:t>MentionMap ★</a:t>
            </a:r>
            <a:endParaRPr lang="en-US" sz="900" dirty="0"/>
          </a:p>
        </p:txBody>
      </p:sp>
      <p:sp>
        <p:nvSpPr>
          <p:cNvPr id="16" name="Shape 14"/>
          <p:cNvSpPr/>
          <p:nvPr/>
        </p:nvSpPr>
        <p:spPr>
          <a:xfrm>
            <a:off x="3502152" y="1956816"/>
            <a:ext cx="237744" cy="237744"/>
          </a:xfrm>
          <a:prstGeom prst="ellipse">
            <a:avLst/>
          </a:prstGeom>
          <a:solidFill>
            <a:srgbClr val="1A2B4A"/>
          </a:solidFill>
          <a:ln/>
        </p:spPr>
      </p:sp>
      <p:sp>
        <p:nvSpPr>
          <p:cNvPr id="17" name="Text 15"/>
          <p:cNvSpPr/>
          <p:nvPr/>
        </p:nvSpPr>
        <p:spPr>
          <a:xfrm>
            <a:off x="3017520" y="2258568"/>
            <a:ext cx="1463040" cy="201168"/>
          </a:xfrm>
          <a:prstGeom prst="rect">
            <a:avLst/>
          </a:prstGeom>
          <a:noFill/>
          <a:ln/>
        </p:spPr>
        <p:txBody>
          <a:bodyPr wrap="square"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Brandwatch</a:t>
            </a:r>
            <a:endParaRPr lang="en-US" sz="900" dirty="0"/>
          </a:p>
        </p:txBody>
      </p:sp>
      <p:sp>
        <p:nvSpPr>
          <p:cNvPr id="18" name="Shape 16"/>
          <p:cNvSpPr/>
          <p:nvPr/>
        </p:nvSpPr>
        <p:spPr>
          <a:xfrm>
            <a:off x="3502152" y="3749040"/>
            <a:ext cx="237744" cy="237744"/>
          </a:xfrm>
          <a:prstGeom prst="ellipse">
            <a:avLst/>
          </a:prstGeom>
          <a:solidFill>
            <a:srgbClr val="F4A827"/>
          </a:solidFill>
          <a:ln/>
        </p:spPr>
      </p:sp>
      <p:sp>
        <p:nvSpPr>
          <p:cNvPr id="19" name="Text 17"/>
          <p:cNvSpPr/>
          <p:nvPr/>
        </p:nvSpPr>
        <p:spPr>
          <a:xfrm>
            <a:off x="2980944" y="4041648"/>
            <a:ext cx="1508760" cy="201168"/>
          </a:xfrm>
          <a:prstGeom prst="rect">
            <a:avLst/>
          </a:prstGeom>
          <a:noFill/>
          <a:ln/>
        </p:spPr>
        <p:txBody>
          <a:bodyPr wrap="square"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Sprout Social</a:t>
            </a:r>
            <a:endParaRPr lang="en-US" sz="900" dirty="0"/>
          </a:p>
        </p:txBody>
      </p:sp>
      <p:sp>
        <p:nvSpPr>
          <p:cNvPr id="20" name="Shape 18"/>
          <p:cNvSpPr/>
          <p:nvPr/>
        </p:nvSpPr>
        <p:spPr>
          <a:xfrm>
            <a:off x="1216152" y="3749040"/>
            <a:ext cx="219456" cy="219456"/>
          </a:xfrm>
          <a:prstGeom prst="ellipse">
            <a:avLst/>
          </a:prstGeom>
          <a:solidFill>
            <a:srgbClr val="94A3B8"/>
          </a:solidFill>
          <a:ln/>
        </p:spPr>
      </p:sp>
      <p:sp>
        <p:nvSpPr>
          <p:cNvPr id="21" name="Text 19"/>
          <p:cNvSpPr/>
          <p:nvPr/>
        </p:nvSpPr>
        <p:spPr>
          <a:xfrm>
            <a:off x="640080" y="4041648"/>
            <a:ext cx="1417320" cy="201168"/>
          </a:xfrm>
          <a:prstGeom prst="rect">
            <a:avLst/>
          </a:prstGeom>
          <a:noFill/>
          <a:ln/>
        </p:spPr>
        <p:txBody>
          <a:bodyPr wrap="square"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Mention.com</a:t>
            </a:r>
            <a:endParaRPr lang="en-US" sz="900" dirty="0"/>
          </a:p>
        </p:txBody>
      </p:sp>
      <p:sp>
        <p:nvSpPr>
          <p:cNvPr id="22" name="Shape 20"/>
          <p:cNvSpPr/>
          <p:nvPr/>
        </p:nvSpPr>
        <p:spPr>
          <a:xfrm>
            <a:off x="4773168" y="1298448"/>
            <a:ext cx="4114800" cy="347472"/>
          </a:xfrm>
          <a:prstGeom prst="rect">
            <a:avLst/>
          </a:prstGeom>
          <a:solidFill>
            <a:srgbClr val="1A2B4A"/>
          </a:solidFill>
          <a:ln/>
        </p:spPr>
      </p:sp>
      <p:sp>
        <p:nvSpPr>
          <p:cNvPr id="23" name="Text 21"/>
          <p:cNvSpPr/>
          <p:nvPr/>
        </p:nvSpPr>
        <p:spPr>
          <a:xfrm>
            <a:off x="4864608" y="1371600"/>
            <a:ext cx="1051560" cy="219456"/>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Tool</a:t>
            </a:r>
            <a:endParaRPr lang="en-US" sz="900" dirty="0"/>
          </a:p>
        </p:txBody>
      </p:sp>
      <p:sp>
        <p:nvSpPr>
          <p:cNvPr id="24" name="Text 22"/>
          <p:cNvSpPr/>
          <p:nvPr/>
        </p:nvSpPr>
        <p:spPr>
          <a:xfrm>
            <a:off x="5961888" y="1371600"/>
            <a:ext cx="1691640" cy="219456"/>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Their weakness</a:t>
            </a:r>
            <a:endParaRPr lang="en-US" sz="900" dirty="0"/>
          </a:p>
        </p:txBody>
      </p:sp>
      <p:sp>
        <p:nvSpPr>
          <p:cNvPr id="25" name="Text 23"/>
          <p:cNvSpPr/>
          <p:nvPr/>
        </p:nvSpPr>
        <p:spPr>
          <a:xfrm>
            <a:off x="7717536" y="1371600"/>
            <a:ext cx="1097280" cy="219456"/>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Our edge</a:t>
            </a:r>
            <a:endParaRPr lang="en-US" sz="900" dirty="0"/>
          </a:p>
        </p:txBody>
      </p:sp>
      <p:sp>
        <p:nvSpPr>
          <p:cNvPr id="26" name="Shape 24"/>
          <p:cNvSpPr/>
          <p:nvPr/>
        </p:nvSpPr>
        <p:spPr>
          <a:xfrm>
            <a:off x="4773168" y="1645920"/>
            <a:ext cx="4114800" cy="685800"/>
          </a:xfrm>
          <a:prstGeom prst="rect">
            <a:avLst/>
          </a:prstGeom>
          <a:solidFill>
            <a:srgbClr val="FFFFFF"/>
          </a:solidFill>
          <a:ln w="3810">
            <a:solidFill>
              <a:srgbClr val="E2E8F0"/>
            </a:solidFill>
            <a:prstDash val="solid"/>
          </a:ln>
        </p:spPr>
      </p:sp>
      <p:sp>
        <p:nvSpPr>
          <p:cNvPr id="27" name="Text 25"/>
          <p:cNvSpPr/>
          <p:nvPr/>
        </p:nvSpPr>
        <p:spPr>
          <a:xfrm>
            <a:off x="4864608" y="1773936"/>
            <a:ext cx="1051560" cy="420624"/>
          </a:xfrm>
          <a:prstGeom prst="rect">
            <a:avLst/>
          </a:prstGeom>
          <a:noFill/>
          <a:ln/>
        </p:spPr>
        <p:txBody>
          <a:bodyPr wrap="square" rtlCol="0" anchor="ctr"/>
          <a:lstStyle/>
          <a:p>
            <a:pPr marL="0" indent="0">
              <a:buNone/>
            </a:pPr>
            <a:r>
              <a:rPr lang="en-US" sz="1000" dirty="0">
                <a:solidFill>
                  <a:srgbClr val="1A2B4A"/>
                </a:solidFill>
                <a:latin typeface="Calibri" pitchFamily="34" charset="0"/>
                <a:ea typeface="Calibri" pitchFamily="34" charset="-122"/>
                <a:cs typeface="Calibri" pitchFamily="34" charset="-120"/>
              </a:rPr>
              <a:t>Brandwatch</a:t>
            </a:r>
            <a:endParaRPr lang="en-US" sz="1000" dirty="0"/>
          </a:p>
        </p:txBody>
      </p:sp>
      <p:sp>
        <p:nvSpPr>
          <p:cNvPr id="28" name="Text 26"/>
          <p:cNvSpPr/>
          <p:nvPr/>
        </p:nvSpPr>
        <p:spPr>
          <a:xfrm>
            <a:off x="5961888" y="1737360"/>
            <a:ext cx="1691640" cy="5029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$800-3K/mo, needs analyst</a:t>
            </a:r>
            <a:endParaRPr lang="en-US" sz="950" dirty="0"/>
          </a:p>
        </p:txBody>
      </p:sp>
      <p:sp>
        <p:nvSpPr>
          <p:cNvPr id="29" name="Text 27"/>
          <p:cNvSpPr/>
          <p:nvPr/>
        </p:nvSpPr>
        <p:spPr>
          <a:xfrm>
            <a:off x="7717536" y="1773936"/>
            <a:ext cx="1097280" cy="420624"/>
          </a:xfrm>
          <a:prstGeom prst="rect">
            <a:avLst/>
          </a:prstGeom>
          <a:noFill/>
          <a:ln/>
        </p:spPr>
        <p:txBody>
          <a:bodyPr wrap="square" rtlCol="0" anchor="ctr"/>
          <a:lstStyle/>
          <a:p>
            <a:pPr marL="0" indent="0">
              <a:buNone/>
            </a:pPr>
            <a:r>
              <a:rPr lang="en-US" sz="1000" b="1" dirty="0">
                <a:solidFill>
                  <a:srgbClr val="1E8C8C"/>
                </a:solidFill>
                <a:latin typeface="Calibri" pitchFamily="34" charset="0"/>
                <a:ea typeface="Calibri" pitchFamily="34" charset="-122"/>
                <a:cs typeface="Calibri" pitchFamily="34" charset="-120"/>
              </a:rPr>
              <a:t>10x cheaper</a:t>
            </a:r>
            <a:endParaRPr lang="en-US" sz="1000" dirty="0"/>
          </a:p>
        </p:txBody>
      </p:sp>
      <p:sp>
        <p:nvSpPr>
          <p:cNvPr id="30" name="Shape 28"/>
          <p:cNvSpPr/>
          <p:nvPr/>
        </p:nvSpPr>
        <p:spPr>
          <a:xfrm>
            <a:off x="4773168" y="2395728"/>
            <a:ext cx="4114800" cy="685800"/>
          </a:xfrm>
          <a:prstGeom prst="rect">
            <a:avLst/>
          </a:prstGeom>
          <a:solidFill>
            <a:srgbClr val="F8FAFC"/>
          </a:solidFill>
          <a:ln w="3810">
            <a:solidFill>
              <a:srgbClr val="E2E8F0"/>
            </a:solidFill>
            <a:prstDash val="solid"/>
          </a:ln>
        </p:spPr>
      </p:sp>
      <p:sp>
        <p:nvSpPr>
          <p:cNvPr id="31" name="Text 29"/>
          <p:cNvSpPr/>
          <p:nvPr/>
        </p:nvSpPr>
        <p:spPr>
          <a:xfrm>
            <a:off x="4864608" y="2523744"/>
            <a:ext cx="1051560" cy="420624"/>
          </a:xfrm>
          <a:prstGeom prst="rect">
            <a:avLst/>
          </a:prstGeom>
          <a:noFill/>
          <a:ln/>
        </p:spPr>
        <p:txBody>
          <a:bodyPr wrap="square" rtlCol="0" anchor="ctr"/>
          <a:lstStyle/>
          <a:p>
            <a:pPr marL="0" indent="0">
              <a:buNone/>
            </a:pPr>
            <a:r>
              <a:rPr lang="en-US" sz="1000" dirty="0">
                <a:solidFill>
                  <a:srgbClr val="1A2B4A"/>
                </a:solidFill>
                <a:latin typeface="Calibri" pitchFamily="34" charset="0"/>
                <a:ea typeface="Calibri" pitchFamily="34" charset="-122"/>
                <a:cs typeface="Calibri" pitchFamily="34" charset="-120"/>
              </a:rPr>
              <a:t>Sprout Social</a:t>
            </a:r>
            <a:endParaRPr lang="en-US" sz="1000" dirty="0"/>
          </a:p>
        </p:txBody>
      </p:sp>
      <p:sp>
        <p:nvSpPr>
          <p:cNvPr id="32" name="Text 30"/>
          <p:cNvSpPr/>
          <p:nvPr/>
        </p:nvSpPr>
        <p:spPr>
          <a:xfrm>
            <a:off x="5961888" y="2487168"/>
            <a:ext cx="1691640" cy="5029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Scheduling tool, not intel</a:t>
            </a:r>
            <a:endParaRPr lang="en-US" sz="950" dirty="0"/>
          </a:p>
        </p:txBody>
      </p:sp>
      <p:sp>
        <p:nvSpPr>
          <p:cNvPr id="33" name="Text 31"/>
          <p:cNvSpPr/>
          <p:nvPr/>
        </p:nvSpPr>
        <p:spPr>
          <a:xfrm>
            <a:off x="7717536" y="2523744"/>
            <a:ext cx="1097280" cy="420624"/>
          </a:xfrm>
          <a:prstGeom prst="rect">
            <a:avLst/>
          </a:prstGeom>
          <a:noFill/>
          <a:ln/>
        </p:spPr>
        <p:txBody>
          <a:bodyPr wrap="square" rtlCol="0" anchor="ctr"/>
          <a:lstStyle/>
          <a:p>
            <a:pPr marL="0" indent="0">
              <a:buNone/>
            </a:pPr>
            <a:r>
              <a:rPr lang="en-US" sz="1000" b="1" dirty="0">
                <a:solidFill>
                  <a:srgbClr val="1E8C8C"/>
                </a:solidFill>
                <a:latin typeface="Calibri" pitchFamily="34" charset="0"/>
                <a:ea typeface="Calibri" pitchFamily="34" charset="-122"/>
                <a:cs typeface="Calibri" pitchFamily="34" charset="-120"/>
              </a:rPr>
              <a:t>Pure insight</a:t>
            </a:r>
            <a:endParaRPr lang="en-US" sz="1000" dirty="0"/>
          </a:p>
        </p:txBody>
      </p:sp>
      <p:sp>
        <p:nvSpPr>
          <p:cNvPr id="34" name="Shape 32"/>
          <p:cNvSpPr/>
          <p:nvPr/>
        </p:nvSpPr>
        <p:spPr>
          <a:xfrm>
            <a:off x="4773168" y="3145536"/>
            <a:ext cx="4114800" cy="685800"/>
          </a:xfrm>
          <a:prstGeom prst="rect">
            <a:avLst/>
          </a:prstGeom>
          <a:solidFill>
            <a:srgbClr val="FFFFFF"/>
          </a:solidFill>
          <a:ln w="3810">
            <a:solidFill>
              <a:srgbClr val="E2E8F0"/>
            </a:solidFill>
            <a:prstDash val="solid"/>
          </a:ln>
        </p:spPr>
      </p:sp>
      <p:sp>
        <p:nvSpPr>
          <p:cNvPr id="35" name="Text 33"/>
          <p:cNvSpPr/>
          <p:nvPr/>
        </p:nvSpPr>
        <p:spPr>
          <a:xfrm>
            <a:off x="4864608" y="3273552"/>
            <a:ext cx="1051560" cy="420624"/>
          </a:xfrm>
          <a:prstGeom prst="rect">
            <a:avLst/>
          </a:prstGeom>
          <a:noFill/>
          <a:ln/>
        </p:spPr>
        <p:txBody>
          <a:bodyPr wrap="square" rtlCol="0" anchor="ctr"/>
          <a:lstStyle/>
          <a:p>
            <a:pPr marL="0" indent="0">
              <a:buNone/>
            </a:pPr>
            <a:r>
              <a:rPr lang="en-US" sz="1000" dirty="0">
                <a:solidFill>
                  <a:srgbClr val="1A2B4A"/>
                </a:solidFill>
                <a:latin typeface="Calibri" pitchFamily="34" charset="0"/>
                <a:ea typeface="Calibri" pitchFamily="34" charset="-122"/>
                <a:cs typeface="Calibri" pitchFamily="34" charset="-120"/>
              </a:rPr>
              <a:t>Mention.com</a:t>
            </a:r>
            <a:endParaRPr lang="en-US" sz="1000" dirty="0"/>
          </a:p>
        </p:txBody>
      </p:sp>
      <p:sp>
        <p:nvSpPr>
          <p:cNvPr id="36" name="Text 34"/>
          <p:cNvSpPr/>
          <p:nvPr/>
        </p:nvSpPr>
        <p:spPr>
          <a:xfrm>
            <a:off x="5961888" y="3236976"/>
            <a:ext cx="1691640" cy="5029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Keyword alerts only</a:t>
            </a:r>
            <a:endParaRPr lang="en-US" sz="950" dirty="0"/>
          </a:p>
        </p:txBody>
      </p:sp>
      <p:sp>
        <p:nvSpPr>
          <p:cNvPr id="37" name="Text 35"/>
          <p:cNvSpPr/>
          <p:nvPr/>
        </p:nvSpPr>
        <p:spPr>
          <a:xfrm>
            <a:off x="7717536" y="3273552"/>
            <a:ext cx="1097280" cy="420624"/>
          </a:xfrm>
          <a:prstGeom prst="rect">
            <a:avLst/>
          </a:prstGeom>
          <a:noFill/>
          <a:ln/>
        </p:spPr>
        <p:txBody>
          <a:bodyPr wrap="square" rtlCol="0" anchor="ctr"/>
          <a:lstStyle/>
          <a:p>
            <a:pPr marL="0" indent="0">
              <a:buNone/>
            </a:pPr>
            <a:r>
              <a:rPr lang="en-US" sz="1000" b="1" dirty="0">
                <a:solidFill>
                  <a:srgbClr val="1E8C8C"/>
                </a:solidFill>
                <a:latin typeface="Calibri" pitchFamily="34" charset="0"/>
                <a:ea typeface="Calibri" pitchFamily="34" charset="-122"/>
                <a:cs typeface="Calibri" pitchFamily="34" charset="-120"/>
              </a:rPr>
              <a:t>Full depth</a:t>
            </a:r>
            <a:endParaRPr lang="en-US" sz="1000" dirty="0"/>
          </a:p>
        </p:txBody>
      </p:sp>
      <p:sp>
        <p:nvSpPr>
          <p:cNvPr id="38" name="Shape 36"/>
          <p:cNvSpPr/>
          <p:nvPr/>
        </p:nvSpPr>
        <p:spPr>
          <a:xfrm>
            <a:off x="4773168" y="3895344"/>
            <a:ext cx="4114800" cy="685800"/>
          </a:xfrm>
          <a:prstGeom prst="rect">
            <a:avLst/>
          </a:prstGeom>
          <a:solidFill>
            <a:srgbClr val="EBF8F8"/>
          </a:solidFill>
          <a:ln w="3810">
            <a:solidFill>
              <a:srgbClr val="E2E8F0"/>
            </a:solidFill>
            <a:prstDash val="solid"/>
          </a:ln>
        </p:spPr>
      </p:sp>
      <p:sp>
        <p:nvSpPr>
          <p:cNvPr id="39" name="Text 37"/>
          <p:cNvSpPr/>
          <p:nvPr/>
        </p:nvSpPr>
        <p:spPr>
          <a:xfrm>
            <a:off x="4864608" y="4023360"/>
            <a:ext cx="1051560" cy="420624"/>
          </a:xfrm>
          <a:prstGeom prst="rect">
            <a:avLst/>
          </a:prstGeom>
          <a:noFill/>
          <a:ln/>
        </p:spPr>
        <p:txBody>
          <a:bodyPr wrap="square" rtlCol="0" anchor="ctr"/>
          <a:lstStyle/>
          <a:p>
            <a:pPr marL="0" marR="0" indent="0" algn="l">
              <a:spcAft>
                <a:spcPts val="600"/>
              </a:spcAft>
              <a:buNone/>
            </a:pPr>
            <a:r>
              <a:rPr lang="en-CA" sz="1000" b="1" i="0" dirty="0" err="1">
                <a:solidFill>
                  <a:srgbClr val="27272A"/>
                </a:solidFill>
                <a:effectLst/>
                <a:latin typeface="Source Sans Pro" panose="020B0503030403020204" pitchFamily="34" charset="0"/>
              </a:rPr>
              <a:t>BrandPulse</a:t>
            </a:r>
            <a:endParaRPr lang="en-CA" sz="1000" b="1" i="0" dirty="0">
              <a:solidFill>
                <a:srgbClr val="27272A"/>
              </a:solidFill>
              <a:effectLst/>
              <a:latin typeface="Source Sans Pro" panose="020B0503030403020204" pitchFamily="34" charset="0"/>
            </a:endParaRPr>
          </a:p>
        </p:txBody>
      </p:sp>
      <p:sp>
        <p:nvSpPr>
          <p:cNvPr id="40" name="Text 38"/>
          <p:cNvSpPr/>
          <p:nvPr/>
        </p:nvSpPr>
        <p:spPr>
          <a:xfrm>
            <a:off x="5961888" y="3986784"/>
            <a:ext cx="1691640" cy="5029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Free · Instant · Complete</a:t>
            </a:r>
            <a:endParaRPr lang="en-US" sz="950" dirty="0"/>
          </a:p>
        </p:txBody>
      </p:sp>
      <p:sp>
        <p:nvSpPr>
          <p:cNvPr id="41" name="Text 39"/>
          <p:cNvSpPr/>
          <p:nvPr/>
        </p:nvSpPr>
        <p:spPr>
          <a:xfrm>
            <a:off x="7717536" y="4023360"/>
            <a:ext cx="1097280" cy="420624"/>
          </a:xfrm>
          <a:prstGeom prst="rect">
            <a:avLst/>
          </a:prstGeom>
          <a:noFill/>
          <a:ln/>
        </p:spPr>
        <p:txBody>
          <a:bodyPr wrap="square" rtlCol="0" anchor="ctr"/>
          <a:lstStyle/>
          <a:p>
            <a:pPr marL="0" indent="0">
              <a:buNone/>
            </a:pPr>
            <a:r>
              <a:rPr lang="en-US" sz="1000" b="1" dirty="0">
                <a:solidFill>
                  <a:srgbClr val="1E8C8C"/>
                </a:solidFill>
                <a:latin typeface="Calibri" pitchFamily="34" charset="0"/>
                <a:ea typeface="Calibri" pitchFamily="34" charset="-122"/>
                <a:cs typeface="Calibri" pitchFamily="34" charset="-120"/>
              </a:rPr>
              <a:t>✓ Ours</a:t>
            </a:r>
            <a:endParaRPr lang="en-US" sz="1000" dirty="0"/>
          </a:p>
        </p:txBody>
      </p:sp>
      <p:sp>
        <p:nvSpPr>
          <p:cNvPr id="42" name="Shape 40"/>
          <p:cNvSpPr/>
          <p:nvPr/>
        </p:nvSpPr>
        <p:spPr>
          <a:xfrm>
            <a:off x="4773168" y="4645152"/>
            <a:ext cx="4114800" cy="292608"/>
          </a:xfrm>
          <a:prstGeom prst="rect">
            <a:avLst/>
          </a:prstGeom>
          <a:solidFill>
            <a:srgbClr val="1A2B4A"/>
          </a:solidFill>
          <a:ln/>
        </p:spPr>
      </p:sp>
      <p:sp>
        <p:nvSpPr>
          <p:cNvPr id="43" name="Text 41"/>
          <p:cNvSpPr/>
          <p:nvPr/>
        </p:nvSpPr>
        <p:spPr>
          <a:xfrm>
            <a:off x="4864608" y="4663440"/>
            <a:ext cx="3931920" cy="256032"/>
          </a:xfrm>
          <a:prstGeom prst="rect">
            <a:avLst/>
          </a:prstGeom>
          <a:noFill/>
          <a:ln/>
        </p:spPr>
        <p:txBody>
          <a:bodyPr wrap="square" rtlCol="0" anchor="ctr"/>
          <a:lstStyle/>
          <a:p>
            <a:pPr marL="0" indent="0" algn="ctr">
              <a:buNone/>
            </a:pPr>
            <a:r>
              <a:rPr lang="en-US" sz="950" b="1" dirty="0">
                <a:solidFill>
                  <a:srgbClr val="F4A827"/>
                </a:solidFill>
                <a:latin typeface="Calibri" pitchFamily="34" charset="0"/>
                <a:ea typeface="Calibri" pitchFamily="34" charset="-122"/>
                <a:cs typeface="Calibri" pitchFamily="34" charset="-120"/>
              </a:rPr>
              <a:t>The only tool that is both easy AND deep. That's the unfair advantage.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02920" y="228600"/>
            <a:ext cx="7772400" cy="219456"/>
          </a:xfrm>
          <a:prstGeom prst="rect">
            <a:avLst/>
          </a:prstGeom>
          <a:noFill/>
          <a:ln/>
        </p:spPr>
        <p:txBody>
          <a:bodyPr wrap="square" rtlCol="0" anchor="ctr"/>
          <a:lstStyle/>
          <a:p>
            <a:pPr marL="0" indent="0">
              <a:buNone/>
            </a:pPr>
            <a:r>
              <a:rPr lang="en-US" sz="800" b="1" kern="0" spc="300" dirty="0">
                <a:solidFill>
                  <a:srgbClr val="1E8C8C"/>
                </a:solidFill>
                <a:latin typeface="Calibri" pitchFamily="34" charset="0"/>
                <a:ea typeface="Calibri" pitchFamily="34" charset="-122"/>
                <a:cs typeface="Calibri" pitchFamily="34" charset="-120"/>
              </a:rPr>
              <a:t>THE BRAND STORY</a:t>
            </a:r>
            <a:endParaRPr lang="en-US" sz="800" dirty="0"/>
          </a:p>
        </p:txBody>
      </p:sp>
      <p:sp>
        <p:nvSpPr>
          <p:cNvPr id="3" name="Shape 1"/>
          <p:cNvSpPr/>
          <p:nvPr/>
        </p:nvSpPr>
        <p:spPr>
          <a:xfrm>
            <a:off x="502920" y="475488"/>
            <a:ext cx="8138160" cy="18288"/>
          </a:xfrm>
          <a:prstGeom prst="rect">
            <a:avLst/>
          </a:prstGeom>
          <a:solidFill>
            <a:srgbClr val="E2E8F0"/>
          </a:solidFill>
          <a:ln/>
        </p:spPr>
      </p:sp>
      <p:sp>
        <p:nvSpPr>
          <p:cNvPr id="4" name="Text 2"/>
          <p:cNvSpPr/>
          <p:nvPr/>
        </p:nvSpPr>
        <p:spPr>
          <a:xfrm>
            <a:off x="502920" y="594360"/>
            <a:ext cx="7315200" cy="566928"/>
          </a:xfrm>
          <a:prstGeom prst="rect">
            <a:avLst/>
          </a:prstGeom>
          <a:noFill/>
          <a:ln/>
        </p:spPr>
        <p:txBody>
          <a:bodyPr wrap="square" rtlCol="0" anchor="ctr"/>
          <a:lstStyle/>
          <a:p>
            <a:pPr marL="0" indent="0">
              <a:buNone/>
            </a:pPr>
            <a:r>
              <a:rPr lang="en-US" sz="3200" b="1" dirty="0">
                <a:solidFill>
                  <a:srgbClr val="1A2B4A"/>
                </a:solidFill>
                <a:latin typeface="Cambria" pitchFamily="34" charset="0"/>
                <a:ea typeface="Cambria" pitchFamily="34" charset="-122"/>
                <a:cs typeface="Cambria" pitchFamily="34" charset="-120"/>
              </a:rPr>
              <a:t>Why I built this.</a:t>
            </a:r>
            <a:endParaRPr lang="en-US" sz="3200" dirty="0"/>
          </a:p>
        </p:txBody>
      </p:sp>
      <p:sp>
        <p:nvSpPr>
          <p:cNvPr id="5" name="Shape 3"/>
          <p:cNvSpPr/>
          <p:nvPr/>
        </p:nvSpPr>
        <p:spPr>
          <a:xfrm>
            <a:off x="502920" y="1325880"/>
            <a:ext cx="8321040" cy="1005840"/>
          </a:xfrm>
          <a:prstGeom prst="rect">
            <a:avLst/>
          </a:prstGeom>
          <a:solidFill>
            <a:srgbClr val="FFFFFF"/>
          </a:solidFill>
          <a:ln w="3810">
            <a:solidFill>
              <a:srgbClr val="E2E8F0"/>
            </a:solidFill>
            <a:prstDash val="solid"/>
          </a:ln>
        </p:spPr>
      </p:sp>
      <p:sp>
        <p:nvSpPr>
          <p:cNvPr id="6" name="Shape 4"/>
          <p:cNvSpPr/>
          <p:nvPr/>
        </p:nvSpPr>
        <p:spPr>
          <a:xfrm>
            <a:off x="502920" y="1325880"/>
            <a:ext cx="64008" cy="1005840"/>
          </a:xfrm>
          <a:prstGeom prst="rect">
            <a:avLst/>
          </a:prstGeom>
          <a:solidFill>
            <a:srgbClr val="DC2626"/>
          </a:solidFill>
          <a:ln/>
        </p:spPr>
      </p:sp>
      <p:sp>
        <p:nvSpPr>
          <p:cNvPr id="7" name="Text 5"/>
          <p:cNvSpPr/>
          <p:nvPr/>
        </p:nvSpPr>
        <p:spPr>
          <a:xfrm>
            <a:off x="685800" y="1417320"/>
            <a:ext cx="2743200" cy="237744"/>
          </a:xfrm>
          <a:prstGeom prst="rect">
            <a:avLst/>
          </a:prstGeom>
          <a:noFill/>
          <a:ln/>
        </p:spPr>
        <p:txBody>
          <a:bodyPr wrap="square" rtlCol="0" anchor="ctr"/>
          <a:lstStyle/>
          <a:p>
            <a:pPr marL="0" indent="0">
              <a:buNone/>
            </a:pPr>
            <a:r>
              <a:rPr lang="en-US" sz="850" b="1" kern="0" spc="200" dirty="0">
                <a:solidFill>
                  <a:srgbClr val="DC2626"/>
                </a:solidFill>
                <a:latin typeface="Calibri" pitchFamily="34" charset="0"/>
                <a:ea typeface="Calibri" pitchFamily="34" charset="-122"/>
                <a:cs typeface="Calibri" pitchFamily="34" charset="-120"/>
              </a:rPr>
              <a:t>THE PROBLEM</a:t>
            </a:r>
            <a:endParaRPr lang="en-US" sz="850" dirty="0"/>
          </a:p>
        </p:txBody>
      </p:sp>
      <p:sp>
        <p:nvSpPr>
          <p:cNvPr id="8" name="Text 6"/>
          <p:cNvSpPr/>
          <p:nvPr/>
        </p:nvSpPr>
        <p:spPr>
          <a:xfrm>
            <a:off x="685800" y="1673352"/>
            <a:ext cx="7955280" cy="566928"/>
          </a:xfrm>
          <a:prstGeom prst="rect">
            <a:avLst/>
          </a:prstGeom>
          <a:noFill/>
          <a:ln/>
        </p:spPr>
        <p:txBody>
          <a:bodyPr wrap="square" rtlCol="0" anchor="ctr"/>
          <a:lstStyle/>
          <a:p>
            <a:pPr marL="0" indent="0">
              <a:buNone/>
            </a:pPr>
            <a:r>
              <a:rPr lang="en-US" sz="1250" dirty="0">
                <a:solidFill>
                  <a:srgbClr val="475569"/>
                </a:solidFill>
                <a:latin typeface="Calibri" pitchFamily="34" charset="0"/>
                <a:ea typeface="Calibri" pitchFamily="34" charset="-122"/>
                <a:cs typeface="Calibri" pitchFamily="34" charset="-120"/>
              </a:rPr>
              <a:t>Every AI tool I worked with had the same failure mode. It was not wrong -- it was hollow. The output came back and something felt off. The AI did not know who it was talking to.</a:t>
            </a:r>
            <a:endParaRPr lang="en-US" sz="1250" dirty="0"/>
          </a:p>
        </p:txBody>
      </p:sp>
      <p:sp>
        <p:nvSpPr>
          <p:cNvPr id="9" name="Shape 7"/>
          <p:cNvSpPr/>
          <p:nvPr/>
        </p:nvSpPr>
        <p:spPr>
          <a:xfrm>
            <a:off x="502920" y="2496312"/>
            <a:ext cx="8321040" cy="1005840"/>
          </a:xfrm>
          <a:prstGeom prst="rect">
            <a:avLst/>
          </a:prstGeom>
          <a:solidFill>
            <a:srgbClr val="FFFFFF"/>
          </a:solidFill>
          <a:ln w="3810">
            <a:solidFill>
              <a:srgbClr val="E2E8F0"/>
            </a:solidFill>
            <a:prstDash val="solid"/>
          </a:ln>
        </p:spPr>
      </p:sp>
      <p:sp>
        <p:nvSpPr>
          <p:cNvPr id="10" name="Shape 8"/>
          <p:cNvSpPr/>
          <p:nvPr/>
        </p:nvSpPr>
        <p:spPr>
          <a:xfrm>
            <a:off x="502920" y="2496312"/>
            <a:ext cx="64008" cy="1005840"/>
          </a:xfrm>
          <a:prstGeom prst="rect">
            <a:avLst/>
          </a:prstGeom>
          <a:solidFill>
            <a:srgbClr val="F4A827"/>
          </a:solidFill>
          <a:ln/>
        </p:spPr>
      </p:sp>
      <p:sp>
        <p:nvSpPr>
          <p:cNvPr id="11" name="Text 9"/>
          <p:cNvSpPr/>
          <p:nvPr/>
        </p:nvSpPr>
        <p:spPr>
          <a:xfrm>
            <a:off x="685800" y="2587752"/>
            <a:ext cx="2743200" cy="237744"/>
          </a:xfrm>
          <a:prstGeom prst="rect">
            <a:avLst/>
          </a:prstGeom>
          <a:noFill/>
          <a:ln/>
        </p:spPr>
        <p:txBody>
          <a:bodyPr wrap="square" rtlCol="0" anchor="ctr"/>
          <a:lstStyle/>
          <a:p>
            <a:pPr marL="0" indent="0">
              <a:buNone/>
            </a:pPr>
            <a:r>
              <a:rPr lang="en-US" sz="850" b="1" kern="0" spc="200" dirty="0">
                <a:solidFill>
                  <a:srgbClr val="F4A827"/>
                </a:solidFill>
                <a:latin typeface="Calibri" pitchFamily="34" charset="0"/>
                <a:ea typeface="Calibri" pitchFamily="34" charset="-122"/>
                <a:cs typeface="Calibri" pitchFamily="34" charset="-120"/>
              </a:rPr>
              <a:t>THE AGITATION</a:t>
            </a:r>
            <a:endParaRPr lang="en-US" sz="850" dirty="0"/>
          </a:p>
        </p:txBody>
      </p:sp>
      <p:sp>
        <p:nvSpPr>
          <p:cNvPr id="12" name="Text 10"/>
          <p:cNvSpPr/>
          <p:nvPr/>
        </p:nvSpPr>
        <p:spPr>
          <a:xfrm>
            <a:off x="685800" y="2843784"/>
            <a:ext cx="7955280" cy="566928"/>
          </a:xfrm>
          <a:prstGeom prst="rect">
            <a:avLst/>
          </a:prstGeom>
          <a:noFill/>
          <a:ln/>
        </p:spPr>
        <p:txBody>
          <a:bodyPr wrap="square" rtlCol="0" anchor="ctr"/>
          <a:lstStyle/>
          <a:p>
            <a:pPr marL="0" indent="0">
              <a:buNone/>
            </a:pPr>
            <a:r>
              <a:rPr lang="en-US" sz="1250" dirty="0">
                <a:solidFill>
                  <a:srgbClr val="475569"/>
                </a:solidFill>
                <a:latin typeface="Calibri" pitchFamily="34" charset="0"/>
                <a:ea typeface="Calibri" pitchFamily="34" charset="-122"/>
                <a:cs typeface="Calibri" pitchFamily="34" charset="-120"/>
              </a:rPr>
              <a:t>I started recognizing the pattern everywhere: the prompts were afterthoughts. The fallbacks did not exist. Nobody had designed how the AI should reason -- they just bolted it on and hoped.</a:t>
            </a:r>
            <a:endParaRPr lang="en-US" sz="1250" dirty="0"/>
          </a:p>
        </p:txBody>
      </p:sp>
      <p:sp>
        <p:nvSpPr>
          <p:cNvPr id="13" name="Shape 11"/>
          <p:cNvSpPr/>
          <p:nvPr/>
        </p:nvSpPr>
        <p:spPr>
          <a:xfrm>
            <a:off x="502920" y="3666744"/>
            <a:ext cx="8321040" cy="1005840"/>
          </a:xfrm>
          <a:prstGeom prst="rect">
            <a:avLst/>
          </a:prstGeom>
          <a:solidFill>
            <a:srgbClr val="FFFFFF"/>
          </a:solidFill>
          <a:ln w="3810">
            <a:solidFill>
              <a:srgbClr val="E2E8F0"/>
            </a:solidFill>
            <a:prstDash val="solid"/>
          </a:ln>
        </p:spPr>
      </p:sp>
      <p:sp>
        <p:nvSpPr>
          <p:cNvPr id="14" name="Shape 12"/>
          <p:cNvSpPr/>
          <p:nvPr/>
        </p:nvSpPr>
        <p:spPr>
          <a:xfrm>
            <a:off x="502920" y="3666744"/>
            <a:ext cx="64008" cy="1005840"/>
          </a:xfrm>
          <a:prstGeom prst="rect">
            <a:avLst/>
          </a:prstGeom>
          <a:solidFill>
            <a:srgbClr val="1E8C8C"/>
          </a:solidFill>
          <a:ln/>
        </p:spPr>
      </p:sp>
      <p:sp>
        <p:nvSpPr>
          <p:cNvPr id="15" name="Text 13"/>
          <p:cNvSpPr/>
          <p:nvPr/>
        </p:nvSpPr>
        <p:spPr>
          <a:xfrm>
            <a:off x="685800" y="3758184"/>
            <a:ext cx="2743200" cy="237744"/>
          </a:xfrm>
          <a:prstGeom prst="rect">
            <a:avLst/>
          </a:prstGeom>
          <a:noFill/>
          <a:ln/>
        </p:spPr>
        <p:txBody>
          <a:bodyPr wrap="square" rtlCol="0" anchor="ctr"/>
          <a:lstStyle/>
          <a:p>
            <a:pPr marL="0" indent="0">
              <a:buNone/>
            </a:pPr>
            <a:r>
              <a:rPr lang="en-US" sz="850" b="1" kern="0" spc="200" dirty="0">
                <a:solidFill>
                  <a:srgbClr val="1E8C8C"/>
                </a:solidFill>
                <a:latin typeface="Calibri" pitchFamily="34" charset="0"/>
                <a:ea typeface="Calibri" pitchFamily="34" charset="-122"/>
                <a:cs typeface="Calibri" pitchFamily="34" charset="-120"/>
              </a:rPr>
              <a:t>THE SOLUTION</a:t>
            </a:r>
            <a:endParaRPr lang="en-US" sz="850" dirty="0"/>
          </a:p>
        </p:txBody>
      </p:sp>
      <p:sp>
        <p:nvSpPr>
          <p:cNvPr id="16" name="Text 14"/>
          <p:cNvSpPr/>
          <p:nvPr/>
        </p:nvSpPr>
        <p:spPr>
          <a:xfrm>
            <a:off x="685800" y="4014216"/>
            <a:ext cx="7955280" cy="566928"/>
          </a:xfrm>
          <a:prstGeom prst="rect">
            <a:avLst/>
          </a:prstGeom>
          <a:noFill/>
          <a:ln/>
        </p:spPr>
        <p:txBody>
          <a:bodyPr wrap="square" rtlCol="0" anchor="ctr"/>
          <a:lstStyle/>
          <a:p>
            <a:pPr marL="0" indent="0">
              <a:buNone/>
            </a:pPr>
            <a:r>
              <a:rPr lang="en-US" sz="1250" dirty="0">
                <a:solidFill>
                  <a:srgbClr val="475569"/>
                </a:solidFill>
                <a:latin typeface="Calibri" pitchFamily="34" charset="0"/>
                <a:ea typeface="Calibri" pitchFamily="34" charset="-122"/>
                <a:cs typeface="Calibri" pitchFamily="34" charset="-120"/>
              </a:rPr>
              <a:t>MentionMap was built on a different principle. Before the AI touches anything, it already knows your brand -- your history, your voice, your audience. The result is not just an answer. It is your brand's answer.</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2B4A"/>
        </a:solidFill>
        <a:effectLst/>
      </p:bgPr>
    </p:bg>
    <p:spTree>
      <p:nvGrpSpPr>
        <p:cNvPr id="1" name=""/>
        <p:cNvGrpSpPr/>
        <p:nvPr/>
      </p:nvGrpSpPr>
      <p:grpSpPr>
        <a:xfrm>
          <a:off x="0" y="0"/>
          <a:ext cx="0" cy="0"/>
          <a:chOff x="0" y="0"/>
          <a:chExt cx="0" cy="0"/>
        </a:xfrm>
      </p:grpSpPr>
      <p:sp>
        <p:nvSpPr>
          <p:cNvPr id="2" name="Text 0"/>
          <p:cNvSpPr/>
          <p:nvPr/>
        </p:nvSpPr>
        <p:spPr>
          <a:xfrm>
            <a:off x="457200" y="731520"/>
            <a:ext cx="8229600" cy="1005840"/>
          </a:xfrm>
          <a:prstGeom prst="rect">
            <a:avLst/>
          </a:prstGeom>
          <a:noFill/>
          <a:ln/>
        </p:spPr>
        <p:txBody>
          <a:bodyPr wrap="square" rtlCol="0" anchor="ctr"/>
          <a:lstStyle/>
          <a:p>
            <a:pPr marL="0" indent="0" algn="ctr">
              <a:buNone/>
            </a:pPr>
            <a:r>
              <a:rPr lang="en-US" sz="6000" b="1" dirty="0">
                <a:solidFill>
                  <a:srgbClr val="F4A827"/>
                </a:solidFill>
                <a:latin typeface="Cambria" pitchFamily="34" charset="0"/>
                <a:ea typeface="Cambria" pitchFamily="34" charset="-122"/>
                <a:cs typeface="Cambria" pitchFamily="34" charset="-120"/>
              </a:rPr>
              <a:t>It's live. Right now.</a:t>
            </a:r>
            <a:endParaRPr lang="en-US" sz="6000" dirty="0"/>
          </a:p>
        </p:txBody>
      </p:sp>
      <p:sp>
        <p:nvSpPr>
          <p:cNvPr id="3" name="Shape 1"/>
          <p:cNvSpPr/>
          <p:nvPr/>
        </p:nvSpPr>
        <p:spPr>
          <a:xfrm>
            <a:off x="2194560" y="1874520"/>
            <a:ext cx="4754880" cy="530352"/>
          </a:xfrm>
          <a:prstGeom prst="rect">
            <a:avLst/>
          </a:prstGeom>
          <a:solidFill>
            <a:srgbClr val="1E3A5A"/>
          </a:solidFill>
          <a:ln w="12700">
            <a:solidFill>
              <a:srgbClr val="1E8C8C"/>
            </a:solidFill>
            <a:prstDash val="solid"/>
          </a:ln>
        </p:spPr>
      </p:sp>
      <p:sp>
        <p:nvSpPr>
          <p:cNvPr id="4" name="Text 2"/>
          <p:cNvSpPr/>
          <p:nvPr/>
        </p:nvSpPr>
        <p:spPr>
          <a:xfrm>
            <a:off x="2194560" y="1920240"/>
            <a:ext cx="4754880" cy="438912"/>
          </a:xfrm>
          <a:prstGeom prst="rect">
            <a:avLst/>
          </a:prstGeom>
          <a:noFill/>
          <a:ln/>
        </p:spPr>
        <p:txBody>
          <a:bodyPr wrap="square" rtlCol="0" anchor="ctr"/>
          <a:lstStyle/>
          <a:p>
            <a:pPr algn="ctr"/>
            <a:r>
              <a:rPr lang="en-CA" b="1" dirty="0" err="1">
                <a:solidFill>
                  <a:schemeClr val="bg1">
                    <a:lumMod val="95000"/>
                  </a:schemeClr>
                </a:solidFill>
              </a:rPr>
              <a:t>splitwolf-brandpulse.hf.space</a:t>
            </a:r>
            <a:endParaRPr lang="en-US" sz="1900" dirty="0">
              <a:solidFill>
                <a:schemeClr val="bg1">
                  <a:lumMod val="95000"/>
                </a:schemeClr>
              </a:solidFill>
            </a:endParaRPr>
          </a:p>
        </p:txBody>
      </p:sp>
      <p:sp>
        <p:nvSpPr>
          <p:cNvPr id="5" name="Shape 3"/>
          <p:cNvSpPr/>
          <p:nvPr/>
        </p:nvSpPr>
        <p:spPr>
          <a:xfrm>
            <a:off x="420624" y="2606040"/>
            <a:ext cx="1938528" cy="1572768"/>
          </a:xfrm>
          <a:prstGeom prst="rect">
            <a:avLst/>
          </a:prstGeom>
          <a:solidFill>
            <a:srgbClr val="243B5A"/>
          </a:solidFill>
          <a:ln w="6350">
            <a:solidFill>
              <a:srgbClr val="2D4E72"/>
            </a:solidFill>
            <a:prstDash val="solid"/>
          </a:ln>
        </p:spPr>
      </p:sp>
      <p:sp>
        <p:nvSpPr>
          <p:cNvPr id="6" name="Text 4"/>
          <p:cNvSpPr/>
          <p:nvPr/>
        </p:nvSpPr>
        <p:spPr>
          <a:xfrm>
            <a:off x="530352" y="2724912"/>
            <a:ext cx="1719072" cy="411480"/>
          </a:xfrm>
          <a:prstGeom prst="rect">
            <a:avLst/>
          </a:prstGeom>
          <a:noFill/>
          <a:ln/>
        </p:spPr>
        <p:txBody>
          <a:bodyPr wrap="square" rtlCol="0" anchor="ctr"/>
          <a:lstStyle/>
          <a:p>
            <a:pPr marL="0" indent="0" algn="ctr">
              <a:buNone/>
            </a:pPr>
            <a:r>
              <a:rPr lang="en-US" sz="1100" b="1" dirty="0">
                <a:solidFill>
                  <a:srgbClr val="F4A827"/>
                </a:solidFill>
                <a:latin typeface="Calibri" pitchFamily="34" charset="0"/>
                <a:ea typeface="Calibri" pitchFamily="34" charset="-122"/>
                <a:cs typeface="Calibri" pitchFamily="34" charset="-120"/>
              </a:rPr>
              <a:t>Paste any brand mentions</a:t>
            </a:r>
            <a:endParaRPr lang="en-US" sz="1100" dirty="0"/>
          </a:p>
        </p:txBody>
      </p:sp>
      <p:sp>
        <p:nvSpPr>
          <p:cNvPr id="7" name="Text 5"/>
          <p:cNvSpPr/>
          <p:nvPr/>
        </p:nvSpPr>
        <p:spPr>
          <a:xfrm>
            <a:off x="530352" y="3163824"/>
            <a:ext cx="1719072" cy="868680"/>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Tweets, reviews, Reddit posts -- paste raw text and hit submit</a:t>
            </a:r>
            <a:endParaRPr lang="en-US" sz="1050" dirty="0"/>
          </a:p>
        </p:txBody>
      </p:sp>
      <p:sp>
        <p:nvSpPr>
          <p:cNvPr id="8" name="Shape 6"/>
          <p:cNvSpPr/>
          <p:nvPr/>
        </p:nvSpPr>
        <p:spPr>
          <a:xfrm>
            <a:off x="2514600" y="2606040"/>
            <a:ext cx="1938528" cy="1572768"/>
          </a:xfrm>
          <a:prstGeom prst="rect">
            <a:avLst/>
          </a:prstGeom>
          <a:solidFill>
            <a:srgbClr val="243B5A"/>
          </a:solidFill>
          <a:ln w="6350">
            <a:solidFill>
              <a:srgbClr val="2D4E72"/>
            </a:solidFill>
            <a:prstDash val="solid"/>
          </a:ln>
        </p:spPr>
      </p:sp>
      <p:sp>
        <p:nvSpPr>
          <p:cNvPr id="9" name="Text 7"/>
          <p:cNvSpPr/>
          <p:nvPr/>
        </p:nvSpPr>
        <p:spPr>
          <a:xfrm>
            <a:off x="2624328" y="2724912"/>
            <a:ext cx="1719072" cy="411480"/>
          </a:xfrm>
          <a:prstGeom prst="rect">
            <a:avLst/>
          </a:prstGeom>
          <a:noFill/>
          <a:ln/>
        </p:spPr>
        <p:txBody>
          <a:bodyPr wrap="square" rtlCol="0" anchor="ctr"/>
          <a:lstStyle/>
          <a:p>
            <a:pPr marL="0" indent="0" algn="ctr">
              <a:buNone/>
            </a:pPr>
            <a:r>
              <a:rPr lang="en-US" sz="1100" b="1" dirty="0">
                <a:solidFill>
                  <a:srgbClr val="F4A827"/>
                </a:solidFill>
                <a:latin typeface="Calibri" pitchFamily="34" charset="0"/>
                <a:ea typeface="Calibri" pitchFamily="34" charset="-122"/>
                <a:cs typeface="Calibri" pitchFamily="34" charset="-120"/>
              </a:rPr>
              <a:t>Instant mood score</a:t>
            </a:r>
            <a:endParaRPr lang="en-US" sz="1100" dirty="0"/>
          </a:p>
        </p:txBody>
      </p:sp>
      <p:sp>
        <p:nvSpPr>
          <p:cNvPr id="10" name="Text 8"/>
          <p:cNvSpPr/>
          <p:nvPr/>
        </p:nvSpPr>
        <p:spPr>
          <a:xfrm>
            <a:off x="2624328" y="3163824"/>
            <a:ext cx="1719072" cy="868680"/>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Smart AI reads tone -- positive, negative, everything in between</a:t>
            </a:r>
            <a:endParaRPr lang="en-US" sz="1050" dirty="0"/>
          </a:p>
        </p:txBody>
      </p:sp>
      <p:sp>
        <p:nvSpPr>
          <p:cNvPr id="11" name="Shape 9"/>
          <p:cNvSpPr/>
          <p:nvPr/>
        </p:nvSpPr>
        <p:spPr>
          <a:xfrm>
            <a:off x="4608576" y="2606040"/>
            <a:ext cx="1938528" cy="1572768"/>
          </a:xfrm>
          <a:prstGeom prst="rect">
            <a:avLst/>
          </a:prstGeom>
          <a:solidFill>
            <a:srgbClr val="243B5A"/>
          </a:solidFill>
          <a:ln w="6350">
            <a:solidFill>
              <a:srgbClr val="2D4E72"/>
            </a:solidFill>
            <a:prstDash val="solid"/>
          </a:ln>
        </p:spPr>
      </p:sp>
      <p:sp>
        <p:nvSpPr>
          <p:cNvPr id="12" name="Text 10"/>
          <p:cNvSpPr/>
          <p:nvPr/>
        </p:nvSpPr>
        <p:spPr>
          <a:xfrm>
            <a:off x="4718304" y="2724912"/>
            <a:ext cx="1719072" cy="411480"/>
          </a:xfrm>
          <a:prstGeom prst="rect">
            <a:avLst/>
          </a:prstGeom>
          <a:noFill/>
          <a:ln/>
        </p:spPr>
        <p:txBody>
          <a:bodyPr wrap="square" rtlCol="0" anchor="ctr"/>
          <a:lstStyle/>
          <a:p>
            <a:pPr marL="0" indent="0" algn="ctr">
              <a:buNone/>
            </a:pPr>
            <a:r>
              <a:rPr lang="en-US" sz="1100" b="1" dirty="0">
                <a:solidFill>
                  <a:srgbClr val="F4A827"/>
                </a:solidFill>
                <a:latin typeface="Calibri" pitchFamily="34" charset="0"/>
                <a:ea typeface="Calibri" pitchFamily="34" charset="-122"/>
                <a:cs typeface="Calibri" pitchFamily="34" charset="-120"/>
              </a:rPr>
              <a:t>Brand personality detected</a:t>
            </a:r>
            <a:endParaRPr lang="en-US" sz="1100" dirty="0"/>
          </a:p>
        </p:txBody>
      </p:sp>
      <p:sp>
        <p:nvSpPr>
          <p:cNvPr id="13" name="Text 11"/>
          <p:cNvSpPr/>
          <p:nvPr/>
        </p:nvSpPr>
        <p:spPr>
          <a:xfrm>
            <a:off x="4718304" y="3163824"/>
            <a:ext cx="1719072" cy="868680"/>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Identifies which of 12 archetypes your audience projects onto your brand</a:t>
            </a:r>
            <a:endParaRPr lang="en-US" sz="1050" dirty="0"/>
          </a:p>
        </p:txBody>
      </p:sp>
      <p:sp>
        <p:nvSpPr>
          <p:cNvPr id="14" name="Shape 12"/>
          <p:cNvSpPr/>
          <p:nvPr/>
        </p:nvSpPr>
        <p:spPr>
          <a:xfrm>
            <a:off x="6702552" y="2606040"/>
            <a:ext cx="1938528" cy="1572768"/>
          </a:xfrm>
          <a:prstGeom prst="rect">
            <a:avLst/>
          </a:prstGeom>
          <a:solidFill>
            <a:srgbClr val="243B5A"/>
          </a:solidFill>
          <a:ln w="6350">
            <a:solidFill>
              <a:srgbClr val="2D4E72"/>
            </a:solidFill>
            <a:prstDash val="solid"/>
          </a:ln>
        </p:spPr>
      </p:sp>
      <p:sp>
        <p:nvSpPr>
          <p:cNvPr id="15" name="Text 13"/>
          <p:cNvSpPr/>
          <p:nvPr/>
        </p:nvSpPr>
        <p:spPr>
          <a:xfrm>
            <a:off x="6812280" y="2724912"/>
            <a:ext cx="1719072" cy="411480"/>
          </a:xfrm>
          <a:prstGeom prst="rect">
            <a:avLst/>
          </a:prstGeom>
          <a:noFill/>
          <a:ln/>
        </p:spPr>
        <p:txBody>
          <a:bodyPr wrap="square" rtlCol="0" anchor="ctr"/>
          <a:lstStyle/>
          <a:p>
            <a:pPr marL="0" indent="0" algn="ctr">
              <a:buNone/>
            </a:pPr>
            <a:r>
              <a:rPr lang="en-US" sz="1100" b="1" dirty="0">
                <a:solidFill>
                  <a:srgbClr val="F4A827"/>
                </a:solidFill>
                <a:latin typeface="Calibri" pitchFamily="34" charset="0"/>
                <a:ea typeface="Calibri" pitchFamily="34" charset="-122"/>
                <a:cs typeface="Calibri" pitchFamily="34" charset="-120"/>
              </a:rPr>
              <a:t>Response drafts ready</a:t>
            </a:r>
            <a:endParaRPr lang="en-US" sz="1100" dirty="0"/>
          </a:p>
        </p:txBody>
      </p:sp>
      <p:sp>
        <p:nvSpPr>
          <p:cNvPr id="16" name="Text 14"/>
          <p:cNvSpPr/>
          <p:nvPr/>
        </p:nvSpPr>
        <p:spPr>
          <a:xfrm>
            <a:off x="6812280" y="3163824"/>
            <a:ext cx="1719072" cy="868680"/>
          </a:xfrm>
          <a:prstGeom prst="rect">
            <a:avLst/>
          </a:prstGeom>
          <a:noFill/>
          <a:ln/>
        </p:spPr>
        <p:txBody>
          <a:bodyPr wrap="square" rtlCol="0" anchor="ctr"/>
          <a:lstStyle/>
          <a:p>
            <a:pPr marL="0" indent="0" algn="ctr">
              <a:buNone/>
            </a:pPr>
            <a:r>
              <a:rPr lang="en-US" sz="1050" dirty="0">
                <a:solidFill>
                  <a:srgbClr val="CBD5E1"/>
                </a:solidFill>
                <a:latin typeface="Calibri" pitchFamily="34" charset="0"/>
                <a:ea typeface="Calibri" pitchFamily="34" charset="-122"/>
                <a:cs typeface="Calibri" pitchFamily="34" charset="-120"/>
              </a:rPr>
              <a:t>Platform-specific replies generated -- copy, tweak, and post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02920" y="228600"/>
            <a:ext cx="7772400" cy="219456"/>
          </a:xfrm>
          <a:prstGeom prst="rect">
            <a:avLst/>
          </a:prstGeom>
          <a:noFill/>
          <a:ln/>
        </p:spPr>
        <p:txBody>
          <a:bodyPr wrap="square" rtlCol="0" anchor="ctr"/>
          <a:lstStyle/>
          <a:p>
            <a:pPr marL="0" indent="0">
              <a:buNone/>
            </a:pPr>
            <a:r>
              <a:rPr lang="en-US" sz="800" b="1" kern="0" spc="300" dirty="0">
                <a:solidFill>
                  <a:srgbClr val="1E8C8C"/>
                </a:solidFill>
                <a:latin typeface="Calibri" pitchFamily="34" charset="0"/>
                <a:ea typeface="Calibri" pitchFamily="34" charset="-122"/>
                <a:cs typeface="Calibri" pitchFamily="34" charset="-120"/>
              </a:rPr>
              <a:t>BUSINESS MODEL</a:t>
            </a:r>
            <a:endParaRPr lang="en-US" sz="800" dirty="0"/>
          </a:p>
        </p:txBody>
      </p:sp>
      <p:sp>
        <p:nvSpPr>
          <p:cNvPr id="3" name="Shape 1"/>
          <p:cNvSpPr/>
          <p:nvPr/>
        </p:nvSpPr>
        <p:spPr>
          <a:xfrm>
            <a:off x="502920" y="475488"/>
            <a:ext cx="8138160" cy="18288"/>
          </a:xfrm>
          <a:prstGeom prst="rect">
            <a:avLst/>
          </a:prstGeom>
          <a:solidFill>
            <a:srgbClr val="E2E8F0"/>
          </a:solidFill>
          <a:ln/>
        </p:spPr>
      </p:sp>
      <p:sp>
        <p:nvSpPr>
          <p:cNvPr id="4" name="Text 2"/>
          <p:cNvSpPr/>
          <p:nvPr/>
        </p:nvSpPr>
        <p:spPr>
          <a:xfrm>
            <a:off x="502920" y="594360"/>
            <a:ext cx="7315200" cy="566928"/>
          </a:xfrm>
          <a:prstGeom prst="rect">
            <a:avLst/>
          </a:prstGeom>
          <a:noFill/>
          <a:ln/>
        </p:spPr>
        <p:txBody>
          <a:bodyPr wrap="square" rtlCol="0" anchor="ctr"/>
          <a:lstStyle/>
          <a:p>
            <a:pPr marL="0" indent="0">
              <a:buNone/>
            </a:pPr>
            <a:r>
              <a:rPr lang="en-US" sz="3200" b="1" dirty="0">
                <a:solidFill>
                  <a:srgbClr val="1A2B4A"/>
                </a:solidFill>
                <a:latin typeface="Cambria" pitchFamily="34" charset="0"/>
                <a:ea typeface="Cambria" pitchFamily="34" charset="-122"/>
                <a:cs typeface="Cambria" pitchFamily="34" charset="-120"/>
              </a:rPr>
              <a:t>Free to start. $29 to grow.</a:t>
            </a:r>
            <a:endParaRPr lang="en-US" sz="3200" dirty="0"/>
          </a:p>
        </p:txBody>
      </p:sp>
      <p:sp>
        <p:nvSpPr>
          <p:cNvPr id="5" name="Shape 3"/>
          <p:cNvSpPr/>
          <p:nvPr/>
        </p:nvSpPr>
        <p:spPr>
          <a:xfrm>
            <a:off x="457200" y="1325880"/>
            <a:ext cx="2578608" cy="3547872"/>
          </a:xfrm>
          <a:prstGeom prst="rect">
            <a:avLst/>
          </a:prstGeom>
          <a:solidFill>
            <a:srgbClr val="FFFFFF"/>
          </a:solidFill>
          <a:ln w="6350">
            <a:solidFill>
              <a:srgbClr val="E2E8F0"/>
            </a:solidFill>
            <a:prstDash val="solid"/>
          </a:ln>
        </p:spPr>
      </p:sp>
      <p:sp>
        <p:nvSpPr>
          <p:cNvPr id="6" name="Text 4"/>
          <p:cNvSpPr/>
          <p:nvPr/>
        </p:nvSpPr>
        <p:spPr>
          <a:xfrm>
            <a:off x="594360" y="1444752"/>
            <a:ext cx="2304288" cy="237744"/>
          </a:xfrm>
          <a:prstGeom prst="rect">
            <a:avLst/>
          </a:prstGeom>
          <a:noFill/>
          <a:ln/>
        </p:spPr>
        <p:txBody>
          <a:bodyPr wrap="square" rtlCol="0" anchor="ctr"/>
          <a:lstStyle/>
          <a:p>
            <a:pPr marL="0" indent="0">
              <a:buNone/>
            </a:pPr>
            <a:r>
              <a:rPr lang="en-US" sz="900" b="1" kern="0" spc="200" dirty="0">
                <a:solidFill>
                  <a:srgbClr val="475569"/>
                </a:solidFill>
                <a:latin typeface="Calibri" pitchFamily="34" charset="0"/>
                <a:ea typeface="Calibri" pitchFamily="34" charset="-122"/>
                <a:cs typeface="Calibri" pitchFamily="34" charset="-120"/>
              </a:rPr>
              <a:t>FREE</a:t>
            </a:r>
            <a:endParaRPr lang="en-US" sz="900" dirty="0"/>
          </a:p>
        </p:txBody>
      </p:sp>
      <p:sp>
        <p:nvSpPr>
          <p:cNvPr id="7" name="Text 5"/>
          <p:cNvSpPr/>
          <p:nvPr/>
        </p:nvSpPr>
        <p:spPr>
          <a:xfrm>
            <a:off x="594360" y="1691640"/>
            <a:ext cx="2304288" cy="731520"/>
          </a:xfrm>
          <a:prstGeom prst="rect">
            <a:avLst/>
          </a:prstGeom>
          <a:noFill/>
          <a:ln/>
        </p:spPr>
        <p:txBody>
          <a:bodyPr wrap="square" rtlCol="0" anchor="ctr"/>
          <a:lstStyle/>
          <a:p>
            <a:pPr marL="0" indent="0">
              <a:buNone/>
            </a:pPr>
            <a:r>
              <a:rPr lang="en-US" sz="4400" b="1" dirty="0">
                <a:solidFill>
                  <a:srgbClr val="1A2B4A"/>
                </a:solidFill>
                <a:latin typeface="Cambria" pitchFamily="34" charset="0"/>
                <a:ea typeface="Cambria" pitchFamily="34" charset="-122"/>
                <a:cs typeface="Cambria" pitchFamily="34" charset="-120"/>
              </a:rPr>
              <a:t>$0</a:t>
            </a:r>
            <a:endParaRPr lang="en-US" sz="4400" dirty="0"/>
          </a:p>
        </p:txBody>
      </p:sp>
      <p:sp>
        <p:nvSpPr>
          <p:cNvPr id="8" name="Text 6"/>
          <p:cNvSpPr/>
          <p:nvPr/>
        </p:nvSpPr>
        <p:spPr>
          <a:xfrm>
            <a:off x="594360" y="2423160"/>
            <a:ext cx="2304288" cy="237744"/>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 forever</a:t>
            </a:r>
            <a:endParaRPr lang="en-US" sz="1100" dirty="0"/>
          </a:p>
        </p:txBody>
      </p:sp>
      <p:sp>
        <p:nvSpPr>
          <p:cNvPr id="9" name="Text 7"/>
          <p:cNvSpPr/>
          <p:nvPr/>
        </p:nvSpPr>
        <p:spPr>
          <a:xfrm>
            <a:off x="621792" y="2788920"/>
            <a:ext cx="2249424" cy="402336"/>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  Paste text, instant report</a:t>
            </a:r>
            <a:endParaRPr lang="en-US" sz="1100" dirty="0"/>
          </a:p>
        </p:txBody>
      </p:sp>
      <p:sp>
        <p:nvSpPr>
          <p:cNvPr id="10" name="Text 8"/>
          <p:cNvSpPr/>
          <p:nvPr/>
        </p:nvSpPr>
        <p:spPr>
          <a:xfrm>
            <a:off x="621792" y="3264408"/>
            <a:ext cx="2249424" cy="402336"/>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  Mood score + brand archetype</a:t>
            </a:r>
            <a:endParaRPr lang="en-US" sz="1100" dirty="0"/>
          </a:p>
        </p:txBody>
      </p:sp>
      <p:sp>
        <p:nvSpPr>
          <p:cNvPr id="11" name="Text 9"/>
          <p:cNvSpPr/>
          <p:nvPr/>
        </p:nvSpPr>
        <p:spPr>
          <a:xfrm>
            <a:off x="621792" y="3739896"/>
            <a:ext cx="2249424" cy="402336"/>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  No account needed</a:t>
            </a:r>
            <a:endParaRPr lang="en-US" sz="1100" dirty="0"/>
          </a:p>
        </p:txBody>
      </p:sp>
      <p:sp>
        <p:nvSpPr>
          <p:cNvPr id="12" name="Shape 10"/>
          <p:cNvSpPr/>
          <p:nvPr/>
        </p:nvSpPr>
        <p:spPr>
          <a:xfrm>
            <a:off x="3273552" y="1325880"/>
            <a:ext cx="2578608" cy="3547872"/>
          </a:xfrm>
          <a:prstGeom prst="rect">
            <a:avLst/>
          </a:prstGeom>
          <a:solidFill>
            <a:srgbClr val="1A2B4A"/>
          </a:solidFill>
          <a:ln/>
        </p:spPr>
      </p:sp>
      <p:sp>
        <p:nvSpPr>
          <p:cNvPr id="13" name="Shape 11"/>
          <p:cNvSpPr/>
          <p:nvPr/>
        </p:nvSpPr>
        <p:spPr>
          <a:xfrm>
            <a:off x="3621024" y="1216152"/>
            <a:ext cx="1883664" cy="256032"/>
          </a:xfrm>
          <a:prstGeom prst="rect">
            <a:avLst/>
          </a:prstGeom>
          <a:solidFill>
            <a:srgbClr val="F4A827"/>
          </a:solidFill>
          <a:ln/>
        </p:spPr>
      </p:sp>
      <p:sp>
        <p:nvSpPr>
          <p:cNvPr id="14" name="Text 12"/>
          <p:cNvSpPr/>
          <p:nvPr/>
        </p:nvSpPr>
        <p:spPr>
          <a:xfrm>
            <a:off x="3621024" y="1225296"/>
            <a:ext cx="1883664" cy="228600"/>
          </a:xfrm>
          <a:prstGeom prst="rect">
            <a:avLst/>
          </a:prstGeom>
          <a:noFill/>
          <a:ln/>
        </p:spPr>
        <p:txBody>
          <a:bodyPr wrap="square" rtlCol="0" anchor="ctr"/>
          <a:lstStyle/>
          <a:p>
            <a:pPr marL="0" indent="0" algn="ctr">
              <a:buNone/>
            </a:pPr>
            <a:r>
              <a:rPr lang="en-US" sz="850" b="1" dirty="0">
                <a:solidFill>
                  <a:srgbClr val="1A2B4A"/>
                </a:solidFill>
                <a:latin typeface="Calibri" pitchFamily="34" charset="0"/>
                <a:ea typeface="Calibri" pitchFamily="34" charset="-122"/>
                <a:cs typeface="Calibri" pitchFamily="34" charset="-120"/>
              </a:rPr>
              <a:t>Most Popular</a:t>
            </a:r>
            <a:endParaRPr lang="en-US" sz="850" dirty="0"/>
          </a:p>
        </p:txBody>
      </p:sp>
      <p:sp>
        <p:nvSpPr>
          <p:cNvPr id="15" name="Text 13"/>
          <p:cNvSpPr/>
          <p:nvPr/>
        </p:nvSpPr>
        <p:spPr>
          <a:xfrm>
            <a:off x="3410712" y="1444752"/>
            <a:ext cx="2304288" cy="237744"/>
          </a:xfrm>
          <a:prstGeom prst="rect">
            <a:avLst/>
          </a:prstGeom>
          <a:noFill/>
          <a:ln/>
        </p:spPr>
        <p:txBody>
          <a:bodyPr wrap="square" rtlCol="0" anchor="ctr"/>
          <a:lstStyle/>
          <a:p>
            <a:pPr marL="0" indent="0">
              <a:buNone/>
            </a:pPr>
            <a:r>
              <a:rPr lang="en-US" sz="900" b="1" kern="0" spc="200" dirty="0">
                <a:solidFill>
                  <a:srgbClr val="CBD5E1"/>
                </a:solidFill>
                <a:latin typeface="Calibri" pitchFamily="34" charset="0"/>
                <a:ea typeface="Calibri" pitchFamily="34" charset="-122"/>
                <a:cs typeface="Calibri" pitchFamily="34" charset="-120"/>
              </a:rPr>
              <a:t>PRO</a:t>
            </a:r>
            <a:endParaRPr lang="en-US" sz="900" dirty="0"/>
          </a:p>
        </p:txBody>
      </p:sp>
      <p:sp>
        <p:nvSpPr>
          <p:cNvPr id="16" name="Text 14"/>
          <p:cNvSpPr/>
          <p:nvPr/>
        </p:nvSpPr>
        <p:spPr>
          <a:xfrm>
            <a:off x="3410712" y="1691640"/>
            <a:ext cx="2304288" cy="731520"/>
          </a:xfrm>
          <a:prstGeom prst="rect">
            <a:avLst/>
          </a:prstGeom>
          <a:noFill/>
          <a:ln/>
        </p:spPr>
        <p:txBody>
          <a:bodyPr wrap="square" rtlCol="0" anchor="ctr"/>
          <a:lstStyle/>
          <a:p>
            <a:pPr marL="0" indent="0">
              <a:buNone/>
            </a:pPr>
            <a:r>
              <a:rPr lang="en-US" sz="4400" b="1" dirty="0">
                <a:solidFill>
                  <a:srgbClr val="F4A827"/>
                </a:solidFill>
                <a:latin typeface="Cambria" pitchFamily="34" charset="0"/>
                <a:ea typeface="Cambria" pitchFamily="34" charset="-122"/>
                <a:cs typeface="Cambria" pitchFamily="34" charset="-120"/>
              </a:rPr>
              <a:t>$29</a:t>
            </a:r>
            <a:endParaRPr lang="en-US" sz="4400" dirty="0"/>
          </a:p>
        </p:txBody>
      </p:sp>
      <p:sp>
        <p:nvSpPr>
          <p:cNvPr id="17" name="Text 15"/>
          <p:cNvSpPr/>
          <p:nvPr/>
        </p:nvSpPr>
        <p:spPr>
          <a:xfrm>
            <a:off x="3410712" y="2423160"/>
            <a:ext cx="2304288" cy="237744"/>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month</a:t>
            </a:r>
            <a:endParaRPr lang="en-US" sz="1100" dirty="0"/>
          </a:p>
        </p:txBody>
      </p:sp>
      <p:sp>
        <p:nvSpPr>
          <p:cNvPr id="18" name="Text 16"/>
          <p:cNvSpPr/>
          <p:nvPr/>
        </p:nvSpPr>
        <p:spPr>
          <a:xfrm>
            <a:off x="3438144" y="2788920"/>
            <a:ext cx="2249424" cy="402336"/>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Live social media feed</a:t>
            </a:r>
            <a:endParaRPr lang="en-US" sz="1100" dirty="0"/>
          </a:p>
        </p:txBody>
      </p:sp>
      <p:sp>
        <p:nvSpPr>
          <p:cNvPr id="19" name="Text 17"/>
          <p:cNvSpPr/>
          <p:nvPr/>
        </p:nvSpPr>
        <p:spPr>
          <a:xfrm>
            <a:off x="3438144" y="3264408"/>
            <a:ext cx="2249424" cy="402336"/>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Team sharing</a:t>
            </a:r>
            <a:endParaRPr lang="en-US" sz="1100" dirty="0"/>
          </a:p>
        </p:txBody>
      </p:sp>
      <p:sp>
        <p:nvSpPr>
          <p:cNvPr id="20" name="Text 18"/>
          <p:cNvSpPr/>
          <p:nvPr/>
        </p:nvSpPr>
        <p:spPr>
          <a:xfrm>
            <a:off x="3438144" y="3739896"/>
            <a:ext cx="2249424" cy="402336"/>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90-day history</a:t>
            </a:r>
            <a:endParaRPr lang="en-US" sz="1100" dirty="0"/>
          </a:p>
        </p:txBody>
      </p:sp>
      <p:sp>
        <p:nvSpPr>
          <p:cNvPr id="21" name="Text 19"/>
          <p:cNvSpPr/>
          <p:nvPr/>
        </p:nvSpPr>
        <p:spPr>
          <a:xfrm>
            <a:off x="3438144" y="4215384"/>
            <a:ext cx="2249424" cy="402336"/>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Slack alerts</a:t>
            </a:r>
            <a:endParaRPr lang="en-US" sz="1100" dirty="0"/>
          </a:p>
        </p:txBody>
      </p:sp>
      <p:sp>
        <p:nvSpPr>
          <p:cNvPr id="22" name="Shape 20"/>
          <p:cNvSpPr/>
          <p:nvPr/>
        </p:nvSpPr>
        <p:spPr>
          <a:xfrm>
            <a:off x="6108192" y="1325880"/>
            <a:ext cx="2578608" cy="3547872"/>
          </a:xfrm>
          <a:prstGeom prst="rect">
            <a:avLst/>
          </a:prstGeom>
          <a:solidFill>
            <a:srgbClr val="FFFFFF"/>
          </a:solidFill>
          <a:ln w="6350">
            <a:solidFill>
              <a:srgbClr val="E2E8F0"/>
            </a:solidFill>
            <a:prstDash val="solid"/>
          </a:ln>
        </p:spPr>
      </p:sp>
      <p:sp>
        <p:nvSpPr>
          <p:cNvPr id="23" name="Text 21"/>
          <p:cNvSpPr/>
          <p:nvPr/>
        </p:nvSpPr>
        <p:spPr>
          <a:xfrm>
            <a:off x="6245352" y="1444752"/>
            <a:ext cx="2304288" cy="237744"/>
          </a:xfrm>
          <a:prstGeom prst="rect">
            <a:avLst/>
          </a:prstGeom>
          <a:noFill/>
          <a:ln/>
        </p:spPr>
        <p:txBody>
          <a:bodyPr wrap="square" rtlCol="0" anchor="ctr"/>
          <a:lstStyle/>
          <a:p>
            <a:pPr marL="0" indent="0">
              <a:buNone/>
            </a:pPr>
            <a:r>
              <a:rPr lang="en-US" sz="900" b="1" kern="0" spc="200" dirty="0">
                <a:solidFill>
                  <a:srgbClr val="475569"/>
                </a:solidFill>
                <a:latin typeface="Calibri" pitchFamily="34" charset="0"/>
                <a:ea typeface="Calibri" pitchFamily="34" charset="-122"/>
                <a:cs typeface="Calibri" pitchFamily="34" charset="-120"/>
              </a:rPr>
              <a:t>AGENCY</a:t>
            </a:r>
            <a:endParaRPr lang="en-US" sz="900" dirty="0"/>
          </a:p>
        </p:txBody>
      </p:sp>
      <p:sp>
        <p:nvSpPr>
          <p:cNvPr id="24" name="Text 22"/>
          <p:cNvSpPr/>
          <p:nvPr/>
        </p:nvSpPr>
        <p:spPr>
          <a:xfrm>
            <a:off x="6245352" y="1691640"/>
            <a:ext cx="2304288" cy="731520"/>
          </a:xfrm>
          <a:prstGeom prst="rect">
            <a:avLst/>
          </a:prstGeom>
          <a:noFill/>
          <a:ln/>
        </p:spPr>
        <p:txBody>
          <a:bodyPr wrap="square" rtlCol="0" anchor="ctr"/>
          <a:lstStyle/>
          <a:p>
            <a:pPr marL="0" indent="0">
              <a:buNone/>
            </a:pPr>
            <a:r>
              <a:rPr lang="en-US" sz="4400" b="1" dirty="0">
                <a:solidFill>
                  <a:srgbClr val="1A2B4A"/>
                </a:solidFill>
                <a:latin typeface="Cambria" pitchFamily="34" charset="0"/>
                <a:ea typeface="Cambria" pitchFamily="34" charset="-122"/>
                <a:cs typeface="Cambria" pitchFamily="34" charset="-120"/>
              </a:rPr>
              <a:t>$99</a:t>
            </a:r>
            <a:endParaRPr lang="en-US" sz="4400" dirty="0"/>
          </a:p>
        </p:txBody>
      </p:sp>
      <p:sp>
        <p:nvSpPr>
          <p:cNvPr id="25" name="Text 23"/>
          <p:cNvSpPr/>
          <p:nvPr/>
        </p:nvSpPr>
        <p:spPr>
          <a:xfrm>
            <a:off x="6245352" y="2423160"/>
            <a:ext cx="2304288" cy="237744"/>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 month</a:t>
            </a:r>
            <a:endParaRPr lang="en-US" sz="1100" dirty="0"/>
          </a:p>
        </p:txBody>
      </p:sp>
      <p:sp>
        <p:nvSpPr>
          <p:cNvPr id="26" name="Text 24"/>
          <p:cNvSpPr/>
          <p:nvPr/>
        </p:nvSpPr>
        <p:spPr>
          <a:xfrm>
            <a:off x="6272784" y="2788920"/>
            <a:ext cx="2249424" cy="402336"/>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  Multi-brand dashboard</a:t>
            </a:r>
            <a:endParaRPr lang="en-US" sz="1100" dirty="0"/>
          </a:p>
        </p:txBody>
      </p:sp>
      <p:sp>
        <p:nvSpPr>
          <p:cNvPr id="27" name="Text 25"/>
          <p:cNvSpPr/>
          <p:nvPr/>
        </p:nvSpPr>
        <p:spPr>
          <a:xfrm>
            <a:off x="6272784" y="3264408"/>
            <a:ext cx="2249424" cy="402336"/>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  White-label reports</a:t>
            </a:r>
            <a:endParaRPr lang="en-US" sz="1100" dirty="0"/>
          </a:p>
        </p:txBody>
      </p:sp>
      <p:sp>
        <p:nvSpPr>
          <p:cNvPr id="28" name="Text 26"/>
          <p:cNvSpPr/>
          <p:nvPr/>
        </p:nvSpPr>
        <p:spPr>
          <a:xfrm>
            <a:off x="6272784" y="3739896"/>
            <a:ext cx="2249424" cy="402336"/>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  Client access</a:t>
            </a:r>
            <a:endParaRPr lang="en-US" sz="1100" dirty="0"/>
          </a:p>
        </p:txBody>
      </p:sp>
      <p:sp>
        <p:nvSpPr>
          <p:cNvPr id="29" name="Text 27"/>
          <p:cNvSpPr/>
          <p:nvPr/>
        </p:nvSpPr>
        <p:spPr>
          <a:xfrm>
            <a:off x="6272784" y="4215384"/>
            <a:ext cx="2249424" cy="402336"/>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  Priority support</a:t>
            </a:r>
            <a:endParaRPr lang="en-US" sz="1100" dirty="0"/>
          </a:p>
        </p:txBody>
      </p:sp>
      <p:sp>
        <p:nvSpPr>
          <p:cNvPr id="30" name="Shape 28"/>
          <p:cNvSpPr/>
          <p:nvPr/>
        </p:nvSpPr>
        <p:spPr>
          <a:xfrm>
            <a:off x="457200" y="4773168"/>
            <a:ext cx="8412480" cy="256032"/>
          </a:xfrm>
          <a:prstGeom prst="rect">
            <a:avLst/>
          </a:prstGeom>
          <a:solidFill>
            <a:srgbClr val="F0FDF4"/>
          </a:solidFill>
          <a:ln w="3810">
            <a:solidFill>
              <a:srgbClr val="1E8C8C"/>
            </a:solidFill>
            <a:prstDash val="solid"/>
          </a:ln>
        </p:spPr>
      </p:sp>
      <p:sp>
        <p:nvSpPr>
          <p:cNvPr id="31" name="Text 29"/>
          <p:cNvSpPr/>
          <p:nvPr/>
        </p:nvSpPr>
        <p:spPr>
          <a:xfrm>
            <a:off x="457200" y="4782312"/>
            <a:ext cx="8412480" cy="237744"/>
          </a:xfrm>
          <a:prstGeom prst="rect">
            <a:avLst/>
          </a:prstGeom>
          <a:noFill/>
          <a:ln/>
        </p:spPr>
        <p:txBody>
          <a:bodyPr wrap="square" rtlCol="0" anchor="ctr"/>
          <a:lstStyle/>
          <a:p>
            <a:pPr marL="0" indent="0" algn="ctr">
              <a:buNone/>
            </a:pPr>
            <a:r>
              <a:rPr lang="en-US" sz="1100" b="1" dirty="0">
                <a:solidFill>
                  <a:srgbClr val="1E8C8C"/>
                </a:solidFill>
                <a:latin typeface="Calibri" pitchFamily="34" charset="0"/>
                <a:ea typeface="Calibri" pitchFamily="34" charset="-122"/>
                <a:cs typeface="Calibri" pitchFamily="34" charset="-120"/>
              </a:rPr>
              <a:t>500 Pro users = $174,000 ARR  ·  Year 2 target: 2,000 users = $840K ARR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02920" y="228600"/>
            <a:ext cx="7772400" cy="219456"/>
          </a:xfrm>
          <a:prstGeom prst="rect">
            <a:avLst/>
          </a:prstGeom>
          <a:noFill/>
          <a:ln/>
        </p:spPr>
        <p:txBody>
          <a:bodyPr wrap="square" rtlCol="0" anchor="ctr"/>
          <a:lstStyle/>
          <a:p>
            <a:pPr marL="0" indent="0">
              <a:buNone/>
            </a:pPr>
            <a:r>
              <a:rPr lang="en-US" sz="800" b="1" kern="0" spc="300" dirty="0">
                <a:solidFill>
                  <a:srgbClr val="1E8C8C"/>
                </a:solidFill>
                <a:latin typeface="Calibri" pitchFamily="34" charset="0"/>
                <a:ea typeface="Calibri" pitchFamily="34" charset="-122"/>
                <a:cs typeface="Calibri" pitchFamily="34" charset="-120"/>
              </a:rPr>
              <a:t>THE ROADMAP</a:t>
            </a:r>
            <a:endParaRPr lang="en-US" sz="800" dirty="0"/>
          </a:p>
        </p:txBody>
      </p:sp>
      <p:sp>
        <p:nvSpPr>
          <p:cNvPr id="3" name="Shape 1"/>
          <p:cNvSpPr/>
          <p:nvPr/>
        </p:nvSpPr>
        <p:spPr>
          <a:xfrm>
            <a:off x="502920" y="475488"/>
            <a:ext cx="8138160" cy="18288"/>
          </a:xfrm>
          <a:prstGeom prst="rect">
            <a:avLst/>
          </a:prstGeom>
          <a:solidFill>
            <a:srgbClr val="E2E8F0"/>
          </a:solidFill>
          <a:ln/>
        </p:spPr>
      </p:sp>
      <p:sp>
        <p:nvSpPr>
          <p:cNvPr id="4" name="Text 2"/>
          <p:cNvSpPr/>
          <p:nvPr/>
        </p:nvSpPr>
        <p:spPr>
          <a:xfrm>
            <a:off x="502920" y="594360"/>
            <a:ext cx="7315200" cy="566928"/>
          </a:xfrm>
          <a:prstGeom prst="rect">
            <a:avLst/>
          </a:prstGeom>
          <a:noFill/>
          <a:ln/>
        </p:spPr>
        <p:txBody>
          <a:bodyPr wrap="square" rtlCol="0" anchor="ctr"/>
          <a:lstStyle/>
          <a:p>
            <a:pPr marL="0" indent="0">
              <a:buNone/>
            </a:pPr>
            <a:r>
              <a:rPr lang="en-US" sz="3000" b="1" dirty="0">
                <a:solidFill>
                  <a:srgbClr val="1A2B4A"/>
                </a:solidFill>
                <a:latin typeface="Cambria" pitchFamily="34" charset="0"/>
                <a:ea typeface="Cambria" pitchFamily="34" charset="-122"/>
                <a:cs typeface="Cambria" pitchFamily="34" charset="-120"/>
              </a:rPr>
              <a:t>Working today. Growing this fall.</a:t>
            </a:r>
            <a:endParaRPr lang="en-US" sz="3000" dirty="0"/>
          </a:p>
        </p:txBody>
      </p:sp>
      <p:sp>
        <p:nvSpPr>
          <p:cNvPr id="5" name="Shape 3"/>
          <p:cNvSpPr/>
          <p:nvPr/>
        </p:nvSpPr>
        <p:spPr>
          <a:xfrm>
            <a:off x="457200" y="1298448"/>
            <a:ext cx="8412480" cy="384048"/>
          </a:xfrm>
          <a:prstGeom prst="rect">
            <a:avLst/>
          </a:prstGeom>
          <a:solidFill>
            <a:srgbClr val="F0FDF4"/>
          </a:solidFill>
          <a:ln w="6350">
            <a:solidFill>
              <a:srgbClr val="1E8C8C"/>
            </a:solidFill>
            <a:prstDash val="solid"/>
          </a:ln>
        </p:spPr>
      </p:sp>
      <p:sp>
        <p:nvSpPr>
          <p:cNvPr id="6" name="Text 4"/>
          <p:cNvSpPr/>
          <p:nvPr/>
        </p:nvSpPr>
        <p:spPr>
          <a:xfrm>
            <a:off x="621792" y="1353312"/>
            <a:ext cx="8046720" cy="292608"/>
          </a:xfrm>
          <a:prstGeom prst="rect">
            <a:avLst/>
          </a:prstGeom>
          <a:noFill/>
          <a:ln/>
        </p:spPr>
        <p:txBody>
          <a:bodyPr wrap="square" rtlCol="0" anchor="ctr"/>
          <a:lstStyle/>
          <a:p>
            <a:pPr marL="0" indent="0">
              <a:buNone/>
            </a:pPr>
            <a:r>
              <a:rPr lang="en-US" sz="1200" b="1" dirty="0">
                <a:solidFill>
                  <a:srgbClr val="1E8C8C"/>
                </a:solidFill>
                <a:latin typeface="Calibri" pitchFamily="34" charset="0"/>
                <a:ea typeface="Calibri" pitchFamily="34" charset="-122"/>
                <a:cs typeface="Calibri" pitchFamily="34" charset="-120"/>
              </a:rPr>
              <a:t>✓  Live and running right now at mentionmap.vercel.app</a:t>
            </a:r>
            <a:endParaRPr lang="en-US" sz="1200" dirty="0"/>
          </a:p>
        </p:txBody>
      </p:sp>
      <p:sp>
        <p:nvSpPr>
          <p:cNvPr id="7" name="Shape 5"/>
          <p:cNvSpPr/>
          <p:nvPr/>
        </p:nvSpPr>
        <p:spPr>
          <a:xfrm>
            <a:off x="438912" y="1874520"/>
            <a:ext cx="1938528" cy="2971800"/>
          </a:xfrm>
          <a:prstGeom prst="rect">
            <a:avLst/>
          </a:prstGeom>
          <a:solidFill>
            <a:srgbClr val="FFFFFF"/>
          </a:solidFill>
          <a:ln w="6350">
            <a:solidFill>
              <a:srgbClr val="E2E8F0"/>
            </a:solidFill>
            <a:prstDash val="solid"/>
          </a:ln>
        </p:spPr>
      </p:sp>
      <p:sp>
        <p:nvSpPr>
          <p:cNvPr id="8" name="Shape 6"/>
          <p:cNvSpPr/>
          <p:nvPr/>
        </p:nvSpPr>
        <p:spPr>
          <a:xfrm>
            <a:off x="438912" y="1874520"/>
            <a:ext cx="1938528" cy="64008"/>
          </a:xfrm>
          <a:prstGeom prst="rect">
            <a:avLst/>
          </a:prstGeom>
          <a:solidFill>
            <a:srgbClr val="1E8C8C"/>
          </a:solidFill>
          <a:ln/>
        </p:spPr>
      </p:sp>
      <p:sp>
        <p:nvSpPr>
          <p:cNvPr id="9" name="Text 7"/>
          <p:cNvSpPr/>
          <p:nvPr/>
        </p:nvSpPr>
        <p:spPr>
          <a:xfrm>
            <a:off x="548640" y="1993392"/>
            <a:ext cx="1719072" cy="256032"/>
          </a:xfrm>
          <a:prstGeom prst="rect">
            <a:avLst/>
          </a:prstGeom>
          <a:noFill/>
          <a:ln/>
        </p:spPr>
        <p:txBody>
          <a:bodyPr wrap="square" rtlCol="0" anchor="ctr"/>
          <a:lstStyle/>
          <a:p>
            <a:pPr marL="0" indent="0">
              <a:buNone/>
            </a:pPr>
            <a:r>
              <a:rPr lang="en-US" sz="900" b="1" kern="0" spc="100" dirty="0">
                <a:solidFill>
                  <a:srgbClr val="475569"/>
                </a:solidFill>
                <a:latin typeface="Calibri" pitchFamily="34" charset="0"/>
                <a:ea typeface="Calibri" pitchFamily="34" charset="-122"/>
                <a:cs typeface="Calibri" pitchFamily="34" charset="-120"/>
              </a:rPr>
              <a:t>NOW</a:t>
            </a:r>
            <a:endParaRPr lang="en-US" sz="900" dirty="0"/>
          </a:p>
        </p:txBody>
      </p:sp>
      <p:sp>
        <p:nvSpPr>
          <p:cNvPr id="10" name="Text 8"/>
          <p:cNvSpPr/>
          <p:nvPr/>
        </p:nvSpPr>
        <p:spPr>
          <a:xfrm>
            <a:off x="548640" y="2286000"/>
            <a:ext cx="1719072" cy="384048"/>
          </a:xfrm>
          <a:prstGeom prst="rect">
            <a:avLst/>
          </a:prstGeom>
          <a:noFill/>
          <a:ln/>
        </p:spPr>
        <p:txBody>
          <a:bodyPr wrap="square" rtlCol="0" anchor="ctr"/>
          <a:lstStyle/>
          <a:p>
            <a:pPr marL="0" indent="0">
              <a:buNone/>
            </a:pPr>
            <a:r>
              <a:rPr lang="en-US" sz="1400" b="1" dirty="0">
                <a:solidFill>
                  <a:srgbClr val="1A2B4A"/>
                </a:solidFill>
                <a:latin typeface="Cambria" pitchFamily="34" charset="0"/>
                <a:ea typeface="Cambria" pitchFamily="34" charset="-122"/>
                <a:cs typeface="Cambria" pitchFamily="34" charset="-120"/>
              </a:rPr>
              <a:t>Live Tool</a:t>
            </a:r>
            <a:endParaRPr lang="en-US" sz="1400" dirty="0"/>
          </a:p>
        </p:txBody>
      </p:sp>
      <p:sp>
        <p:nvSpPr>
          <p:cNvPr id="11" name="Text 9"/>
          <p:cNvSpPr/>
          <p:nvPr/>
        </p:nvSpPr>
        <p:spPr>
          <a:xfrm>
            <a:off x="548640" y="2724912"/>
            <a:ext cx="1719072" cy="1115568"/>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Mood analysis, brand personality, anomaly alerts, draft responses -- all running in production.</a:t>
            </a:r>
            <a:endParaRPr lang="en-US" sz="1050" dirty="0"/>
          </a:p>
        </p:txBody>
      </p:sp>
      <p:sp>
        <p:nvSpPr>
          <p:cNvPr id="12" name="Shape 10"/>
          <p:cNvSpPr/>
          <p:nvPr/>
        </p:nvSpPr>
        <p:spPr>
          <a:xfrm>
            <a:off x="2532888" y="1874520"/>
            <a:ext cx="1938528" cy="2971800"/>
          </a:xfrm>
          <a:prstGeom prst="rect">
            <a:avLst/>
          </a:prstGeom>
          <a:solidFill>
            <a:srgbClr val="FFFFFF"/>
          </a:solidFill>
          <a:ln w="6350">
            <a:solidFill>
              <a:srgbClr val="E2E8F0"/>
            </a:solidFill>
            <a:prstDash val="solid"/>
          </a:ln>
        </p:spPr>
      </p:sp>
      <p:sp>
        <p:nvSpPr>
          <p:cNvPr id="13" name="Shape 11"/>
          <p:cNvSpPr/>
          <p:nvPr/>
        </p:nvSpPr>
        <p:spPr>
          <a:xfrm>
            <a:off x="2532888" y="1874520"/>
            <a:ext cx="1938528" cy="64008"/>
          </a:xfrm>
          <a:prstGeom prst="rect">
            <a:avLst/>
          </a:prstGeom>
          <a:solidFill>
            <a:srgbClr val="F4A827"/>
          </a:solidFill>
          <a:ln/>
        </p:spPr>
      </p:sp>
      <p:sp>
        <p:nvSpPr>
          <p:cNvPr id="14" name="Text 12"/>
          <p:cNvSpPr/>
          <p:nvPr/>
        </p:nvSpPr>
        <p:spPr>
          <a:xfrm>
            <a:off x="2642616" y="1993392"/>
            <a:ext cx="1719072" cy="256032"/>
          </a:xfrm>
          <a:prstGeom prst="rect">
            <a:avLst/>
          </a:prstGeom>
          <a:noFill/>
          <a:ln/>
        </p:spPr>
        <p:txBody>
          <a:bodyPr wrap="square" rtlCol="0" anchor="ctr"/>
          <a:lstStyle/>
          <a:p>
            <a:pPr marL="0" indent="0">
              <a:buNone/>
            </a:pPr>
            <a:r>
              <a:rPr lang="en-US" sz="900" b="1" kern="0" spc="100" dirty="0">
                <a:solidFill>
                  <a:srgbClr val="475569"/>
                </a:solidFill>
                <a:latin typeface="Calibri" pitchFamily="34" charset="0"/>
                <a:ea typeface="Calibri" pitchFamily="34" charset="-122"/>
                <a:cs typeface="Calibri" pitchFamily="34" charset="-120"/>
              </a:rPr>
              <a:t>AUG 2026</a:t>
            </a:r>
            <a:endParaRPr lang="en-US" sz="900" dirty="0"/>
          </a:p>
        </p:txBody>
      </p:sp>
      <p:sp>
        <p:nvSpPr>
          <p:cNvPr id="15" name="Text 13"/>
          <p:cNvSpPr/>
          <p:nvPr/>
        </p:nvSpPr>
        <p:spPr>
          <a:xfrm>
            <a:off x="2642616" y="2286000"/>
            <a:ext cx="1719072" cy="384048"/>
          </a:xfrm>
          <a:prstGeom prst="rect">
            <a:avLst/>
          </a:prstGeom>
          <a:noFill/>
          <a:ln/>
        </p:spPr>
        <p:txBody>
          <a:bodyPr wrap="square" rtlCol="0" anchor="ctr"/>
          <a:lstStyle/>
          <a:p>
            <a:pPr marL="0" indent="0">
              <a:buNone/>
            </a:pPr>
            <a:r>
              <a:rPr lang="en-US" sz="1400" b="1" dirty="0">
                <a:solidFill>
                  <a:srgbClr val="1A2B4A"/>
                </a:solidFill>
                <a:latin typeface="Cambria" pitchFamily="34" charset="0"/>
                <a:ea typeface="Cambria" pitchFamily="34" charset="-122"/>
                <a:cs typeface="Cambria" pitchFamily="34" charset="-120"/>
              </a:rPr>
              <a:t>Live Data</a:t>
            </a:r>
            <a:endParaRPr lang="en-US" sz="1400" dirty="0"/>
          </a:p>
        </p:txBody>
      </p:sp>
      <p:sp>
        <p:nvSpPr>
          <p:cNvPr id="16" name="Text 14"/>
          <p:cNvSpPr/>
          <p:nvPr/>
        </p:nvSpPr>
        <p:spPr>
          <a:xfrm>
            <a:off x="2642616" y="2724912"/>
            <a:ext cx="1719072" cy="1115568"/>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Connect directly to social media -- no more manual pasting. Pulls your mentions automatically.</a:t>
            </a:r>
            <a:endParaRPr lang="en-US" sz="1050" dirty="0"/>
          </a:p>
        </p:txBody>
      </p:sp>
      <p:sp>
        <p:nvSpPr>
          <p:cNvPr id="17" name="Shape 15"/>
          <p:cNvSpPr/>
          <p:nvPr/>
        </p:nvSpPr>
        <p:spPr>
          <a:xfrm>
            <a:off x="4626864" y="1874520"/>
            <a:ext cx="1938528" cy="2971800"/>
          </a:xfrm>
          <a:prstGeom prst="rect">
            <a:avLst/>
          </a:prstGeom>
          <a:solidFill>
            <a:srgbClr val="FFFFFF"/>
          </a:solidFill>
          <a:ln w="6350">
            <a:solidFill>
              <a:srgbClr val="E2E8F0"/>
            </a:solidFill>
            <a:prstDash val="solid"/>
          </a:ln>
        </p:spPr>
      </p:sp>
      <p:sp>
        <p:nvSpPr>
          <p:cNvPr id="18" name="Shape 16"/>
          <p:cNvSpPr/>
          <p:nvPr/>
        </p:nvSpPr>
        <p:spPr>
          <a:xfrm>
            <a:off x="4626864" y="1874520"/>
            <a:ext cx="1938528" cy="64008"/>
          </a:xfrm>
          <a:prstGeom prst="rect">
            <a:avLst/>
          </a:prstGeom>
          <a:solidFill>
            <a:srgbClr val="1A2B4A"/>
          </a:solidFill>
          <a:ln/>
        </p:spPr>
      </p:sp>
      <p:sp>
        <p:nvSpPr>
          <p:cNvPr id="19" name="Text 17"/>
          <p:cNvSpPr/>
          <p:nvPr/>
        </p:nvSpPr>
        <p:spPr>
          <a:xfrm>
            <a:off x="4736592" y="1993392"/>
            <a:ext cx="1719072" cy="256032"/>
          </a:xfrm>
          <a:prstGeom prst="rect">
            <a:avLst/>
          </a:prstGeom>
          <a:noFill/>
          <a:ln/>
        </p:spPr>
        <p:txBody>
          <a:bodyPr wrap="square" rtlCol="0" anchor="ctr"/>
          <a:lstStyle/>
          <a:p>
            <a:pPr marL="0" indent="0">
              <a:buNone/>
            </a:pPr>
            <a:r>
              <a:rPr lang="en-US" sz="900" b="1" kern="0" spc="100" dirty="0">
                <a:solidFill>
                  <a:srgbClr val="475569"/>
                </a:solidFill>
                <a:latin typeface="Calibri" pitchFamily="34" charset="0"/>
                <a:ea typeface="Calibri" pitchFamily="34" charset="-122"/>
                <a:cs typeface="Calibri" pitchFamily="34" charset="-120"/>
              </a:rPr>
              <a:t>SEP 2026</a:t>
            </a:r>
            <a:endParaRPr lang="en-US" sz="900" dirty="0"/>
          </a:p>
        </p:txBody>
      </p:sp>
      <p:sp>
        <p:nvSpPr>
          <p:cNvPr id="20" name="Text 18"/>
          <p:cNvSpPr/>
          <p:nvPr/>
        </p:nvSpPr>
        <p:spPr>
          <a:xfrm>
            <a:off x="4736592" y="2286000"/>
            <a:ext cx="1719072" cy="384048"/>
          </a:xfrm>
          <a:prstGeom prst="rect">
            <a:avLst/>
          </a:prstGeom>
          <a:noFill/>
          <a:ln/>
        </p:spPr>
        <p:txBody>
          <a:bodyPr wrap="square" rtlCol="0" anchor="ctr"/>
          <a:lstStyle/>
          <a:p>
            <a:pPr marL="0" indent="0">
              <a:buNone/>
            </a:pPr>
            <a:r>
              <a:rPr lang="en-US" sz="1400" b="1" dirty="0">
                <a:solidFill>
                  <a:srgbClr val="1A2B4A"/>
                </a:solidFill>
                <a:latin typeface="Cambria" pitchFamily="34" charset="0"/>
                <a:ea typeface="Cambria" pitchFamily="34" charset="-122"/>
                <a:cs typeface="Cambria" pitchFamily="34" charset="-120"/>
              </a:rPr>
              <a:t>Team Dashboard</a:t>
            </a:r>
            <a:endParaRPr lang="en-US" sz="1400" dirty="0"/>
          </a:p>
        </p:txBody>
      </p:sp>
      <p:sp>
        <p:nvSpPr>
          <p:cNvPr id="21" name="Text 19"/>
          <p:cNvSpPr/>
          <p:nvPr/>
        </p:nvSpPr>
        <p:spPr>
          <a:xfrm>
            <a:off x="4736592" y="2724912"/>
            <a:ext cx="1719072" cy="1115568"/>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Multi-user access, 90-day history, and Slack alerts when something unusual happens.</a:t>
            </a:r>
            <a:endParaRPr lang="en-US" sz="1050" dirty="0"/>
          </a:p>
        </p:txBody>
      </p:sp>
      <p:sp>
        <p:nvSpPr>
          <p:cNvPr id="22" name="Shape 20"/>
          <p:cNvSpPr/>
          <p:nvPr/>
        </p:nvSpPr>
        <p:spPr>
          <a:xfrm>
            <a:off x="6720840" y="1874520"/>
            <a:ext cx="1938528" cy="2971800"/>
          </a:xfrm>
          <a:prstGeom prst="rect">
            <a:avLst/>
          </a:prstGeom>
          <a:solidFill>
            <a:srgbClr val="FFFFFF"/>
          </a:solidFill>
          <a:ln w="6350">
            <a:solidFill>
              <a:srgbClr val="E2E8F0"/>
            </a:solidFill>
            <a:prstDash val="solid"/>
          </a:ln>
        </p:spPr>
      </p:sp>
      <p:sp>
        <p:nvSpPr>
          <p:cNvPr id="23" name="Shape 21"/>
          <p:cNvSpPr/>
          <p:nvPr/>
        </p:nvSpPr>
        <p:spPr>
          <a:xfrm>
            <a:off x="6720840" y="1874520"/>
            <a:ext cx="1938528" cy="64008"/>
          </a:xfrm>
          <a:prstGeom prst="rect">
            <a:avLst/>
          </a:prstGeom>
          <a:solidFill>
            <a:srgbClr val="1E8C8C"/>
          </a:solidFill>
          <a:ln/>
        </p:spPr>
      </p:sp>
      <p:sp>
        <p:nvSpPr>
          <p:cNvPr id="24" name="Text 22"/>
          <p:cNvSpPr/>
          <p:nvPr/>
        </p:nvSpPr>
        <p:spPr>
          <a:xfrm>
            <a:off x="6830568" y="1993392"/>
            <a:ext cx="1719072" cy="256032"/>
          </a:xfrm>
          <a:prstGeom prst="rect">
            <a:avLst/>
          </a:prstGeom>
          <a:noFill/>
          <a:ln/>
        </p:spPr>
        <p:txBody>
          <a:bodyPr wrap="square" rtlCol="0" anchor="ctr"/>
          <a:lstStyle/>
          <a:p>
            <a:pPr marL="0" indent="0">
              <a:buNone/>
            </a:pPr>
            <a:r>
              <a:rPr lang="en-US" sz="900" b="1" kern="0" spc="100" dirty="0">
                <a:solidFill>
                  <a:srgbClr val="475569"/>
                </a:solidFill>
                <a:latin typeface="Calibri" pitchFamily="34" charset="0"/>
                <a:ea typeface="Calibri" pitchFamily="34" charset="-122"/>
                <a:cs typeface="Calibri" pitchFamily="34" charset="-120"/>
              </a:rPr>
              <a:t>OCT 2026</a:t>
            </a:r>
            <a:endParaRPr lang="en-US" sz="900" dirty="0"/>
          </a:p>
        </p:txBody>
      </p:sp>
      <p:sp>
        <p:nvSpPr>
          <p:cNvPr id="25" name="Text 23"/>
          <p:cNvSpPr/>
          <p:nvPr/>
        </p:nvSpPr>
        <p:spPr>
          <a:xfrm>
            <a:off x="6830568" y="2286000"/>
            <a:ext cx="1719072" cy="384048"/>
          </a:xfrm>
          <a:prstGeom prst="rect">
            <a:avLst/>
          </a:prstGeom>
          <a:noFill/>
          <a:ln/>
        </p:spPr>
        <p:txBody>
          <a:bodyPr wrap="square" rtlCol="0" anchor="ctr"/>
          <a:lstStyle/>
          <a:p>
            <a:pPr marL="0" indent="0">
              <a:buNone/>
            </a:pPr>
            <a:r>
              <a:rPr lang="en-US" sz="1400" b="1" dirty="0">
                <a:solidFill>
                  <a:srgbClr val="1A2B4A"/>
                </a:solidFill>
                <a:latin typeface="Cambria" pitchFamily="34" charset="0"/>
                <a:ea typeface="Cambria" pitchFamily="34" charset="-122"/>
                <a:cs typeface="Cambria" pitchFamily="34" charset="-120"/>
              </a:rPr>
              <a:t>Public Launch</a:t>
            </a:r>
            <a:endParaRPr lang="en-US" sz="1400" dirty="0"/>
          </a:p>
        </p:txBody>
      </p:sp>
      <p:sp>
        <p:nvSpPr>
          <p:cNvPr id="26" name="Text 24"/>
          <p:cNvSpPr/>
          <p:nvPr/>
        </p:nvSpPr>
        <p:spPr>
          <a:xfrm>
            <a:off x="6830568" y="2724912"/>
            <a:ext cx="1719072" cy="1115568"/>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Product Hunt launch and paid Pro tier opens. Target: first 100 paying customers.</a:t>
            </a:r>
            <a:endParaRPr lang="en-US" sz="1050" dirty="0"/>
          </a:p>
        </p:txBody>
      </p:sp>
      <p:sp>
        <p:nvSpPr>
          <p:cNvPr id="27" name="Text 25"/>
          <p:cNvSpPr/>
          <p:nvPr/>
        </p:nvSpPr>
        <p:spPr>
          <a:xfrm>
            <a:off x="457200" y="4983480"/>
            <a:ext cx="8412480" cy="256032"/>
          </a:xfrm>
          <a:prstGeom prst="rect">
            <a:avLst/>
          </a:prstGeom>
          <a:noFill/>
          <a:ln/>
        </p:spPr>
        <p:txBody>
          <a:bodyPr wrap="square" rtlCol="0" anchor="ctr"/>
          <a:lstStyle/>
          <a:p>
            <a:pPr marL="0" indent="0" algn="ctr">
              <a:buNone/>
            </a:pPr>
            <a:r>
              <a:rPr lang="en-US" sz="1300" dirty="0">
                <a:solidFill>
                  <a:srgbClr val="1A2B4A"/>
                </a:solidFill>
                <a:latin typeface="Calibri" pitchFamily="34" charset="0"/>
                <a:ea typeface="Calibri" pitchFamily="34" charset="-122"/>
                <a:cs typeface="Calibri" pitchFamily="34" charset="-120"/>
              </a:rPr>
              <a:t>Target: 100 paying customers by December 2026</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2B4A"/>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512064"/>
          </a:xfrm>
          <a:prstGeom prst="rect">
            <a:avLst/>
          </a:prstGeom>
          <a:noFill/>
          <a:ln/>
        </p:spPr>
        <p:txBody>
          <a:bodyPr wrap="square" rtlCol="0" anchor="ctr"/>
          <a:lstStyle/>
          <a:p>
            <a:pPr marL="0" indent="0" algn="ctr">
              <a:buNone/>
            </a:pPr>
            <a:r>
              <a:rPr lang="en-US" sz="2800" dirty="0">
                <a:solidFill>
                  <a:srgbClr val="CBD5E1"/>
                </a:solidFill>
                <a:latin typeface="Cambria" pitchFamily="34" charset="0"/>
                <a:ea typeface="Cambria" pitchFamily="34" charset="-122"/>
                <a:cs typeface="Cambria" pitchFamily="34" charset="-120"/>
              </a:rPr>
              <a:t>In one semester,</a:t>
            </a:r>
            <a:endParaRPr lang="en-US" sz="2800" dirty="0"/>
          </a:p>
        </p:txBody>
      </p:sp>
      <p:sp>
        <p:nvSpPr>
          <p:cNvPr id="3" name="Text 1"/>
          <p:cNvSpPr/>
          <p:nvPr/>
        </p:nvSpPr>
        <p:spPr>
          <a:xfrm>
            <a:off x="457200" y="932688"/>
            <a:ext cx="8229600" cy="658368"/>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I built a complete brand system from the ground up.</a:t>
            </a:r>
            <a:endParaRPr lang="en-US" sz="2600" dirty="0"/>
          </a:p>
        </p:txBody>
      </p:sp>
      <p:sp>
        <p:nvSpPr>
          <p:cNvPr id="4" name="Shape 2"/>
          <p:cNvSpPr/>
          <p:nvPr/>
        </p:nvSpPr>
        <p:spPr>
          <a:xfrm>
            <a:off x="438912" y="1755648"/>
            <a:ext cx="3950208" cy="566928"/>
          </a:xfrm>
          <a:prstGeom prst="rect">
            <a:avLst/>
          </a:prstGeom>
          <a:solidFill>
            <a:srgbClr val="243B5A"/>
          </a:solidFill>
          <a:ln w="6350">
            <a:solidFill>
              <a:srgbClr val="2D4E72"/>
            </a:solidFill>
            <a:prstDash val="solid"/>
          </a:ln>
        </p:spPr>
      </p:sp>
      <p:sp>
        <p:nvSpPr>
          <p:cNvPr id="5" name="Shape 3"/>
          <p:cNvSpPr/>
          <p:nvPr/>
        </p:nvSpPr>
        <p:spPr>
          <a:xfrm>
            <a:off x="438912" y="1755648"/>
            <a:ext cx="64008" cy="566928"/>
          </a:xfrm>
          <a:prstGeom prst="rect">
            <a:avLst/>
          </a:prstGeom>
          <a:solidFill>
            <a:srgbClr val="1E8C8C"/>
          </a:solidFill>
          <a:ln/>
        </p:spPr>
      </p:sp>
      <p:sp>
        <p:nvSpPr>
          <p:cNvPr id="6" name="Text 4"/>
          <p:cNvSpPr/>
          <p:nvPr/>
        </p:nvSpPr>
        <p:spPr>
          <a:xfrm>
            <a:off x="621792" y="1874520"/>
            <a:ext cx="3675888" cy="329184"/>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A brand strategy with a position nobody else owns</a:t>
            </a:r>
            <a:endParaRPr lang="en-US" sz="1200" dirty="0"/>
          </a:p>
        </p:txBody>
      </p:sp>
      <p:sp>
        <p:nvSpPr>
          <p:cNvPr id="7" name="Shape 5"/>
          <p:cNvSpPr/>
          <p:nvPr/>
        </p:nvSpPr>
        <p:spPr>
          <a:xfrm>
            <a:off x="4572000" y="1755648"/>
            <a:ext cx="3950208" cy="566928"/>
          </a:xfrm>
          <a:prstGeom prst="rect">
            <a:avLst/>
          </a:prstGeom>
          <a:solidFill>
            <a:srgbClr val="243B5A"/>
          </a:solidFill>
          <a:ln w="6350">
            <a:solidFill>
              <a:srgbClr val="2D4E72"/>
            </a:solidFill>
            <a:prstDash val="solid"/>
          </a:ln>
        </p:spPr>
      </p:sp>
      <p:sp>
        <p:nvSpPr>
          <p:cNvPr id="8" name="Shape 6"/>
          <p:cNvSpPr/>
          <p:nvPr/>
        </p:nvSpPr>
        <p:spPr>
          <a:xfrm>
            <a:off x="4572000" y="1755648"/>
            <a:ext cx="64008" cy="566928"/>
          </a:xfrm>
          <a:prstGeom prst="rect">
            <a:avLst/>
          </a:prstGeom>
          <a:solidFill>
            <a:srgbClr val="1E8C8C"/>
          </a:solidFill>
          <a:ln/>
        </p:spPr>
      </p:sp>
      <p:sp>
        <p:nvSpPr>
          <p:cNvPr id="9" name="Text 7"/>
          <p:cNvSpPr/>
          <p:nvPr/>
        </p:nvSpPr>
        <p:spPr>
          <a:xfrm>
            <a:off x="4754880" y="1874520"/>
            <a:ext cx="3675888" cy="329184"/>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A visual identity consistent across three channels</a:t>
            </a:r>
            <a:endParaRPr lang="en-US" sz="1200" dirty="0"/>
          </a:p>
        </p:txBody>
      </p:sp>
      <p:sp>
        <p:nvSpPr>
          <p:cNvPr id="10" name="Shape 8"/>
          <p:cNvSpPr/>
          <p:nvPr/>
        </p:nvSpPr>
        <p:spPr>
          <a:xfrm>
            <a:off x="438912" y="2423160"/>
            <a:ext cx="3950208" cy="566928"/>
          </a:xfrm>
          <a:prstGeom prst="rect">
            <a:avLst/>
          </a:prstGeom>
          <a:solidFill>
            <a:srgbClr val="243B5A"/>
          </a:solidFill>
          <a:ln w="6350">
            <a:solidFill>
              <a:srgbClr val="2D4E72"/>
            </a:solidFill>
            <a:prstDash val="solid"/>
          </a:ln>
        </p:spPr>
      </p:sp>
      <p:sp>
        <p:nvSpPr>
          <p:cNvPr id="11" name="Shape 9"/>
          <p:cNvSpPr/>
          <p:nvPr/>
        </p:nvSpPr>
        <p:spPr>
          <a:xfrm>
            <a:off x="438912" y="2423160"/>
            <a:ext cx="64008" cy="566928"/>
          </a:xfrm>
          <a:prstGeom prst="rect">
            <a:avLst/>
          </a:prstGeom>
          <a:solidFill>
            <a:srgbClr val="1E8C8C"/>
          </a:solidFill>
          <a:ln/>
        </p:spPr>
      </p:sp>
      <p:sp>
        <p:nvSpPr>
          <p:cNvPr id="12" name="Text 10"/>
          <p:cNvSpPr/>
          <p:nvPr/>
        </p:nvSpPr>
        <p:spPr>
          <a:xfrm>
            <a:off x="621792" y="2542032"/>
            <a:ext cx="3675888" cy="329184"/>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A brand story that explains exactly why this exists</a:t>
            </a:r>
            <a:endParaRPr lang="en-US" sz="1200" dirty="0"/>
          </a:p>
        </p:txBody>
      </p:sp>
      <p:sp>
        <p:nvSpPr>
          <p:cNvPr id="13" name="Shape 11"/>
          <p:cNvSpPr/>
          <p:nvPr/>
        </p:nvSpPr>
        <p:spPr>
          <a:xfrm>
            <a:off x="4572000" y="2423160"/>
            <a:ext cx="3950208" cy="566928"/>
          </a:xfrm>
          <a:prstGeom prst="rect">
            <a:avLst/>
          </a:prstGeom>
          <a:solidFill>
            <a:srgbClr val="243B5A"/>
          </a:solidFill>
          <a:ln w="6350">
            <a:solidFill>
              <a:srgbClr val="2D4E72"/>
            </a:solidFill>
            <a:prstDash val="solid"/>
          </a:ln>
        </p:spPr>
      </p:sp>
      <p:sp>
        <p:nvSpPr>
          <p:cNvPr id="14" name="Shape 12"/>
          <p:cNvSpPr/>
          <p:nvPr/>
        </p:nvSpPr>
        <p:spPr>
          <a:xfrm>
            <a:off x="4572000" y="2423160"/>
            <a:ext cx="64008" cy="566928"/>
          </a:xfrm>
          <a:prstGeom prst="rect">
            <a:avLst/>
          </a:prstGeom>
          <a:solidFill>
            <a:srgbClr val="1E8C8C"/>
          </a:solidFill>
          <a:ln/>
        </p:spPr>
      </p:sp>
      <p:sp>
        <p:nvSpPr>
          <p:cNvPr id="15" name="Text 13"/>
          <p:cNvSpPr/>
          <p:nvPr/>
        </p:nvSpPr>
        <p:spPr>
          <a:xfrm>
            <a:off x="4754880" y="2542032"/>
            <a:ext cx="3675888" cy="329184"/>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A live AI tool proving it works in the real world</a:t>
            </a:r>
            <a:endParaRPr lang="en-US" sz="1200" dirty="0"/>
          </a:p>
        </p:txBody>
      </p:sp>
      <p:sp>
        <p:nvSpPr>
          <p:cNvPr id="16" name="Shape 14"/>
          <p:cNvSpPr/>
          <p:nvPr/>
        </p:nvSpPr>
        <p:spPr>
          <a:xfrm>
            <a:off x="2194560" y="3163824"/>
            <a:ext cx="4754880" cy="475488"/>
          </a:xfrm>
          <a:prstGeom prst="rect">
            <a:avLst/>
          </a:prstGeom>
          <a:solidFill>
            <a:srgbClr val="1E3A5A"/>
          </a:solidFill>
          <a:ln w="12700">
            <a:solidFill>
              <a:srgbClr val="1E8C8C"/>
            </a:solidFill>
            <a:prstDash val="solid"/>
          </a:ln>
        </p:spPr>
      </p:sp>
      <p:sp>
        <p:nvSpPr>
          <p:cNvPr id="17" name="Text 15"/>
          <p:cNvSpPr/>
          <p:nvPr/>
        </p:nvSpPr>
        <p:spPr>
          <a:xfrm>
            <a:off x="2194560" y="3200400"/>
            <a:ext cx="4754880" cy="384048"/>
          </a:xfrm>
          <a:prstGeom prst="rect">
            <a:avLst/>
          </a:prstGeom>
          <a:noFill/>
          <a:ln/>
        </p:spPr>
        <p:txBody>
          <a:bodyPr wrap="square" rtlCol="0" anchor="ctr"/>
          <a:lstStyle/>
          <a:p>
            <a:pPr algn="ctr"/>
            <a:r>
              <a:rPr lang="en-CA" b="1" dirty="0" err="1">
                <a:solidFill>
                  <a:schemeClr val="bg1"/>
                </a:solidFill>
              </a:rPr>
              <a:t>splitwolf-brandpulse.hf.space</a:t>
            </a:r>
            <a:endParaRPr lang="en-US" sz="1700" dirty="0">
              <a:solidFill>
                <a:schemeClr val="bg1"/>
              </a:solidFill>
            </a:endParaRPr>
          </a:p>
        </p:txBody>
      </p:sp>
      <p:sp>
        <p:nvSpPr>
          <p:cNvPr id="18" name="Text 16"/>
          <p:cNvSpPr/>
          <p:nvPr/>
        </p:nvSpPr>
        <p:spPr>
          <a:xfrm>
            <a:off x="457200" y="3767328"/>
            <a:ext cx="8229600" cy="347472"/>
          </a:xfrm>
          <a:prstGeom prst="rect">
            <a:avLst/>
          </a:prstGeom>
          <a:noFill/>
          <a:ln/>
        </p:spPr>
        <p:txBody>
          <a:bodyPr wrap="square" rtlCol="0" anchor="ctr"/>
          <a:lstStyle/>
          <a:p>
            <a:pPr marL="0" indent="0" algn="ctr">
              <a:buNone/>
            </a:pPr>
            <a:r>
              <a:rPr lang="en-US" sz="1500" i="1" dirty="0">
                <a:solidFill>
                  <a:srgbClr val="F4A827"/>
                </a:solidFill>
                <a:latin typeface="Cambria" pitchFamily="34" charset="0"/>
                <a:ea typeface="Cambria" pitchFamily="34" charset="-122"/>
                <a:cs typeface="Cambria" pitchFamily="34" charset="-120"/>
              </a:rPr>
              <a:t>That's not a prototype. That's a brand system.</a:t>
            </a:r>
            <a:endParaRPr lang="en-US" sz="1500" dirty="0"/>
          </a:p>
        </p:txBody>
      </p:sp>
      <p:sp>
        <p:nvSpPr>
          <p:cNvPr id="19" name="Text 17"/>
          <p:cNvSpPr/>
          <p:nvPr/>
        </p:nvSpPr>
        <p:spPr>
          <a:xfrm>
            <a:off x="457200" y="4206240"/>
            <a:ext cx="8229600" cy="384048"/>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Thank you.</a:t>
            </a:r>
            <a:endParaRPr lang="en-US" sz="2200" dirty="0"/>
          </a:p>
        </p:txBody>
      </p:sp>
      <p:sp>
        <p:nvSpPr>
          <p:cNvPr id="20" name="Text 18"/>
          <p:cNvSpPr/>
          <p:nvPr/>
        </p:nvSpPr>
        <p:spPr>
          <a:xfrm>
            <a:off x="457200" y="4663440"/>
            <a:ext cx="8229600" cy="237744"/>
          </a:xfrm>
          <a:prstGeom prst="rect">
            <a:avLst/>
          </a:prstGeom>
          <a:noFill/>
          <a:ln/>
        </p:spPr>
        <p:txBody>
          <a:bodyPr wrap="square" rtlCol="0" anchor="ctr"/>
          <a:lstStyle/>
          <a:p>
            <a:pPr algn="ctr"/>
            <a:r>
              <a:rPr lang="en-US" sz="1100" dirty="0">
                <a:solidFill>
                  <a:schemeClr val="bg2">
                    <a:lumMod val="90000"/>
                  </a:schemeClr>
                </a:solidFill>
                <a:latin typeface="Calibri" pitchFamily="34" charset="0"/>
                <a:ea typeface="Calibri" pitchFamily="34" charset="-122"/>
                <a:cs typeface="Calibri" pitchFamily="34" charset="-120"/>
              </a:rPr>
              <a:t>brianlite13@gmail.com  </a:t>
            </a:r>
            <a:r>
              <a:rPr lang="en-US" sz="1100" dirty="0">
                <a:solidFill>
                  <a:srgbClr val="475569"/>
                </a:solidFill>
                <a:latin typeface="Calibri" pitchFamily="34" charset="0"/>
                <a:ea typeface="Calibri" pitchFamily="34" charset="-122"/>
                <a:cs typeface="Calibri" pitchFamily="34" charset="-120"/>
              </a:rPr>
              <a:t>·  </a:t>
            </a:r>
            <a:r>
              <a:rPr lang="en-CA" sz="1100" b="1" dirty="0" err="1">
                <a:solidFill>
                  <a:schemeClr val="bg2">
                    <a:lumMod val="90000"/>
                  </a:schemeClr>
                </a:solidFill>
              </a:rPr>
              <a:t>splitwolf-brandpulse.hf.space</a:t>
            </a:r>
            <a:endParaRPr lang="en-US" sz="1100" dirty="0">
              <a:solidFill>
                <a:schemeClr val="bg2">
                  <a:lumMod val="90000"/>
                </a:schemeClr>
              </a:solidFill>
            </a:endParaRPr>
          </a:p>
          <a:p>
            <a:pPr marL="0" indent="0" algn="ctr">
              <a:buNone/>
            </a:pP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2930</Words>
  <Application>Microsoft Office PowerPoint</Application>
  <PresentationFormat>On-screen Show (16:9)</PresentationFormat>
  <Paragraphs>226</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Source Sans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INFO 7375 Final Exam - MentionMap Brand Portfolio</dc:subject>
  <dc:creator>Tanaka Brian Manyara</dc:creator>
  <cp:lastModifiedBy>Wolf</cp:lastModifiedBy>
  <cp:revision>5</cp:revision>
  <dcterms:created xsi:type="dcterms:W3CDTF">2026-08-14T22:49:50Z</dcterms:created>
  <dcterms:modified xsi:type="dcterms:W3CDTF">2026-08-14T23:14:32Z</dcterms:modified>
</cp:coreProperties>
</file>