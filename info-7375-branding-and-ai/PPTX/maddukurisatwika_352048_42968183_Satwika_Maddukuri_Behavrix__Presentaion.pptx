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2C6C5-9369-4601-BB60-7978632E10C1}" v="2" dt="2026-08-15T01:01:58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wika maddukuri" userId="a37f76beb61dc829" providerId="LiveId" clId="{EEF1116F-1F69-4F73-AF13-8022E4E673DD}"/>
    <pc:docChg chg="undo custSel modSld">
      <pc:chgData name="satwika maddukuri" userId="a37f76beb61dc829" providerId="LiveId" clId="{EEF1116F-1F69-4F73-AF13-8022E4E673DD}" dt="2026-08-15T01:01:58.193" v="44" actId="20577"/>
      <pc:docMkLst>
        <pc:docMk/>
      </pc:docMkLst>
      <pc:sldChg chg="modSp mod">
        <pc:chgData name="satwika maddukuri" userId="a37f76beb61dc829" providerId="LiveId" clId="{EEF1116F-1F69-4F73-AF13-8022E4E673DD}" dt="2026-08-15T01:01:58.193" v="44" actId="20577"/>
        <pc:sldMkLst>
          <pc:docMk/>
          <pc:sldMk cId="0" sldId="258"/>
        </pc:sldMkLst>
        <pc:spChg chg="mod">
          <ac:chgData name="satwika maddukuri" userId="a37f76beb61dc829" providerId="LiveId" clId="{EEF1116F-1F69-4F73-AF13-8022E4E673DD}" dt="2026-08-15T01:01:04.383" v="23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twika maddukuri" userId="a37f76beb61dc829" providerId="LiveId" clId="{EEF1116F-1F69-4F73-AF13-8022E4E673DD}" dt="2026-08-15T01:01:58.193" v="44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twika maddukuri" userId="a37f76beb61dc829" providerId="LiveId" clId="{EEF1116F-1F69-4F73-AF13-8022E4E673DD}" dt="2026-08-15T01:01:22.792" v="40" actId="20577"/>
          <ac:spMkLst>
            <pc:docMk/>
            <pc:sldMk cId="0" sldId="258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081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ehavrix.streamlit.app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ehavrix.streamlit.app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822960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1828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508760" y="2606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Risk Intelligence Platform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508760" y="3154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breaches are caused by people, not firewalls. We surface exactly who's at risk.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94960" y="3703320"/>
            <a:ext cx="1371600" cy="0"/>
          </a:xfrm>
          <a:prstGeom prst="line">
            <a:avLst/>
          </a:prstGeom>
          <a:noFill/>
          <a:ln w="254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0876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Satwika Maddukuri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42793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7375 — Branding with AI  •  Northeastern University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08760" y="5074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behavrix.framer.app  ·  </a:t>
            </a:r>
            <a:r>
              <a:rPr lang="en-US" sz="1200" dirty="0" err="1">
                <a:hlinkClick r:id="rId4"/>
              </a:rPr>
              <a:t>Behavrix</a:t>
            </a:r>
            <a:r>
              <a:rPr lang="en-US" sz="1200" dirty="0">
                <a:hlinkClick r:id="rId4"/>
              </a:rPr>
              <a:t> · </a:t>
            </a:r>
            <a:r>
              <a:rPr lang="en-US" sz="1200" dirty="0" err="1">
                <a:hlinkClick r:id="rId4"/>
              </a:rPr>
              <a:t>Streamlit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06587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89674" y="18059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$9.5 Trillion Blind Spot.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42942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85800" y="3977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breaches caused by human behavior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37560" y="30632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42942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37560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$9.5T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474720" y="3977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global cybercrime cost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30632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42942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0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263640" y="3977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consulting engagement cost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15400" y="30632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42942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915400" y="3246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wks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9052560" y="3977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one vendor risk assessment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983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4983480"/>
            <a:ext cx="73152" cy="777240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49834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“Six weeks and $25,000 later, you get a report. The human risk stayed invisible the entire time you waited..”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692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People Who Need an Answer, Not a Compliance Artifact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881360" y="2560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finalexam/deck/icons/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061" y="376733"/>
            <a:ext cx="261518" cy="2615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633472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2633472"/>
            <a:ext cx="5257800" cy="73152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68680" y="28620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Priya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3227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Analyst · Primary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35021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financial institution, no dedicated research team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4005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68680" y="42336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include human behavioral risk findings in a vendor report without adding days to her timeline.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68680" y="496519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can show this to a CISO and they immediately know where to focus.”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2633472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80760" y="2633472"/>
            <a:ext cx="5257800" cy="7315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00800" y="28620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Harry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400800" y="3227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· Secondary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00800" y="35021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regulated organization, reports to the board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00800" y="4005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400800" y="42336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communicate human risk exposure to the board in plain English, without translating it himself.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0" y="496519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“Transparency around how the score is calculated would significantly improve credibility.”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Teach AI to Think Like an Attacker.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0881360" cy="548640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organization type  →  AI analyzes 270 records  →  Human Risk Report in 90 seconds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Clicker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3749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for urgency and fear-based phishing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5029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T1566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37560" y="28346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C97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Recycler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74720" y="3749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credentials across systems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74720" y="5029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T1078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26480" y="28346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IT User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63640" y="3749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around approved tools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63640" y="5029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T1072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915400" y="28346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05256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Over-Trusted Insider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052560" y="37490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trust based on social pressure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052560" y="5029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MITRE T1134</a:t>
            </a:r>
            <a:endParaRPr lang="en-US" sz="9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C4C6201-45CA-123F-27D8-64201ABF8B6B}"/>
              </a:ext>
            </a:extLst>
          </p:cNvPr>
          <p:cNvSpPr/>
          <p:nvPr/>
        </p:nvSpPr>
        <p:spPr>
          <a:xfrm>
            <a:off x="548640" y="57607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3AD934AD-8AB6-990B-2C85-F8022B1243EA}"/>
              </a:ext>
            </a:extLst>
          </p:cNvPr>
          <p:cNvSpPr/>
          <p:nvPr/>
        </p:nvSpPr>
        <p:spPr>
          <a:xfrm>
            <a:off x="548640" y="5760720"/>
            <a:ext cx="73152" cy="7772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85A4450-771D-9D40-4462-255C6ACDE52A}"/>
              </a:ext>
            </a:extLst>
          </p:cNvPr>
          <p:cNvSpPr/>
          <p:nvPr/>
        </p:nvSpPr>
        <p:spPr>
          <a:xfrm>
            <a:off x="914400" y="57607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“Behavrix helps security analysts at regulated organizations identify which human behavior patterns make their teams most vulnerable — so they can run data-backed tabletop exercises and communicate human risk to leadership without waiting weeks or paying thousands for a consultant.”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Won't Compromise On.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2121408" cy="2926080"/>
          </a:xfrm>
          <a:prstGeom prst="roundRect">
            <a:avLst>
              <a:gd name="adj" fmla="val 2586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2121408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88036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31520" y="36118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shows its reasoning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88920" y="2286000"/>
            <a:ext cx="2121408" cy="2926080"/>
          </a:xfrm>
          <a:prstGeom prst="roundRect">
            <a:avLst>
              <a:gd name="adj" fmla="val 2586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88920" y="2286000"/>
            <a:ext cx="2121408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71800" y="24688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71800" y="288036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971800" y="36118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intelligence, no enterprise contract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0" y="2286000"/>
            <a:ext cx="2121408" cy="2926080"/>
          </a:xfrm>
          <a:prstGeom prst="roundRect">
            <a:avLst>
              <a:gd name="adj" fmla="val 2586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0" y="2286000"/>
            <a:ext cx="2121408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12080" y="24688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12080" y="288036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212080" y="36118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framing, not false confidence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69480" y="2286000"/>
            <a:ext cx="2121408" cy="2926080"/>
          </a:xfrm>
          <a:prstGeom prst="roundRect">
            <a:avLst>
              <a:gd name="adj" fmla="val 2586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69480" y="2286000"/>
            <a:ext cx="2121408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52360" y="24688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52360" y="288036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Human-Centered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452360" y="36118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how people behave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509760" y="2286000"/>
            <a:ext cx="2121408" cy="2926080"/>
          </a:xfrm>
          <a:prstGeom prst="roundRect">
            <a:avLst>
              <a:gd name="adj" fmla="val 2586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509760" y="2286000"/>
            <a:ext cx="2121408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692640" y="24688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692640" y="288036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9692640" y="36118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traces to real data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brand touchpoint — the tool, the site, the article — gets checked against these five before it ships.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16308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Measures Controls. Nobody Measures Humans.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017520" cy="457200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66160" y="2560320"/>
            <a:ext cx="1965960" cy="457200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6616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32120" y="2560320"/>
            <a:ext cx="1965960" cy="457200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3212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KnowBe4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2560320"/>
            <a:ext cx="1965960" cy="457200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9808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464040" y="2560320"/>
            <a:ext cx="1965960" cy="457200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46404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Drata/Sprinto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17520"/>
            <a:ext cx="301752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archetypes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566160" y="3017520"/>
            <a:ext cx="1965960" cy="502920"/>
          </a:xfrm>
          <a:prstGeom prst="rect">
            <a:avLst/>
          </a:prstGeom>
          <a:solidFill>
            <a:srgbClr val="1A3A2E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566160" y="3017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4 personas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32120" y="301752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32120" y="3017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498080" y="301752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98080" y="3017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464040" y="301752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464040" y="3017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3520440"/>
            <a:ext cx="301752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8640" y="3520440"/>
            <a:ext cx="30175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Data-attributed scoring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566160" y="3520440"/>
            <a:ext cx="1965960" cy="502920"/>
          </a:xfrm>
          <a:prstGeom prst="rect">
            <a:avLst/>
          </a:prstGeom>
          <a:solidFill>
            <a:srgbClr val="1A3A2E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566160" y="3520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532120" y="352044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532120" y="3520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498080" y="352044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498080" y="3520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464040" y="352044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464040" y="3520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4023360"/>
            <a:ext cx="301752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4864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report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566160" y="4023360"/>
            <a:ext cx="1965960" cy="502920"/>
          </a:xfrm>
          <a:prstGeom prst="rect">
            <a:avLst/>
          </a:prstGeom>
          <a:solidFill>
            <a:srgbClr val="1A3A2E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566160" y="4023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sec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532120" y="402336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532120" y="4023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498080" y="402336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498080" y="4023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464040" y="402336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9464040" y="4023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548640" y="4526280"/>
            <a:ext cx="301752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48640" y="4526280"/>
            <a:ext cx="30175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report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566160" y="4526280"/>
            <a:ext cx="1965960" cy="502920"/>
          </a:xfrm>
          <a:prstGeom prst="rect">
            <a:avLst/>
          </a:prstGeom>
          <a:solidFill>
            <a:srgbClr val="1A3A2E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566160" y="4526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5532120" y="452628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532120" y="4526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$2.79–3.75/user/mo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7498080" y="452628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498080" y="4526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9464040" y="452628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9464040" y="4526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548640" y="5029200"/>
            <a:ext cx="301752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48640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required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3566160" y="5029200"/>
            <a:ext cx="1965960" cy="502920"/>
          </a:xfrm>
          <a:prstGeom prst="rect">
            <a:avLst/>
          </a:prstGeom>
          <a:solidFill>
            <a:srgbClr val="1A3A2E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566160" y="5029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5532120" y="502920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532120" y="5029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25-seat min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7498080" y="502920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498080" y="5029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9464040" y="5029200"/>
            <a:ext cx="1965960" cy="502920"/>
          </a:xfrm>
          <a:prstGeom prst="rect">
            <a:avLst/>
          </a:prstGeom>
          <a:solidFill>
            <a:srgbClr val="142942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9464040" y="5029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548640" y="5532120"/>
            <a:ext cx="301752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548640" y="5532120"/>
            <a:ext cx="3017520" cy="5029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mapped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3566160" y="5532120"/>
            <a:ext cx="1965960" cy="502920"/>
          </a:xfrm>
          <a:prstGeom prst="rect">
            <a:avLst/>
          </a:prstGeom>
          <a:solidFill>
            <a:srgbClr val="1A3A2E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3566160" y="5532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5532120" y="553212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5532120" y="5532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7498080" y="553212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7498080" y="5532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9464040" y="5532120"/>
            <a:ext cx="1965960" cy="502920"/>
          </a:xfrm>
          <a:prstGeom prst="rect">
            <a:avLst/>
          </a:prstGeom>
          <a:solidFill>
            <a:srgbClr val="0D1F35"/>
          </a:solidFill>
          <a:ln w="6350">
            <a:solidFill>
              <a:srgbClr val="1F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9464040" y="5532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 Nobody Else Occupies.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212080" cy="3566160"/>
          </a:xfrm>
          <a:prstGeom prst="roundRect">
            <a:avLst>
              <a:gd name="adj" fmla="val 1429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THEY ALL SHARE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743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KnowBe4 trains on phishing — never generates a vendor risk report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3703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Prevalent scores questionnaires — a vendor can score 95/100 while employing 500 password recyclers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46634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Drata/Sprinto automate compliance evidence — never touch behavioral risk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2103120"/>
            <a:ext cx="5212080" cy="3566160"/>
          </a:xfrm>
          <a:prstGeom prst="roundRect">
            <a:avLst>
              <a:gd name="adj" fmla="val 1429"/>
            </a:avLst>
          </a:prstGeom>
          <a:solidFill>
            <a:srgbClr val="1235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0936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UNFAIR ADVANTAGE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27432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2743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archetypes, not compliance checkboxes — 4 personas mapped to MITRE ATT&amp;CK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09360" y="37033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75120" y="37033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Data-attributed scoring — shows exactly which pattern drove the risk score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6634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75120" y="46634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 per report, 90 seconds, zero contract — structurally impossible for enterprise GRC pricing to match</a:t>
            </a:r>
            <a:endParaRPr lang="en-US" sz="11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33096B6-D357-3F0E-2343-BE2A8426A071}"/>
              </a:ext>
            </a:extLst>
          </p:cNvPr>
          <p:cNvSpPr/>
          <p:nvPr/>
        </p:nvSpPr>
        <p:spPr>
          <a:xfrm>
            <a:off x="548640" y="5867046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5A4E0BC-5859-A952-737F-0D28BD235D84}"/>
              </a:ext>
            </a:extLst>
          </p:cNvPr>
          <p:cNvSpPr/>
          <p:nvPr/>
        </p:nvSpPr>
        <p:spPr>
          <a:xfrm>
            <a:off x="548640" y="5867046"/>
            <a:ext cx="73152" cy="685800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B51C86B-7F4B-F136-7F5B-7D16D7EE3205}"/>
              </a:ext>
            </a:extLst>
          </p:cNvPr>
          <p:cNvSpPr/>
          <p:nvPr/>
        </p:nvSpPr>
        <p:spPr>
          <a:xfrm>
            <a:off x="868680" y="5867046"/>
            <a:ext cx="1037844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“Behavrix is the only security intelligence tool that models human vulnerability as behavioral archetypes — using data-attributed scoring that shows analysts exactly what pattern drove the risk score, without a per-seat subscription, enterprise contract, or implementation timeline.”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System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881360" y="2560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finalexam/deck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061" y="376733"/>
            <a:ext cx="261518" cy="2615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103120"/>
            <a:ext cx="23774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finalexam/identity/logo_mark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2514600"/>
            <a:ext cx="640080" cy="85039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063240" y="2103120"/>
            <a:ext cx="2377440" cy="1920240"/>
          </a:xfrm>
          <a:prstGeom prst="roundRect">
            <a:avLst>
              <a:gd name="adj" fmla="val 2857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514600"/>
            <a:ext cx="640080" cy="8503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41605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Mark  ·  Reversed Variation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5760720" y="210312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0D1F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585216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852160" y="2514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#0D1F35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7635240" y="210312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72668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726680" y="2514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#1D9E75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9509760" y="210312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96012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601200" y="25146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#378ADD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760720" y="306324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85216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852160" y="3474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#EAF4FB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635240" y="306324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72668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Teal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726680" y="3474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#E1F5EE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509760" y="306324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960120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9601200" y="34747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#FAEEDA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45720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22960" y="48006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Plex Sans </a:t>
            </a:r>
            <a:r>
              <a:rPr lang="en-US" sz="12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headings, risk scores   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</a:t>
            </a:r>
            <a:r>
              <a:rPr lang="en-US" sz="12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text, labels   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Plex Mono </a:t>
            </a:r>
            <a:r>
              <a:rPr lang="en-US" sz="12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codes, data values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822960" y="53035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shields or padlocks. Amber reserved for medium risk only. Always specific numbers, never vague claims.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A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VISUAL IDENTITY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One Palette. Every Surface.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212080" cy="4251960"/>
          </a:xfrm>
          <a:prstGeom prst="roundRect">
            <a:avLst>
              <a:gd name="adj" fmla="val 1290"/>
            </a:avLst>
          </a:prstGeom>
          <a:solidFill>
            <a:srgbClr val="14294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6B7A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IBM Plex Sans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78AD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— Headings &amp; Interface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" y="34930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CA8B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Aa Bb Cc 0123456789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22960" y="3977640"/>
            <a:ext cx="4663440" cy="0"/>
          </a:xfrm>
          <a:prstGeom prst="line">
            <a:avLst/>
          </a:prstGeom>
          <a:noFill/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4114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Plex Mono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" y="4617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— Data, Codes &amp; Scores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2960" y="49103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A8B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T1566   90 sec   $0.002   82/100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5623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A9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H1 32pt Bold  •  H2 20pt  •  Body 13pt  •  Data 12pt Mono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35040" y="3000334"/>
            <a:ext cx="5212080" cy="2640411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1" descr="/home/claude/finalexam/deck14/app_screenshot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091774"/>
            <a:ext cx="5029200" cy="245753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35040" y="573218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78AD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Live report — Financial Institution, 88/100 Critical Risk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Live. Already Public.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881360" y="2560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finalexam/deck/icons/mega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061" y="376733"/>
            <a:ext cx="261518" cy="2615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1031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000" dirty="0"/>
          </a:p>
        </p:txBody>
      </p:sp>
      <p:pic>
        <p:nvPicPr>
          <p:cNvPr id="11" name="Image 2" descr="/mnt/user-data/uploads/Screenshot_2026-07-31_1925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2606040"/>
            <a:ext cx="2354580" cy="1554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42976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immediate, stat-first — built for a scroll, not a read.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206240" y="21031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43484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</a:t>
            </a:r>
            <a:endParaRPr lang="en-US" sz="1000" dirty="0"/>
          </a:p>
        </p:txBody>
      </p:sp>
      <p:pic>
        <p:nvPicPr>
          <p:cNvPr id="15" name="Image 3" descr="/mnt/user-data/uploads/1786128803251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2606040"/>
            <a:ext cx="2971800" cy="11162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34840" y="42976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Long-form credibility — the origin story and the framework, owned not borrowed.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7863840" y="21031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809244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 POST</a:t>
            </a:r>
            <a:endParaRPr lang="en-US" sz="1000" dirty="0"/>
          </a:p>
        </p:txBody>
      </p:sp>
      <p:pic>
        <p:nvPicPr>
          <p:cNvPr id="19" name="Image 4" descr="/home/claude/finalexam/deck/substack_post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2606040"/>
            <a:ext cx="2971800" cy="7429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92440" y="42976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Aug 7 — the framework article, live and public.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Story — Voyage and Return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0881360" y="25603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finalexam/deck/icons/discus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061" y="376733"/>
            <a:ext cx="261518" cy="2615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19456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42942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306324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and a half into my MS in Information Systems, I took a cybersecurity co-op in Braintree.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91840" y="219456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42942"/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520440" y="2423160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5204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2044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20440" y="306324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in Tenable, Splunk, Defender — taught me security is really about people: who ignores a ticket, who reuses a password.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35040" y="219456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42942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63640" y="2423160"/>
            <a:ext cx="502920" cy="502920"/>
          </a:xfrm>
          <a:prstGeom prst="ellipse">
            <a:avLst/>
          </a:prstGeom>
          <a:solidFill>
            <a:srgbClr val="C97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263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26364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263640" y="306324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the one thing everyone was talking about. Could it measure the human risk every other tool skipped?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778240" y="219456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42942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9006840" y="242316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90068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900684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9006840" y="306324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question became Behavrix — 270 real records, a Human Risk Score, in 90 seconds.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48640" y="5943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Voyage and Return — departure into the unfamiliar, trials faced, return transformed.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STORYTELLING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the Pattern Is Visible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212080" cy="3931920"/>
          </a:xfrm>
          <a:prstGeom prst="roundRect">
            <a:avLst>
              <a:gd name="adj" fmla="val 1395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BEHAVRIX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vendor questionnaire scores 95/100 while employing 500 password recyclers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analyst's only options: $25,000 and six weeks, or a checklist that says nothing useful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4892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D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CISO gets a risk score with no explanation — nothing to defend to the board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35040" y="2103120"/>
            <a:ext cx="5212080" cy="3931920"/>
          </a:xfrm>
          <a:prstGeom prst="roundRect">
            <a:avLst>
              <a:gd name="adj" fmla="val 1395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0936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BEHAVRIX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09360" y="2788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Risk Score shows exactly which behavioral pattern drove it — defensible, not just a number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309360" y="3840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report in 90 seconds for $0.002 — no contract, no consultant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09360" y="4892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CISO walks into the board meeting with personas, MITRE mapping, and a number they can explain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329184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926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MADISON AI TOOL — LIVE DEMO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$25,000 and Six Weeks Get Replaced By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10881360" cy="594360"/>
          </a:xfrm>
          <a:prstGeom prst="roundRect">
            <a:avLst>
              <a:gd name="adj" fmla="val 49231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 DEMO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60320" y="20116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hlinkClick r:id="rId4"/>
              </a:rPr>
              <a:t>Streamlit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3502152" cy="1737360"/>
          </a:xfrm>
          <a:prstGeom prst="roundRect">
            <a:avLst>
              <a:gd name="adj" fmla="val 3158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3502152" cy="73152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3840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 organization type from 10 options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33672" y="2880360"/>
            <a:ext cx="3502152" cy="1737360"/>
          </a:xfrm>
          <a:prstGeom prst="roundRect">
            <a:avLst>
              <a:gd name="adj" fmla="val 3158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33672" y="2880360"/>
            <a:ext cx="3502152" cy="73152"/>
          </a:xfrm>
          <a:prstGeom prst="rect">
            <a:avLst/>
          </a:prstGeom>
          <a:solidFill>
            <a:srgbClr val="C97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62272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7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62272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62272" y="3840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270 real records in ~90 seconds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18704" y="2880360"/>
            <a:ext cx="3502152" cy="1737360"/>
          </a:xfrm>
          <a:prstGeom prst="roundRect">
            <a:avLst>
              <a:gd name="adj" fmla="val 3158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918704" y="2880360"/>
            <a:ext cx="3502152" cy="7315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47304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147304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147304" y="3840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score, personas, MITRE mapping, ready to present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892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548640" y="5440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analyzed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291840" y="4892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sec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3291840" y="5440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report time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035040" y="4892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035040" y="5440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run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778240" y="4892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8778240" y="5440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 test sessions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nalexam/identity/logo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594360"/>
            <a:ext cx="54864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1508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Risk Gap Is Real.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508760" y="2194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risk gap is real. The product is live.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737360" y="2834640"/>
            <a:ext cx="8686800" cy="1005840"/>
          </a:xfrm>
          <a:prstGeom prst="roundRect">
            <a:avLst>
              <a:gd name="adj" fmla="val 5455"/>
            </a:avLst>
          </a:prstGeom>
          <a:solidFill>
            <a:srgbClr val="142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737360" y="2971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$150,000 seed · 15% equity · Advisory board seat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37360" y="3337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days: 10 paying customers   ·   12 months: $25K MRR   ·   18 months: Enterprise API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737360" y="4297680"/>
            <a:ext cx="2788920" cy="18288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37360" y="4434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37360" y="47091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behavrix.framer.app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4297680"/>
            <a:ext cx="2788920" cy="18288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63440" y="4434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TOOL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63440" y="47091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...streamlit.app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89520" y="4297680"/>
            <a:ext cx="2788920" cy="18288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89520" y="4434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89520" y="47091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behavrix.substack.com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508760" y="5577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you in?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1219</Words>
  <Application>Microsoft Office PowerPoint</Application>
  <PresentationFormat>Widescreen</PresentationFormat>
  <Paragraphs>250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satwika maddukuri</cp:lastModifiedBy>
  <cp:revision>5</cp:revision>
  <dcterms:created xsi:type="dcterms:W3CDTF">2026-08-14T02:41:54Z</dcterms:created>
  <dcterms:modified xsi:type="dcterms:W3CDTF">2026-08-15T01:02:05Z</dcterms:modified>
</cp:coreProperties>
</file>