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091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(0:00 - 0:45). 45 seconds only.
Say: 'Good morning. I'm Vaibhav Singh. I ship developer tools engineers actually adopt.'
PAUSE 1 beat.
'That's the positioning I've been building all semester. Today I'll walk you through the strategy, the visual system, the story that started it, and the tool I'm building to prove it.'
'This is Path A. Personal brand. Fifteen minutes.'
ADVANCE. Do not linger.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(0:45 - 1:45). 60 seconds.
SAY: 'Let me tell you about a problem I have myself.'
Walk through the stats quickly. Don't read every one. Group them:
'I shipped Random Word to learn Python packaging. 3.9 million downloads. I ship the Nightwatch reporter at BrowserStack. 63k weekly. These packages get 300+ mentions per week across GitHub, Reddit, HN, and Stack Overflow.'
Then land the dark card: 'And zero dashboards tell me which 5 to act on.'
END with the pull-quote: 'Maintainers can SEE their mentions. But they can't tell what to DO with them.'
ADVANCE.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(1:45 - 3:00). 75 seconds.
SAY: 'The audience is three concentric rings.'
Walk through each. Ring 1: 'Senior engineering hiring managers at dev-tools companies. Vercel, Linear, Anthropic. The kind of place where the person reading my resume has themselves shipped a package with adoption.'
Ring 2: 'Recruiters at those same companies. Six-second scan.'
Ring 3: 'Startup CTOs. Whiteboard-to-production, no hand-off.'
LAND (point to the callout): 'All three ask the same question. Has this person shipped something people actually use? Everything I've built answers that question in six seconds.'
ADVANCE.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PERSONAS (3:00 - 4:30). 90 seconds.
SAY: 'Two personas. Both real. Both were me, eight months ago.'
MAYA: 'Maya is a solo maintainer with a full-time job. Ships an OSS library with real adoption. Codes during the week. Tries to maintain on weekends. 40 GitHub notifications a day, no idea which matter. Opens 12, actions 2, closes tab feeling behind.'
'What Maya wants: 5 signals worth stopping her weekend for. Ranked. Explained.'
ALEX: 'Alex is on a 3-person team maintaining a testing framework. One person does community. They're always behind. Adoption signals get lost in the noise.'
'What Alex wants: a weekly queue. Three signals this week. Not three hundred.'
LAND: 'The maintainer's inbox is not a coverage problem. It's a triage problem.'
ADVANCE.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(4:30 - 5:30). 60 seconds.
SAY: 'Why me?'
Walk each card, don't read the labels. Just the story:
'Random Word is on npm. I built it in 2020 to learn how to package a Python library. 3.9 million downloads. Still growing.'
'The Nightwatch reporter I revamped at BrowserStack. Currently downloaded 63,000 times a week. Live in production for thousands of teams.'
'The Kubernetes migration I ran at BrowserStack in 2024. 500 thousand users. Zero downtime cutover.'
LAND: 'These aren't claims. They're numbers you can verify without taking my word for it.'
ADVANCE.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OLEMBIC FRAMEWORK (5:30 - 7:00). 90 seconds.
SAY: 'This is the 4-Signal Framework. It's how Olembic classifies every mention it ingests.'
Walk each card, briefly:
'SIGNAL. Act now. Reproducible bug from a real user. These are early warnings of churn.'
'SILENCE. Ignore. Retweets, drive-by stars. These don't predict anything.'
'SURFACE. Consider. Repeated questions that hint at a documentation gap.'
'SUBSCRIBE. Watch. When an adjacent tool cites you, that's an ecosystem shift.'
LAND: 'Every classification comes with a source-weighted confidence score. Prescriptive, not descriptive. That's the entire product.'
ADVANCE.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(7:00 - 8:00). 60 seconds.
SAY: 'Here's the landscape. Four tools. Same factor grid.'
Point to the header row. 'GitHub Insights. Mention.com. Sprout Social. And Olembic.'
Walk down the rows briefly. Don't read every cell:
'Every existing tool takes hours. Every one gives you a feed or a chart. None weight sources by what matters for YOUR project. None are domain-aware for developer tools. And none carry confidence scores.'
LAND: 'Positioning: prescriptive where competitors are descriptive.'
ADVANCE.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(8:00 - 9:00). 60 seconds.
SAY: 'Same landscape, plotted on two axes.'
'X-axis: coverage on the left, triage on the right.'
'Y-axis: generic tools at the bottom, developer-native at the top.'
Point: 'Sprout Social and Mention.com sit in the lower-left. Generic tools, coverage-first.'
'GitHub Insights is lower-right. Developer-native but still coverage. Charts, not answers.'
'Meltwater and other enterprise brand tools are upper-left. Some triage, but still generic.'
'And the upper-right? Empty. That's the corner Olembic lives in. Developer-native, triage-first. Nobody else is there.'
LAND: 'The tools worth building answer one question. What should I stop what I'm doing for?'
ADVANCE.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IDENTITY (9:00 - 10:00). 60 seconds.
SAY: 'This is Signal and Static. The design system that runs everything.'
PALETTE: 'Two neutrals do 90 percent of the work. Ink for text and dark surfaces. Paper for backgrounds. Then vermillion. Named for the historical red pigment scribes used in medieval manuscripts to mark corrections. The signal color. One vermillion element per screen. That's the rule.'
TYPE: 'Three typefaces, three jobs. Fraunces for the ideas. Inter for the work. JetBrains Mono for anything that came out of a terminal.'
LAND: 'A serif for the idea. A sans for the work. Monospace for the code.'
ADVANCE.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SURFACES (10:00 - 10:45). 45 seconds.
SAY: 'Same design system, three surfaces. Watch what each one does.'
'The website announces a positioning claim. I build developer tools engineers actually adopt.'
'The LinkedIn banner announces a person. Senior software engineer, developer tools.'
'The Substack header announces a body of work. Signal from Noise, essays on shipping tools.'
'Same palette. Same typefaces. Same mark. Different jobs. That's cohesion.'
ADVANCE.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 (10:45 - 11:30). 45 seconds.
SAY: 'Same voice, across every channel.'
Point to each column: 'Primary: LinkedIn, hiring signals. Secondary: Substack, thought leadership. Tertiary: GitHub, build-in-public.'
'Read all three excerpts side by side. Notice: same declarative rhythm. Periods, not exclamation marks. No adjectives when the numbers do the work. That's what voice-as-brand looks like.'
LAND: 'Voice is the brand. Everything else is decoration.'
ADVANCE.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(11:30 - 13:00). 90 seconds. Slow down.
SAY: 'The story behind Olembic. Overcoming the Monster.'
PAUSE.
BEAT 1: 'Random Word hit 3.9 million downloads. Weekend project. Suddenly 300 mentions a week and one person triaging. Me. On weekends.'
BEAT 2: 'I kept a private log. Three kinds of signals mattered, almost always. Reproducible bugs from real users. Adjacent tools citing me. Repeated docs-gap questions.'
BEAT 3 (this is the pivot, do NOT rush): 'Once I saw the pattern, I couldn't unsee it. Every mention-tracking tool optimizes for coverage. Maintainers need triage. It's not a feature gap. It's a category error.'
BEAT 4: 'I started Olembic that week. Bandit-weighted source scoring. RAG over public developer chatter. Prototype, not shipped. Working on my machine.'
LAND: 'Story to values. Measured. Shipped. Depth. Open. Honest.'
ADVANCE.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BEFORE/AFTER (13:00 - 13:45). 45 seconds.
SAY: 'What changes when you flip the frame. Maya's Sunday, both ways.'
Point to BEFORE briefly: '40 GitHub notifications, no idea which to open first, three hours, closes tab feeling behind. Every solo maintainer's weekend.'
Then AFTER: '5 signals triaged. Reproducible bug is SIGNAL. Retweet is SILENCE. Answers three, done in twenty minutes. Feels caught up.'
LAND: 'Three hours to twenty minutes. From coverage to triage.'
ADVANCE.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TRANSITION (13:45 - now moving into browser). This is the SIGNPOST slide.
SAY: 'The system, in action. Three surfaces. Two minutes each.'
'01 Website. The brand, shipped.'
'02 Olembic. The prototype, running.'
'03 Substack. The argument, published.'
'Let me show you.'
Then IMMEDIATELY switch to the browser. Do not linger on this slide.
IN THE BROWSER (roughly 3 minutes total):
WEBSITE (~1 min):
- Point out ink/paper/vermillion applied through hero
- Scroll to metrics: 'Adoption numbers above the fold'
- Scroll to featured work
- Scroll to 'Now' section: 'Deliberate contrast beat'
- Scroll to writing, footer: 'Substack link, availability badge'
OLEMBIC (~90 sec):
- 'Prototype. Not shipped. Honest state.'
- Show the pipeline running against a real package
- Point out source weighting: 'HN comment vs Rails release note, different weights, per-project learned'
- Show the top-5 output: 'Five signals, not three hundred'
- Explain methodology: 'RAG plus bandit-weighted source scoring'
SUBSTACK (~30 sec):
- Show the article headline
- Point out the byline mentions Olembic honestly
IF ANY BREAKS: Switch to backup tab. Keep talking. Never apologize.
Return to slide 15 for the close.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(14:30 - 15:00). 30 seconds. Slow down.
Return to slide 15 from the browser.
SAY: 'Every hiring manager asks the same question when they see this work. Why did you build this?'
PAUSE.
'The story answered why. I got tired of my own excuse.'
'The strategy answered for whom. Solo maintainers with real users and no time.'
'The demo answered how. Triage-first architecture, source-weighted learning.'
BEAT.
'If all three connect, the question answers itself.'
PAUSE.
'Thank you. I'm happy to take questions.'
END. Do not go past 15:00.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F</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FINAL EXAM. PATH A</a:t>
            </a:r>
            <a:endParaRPr lang="en-US" sz="1000" dirty="0"/>
          </a:p>
        </p:txBody>
      </p:sp>
      <p:sp>
        <p:nvSpPr>
          <p:cNvPr id="5" name="Shape 3"/>
          <p:cNvSpPr/>
          <p:nvPr/>
        </p:nvSpPr>
        <p:spPr>
          <a:xfrm>
            <a:off x="11018520" y="502920"/>
            <a:ext cx="777240" cy="118872"/>
          </a:xfrm>
          <a:prstGeom prst="rect">
            <a:avLst/>
          </a:prstGeom>
          <a:solidFill>
            <a:srgbClr val="0F0F14"/>
          </a:solidFill>
          <a:ln/>
        </p:spPr>
        <p:txBody>
          <a:bodyPr/>
          <a:lstStyle/>
          <a:p>
            <a:endParaRPr lang="en-US"/>
          </a:p>
        </p:txBody>
      </p:sp>
      <p:sp>
        <p:nvSpPr>
          <p:cNvPr id="6" name="Shape 4"/>
          <p:cNvSpPr/>
          <p:nvPr/>
        </p:nvSpPr>
        <p:spPr>
          <a:xfrm>
            <a:off x="11155680" y="685800"/>
            <a:ext cx="502920" cy="118872"/>
          </a:xfrm>
          <a:prstGeom prst="rect">
            <a:avLst/>
          </a:prstGeom>
          <a:solidFill>
            <a:srgbClr val="0F0F14"/>
          </a:solidFill>
          <a:ln/>
        </p:spPr>
        <p:txBody>
          <a:bodyPr/>
          <a:lstStyle/>
          <a:p>
            <a:endParaRPr lang="en-US"/>
          </a:p>
        </p:txBody>
      </p:sp>
      <p:sp>
        <p:nvSpPr>
          <p:cNvPr id="7" name="Shape 5"/>
          <p:cNvSpPr/>
          <p:nvPr/>
        </p:nvSpPr>
        <p:spPr>
          <a:xfrm>
            <a:off x="11265408" y="868680"/>
            <a:ext cx="283464" cy="118872"/>
          </a:xfrm>
          <a:prstGeom prst="rect">
            <a:avLst/>
          </a:prstGeom>
          <a:solidFill>
            <a:srgbClr val="E63946"/>
          </a:solidFill>
          <a:ln/>
        </p:spPr>
        <p:txBody>
          <a:bodyPr/>
          <a:lstStyle/>
          <a:p>
            <a:endParaRPr lang="en-US"/>
          </a:p>
        </p:txBody>
      </p:sp>
      <p:sp>
        <p:nvSpPr>
          <p:cNvPr id="8" name="Shape 6"/>
          <p:cNvSpPr/>
          <p:nvPr/>
        </p:nvSpPr>
        <p:spPr>
          <a:xfrm>
            <a:off x="11333988" y="1051560"/>
            <a:ext cx="146304" cy="146304"/>
          </a:xfrm>
          <a:prstGeom prst="ellipse">
            <a:avLst/>
          </a:prstGeom>
          <a:solidFill>
            <a:srgbClr val="E63946"/>
          </a:solidFill>
          <a:ln/>
        </p:spPr>
        <p:txBody>
          <a:bodyPr/>
          <a:lstStyle/>
          <a:p>
            <a:endParaRPr lang="en-US"/>
          </a:p>
        </p:txBody>
      </p:sp>
      <p:sp>
        <p:nvSpPr>
          <p:cNvPr id="9" name="Text 7"/>
          <p:cNvSpPr/>
          <p:nvPr/>
        </p:nvSpPr>
        <p:spPr>
          <a:xfrm>
            <a:off x="502920" y="1920240"/>
            <a:ext cx="10972800" cy="1463040"/>
          </a:xfrm>
          <a:prstGeom prst="rect">
            <a:avLst/>
          </a:prstGeom>
          <a:noFill/>
          <a:ln/>
        </p:spPr>
        <p:txBody>
          <a:bodyPr wrap="square" lIns="0" tIns="0" rIns="0" bIns="0" rtlCol="0" anchor="ctr"/>
          <a:lstStyle/>
          <a:p>
            <a:pPr marL="0" indent="0">
              <a:buNone/>
            </a:pPr>
            <a:r>
              <a:rPr lang="en-US" sz="9600" b="1" kern="0" spc="-300" dirty="0">
                <a:solidFill>
                  <a:srgbClr val="0F0F14"/>
                </a:solidFill>
                <a:latin typeface="Cambria" pitchFamily="34" charset="0"/>
                <a:ea typeface="Cambria" pitchFamily="34" charset="-122"/>
                <a:cs typeface="Cambria" pitchFamily="34" charset="-120"/>
              </a:rPr>
              <a:t>vaibhav</a:t>
            </a:r>
            <a:r>
              <a:rPr lang="en-US" sz="9600" b="1" kern="0" spc="-300" dirty="0">
                <a:solidFill>
                  <a:srgbClr val="E63946"/>
                </a:solidFill>
                <a:latin typeface="Cambria" pitchFamily="34" charset="0"/>
                <a:ea typeface="Cambria" pitchFamily="34" charset="-122"/>
                <a:cs typeface="Cambria" pitchFamily="34" charset="-120"/>
              </a:rPr>
              <a:t>.</a:t>
            </a:r>
            <a:endParaRPr lang="en-US" sz="9600" dirty="0"/>
          </a:p>
        </p:txBody>
      </p:sp>
      <p:sp>
        <p:nvSpPr>
          <p:cNvPr id="10" name="Text 8"/>
          <p:cNvSpPr/>
          <p:nvPr/>
        </p:nvSpPr>
        <p:spPr>
          <a:xfrm>
            <a:off x="502920" y="3337560"/>
            <a:ext cx="10972800" cy="731520"/>
          </a:xfrm>
          <a:prstGeom prst="rect">
            <a:avLst/>
          </a:prstGeom>
          <a:noFill/>
          <a:ln/>
        </p:spPr>
        <p:txBody>
          <a:bodyPr wrap="square" lIns="0" tIns="0" rIns="0" bIns="0" rtlCol="0" anchor="ctr"/>
          <a:lstStyle/>
          <a:p>
            <a:pPr marL="0" indent="0">
              <a:buNone/>
            </a:pPr>
            <a:r>
              <a:rPr lang="en-US" sz="3200" i="1" kern="0" spc="-50" dirty="0">
                <a:solidFill>
                  <a:srgbClr val="C42B37"/>
                </a:solidFill>
                <a:latin typeface="Cambria" pitchFamily="34" charset="0"/>
                <a:ea typeface="Cambria" pitchFamily="34" charset="-122"/>
                <a:cs typeface="Cambria" pitchFamily="34" charset="-120"/>
              </a:rPr>
              <a:t>I ship developer tools engineers actually adopt.</a:t>
            </a:r>
            <a:endParaRPr lang="en-US" sz="3200" dirty="0"/>
          </a:p>
        </p:txBody>
      </p:sp>
      <p:sp>
        <p:nvSpPr>
          <p:cNvPr id="11" name="Shape 9"/>
          <p:cNvSpPr/>
          <p:nvPr/>
        </p:nvSpPr>
        <p:spPr>
          <a:xfrm>
            <a:off x="502920" y="4206240"/>
            <a:ext cx="11155680" cy="0"/>
          </a:xfrm>
          <a:prstGeom prst="line">
            <a:avLst/>
          </a:prstGeom>
          <a:noFill/>
          <a:ln w="9525">
            <a:solidFill>
              <a:srgbClr val="A4A4AC"/>
            </a:solidFill>
            <a:prstDash val="solid"/>
          </a:ln>
        </p:spPr>
        <p:txBody>
          <a:bodyPr/>
          <a:lstStyle/>
          <a:p>
            <a:endParaRPr lang="en-US"/>
          </a:p>
        </p:txBody>
      </p:sp>
      <p:sp>
        <p:nvSpPr>
          <p:cNvPr id="12" name="Text 10"/>
          <p:cNvSpPr/>
          <p:nvPr/>
        </p:nvSpPr>
        <p:spPr>
          <a:xfrm>
            <a:off x="502920" y="4434840"/>
            <a:ext cx="2743200" cy="274320"/>
          </a:xfrm>
          <a:prstGeom prst="rect">
            <a:avLst/>
          </a:prstGeom>
          <a:noFill/>
          <a:ln/>
        </p:spPr>
        <p:txBody>
          <a:bodyPr wrap="square" lIns="0" tIns="0" rIns="0" bIns="0" rtlCol="0" anchor="ctr"/>
          <a:lstStyle/>
          <a:p>
            <a:pPr marL="0" indent="0">
              <a:buNone/>
            </a:pPr>
            <a:r>
              <a:rPr lang="en-US" sz="1000" kern="0" spc="300" dirty="0">
                <a:solidFill>
                  <a:srgbClr val="5A5A62"/>
                </a:solidFill>
                <a:latin typeface="Consolas" pitchFamily="34" charset="0"/>
                <a:ea typeface="Consolas" pitchFamily="34" charset="-122"/>
                <a:cs typeface="Consolas" pitchFamily="34" charset="-120"/>
              </a:rPr>
              <a:t>PATH A</a:t>
            </a:r>
            <a:endParaRPr lang="en-US" sz="1000" dirty="0"/>
          </a:p>
        </p:txBody>
      </p:sp>
      <p:sp>
        <p:nvSpPr>
          <p:cNvPr id="13" name="Text 11"/>
          <p:cNvSpPr/>
          <p:nvPr/>
        </p:nvSpPr>
        <p:spPr>
          <a:xfrm>
            <a:off x="502920" y="4709160"/>
            <a:ext cx="2743200" cy="365760"/>
          </a:xfrm>
          <a:prstGeom prst="rect">
            <a:avLst/>
          </a:prstGeom>
          <a:noFill/>
          <a:ln/>
        </p:spPr>
        <p:txBody>
          <a:bodyPr wrap="square" lIns="0" tIns="0" rIns="0" bIns="0" rtlCol="0" anchor="ctr"/>
          <a:lstStyle/>
          <a:p>
            <a:pPr marL="0" indent="0">
              <a:buNone/>
            </a:pPr>
            <a:r>
              <a:rPr lang="en-US" sz="1800" b="1" dirty="0">
                <a:solidFill>
                  <a:srgbClr val="0F0F14"/>
                </a:solidFill>
                <a:latin typeface="Cambria" pitchFamily="34" charset="0"/>
                <a:ea typeface="Cambria" pitchFamily="34" charset="-122"/>
                <a:cs typeface="Cambria" pitchFamily="34" charset="-120"/>
              </a:rPr>
              <a:t>Personal Brand</a:t>
            </a:r>
            <a:endParaRPr lang="en-US" sz="1800" dirty="0"/>
          </a:p>
        </p:txBody>
      </p:sp>
      <p:sp>
        <p:nvSpPr>
          <p:cNvPr id="16" name="Text 14"/>
          <p:cNvSpPr/>
          <p:nvPr/>
        </p:nvSpPr>
        <p:spPr>
          <a:xfrm>
            <a:off x="4480560" y="4434840"/>
            <a:ext cx="2743200" cy="274320"/>
          </a:xfrm>
          <a:prstGeom prst="rect">
            <a:avLst/>
          </a:prstGeom>
          <a:noFill/>
          <a:ln/>
        </p:spPr>
        <p:txBody>
          <a:bodyPr wrap="square" lIns="0" tIns="0" rIns="0" bIns="0" rtlCol="0" anchor="ctr"/>
          <a:lstStyle/>
          <a:p>
            <a:pPr marL="0" indent="0">
              <a:buNone/>
            </a:pPr>
            <a:r>
              <a:rPr lang="en-US" sz="1000" kern="0" spc="300" dirty="0">
                <a:solidFill>
                  <a:srgbClr val="5A5A62"/>
                </a:solidFill>
                <a:latin typeface="Consolas" pitchFamily="34" charset="0"/>
                <a:ea typeface="Consolas" pitchFamily="34" charset="-122"/>
                <a:cs typeface="Consolas" pitchFamily="34" charset="-120"/>
              </a:rPr>
              <a:t>COURSE</a:t>
            </a:r>
            <a:endParaRPr lang="en-US" sz="1000" dirty="0"/>
          </a:p>
        </p:txBody>
      </p:sp>
      <p:sp>
        <p:nvSpPr>
          <p:cNvPr id="17" name="Text 15"/>
          <p:cNvSpPr/>
          <p:nvPr/>
        </p:nvSpPr>
        <p:spPr>
          <a:xfrm>
            <a:off x="4480560" y="4709160"/>
            <a:ext cx="2743200" cy="365760"/>
          </a:xfrm>
          <a:prstGeom prst="rect">
            <a:avLst/>
          </a:prstGeom>
          <a:noFill/>
          <a:ln/>
        </p:spPr>
        <p:txBody>
          <a:bodyPr wrap="square" lIns="0" tIns="0" rIns="0" bIns="0" rtlCol="0" anchor="ctr"/>
          <a:lstStyle/>
          <a:p>
            <a:pPr marL="0" indent="0">
              <a:buNone/>
            </a:pPr>
            <a:r>
              <a:rPr lang="en-US" sz="1800" b="1" dirty="0">
                <a:solidFill>
                  <a:srgbClr val="0F0F14"/>
                </a:solidFill>
                <a:latin typeface="Cambria" pitchFamily="34" charset="0"/>
                <a:ea typeface="Cambria" pitchFamily="34" charset="-122"/>
                <a:cs typeface="Cambria" pitchFamily="34" charset="-120"/>
              </a:rPr>
              <a:t>INFO 7375</a:t>
            </a:r>
            <a:endParaRPr lang="en-US" sz="1800" dirty="0"/>
          </a:p>
        </p:txBody>
      </p:sp>
      <p:sp>
        <p:nvSpPr>
          <p:cNvPr id="19" name="Text 16"/>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20" name="Text 17"/>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1 / 15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02</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THE PROBLEM</a:t>
            </a:r>
            <a:endParaRPr lang="en-US" sz="100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marL="0" indent="0">
              <a:buNone/>
            </a:pPr>
            <a:r>
              <a:rPr lang="en-US" sz="3400" b="1" dirty="0">
                <a:solidFill>
                  <a:srgbClr val="0F0F14"/>
                </a:solidFill>
                <a:latin typeface="Cambria" pitchFamily="34" charset="0"/>
                <a:ea typeface="Cambria" pitchFamily="34" charset="-122"/>
                <a:cs typeface="Cambria" pitchFamily="34" charset="-120"/>
              </a:rPr>
              <a:t>Maintainers are drowning in mentions</a:t>
            </a:r>
            <a:r>
              <a:rPr lang="en-US" sz="3400" b="1" dirty="0">
                <a:solidFill>
                  <a:srgbClr val="E63946"/>
                </a:solidFill>
                <a:latin typeface="Cambria" pitchFamily="34" charset="0"/>
                <a:ea typeface="Cambria" pitchFamily="34" charset="-122"/>
                <a:cs typeface="Cambria" pitchFamily="34" charset="-120"/>
              </a:rPr>
              <a:t>.</a:t>
            </a:r>
            <a:endParaRPr lang="en-US" sz="3400" dirty="0"/>
          </a:p>
        </p:txBody>
      </p:sp>
      <p:sp>
        <p:nvSpPr>
          <p:cNvPr id="6" name="Text 4"/>
          <p:cNvSpPr/>
          <p:nvPr/>
        </p:nvSpPr>
        <p:spPr>
          <a:xfrm>
            <a:off x="502920" y="1417320"/>
            <a:ext cx="10972800" cy="548640"/>
          </a:xfrm>
          <a:prstGeom prst="rect">
            <a:avLst/>
          </a:prstGeom>
          <a:noFill/>
          <a:ln/>
        </p:spPr>
        <p:txBody>
          <a:bodyPr wrap="square" lIns="0" tIns="0" rIns="0" bIns="0" rtlCol="0" anchor="ctr"/>
          <a:lstStyle/>
          <a:p>
            <a:pPr marL="0" indent="0">
              <a:buNone/>
            </a:pPr>
            <a:r>
              <a:rPr lang="en-US" sz="2200" i="1" dirty="0">
                <a:solidFill>
                  <a:srgbClr val="C42B37"/>
                </a:solidFill>
                <a:latin typeface="Cambria" pitchFamily="34" charset="0"/>
                <a:ea typeface="Cambria" pitchFamily="34" charset="-122"/>
                <a:cs typeface="Cambria" pitchFamily="34" charset="-120"/>
              </a:rPr>
              <a:t>But starving for signal.</a:t>
            </a:r>
            <a:endParaRPr lang="en-US" sz="2200" dirty="0"/>
          </a:p>
        </p:txBody>
      </p:sp>
      <p:sp>
        <p:nvSpPr>
          <p:cNvPr id="7" name="Shape 5"/>
          <p:cNvSpPr/>
          <p:nvPr/>
        </p:nvSpPr>
        <p:spPr>
          <a:xfrm>
            <a:off x="502920" y="2331720"/>
            <a:ext cx="3657600" cy="1691640"/>
          </a:xfrm>
          <a:prstGeom prst="rect">
            <a:avLst/>
          </a:prstGeom>
          <a:solidFill>
            <a:srgbClr val="F8F5EE"/>
          </a:solidFill>
          <a:ln w="6350">
            <a:solidFill>
              <a:srgbClr val="A4A4AC"/>
            </a:solidFill>
            <a:prstDash val="solid"/>
          </a:ln>
        </p:spPr>
        <p:txBody>
          <a:bodyPr/>
          <a:lstStyle/>
          <a:p>
            <a:endParaRPr lang="en-US"/>
          </a:p>
        </p:txBody>
      </p:sp>
      <p:sp>
        <p:nvSpPr>
          <p:cNvPr id="8" name="Text 6"/>
          <p:cNvSpPr/>
          <p:nvPr/>
        </p:nvSpPr>
        <p:spPr>
          <a:xfrm>
            <a:off x="731520" y="2496312"/>
            <a:ext cx="3200400" cy="777240"/>
          </a:xfrm>
          <a:prstGeom prst="rect">
            <a:avLst/>
          </a:prstGeom>
          <a:noFill/>
          <a:ln/>
        </p:spPr>
        <p:txBody>
          <a:bodyPr wrap="square" lIns="0" tIns="0" rIns="0" bIns="0" rtlCol="0" anchor="t"/>
          <a:lstStyle/>
          <a:p>
            <a:pPr marL="0" indent="0">
              <a:buNone/>
            </a:pPr>
            <a:r>
              <a:rPr lang="en-US" sz="4400" b="1" dirty="0">
                <a:solidFill>
                  <a:srgbClr val="0F0F14"/>
                </a:solidFill>
                <a:latin typeface="Cambria" pitchFamily="34" charset="0"/>
                <a:ea typeface="Cambria" pitchFamily="34" charset="-122"/>
                <a:cs typeface="Cambria" pitchFamily="34" charset="-120"/>
              </a:rPr>
              <a:t>3.9M+</a:t>
            </a:r>
            <a:endParaRPr lang="en-US" sz="4400" dirty="0"/>
          </a:p>
        </p:txBody>
      </p:sp>
      <p:sp>
        <p:nvSpPr>
          <p:cNvPr id="9" name="Text 7"/>
          <p:cNvSpPr/>
          <p:nvPr/>
        </p:nvSpPr>
        <p:spPr>
          <a:xfrm>
            <a:off x="731520" y="3291840"/>
            <a:ext cx="3200400" cy="594360"/>
          </a:xfrm>
          <a:prstGeom prst="rect">
            <a:avLst/>
          </a:prstGeom>
          <a:noFill/>
          <a:ln/>
        </p:spPr>
        <p:txBody>
          <a:bodyPr wrap="square" lIns="0" tIns="0" rIns="0" bIns="0" rtlCol="0" anchor="t"/>
          <a:lstStyle/>
          <a:p>
            <a:pPr marL="0" indent="0">
              <a:buNone/>
            </a:pPr>
            <a:r>
              <a:rPr lang="en-US" sz="1100" i="1" dirty="0">
                <a:solidFill>
                  <a:srgbClr val="5A5A62"/>
                </a:solidFill>
                <a:latin typeface="Calibri" pitchFamily="34" charset="0"/>
                <a:ea typeface="Calibri" pitchFamily="34" charset="-122"/>
                <a:cs typeface="Calibri" pitchFamily="34" charset="-120"/>
              </a:rPr>
              <a:t>downloads on Random Word (a weekend project I forgot about)</a:t>
            </a:r>
            <a:endParaRPr lang="en-US" sz="1100" dirty="0"/>
          </a:p>
        </p:txBody>
      </p:sp>
      <p:sp>
        <p:nvSpPr>
          <p:cNvPr id="10" name="Shape 8"/>
          <p:cNvSpPr/>
          <p:nvPr/>
        </p:nvSpPr>
        <p:spPr>
          <a:xfrm>
            <a:off x="4297680" y="2331720"/>
            <a:ext cx="3657600" cy="1691640"/>
          </a:xfrm>
          <a:prstGeom prst="rect">
            <a:avLst/>
          </a:prstGeom>
          <a:solidFill>
            <a:srgbClr val="F8F5EE"/>
          </a:solidFill>
          <a:ln w="6350">
            <a:solidFill>
              <a:srgbClr val="A4A4AC"/>
            </a:solidFill>
            <a:prstDash val="solid"/>
          </a:ln>
        </p:spPr>
        <p:txBody>
          <a:bodyPr/>
          <a:lstStyle/>
          <a:p>
            <a:endParaRPr lang="en-US"/>
          </a:p>
        </p:txBody>
      </p:sp>
      <p:sp>
        <p:nvSpPr>
          <p:cNvPr id="11" name="Text 9"/>
          <p:cNvSpPr/>
          <p:nvPr/>
        </p:nvSpPr>
        <p:spPr>
          <a:xfrm>
            <a:off x="4526280" y="2496312"/>
            <a:ext cx="3200400" cy="777240"/>
          </a:xfrm>
          <a:prstGeom prst="rect">
            <a:avLst/>
          </a:prstGeom>
          <a:noFill/>
          <a:ln/>
        </p:spPr>
        <p:txBody>
          <a:bodyPr wrap="square" lIns="0" tIns="0" rIns="0" bIns="0" rtlCol="0" anchor="t"/>
          <a:lstStyle/>
          <a:p>
            <a:pPr marL="0" indent="0">
              <a:buNone/>
            </a:pPr>
            <a:r>
              <a:rPr lang="en-US" sz="4400" b="1" dirty="0">
                <a:solidFill>
                  <a:srgbClr val="0F0F14"/>
                </a:solidFill>
                <a:latin typeface="Cambria" pitchFamily="34" charset="0"/>
                <a:ea typeface="Cambria" pitchFamily="34" charset="-122"/>
                <a:cs typeface="Cambria" pitchFamily="34" charset="-120"/>
              </a:rPr>
              <a:t>63k+</a:t>
            </a:r>
            <a:endParaRPr lang="en-US" sz="4400" dirty="0"/>
          </a:p>
        </p:txBody>
      </p:sp>
      <p:sp>
        <p:nvSpPr>
          <p:cNvPr id="12" name="Text 10"/>
          <p:cNvSpPr/>
          <p:nvPr/>
        </p:nvSpPr>
        <p:spPr>
          <a:xfrm>
            <a:off x="4526280" y="3291840"/>
            <a:ext cx="3200400" cy="594360"/>
          </a:xfrm>
          <a:prstGeom prst="rect">
            <a:avLst/>
          </a:prstGeom>
          <a:noFill/>
          <a:ln/>
        </p:spPr>
        <p:txBody>
          <a:bodyPr wrap="square" lIns="0" tIns="0" rIns="0" bIns="0" rtlCol="0" anchor="t"/>
          <a:lstStyle/>
          <a:p>
            <a:pPr marL="0" indent="0">
              <a:buNone/>
            </a:pPr>
            <a:r>
              <a:rPr lang="en-US" sz="1100" i="1" dirty="0">
                <a:solidFill>
                  <a:srgbClr val="5A5A62"/>
                </a:solidFill>
                <a:latin typeface="Calibri" pitchFamily="34" charset="0"/>
                <a:ea typeface="Calibri" pitchFamily="34" charset="-122"/>
                <a:cs typeface="Calibri" pitchFamily="34" charset="-120"/>
              </a:rPr>
              <a:t>weekly downloads on Nightwatch (BrowserStack, in production)</a:t>
            </a:r>
            <a:endParaRPr lang="en-US" sz="1100" dirty="0"/>
          </a:p>
        </p:txBody>
      </p:sp>
      <p:sp>
        <p:nvSpPr>
          <p:cNvPr id="13" name="Shape 11"/>
          <p:cNvSpPr/>
          <p:nvPr/>
        </p:nvSpPr>
        <p:spPr>
          <a:xfrm>
            <a:off x="8092440" y="2331720"/>
            <a:ext cx="3657600" cy="1691640"/>
          </a:xfrm>
          <a:prstGeom prst="rect">
            <a:avLst/>
          </a:prstGeom>
          <a:solidFill>
            <a:srgbClr val="F8F5EE"/>
          </a:solidFill>
          <a:ln w="6350">
            <a:solidFill>
              <a:srgbClr val="A4A4AC"/>
            </a:solidFill>
            <a:prstDash val="solid"/>
          </a:ln>
        </p:spPr>
        <p:txBody>
          <a:bodyPr/>
          <a:lstStyle/>
          <a:p>
            <a:endParaRPr lang="en-US"/>
          </a:p>
        </p:txBody>
      </p:sp>
      <p:sp>
        <p:nvSpPr>
          <p:cNvPr id="14" name="Text 12"/>
          <p:cNvSpPr/>
          <p:nvPr/>
        </p:nvSpPr>
        <p:spPr>
          <a:xfrm>
            <a:off x="8321040" y="2496312"/>
            <a:ext cx="3200400" cy="777240"/>
          </a:xfrm>
          <a:prstGeom prst="rect">
            <a:avLst/>
          </a:prstGeom>
          <a:noFill/>
          <a:ln/>
        </p:spPr>
        <p:txBody>
          <a:bodyPr wrap="square" lIns="0" tIns="0" rIns="0" bIns="0" rtlCol="0" anchor="t"/>
          <a:lstStyle/>
          <a:p>
            <a:pPr marL="0" indent="0">
              <a:buNone/>
            </a:pPr>
            <a:r>
              <a:rPr lang="en-US" sz="4400" b="1" dirty="0">
                <a:solidFill>
                  <a:srgbClr val="0F0F14"/>
                </a:solidFill>
                <a:latin typeface="Cambria" pitchFamily="34" charset="0"/>
                <a:ea typeface="Cambria" pitchFamily="34" charset="-122"/>
                <a:cs typeface="Cambria" pitchFamily="34" charset="-120"/>
              </a:rPr>
              <a:t>300+</a:t>
            </a:r>
            <a:endParaRPr lang="en-US" sz="4400" dirty="0"/>
          </a:p>
        </p:txBody>
      </p:sp>
      <p:sp>
        <p:nvSpPr>
          <p:cNvPr id="15" name="Text 13"/>
          <p:cNvSpPr/>
          <p:nvPr/>
        </p:nvSpPr>
        <p:spPr>
          <a:xfrm>
            <a:off x="8321040" y="3291840"/>
            <a:ext cx="3200400" cy="594360"/>
          </a:xfrm>
          <a:prstGeom prst="rect">
            <a:avLst/>
          </a:prstGeom>
          <a:noFill/>
          <a:ln/>
        </p:spPr>
        <p:txBody>
          <a:bodyPr wrap="square" lIns="0" tIns="0" rIns="0" bIns="0" rtlCol="0" anchor="t"/>
          <a:lstStyle/>
          <a:p>
            <a:pPr marL="0" indent="0">
              <a:buNone/>
            </a:pPr>
            <a:r>
              <a:rPr lang="en-US" sz="1100" i="1" dirty="0">
                <a:solidFill>
                  <a:srgbClr val="5A5A62"/>
                </a:solidFill>
                <a:latin typeface="Calibri" pitchFamily="34" charset="0"/>
                <a:ea typeface="Calibri" pitchFamily="34" charset="-122"/>
                <a:cs typeface="Calibri" pitchFamily="34" charset="-120"/>
              </a:rPr>
              <a:t>mentions per week Random Word gets in the wild today</a:t>
            </a:r>
            <a:endParaRPr lang="en-US" sz="1100" dirty="0"/>
          </a:p>
        </p:txBody>
      </p:sp>
      <p:sp>
        <p:nvSpPr>
          <p:cNvPr id="16" name="Shape 14"/>
          <p:cNvSpPr/>
          <p:nvPr/>
        </p:nvSpPr>
        <p:spPr>
          <a:xfrm>
            <a:off x="502920" y="4206240"/>
            <a:ext cx="3657600" cy="1691640"/>
          </a:xfrm>
          <a:prstGeom prst="rect">
            <a:avLst/>
          </a:prstGeom>
          <a:solidFill>
            <a:srgbClr val="0F0F14"/>
          </a:solidFill>
          <a:ln w="6350">
            <a:solidFill>
              <a:srgbClr val="0F0F14"/>
            </a:solidFill>
            <a:prstDash val="solid"/>
          </a:ln>
        </p:spPr>
        <p:txBody>
          <a:bodyPr/>
          <a:lstStyle/>
          <a:p>
            <a:endParaRPr lang="en-US"/>
          </a:p>
        </p:txBody>
      </p:sp>
      <p:sp>
        <p:nvSpPr>
          <p:cNvPr id="17" name="Text 15"/>
          <p:cNvSpPr/>
          <p:nvPr/>
        </p:nvSpPr>
        <p:spPr>
          <a:xfrm>
            <a:off x="731520" y="4370832"/>
            <a:ext cx="3200400" cy="777240"/>
          </a:xfrm>
          <a:prstGeom prst="rect">
            <a:avLst/>
          </a:prstGeom>
          <a:noFill/>
          <a:ln/>
        </p:spPr>
        <p:txBody>
          <a:bodyPr wrap="square" lIns="0" tIns="0" rIns="0" bIns="0" rtlCol="0" anchor="t"/>
          <a:lstStyle/>
          <a:p>
            <a:pPr marL="0" indent="0">
              <a:buNone/>
            </a:pPr>
            <a:r>
              <a:rPr lang="en-US" sz="4400" b="1" dirty="0">
                <a:solidFill>
                  <a:srgbClr val="E63946"/>
                </a:solidFill>
                <a:latin typeface="Cambria" pitchFamily="34" charset="0"/>
                <a:ea typeface="Cambria" pitchFamily="34" charset="-122"/>
                <a:cs typeface="Cambria" pitchFamily="34" charset="-120"/>
              </a:rPr>
              <a:t>0</a:t>
            </a:r>
            <a:endParaRPr lang="en-US" sz="4400" dirty="0"/>
          </a:p>
        </p:txBody>
      </p:sp>
      <p:sp>
        <p:nvSpPr>
          <p:cNvPr id="18" name="Text 16"/>
          <p:cNvSpPr/>
          <p:nvPr/>
        </p:nvSpPr>
        <p:spPr>
          <a:xfrm>
            <a:off x="731520" y="5166360"/>
            <a:ext cx="3200400" cy="594360"/>
          </a:xfrm>
          <a:prstGeom prst="rect">
            <a:avLst/>
          </a:prstGeom>
          <a:noFill/>
          <a:ln/>
        </p:spPr>
        <p:txBody>
          <a:bodyPr wrap="square" lIns="0" tIns="0" rIns="0" bIns="0" rtlCol="0" anchor="t"/>
          <a:lstStyle/>
          <a:p>
            <a:pPr marL="0" indent="0">
              <a:buNone/>
            </a:pPr>
            <a:r>
              <a:rPr lang="en-US" sz="1100" i="1" dirty="0">
                <a:solidFill>
                  <a:srgbClr val="A4A4AC"/>
                </a:solidFill>
                <a:latin typeface="Calibri" pitchFamily="34" charset="0"/>
                <a:ea typeface="Calibri" pitchFamily="34" charset="-122"/>
                <a:cs typeface="Calibri" pitchFamily="34" charset="-120"/>
              </a:rPr>
              <a:t>dashboards that tell me which 5 to act on this week</a:t>
            </a:r>
            <a:endParaRPr lang="en-US" sz="1100" dirty="0"/>
          </a:p>
        </p:txBody>
      </p:sp>
      <p:sp>
        <p:nvSpPr>
          <p:cNvPr id="19" name="Shape 17"/>
          <p:cNvSpPr/>
          <p:nvPr/>
        </p:nvSpPr>
        <p:spPr>
          <a:xfrm>
            <a:off x="4297680" y="4206240"/>
            <a:ext cx="3657600" cy="1691640"/>
          </a:xfrm>
          <a:prstGeom prst="rect">
            <a:avLst/>
          </a:prstGeom>
          <a:solidFill>
            <a:srgbClr val="F8F5EE"/>
          </a:solidFill>
          <a:ln w="6350">
            <a:solidFill>
              <a:srgbClr val="A4A4AC"/>
            </a:solidFill>
            <a:prstDash val="solid"/>
          </a:ln>
        </p:spPr>
        <p:txBody>
          <a:bodyPr/>
          <a:lstStyle/>
          <a:p>
            <a:endParaRPr lang="en-US"/>
          </a:p>
        </p:txBody>
      </p:sp>
      <p:sp>
        <p:nvSpPr>
          <p:cNvPr id="20" name="Text 18"/>
          <p:cNvSpPr/>
          <p:nvPr/>
        </p:nvSpPr>
        <p:spPr>
          <a:xfrm>
            <a:off x="4526280" y="4370832"/>
            <a:ext cx="3200400" cy="777240"/>
          </a:xfrm>
          <a:prstGeom prst="rect">
            <a:avLst/>
          </a:prstGeom>
          <a:noFill/>
          <a:ln/>
        </p:spPr>
        <p:txBody>
          <a:bodyPr wrap="square" lIns="0" tIns="0" rIns="0" bIns="0" rtlCol="0" anchor="t"/>
          <a:lstStyle/>
          <a:p>
            <a:pPr marL="0" indent="0">
              <a:buNone/>
            </a:pPr>
            <a:r>
              <a:rPr lang="en-US" sz="4400" b="1" dirty="0">
                <a:solidFill>
                  <a:srgbClr val="0F0F14"/>
                </a:solidFill>
                <a:latin typeface="Cambria" pitchFamily="34" charset="0"/>
                <a:ea typeface="Cambria" pitchFamily="34" charset="-122"/>
                <a:cs typeface="Cambria" pitchFamily="34" charset="-120"/>
              </a:rPr>
              <a:t>3+ hrs</a:t>
            </a:r>
            <a:endParaRPr lang="en-US" sz="4400" dirty="0"/>
          </a:p>
        </p:txBody>
      </p:sp>
      <p:sp>
        <p:nvSpPr>
          <p:cNvPr id="21" name="Text 19"/>
          <p:cNvSpPr/>
          <p:nvPr/>
        </p:nvSpPr>
        <p:spPr>
          <a:xfrm>
            <a:off x="4526280" y="5166360"/>
            <a:ext cx="3200400" cy="594360"/>
          </a:xfrm>
          <a:prstGeom prst="rect">
            <a:avLst/>
          </a:prstGeom>
          <a:noFill/>
          <a:ln/>
        </p:spPr>
        <p:txBody>
          <a:bodyPr wrap="square" lIns="0" tIns="0" rIns="0" bIns="0" rtlCol="0" anchor="t"/>
          <a:lstStyle/>
          <a:p>
            <a:pPr marL="0" indent="0">
              <a:buNone/>
            </a:pPr>
            <a:r>
              <a:rPr lang="en-US" sz="1100" i="1" dirty="0">
                <a:solidFill>
                  <a:srgbClr val="5A5A62"/>
                </a:solidFill>
                <a:latin typeface="Calibri" pitchFamily="34" charset="0"/>
                <a:ea typeface="Calibri" pitchFamily="34" charset="-122"/>
                <a:cs typeface="Calibri" pitchFamily="34" charset="-120"/>
              </a:rPr>
              <a:t>per week lost to triage that never actually gets done</a:t>
            </a:r>
            <a:endParaRPr lang="en-US" sz="1100" dirty="0"/>
          </a:p>
        </p:txBody>
      </p:sp>
      <p:sp>
        <p:nvSpPr>
          <p:cNvPr id="22" name="Shape 20"/>
          <p:cNvSpPr/>
          <p:nvPr/>
        </p:nvSpPr>
        <p:spPr>
          <a:xfrm>
            <a:off x="8092440" y="4206240"/>
            <a:ext cx="3657600" cy="1691640"/>
          </a:xfrm>
          <a:prstGeom prst="rect">
            <a:avLst/>
          </a:prstGeom>
          <a:solidFill>
            <a:srgbClr val="F8F5EE"/>
          </a:solidFill>
          <a:ln w="6350">
            <a:solidFill>
              <a:srgbClr val="A4A4AC"/>
            </a:solidFill>
            <a:prstDash val="solid"/>
          </a:ln>
        </p:spPr>
        <p:txBody>
          <a:bodyPr/>
          <a:lstStyle/>
          <a:p>
            <a:endParaRPr lang="en-US"/>
          </a:p>
        </p:txBody>
      </p:sp>
      <p:sp>
        <p:nvSpPr>
          <p:cNvPr id="23" name="Text 21"/>
          <p:cNvSpPr/>
          <p:nvPr/>
        </p:nvSpPr>
        <p:spPr>
          <a:xfrm>
            <a:off x="8321040" y="4370832"/>
            <a:ext cx="3200400" cy="777240"/>
          </a:xfrm>
          <a:prstGeom prst="rect">
            <a:avLst/>
          </a:prstGeom>
          <a:noFill/>
          <a:ln/>
        </p:spPr>
        <p:txBody>
          <a:bodyPr wrap="square" lIns="0" tIns="0" rIns="0" bIns="0" rtlCol="0" anchor="t"/>
          <a:lstStyle/>
          <a:p>
            <a:pPr marL="0" indent="0">
              <a:buNone/>
            </a:pPr>
            <a:r>
              <a:rPr lang="en-US" sz="4400" b="1" dirty="0">
                <a:solidFill>
                  <a:srgbClr val="0F0F14"/>
                </a:solidFill>
                <a:latin typeface="Cambria" pitchFamily="34" charset="0"/>
                <a:ea typeface="Cambria" pitchFamily="34" charset="-122"/>
                <a:cs typeface="Cambria" pitchFamily="34" charset="-120"/>
              </a:rPr>
              <a:t>1</a:t>
            </a:r>
            <a:endParaRPr lang="en-US" sz="4400" dirty="0"/>
          </a:p>
        </p:txBody>
      </p:sp>
      <p:sp>
        <p:nvSpPr>
          <p:cNvPr id="24" name="Text 22"/>
          <p:cNvSpPr/>
          <p:nvPr/>
        </p:nvSpPr>
        <p:spPr>
          <a:xfrm>
            <a:off x="8321040" y="5166360"/>
            <a:ext cx="3200400" cy="594360"/>
          </a:xfrm>
          <a:prstGeom prst="rect">
            <a:avLst/>
          </a:prstGeom>
          <a:noFill/>
          <a:ln/>
        </p:spPr>
        <p:txBody>
          <a:bodyPr wrap="square" lIns="0" tIns="0" rIns="0" bIns="0" rtlCol="0" anchor="t"/>
          <a:lstStyle/>
          <a:p>
            <a:pPr marL="0" indent="0">
              <a:buNone/>
            </a:pPr>
            <a:r>
              <a:rPr lang="en-US" sz="1100" i="1" dirty="0">
                <a:solidFill>
                  <a:srgbClr val="5A5A62"/>
                </a:solidFill>
                <a:latin typeface="Calibri" pitchFamily="34" charset="0"/>
                <a:ea typeface="Calibri" pitchFamily="34" charset="-122"/>
                <a:cs typeface="Calibri" pitchFamily="34" charset="-120"/>
              </a:rPr>
              <a:t>person doing the triage (me), on my weekends</a:t>
            </a:r>
            <a:endParaRPr lang="en-US" sz="1100" dirty="0"/>
          </a:p>
        </p:txBody>
      </p:sp>
      <p:sp>
        <p:nvSpPr>
          <p:cNvPr id="25" name="Text 23"/>
          <p:cNvSpPr/>
          <p:nvPr/>
        </p:nvSpPr>
        <p:spPr>
          <a:xfrm>
            <a:off x="502920" y="6080760"/>
            <a:ext cx="11155680" cy="320040"/>
          </a:xfrm>
          <a:prstGeom prst="rect">
            <a:avLst/>
          </a:prstGeom>
          <a:noFill/>
          <a:ln/>
        </p:spPr>
        <p:txBody>
          <a:bodyPr wrap="square" lIns="0" tIns="0" rIns="0" bIns="0" rtlCol="0" anchor="ctr"/>
          <a:lstStyle/>
          <a:p>
            <a:pPr marL="0" indent="0" algn="ctr">
              <a:buNone/>
            </a:pPr>
            <a:r>
              <a:rPr lang="en-US" sz="2200" i="1" dirty="0">
                <a:solidFill>
                  <a:srgbClr val="E63946"/>
                </a:solidFill>
                <a:latin typeface="Cambria" pitchFamily="34" charset="0"/>
                <a:ea typeface="Cambria" pitchFamily="34" charset="-122"/>
                <a:cs typeface="Cambria" pitchFamily="34" charset="-120"/>
              </a:rPr>
              <a:t>"</a:t>
            </a:r>
            <a:r>
              <a:rPr lang="en-US" sz="1600" i="1" dirty="0">
                <a:solidFill>
                  <a:srgbClr val="0F0F14"/>
                </a:solidFill>
                <a:latin typeface="Cambria" pitchFamily="34" charset="0"/>
                <a:ea typeface="Cambria" pitchFamily="34" charset="-122"/>
                <a:cs typeface="Cambria" pitchFamily="34" charset="-120"/>
              </a:rPr>
              <a:t>Maintainers can SEE their mentions. But they can’t tell what to DO with them</a:t>
            </a:r>
            <a:r>
              <a:rPr lang="en-US" sz="1600" i="1" dirty="0">
                <a:solidFill>
                  <a:srgbClr val="E63946"/>
                </a:solidFill>
                <a:latin typeface="Cambria" pitchFamily="34" charset="0"/>
                <a:ea typeface="Cambria" pitchFamily="34" charset="-122"/>
                <a:cs typeface="Cambria" pitchFamily="34" charset="-120"/>
              </a:rPr>
              <a:t>.</a:t>
            </a:r>
            <a:r>
              <a:rPr lang="en-US" sz="2200" i="1" dirty="0">
                <a:solidFill>
                  <a:srgbClr val="E63946"/>
                </a:solidFill>
                <a:latin typeface="Cambria" pitchFamily="34" charset="0"/>
                <a:ea typeface="Cambria" pitchFamily="34" charset="-122"/>
                <a:cs typeface="Cambria" pitchFamily="34" charset="-120"/>
              </a:rPr>
              <a:t>"</a:t>
            </a:r>
            <a:endParaRPr lang="en-US" sz="2200" dirty="0"/>
          </a:p>
        </p:txBody>
      </p:sp>
      <p:sp>
        <p:nvSpPr>
          <p:cNvPr id="27" name="Text 24"/>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28" name="Text 25"/>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03</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AUDIENCE</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3600" b="1" dirty="0">
                <a:solidFill>
                  <a:srgbClr val="0F0F14"/>
                </a:solidFill>
                <a:latin typeface="Cambria" pitchFamily="34" charset="0"/>
                <a:ea typeface="Cambria" pitchFamily="34" charset="-122"/>
                <a:cs typeface="Cambria" pitchFamily="34" charset="-120"/>
              </a:rPr>
              <a:t>The audience is three concentric rings</a:t>
            </a:r>
            <a:r>
              <a:rPr lang="en-US" sz="3600" b="1" dirty="0">
                <a:solidFill>
                  <a:srgbClr val="E63946"/>
                </a:solidFill>
                <a:latin typeface="Cambria" pitchFamily="34" charset="0"/>
                <a:ea typeface="Cambria" pitchFamily="34" charset="-122"/>
                <a:cs typeface="Cambria" pitchFamily="34" charset="-120"/>
              </a:rPr>
              <a:t>.</a:t>
            </a:r>
            <a:endParaRPr lang="en-US" sz="3600" dirty="0"/>
          </a:p>
        </p:txBody>
      </p:sp>
      <p:sp>
        <p:nvSpPr>
          <p:cNvPr id="6" name="Text 4"/>
          <p:cNvSpPr/>
          <p:nvPr/>
        </p:nvSpPr>
        <p:spPr>
          <a:xfrm>
            <a:off x="502920" y="160020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All three ask the same question when they read this deck.</a:t>
            </a:r>
            <a:endParaRPr lang="en-US" sz="1800" dirty="0"/>
          </a:p>
        </p:txBody>
      </p:sp>
      <p:sp>
        <p:nvSpPr>
          <p:cNvPr id="7" name="Text 5"/>
          <p:cNvSpPr/>
          <p:nvPr/>
        </p:nvSpPr>
        <p:spPr>
          <a:xfrm>
            <a:off x="502920" y="2514600"/>
            <a:ext cx="1371600" cy="822960"/>
          </a:xfrm>
          <a:prstGeom prst="rect">
            <a:avLst/>
          </a:prstGeom>
          <a:noFill/>
          <a:ln/>
        </p:spPr>
        <p:txBody>
          <a:bodyPr wrap="square" lIns="0" tIns="0" rIns="0" bIns="0" rtlCol="0" anchor="t"/>
          <a:lstStyle/>
          <a:p>
            <a:pPr marL="0" indent="0">
              <a:buNone/>
            </a:pPr>
            <a:r>
              <a:rPr lang="en-US" sz="4600" b="1" i="1" dirty="0">
                <a:solidFill>
                  <a:srgbClr val="E63946"/>
                </a:solidFill>
                <a:latin typeface="Cambria" pitchFamily="34" charset="0"/>
                <a:ea typeface="Cambria" pitchFamily="34" charset="-122"/>
                <a:cs typeface="Cambria" pitchFamily="34" charset="-120"/>
              </a:rPr>
              <a:t>01</a:t>
            </a:r>
            <a:endParaRPr lang="en-US" sz="4600" dirty="0"/>
          </a:p>
        </p:txBody>
      </p:sp>
      <p:sp>
        <p:nvSpPr>
          <p:cNvPr id="8" name="Text 6"/>
          <p:cNvSpPr/>
          <p:nvPr/>
        </p:nvSpPr>
        <p:spPr>
          <a:xfrm>
            <a:off x="502920" y="3383280"/>
            <a:ext cx="3611880" cy="32004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HIRING MANAGERS</a:t>
            </a:r>
            <a:endParaRPr lang="en-US" sz="1000" dirty="0"/>
          </a:p>
        </p:txBody>
      </p:sp>
      <p:sp>
        <p:nvSpPr>
          <p:cNvPr id="9" name="Shape 7"/>
          <p:cNvSpPr/>
          <p:nvPr/>
        </p:nvSpPr>
        <p:spPr>
          <a:xfrm>
            <a:off x="502920" y="3685032"/>
            <a:ext cx="3611880" cy="0"/>
          </a:xfrm>
          <a:prstGeom prst="line">
            <a:avLst/>
          </a:prstGeom>
          <a:noFill/>
          <a:ln w="6350">
            <a:solidFill>
              <a:srgbClr val="A4A4AC"/>
            </a:solidFill>
            <a:prstDash val="solid"/>
          </a:ln>
        </p:spPr>
        <p:txBody>
          <a:bodyPr/>
          <a:lstStyle/>
          <a:p>
            <a:endParaRPr lang="en-US"/>
          </a:p>
        </p:txBody>
      </p:sp>
      <p:sp>
        <p:nvSpPr>
          <p:cNvPr id="10" name="Text 8"/>
          <p:cNvSpPr/>
          <p:nvPr/>
        </p:nvSpPr>
        <p:spPr>
          <a:xfrm>
            <a:off x="502920" y="3794760"/>
            <a:ext cx="3611880" cy="1280160"/>
          </a:xfrm>
          <a:prstGeom prst="rect">
            <a:avLst/>
          </a:prstGeom>
          <a:noFill/>
          <a:ln/>
        </p:spPr>
        <p:txBody>
          <a:bodyPr wrap="square" lIns="0" tIns="0" rIns="0" bIns="0" rtlCol="0" anchor="t"/>
          <a:lstStyle/>
          <a:p>
            <a:pPr marL="0" indent="0">
              <a:buNone/>
            </a:pPr>
            <a:r>
              <a:rPr lang="en-US" sz="1700" b="1" dirty="0">
                <a:solidFill>
                  <a:srgbClr val="0F0F14"/>
                </a:solidFill>
                <a:latin typeface="Cambria" pitchFamily="34" charset="0"/>
                <a:ea typeface="Cambria" pitchFamily="34" charset="-122"/>
                <a:cs typeface="Cambria" pitchFamily="34" charset="-120"/>
              </a:rPr>
              <a:t>Senior engineering leaders at developer-tools companies</a:t>
            </a:r>
            <a:endParaRPr lang="en-US" sz="1700" dirty="0"/>
          </a:p>
        </p:txBody>
      </p:sp>
      <p:sp>
        <p:nvSpPr>
          <p:cNvPr id="11" name="Text 9"/>
          <p:cNvSpPr/>
          <p:nvPr/>
        </p:nvSpPr>
        <p:spPr>
          <a:xfrm>
            <a:off x="502920" y="4983480"/>
            <a:ext cx="3611880" cy="457200"/>
          </a:xfrm>
          <a:prstGeom prst="rect">
            <a:avLst/>
          </a:prstGeom>
          <a:noFill/>
          <a:ln/>
        </p:spPr>
        <p:txBody>
          <a:bodyPr wrap="square" lIns="0" tIns="0" rIns="0" bIns="0" rtlCol="0" anchor="t"/>
          <a:lstStyle/>
          <a:p>
            <a:pPr marL="0" indent="0">
              <a:buNone/>
            </a:pPr>
            <a:r>
              <a:rPr lang="en-US" sz="1200" i="1" dirty="0">
                <a:solidFill>
                  <a:srgbClr val="5A5A62"/>
                </a:solidFill>
                <a:latin typeface="Calibri" pitchFamily="34" charset="0"/>
                <a:ea typeface="Calibri" pitchFamily="34" charset="-122"/>
                <a:cs typeface="Calibri" pitchFamily="34" charset="-120"/>
              </a:rPr>
              <a:t>Vercel  ·  Linear  ·  Anthropic  ·  Stripe</a:t>
            </a:r>
            <a:endParaRPr lang="en-US" sz="1200" dirty="0"/>
          </a:p>
        </p:txBody>
      </p:sp>
      <p:sp>
        <p:nvSpPr>
          <p:cNvPr id="12" name="Text 10"/>
          <p:cNvSpPr/>
          <p:nvPr/>
        </p:nvSpPr>
        <p:spPr>
          <a:xfrm>
            <a:off x="4251960" y="2514600"/>
            <a:ext cx="1371600" cy="822960"/>
          </a:xfrm>
          <a:prstGeom prst="rect">
            <a:avLst/>
          </a:prstGeom>
          <a:noFill/>
          <a:ln/>
        </p:spPr>
        <p:txBody>
          <a:bodyPr wrap="square" lIns="0" tIns="0" rIns="0" bIns="0" rtlCol="0" anchor="t"/>
          <a:lstStyle/>
          <a:p>
            <a:pPr marL="0" indent="0">
              <a:buNone/>
            </a:pPr>
            <a:r>
              <a:rPr lang="en-US" sz="4600" b="1" i="1" dirty="0">
                <a:solidFill>
                  <a:srgbClr val="E63946"/>
                </a:solidFill>
                <a:latin typeface="Cambria" pitchFamily="34" charset="0"/>
                <a:ea typeface="Cambria" pitchFamily="34" charset="-122"/>
                <a:cs typeface="Cambria" pitchFamily="34" charset="-120"/>
              </a:rPr>
              <a:t>02</a:t>
            </a:r>
            <a:endParaRPr lang="en-US" sz="4600" dirty="0"/>
          </a:p>
        </p:txBody>
      </p:sp>
      <p:sp>
        <p:nvSpPr>
          <p:cNvPr id="13" name="Text 11"/>
          <p:cNvSpPr/>
          <p:nvPr/>
        </p:nvSpPr>
        <p:spPr>
          <a:xfrm>
            <a:off x="4251960" y="3383280"/>
            <a:ext cx="3611880" cy="32004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RECRUITERS</a:t>
            </a:r>
            <a:endParaRPr lang="en-US" sz="1000" dirty="0"/>
          </a:p>
        </p:txBody>
      </p:sp>
      <p:sp>
        <p:nvSpPr>
          <p:cNvPr id="14" name="Shape 12"/>
          <p:cNvSpPr/>
          <p:nvPr/>
        </p:nvSpPr>
        <p:spPr>
          <a:xfrm>
            <a:off x="4251960" y="3685032"/>
            <a:ext cx="3611880" cy="0"/>
          </a:xfrm>
          <a:prstGeom prst="line">
            <a:avLst/>
          </a:prstGeom>
          <a:noFill/>
          <a:ln w="6350">
            <a:solidFill>
              <a:srgbClr val="A4A4AC"/>
            </a:solidFill>
            <a:prstDash val="solid"/>
          </a:ln>
        </p:spPr>
        <p:txBody>
          <a:bodyPr/>
          <a:lstStyle/>
          <a:p>
            <a:endParaRPr lang="en-US"/>
          </a:p>
        </p:txBody>
      </p:sp>
      <p:sp>
        <p:nvSpPr>
          <p:cNvPr id="15" name="Text 13"/>
          <p:cNvSpPr/>
          <p:nvPr/>
        </p:nvSpPr>
        <p:spPr>
          <a:xfrm>
            <a:off x="4251960" y="3794760"/>
            <a:ext cx="3611880" cy="1280160"/>
          </a:xfrm>
          <a:prstGeom prst="rect">
            <a:avLst/>
          </a:prstGeom>
          <a:noFill/>
          <a:ln/>
        </p:spPr>
        <p:txBody>
          <a:bodyPr wrap="square" lIns="0" tIns="0" rIns="0" bIns="0" rtlCol="0" anchor="t"/>
          <a:lstStyle/>
          <a:p>
            <a:pPr marL="0" indent="0">
              <a:buNone/>
            </a:pPr>
            <a:r>
              <a:rPr lang="en-US" sz="1700" b="1" dirty="0">
                <a:solidFill>
                  <a:srgbClr val="0F0F14"/>
                </a:solidFill>
                <a:latin typeface="Cambria" pitchFamily="34" charset="0"/>
                <a:ea typeface="Cambria" pitchFamily="34" charset="-122"/>
                <a:cs typeface="Cambria" pitchFamily="34" charset="-120"/>
              </a:rPr>
              <a:t>Engineering recruiters at those same companies</a:t>
            </a:r>
            <a:endParaRPr lang="en-US" sz="1700" dirty="0"/>
          </a:p>
        </p:txBody>
      </p:sp>
      <p:sp>
        <p:nvSpPr>
          <p:cNvPr id="16" name="Text 14"/>
          <p:cNvSpPr/>
          <p:nvPr/>
        </p:nvSpPr>
        <p:spPr>
          <a:xfrm>
            <a:off x="4251960" y="4983480"/>
            <a:ext cx="3611880" cy="457200"/>
          </a:xfrm>
          <a:prstGeom prst="rect">
            <a:avLst/>
          </a:prstGeom>
          <a:noFill/>
          <a:ln/>
        </p:spPr>
        <p:txBody>
          <a:bodyPr wrap="square" lIns="0" tIns="0" rIns="0" bIns="0" rtlCol="0" anchor="t"/>
          <a:lstStyle/>
          <a:p>
            <a:pPr marL="0" indent="0">
              <a:buNone/>
            </a:pPr>
            <a:r>
              <a:rPr lang="en-US" sz="1200" i="1" dirty="0">
                <a:solidFill>
                  <a:srgbClr val="5A5A62"/>
                </a:solidFill>
                <a:latin typeface="Calibri" pitchFamily="34" charset="0"/>
                <a:ea typeface="Calibri" pitchFamily="34" charset="-122"/>
                <a:cs typeface="Calibri" pitchFamily="34" charset="-120"/>
              </a:rPr>
              <a:t>The 6-second scan of the top of the resume</a:t>
            </a:r>
            <a:endParaRPr lang="en-US" sz="1200" dirty="0"/>
          </a:p>
        </p:txBody>
      </p:sp>
      <p:sp>
        <p:nvSpPr>
          <p:cNvPr id="17" name="Text 15"/>
          <p:cNvSpPr/>
          <p:nvPr/>
        </p:nvSpPr>
        <p:spPr>
          <a:xfrm>
            <a:off x="8001000" y="2514600"/>
            <a:ext cx="1371600" cy="822960"/>
          </a:xfrm>
          <a:prstGeom prst="rect">
            <a:avLst/>
          </a:prstGeom>
          <a:noFill/>
          <a:ln/>
        </p:spPr>
        <p:txBody>
          <a:bodyPr wrap="square" lIns="0" tIns="0" rIns="0" bIns="0" rtlCol="0" anchor="t"/>
          <a:lstStyle/>
          <a:p>
            <a:pPr marL="0" indent="0">
              <a:buNone/>
            </a:pPr>
            <a:r>
              <a:rPr lang="en-US" sz="4600" b="1" i="1" dirty="0">
                <a:solidFill>
                  <a:srgbClr val="E63946"/>
                </a:solidFill>
                <a:latin typeface="Cambria" pitchFamily="34" charset="0"/>
                <a:ea typeface="Cambria" pitchFamily="34" charset="-122"/>
                <a:cs typeface="Cambria" pitchFamily="34" charset="-120"/>
              </a:rPr>
              <a:t>03</a:t>
            </a:r>
            <a:endParaRPr lang="en-US" sz="4600" dirty="0"/>
          </a:p>
        </p:txBody>
      </p:sp>
      <p:sp>
        <p:nvSpPr>
          <p:cNvPr id="18" name="Text 16"/>
          <p:cNvSpPr/>
          <p:nvPr/>
        </p:nvSpPr>
        <p:spPr>
          <a:xfrm>
            <a:off x="8001000" y="3383280"/>
            <a:ext cx="3611880" cy="32004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STARTUP CTOs</a:t>
            </a:r>
            <a:endParaRPr lang="en-US" sz="1000" dirty="0"/>
          </a:p>
        </p:txBody>
      </p:sp>
      <p:sp>
        <p:nvSpPr>
          <p:cNvPr id="19" name="Shape 17"/>
          <p:cNvSpPr/>
          <p:nvPr/>
        </p:nvSpPr>
        <p:spPr>
          <a:xfrm>
            <a:off x="8001000" y="3685032"/>
            <a:ext cx="3611880" cy="0"/>
          </a:xfrm>
          <a:prstGeom prst="line">
            <a:avLst/>
          </a:prstGeom>
          <a:noFill/>
          <a:ln w="6350">
            <a:solidFill>
              <a:srgbClr val="A4A4AC"/>
            </a:solidFill>
            <a:prstDash val="solid"/>
          </a:ln>
        </p:spPr>
        <p:txBody>
          <a:bodyPr/>
          <a:lstStyle/>
          <a:p>
            <a:endParaRPr lang="en-US"/>
          </a:p>
        </p:txBody>
      </p:sp>
      <p:sp>
        <p:nvSpPr>
          <p:cNvPr id="20" name="Text 18"/>
          <p:cNvSpPr/>
          <p:nvPr/>
        </p:nvSpPr>
        <p:spPr>
          <a:xfrm>
            <a:off x="8001000" y="3794760"/>
            <a:ext cx="3611880" cy="1280160"/>
          </a:xfrm>
          <a:prstGeom prst="rect">
            <a:avLst/>
          </a:prstGeom>
          <a:noFill/>
          <a:ln/>
        </p:spPr>
        <p:txBody>
          <a:bodyPr wrap="square" lIns="0" tIns="0" rIns="0" bIns="0" rtlCol="0" anchor="t"/>
          <a:lstStyle/>
          <a:p>
            <a:pPr marL="0" indent="0">
              <a:buNone/>
            </a:pPr>
            <a:r>
              <a:rPr lang="en-US" sz="1700" b="1" dirty="0">
                <a:solidFill>
                  <a:srgbClr val="0F0F14"/>
                </a:solidFill>
                <a:latin typeface="Cambria" pitchFamily="34" charset="0"/>
                <a:ea typeface="Cambria" pitchFamily="34" charset="-122"/>
                <a:cs typeface="Cambria" pitchFamily="34" charset="-120"/>
              </a:rPr>
              <a:t>Founders needing whiteboard-to-production, no hand-off</a:t>
            </a:r>
            <a:endParaRPr lang="en-US" sz="1700" dirty="0"/>
          </a:p>
        </p:txBody>
      </p:sp>
      <p:sp>
        <p:nvSpPr>
          <p:cNvPr id="21" name="Text 19"/>
          <p:cNvSpPr/>
          <p:nvPr/>
        </p:nvSpPr>
        <p:spPr>
          <a:xfrm>
            <a:off x="8001000" y="4983480"/>
            <a:ext cx="3611880" cy="457200"/>
          </a:xfrm>
          <a:prstGeom prst="rect">
            <a:avLst/>
          </a:prstGeom>
          <a:noFill/>
          <a:ln/>
        </p:spPr>
        <p:txBody>
          <a:bodyPr wrap="square" lIns="0" tIns="0" rIns="0" bIns="0" rtlCol="0" anchor="t"/>
          <a:lstStyle/>
          <a:p>
            <a:pPr marL="0" indent="0">
              <a:buNone/>
            </a:pPr>
            <a:r>
              <a:rPr lang="en-US" sz="1200" i="1" dirty="0">
                <a:solidFill>
                  <a:srgbClr val="5A5A62"/>
                </a:solidFill>
                <a:latin typeface="Calibri" pitchFamily="34" charset="0"/>
                <a:ea typeface="Calibri" pitchFamily="34" charset="-122"/>
                <a:cs typeface="Calibri" pitchFamily="34" charset="-120"/>
              </a:rPr>
              <a:t>10-person teams, staff-level trust required</a:t>
            </a:r>
            <a:endParaRPr lang="en-US" sz="1200" dirty="0"/>
          </a:p>
        </p:txBody>
      </p:sp>
      <p:sp>
        <p:nvSpPr>
          <p:cNvPr id="22" name="Shape 20"/>
          <p:cNvSpPr/>
          <p:nvPr/>
        </p:nvSpPr>
        <p:spPr>
          <a:xfrm>
            <a:off x="502920" y="5806440"/>
            <a:ext cx="11155680" cy="594360"/>
          </a:xfrm>
          <a:prstGeom prst="rect">
            <a:avLst/>
          </a:prstGeom>
          <a:solidFill>
            <a:srgbClr val="0F0F14"/>
          </a:solidFill>
          <a:ln/>
        </p:spPr>
        <p:txBody>
          <a:bodyPr/>
          <a:lstStyle/>
          <a:p>
            <a:endParaRPr lang="en-US"/>
          </a:p>
        </p:txBody>
      </p:sp>
      <p:sp>
        <p:nvSpPr>
          <p:cNvPr id="23" name="Shape 21"/>
          <p:cNvSpPr/>
          <p:nvPr/>
        </p:nvSpPr>
        <p:spPr>
          <a:xfrm>
            <a:off x="502920" y="5806440"/>
            <a:ext cx="73152" cy="594360"/>
          </a:xfrm>
          <a:prstGeom prst="rect">
            <a:avLst/>
          </a:prstGeom>
          <a:solidFill>
            <a:srgbClr val="E63946"/>
          </a:solidFill>
          <a:ln/>
        </p:spPr>
        <p:txBody>
          <a:bodyPr/>
          <a:lstStyle/>
          <a:p>
            <a:endParaRPr lang="en-US"/>
          </a:p>
        </p:txBody>
      </p:sp>
      <p:sp>
        <p:nvSpPr>
          <p:cNvPr id="24" name="Text 22"/>
          <p:cNvSpPr/>
          <p:nvPr/>
        </p:nvSpPr>
        <p:spPr>
          <a:xfrm>
            <a:off x="777240" y="5806440"/>
            <a:ext cx="10698480" cy="594360"/>
          </a:xfrm>
          <a:prstGeom prst="rect">
            <a:avLst/>
          </a:prstGeom>
          <a:noFill/>
          <a:ln/>
        </p:spPr>
        <p:txBody>
          <a:bodyPr wrap="square" lIns="0" tIns="0" rIns="0" bIns="0" rtlCol="0" anchor="ctr"/>
          <a:lstStyle/>
          <a:p>
            <a:pPr marL="0" indent="0">
              <a:buNone/>
            </a:pPr>
            <a:r>
              <a:rPr lang="en-US" sz="1300" i="1" dirty="0">
                <a:solidFill>
                  <a:srgbClr val="A4A4AC"/>
                </a:solidFill>
                <a:latin typeface="Calibri" pitchFamily="34" charset="0"/>
                <a:ea typeface="Calibri" pitchFamily="34" charset="-122"/>
                <a:cs typeface="Calibri" pitchFamily="34" charset="-120"/>
              </a:rPr>
              <a:t>All three ask the same question. </a:t>
            </a:r>
            <a:r>
              <a:rPr lang="en-US" sz="1600" b="1" i="1" dirty="0">
                <a:solidFill>
                  <a:srgbClr val="F0EDE4"/>
                </a:solidFill>
                <a:latin typeface="Cambria" pitchFamily="34" charset="0"/>
                <a:ea typeface="Cambria" pitchFamily="34" charset="-122"/>
                <a:cs typeface="Cambria" pitchFamily="34" charset="-120"/>
              </a:rPr>
              <a:t>Has this person shipped something people actually use</a:t>
            </a:r>
            <a:r>
              <a:rPr lang="en-US" sz="1600" b="1" i="1" dirty="0">
                <a:solidFill>
                  <a:srgbClr val="E63946"/>
                </a:solidFill>
                <a:latin typeface="Cambria" pitchFamily="34" charset="0"/>
                <a:ea typeface="Cambria" pitchFamily="34" charset="-122"/>
                <a:cs typeface="Cambria" pitchFamily="34" charset="-120"/>
              </a:rPr>
              <a:t>?</a:t>
            </a:r>
            <a:endParaRPr lang="en-US" sz="1300" dirty="0"/>
          </a:p>
        </p:txBody>
      </p:sp>
      <p:sp>
        <p:nvSpPr>
          <p:cNvPr id="26" name="Text 23"/>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27" name="Text 24"/>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04</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THE PERSONAS</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3400" b="1" dirty="0">
                <a:solidFill>
                  <a:srgbClr val="0F0F14"/>
                </a:solidFill>
                <a:latin typeface="Cambria" pitchFamily="34" charset="0"/>
                <a:ea typeface="Cambria" pitchFamily="34" charset="-122"/>
                <a:cs typeface="Cambria" pitchFamily="34" charset="-120"/>
              </a:rPr>
              <a:t>The maintainers I’m building Olembic for</a:t>
            </a:r>
            <a:r>
              <a:rPr lang="en-US" sz="3400" b="1" dirty="0">
                <a:solidFill>
                  <a:srgbClr val="E63946"/>
                </a:solidFill>
                <a:latin typeface="Cambria" pitchFamily="34" charset="0"/>
                <a:ea typeface="Cambria" pitchFamily="34" charset="-122"/>
                <a:cs typeface="Cambria" pitchFamily="34" charset="-120"/>
              </a:rPr>
              <a:t>.</a:t>
            </a:r>
            <a:endParaRPr lang="en-US" sz="3400" dirty="0"/>
          </a:p>
        </p:txBody>
      </p:sp>
      <p:sp>
        <p:nvSpPr>
          <p:cNvPr id="6" name="Text 4"/>
          <p:cNvSpPr/>
          <p:nvPr/>
        </p:nvSpPr>
        <p:spPr>
          <a:xfrm>
            <a:off x="502920" y="155448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Two archetypes. Both real. Both me, eight months ago.</a:t>
            </a:r>
            <a:endParaRPr lang="en-US" sz="1800" dirty="0"/>
          </a:p>
        </p:txBody>
      </p:sp>
      <p:sp>
        <p:nvSpPr>
          <p:cNvPr id="7" name="Shape 5"/>
          <p:cNvSpPr/>
          <p:nvPr/>
        </p:nvSpPr>
        <p:spPr>
          <a:xfrm>
            <a:off x="502920" y="2423160"/>
            <a:ext cx="5486400" cy="3200400"/>
          </a:xfrm>
          <a:prstGeom prst="rect">
            <a:avLst/>
          </a:prstGeom>
          <a:solidFill>
            <a:srgbClr val="F8F5EE"/>
          </a:solidFill>
          <a:ln w="6350">
            <a:solidFill>
              <a:srgbClr val="A4A4AC"/>
            </a:solidFill>
            <a:prstDash val="solid"/>
          </a:ln>
        </p:spPr>
        <p:txBody>
          <a:bodyPr/>
          <a:lstStyle/>
          <a:p>
            <a:endParaRPr lang="en-US"/>
          </a:p>
        </p:txBody>
      </p:sp>
      <p:sp>
        <p:nvSpPr>
          <p:cNvPr id="8" name="Text 6"/>
          <p:cNvSpPr/>
          <p:nvPr/>
        </p:nvSpPr>
        <p:spPr>
          <a:xfrm>
            <a:off x="777240" y="2651760"/>
            <a:ext cx="5029200" cy="27432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PERSONA 01</a:t>
            </a:r>
            <a:endParaRPr lang="en-US" sz="1000" dirty="0"/>
          </a:p>
        </p:txBody>
      </p:sp>
      <p:sp>
        <p:nvSpPr>
          <p:cNvPr id="9" name="Text 7"/>
          <p:cNvSpPr/>
          <p:nvPr/>
        </p:nvSpPr>
        <p:spPr>
          <a:xfrm>
            <a:off x="777240" y="2926080"/>
            <a:ext cx="5029200" cy="502920"/>
          </a:xfrm>
          <a:prstGeom prst="rect">
            <a:avLst/>
          </a:prstGeom>
          <a:noFill/>
          <a:ln/>
        </p:spPr>
        <p:txBody>
          <a:bodyPr wrap="square" lIns="0" tIns="0" rIns="0" bIns="0" rtlCol="0" anchor="ctr"/>
          <a:lstStyle/>
          <a:p>
            <a:pPr marL="0" indent="0">
              <a:buNone/>
            </a:pPr>
            <a:r>
              <a:rPr lang="en-US" sz="2600" b="1" dirty="0">
                <a:solidFill>
                  <a:srgbClr val="0F0F14"/>
                </a:solidFill>
                <a:latin typeface="Cambria" pitchFamily="34" charset="0"/>
                <a:ea typeface="Cambria" pitchFamily="34" charset="-122"/>
                <a:cs typeface="Cambria" pitchFamily="34" charset="-120"/>
              </a:rPr>
              <a:t>Maya</a:t>
            </a:r>
            <a:r>
              <a:rPr lang="en-US" sz="2000" i="1" dirty="0">
                <a:solidFill>
                  <a:srgbClr val="5A5A62"/>
                </a:solidFill>
                <a:latin typeface="Cambria" pitchFamily="34" charset="0"/>
                <a:ea typeface="Cambria" pitchFamily="34" charset="-122"/>
                <a:cs typeface="Cambria" pitchFamily="34" charset="-120"/>
              </a:rPr>
              <a:t>. Solo maintainer, full-time job</a:t>
            </a:r>
            <a:endParaRPr lang="en-US" sz="2600" dirty="0"/>
          </a:p>
        </p:txBody>
      </p:sp>
      <p:sp>
        <p:nvSpPr>
          <p:cNvPr id="10" name="Text 8"/>
          <p:cNvSpPr/>
          <p:nvPr/>
        </p:nvSpPr>
        <p:spPr>
          <a:xfrm>
            <a:off x="777240" y="3474720"/>
            <a:ext cx="5029200" cy="594360"/>
          </a:xfrm>
          <a:prstGeom prst="rect">
            <a:avLst/>
          </a:prstGeom>
          <a:noFill/>
          <a:ln/>
        </p:spPr>
        <p:txBody>
          <a:bodyPr wrap="square" lIns="0" tIns="0" rIns="0" bIns="0" rtlCol="0" anchor="t"/>
          <a:lstStyle/>
          <a:p>
            <a:pPr marL="0" indent="0">
              <a:buNone/>
            </a:pPr>
            <a:r>
              <a:rPr lang="en-US" sz="1200" i="1" dirty="0">
                <a:solidFill>
                  <a:srgbClr val="5A5A62"/>
                </a:solidFill>
                <a:latin typeface="Calibri" pitchFamily="34" charset="0"/>
                <a:ea typeface="Calibri" pitchFamily="34" charset="-122"/>
                <a:cs typeface="Calibri" pitchFamily="34" charset="-120"/>
              </a:rPr>
              <a:t>Ships an OSS library that hit 500k+ npm downloads. Codes for a living. Maintains on weekends.</a:t>
            </a:r>
            <a:endParaRPr lang="en-US" sz="1200" dirty="0"/>
          </a:p>
        </p:txBody>
      </p:sp>
      <p:sp>
        <p:nvSpPr>
          <p:cNvPr id="11" name="Text 9"/>
          <p:cNvSpPr/>
          <p:nvPr/>
        </p:nvSpPr>
        <p:spPr>
          <a:xfrm>
            <a:off x="777240" y="4160520"/>
            <a:ext cx="1828800" cy="256032"/>
          </a:xfrm>
          <a:prstGeom prst="rect">
            <a:avLst/>
          </a:prstGeom>
          <a:noFill/>
          <a:ln/>
        </p:spPr>
        <p:txBody>
          <a:bodyPr wrap="square" lIns="0" tIns="0" rIns="0" bIns="0" rtlCol="0" anchor="ctr"/>
          <a:lstStyle/>
          <a:p>
            <a:pPr marL="0" indent="0">
              <a:buNone/>
            </a:pPr>
            <a:r>
              <a:rPr lang="en-US" sz="900" b="1" kern="0" spc="200" dirty="0">
                <a:solidFill>
                  <a:srgbClr val="C42B37"/>
                </a:solidFill>
                <a:latin typeface="Consolas" pitchFamily="34" charset="0"/>
                <a:ea typeface="Consolas" pitchFamily="34" charset="-122"/>
                <a:cs typeface="Consolas" pitchFamily="34" charset="-120"/>
              </a:rPr>
              <a:t>PAIN</a:t>
            </a:r>
            <a:endParaRPr lang="en-US" sz="900" dirty="0"/>
          </a:p>
        </p:txBody>
      </p:sp>
      <p:sp>
        <p:nvSpPr>
          <p:cNvPr id="12" name="Text 10"/>
          <p:cNvSpPr/>
          <p:nvPr/>
        </p:nvSpPr>
        <p:spPr>
          <a:xfrm>
            <a:off x="777240" y="4416552"/>
            <a:ext cx="5029200" cy="59436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40 GitHub notifications a day. Can’t tell which matter. Opens 12, actions 2, feels behind.</a:t>
            </a:r>
            <a:endParaRPr lang="en-US" sz="1200" dirty="0"/>
          </a:p>
        </p:txBody>
      </p:sp>
      <p:sp>
        <p:nvSpPr>
          <p:cNvPr id="13" name="Text 11"/>
          <p:cNvSpPr/>
          <p:nvPr/>
        </p:nvSpPr>
        <p:spPr>
          <a:xfrm>
            <a:off x="777240" y="5029200"/>
            <a:ext cx="1828800" cy="256032"/>
          </a:xfrm>
          <a:prstGeom prst="rect">
            <a:avLst/>
          </a:prstGeom>
          <a:noFill/>
          <a:ln/>
        </p:spPr>
        <p:txBody>
          <a:bodyPr wrap="square" lIns="0" tIns="0" rIns="0" bIns="0" rtlCol="0" anchor="ctr"/>
          <a:lstStyle/>
          <a:p>
            <a:pPr marL="0" indent="0">
              <a:buNone/>
            </a:pPr>
            <a:r>
              <a:rPr lang="en-US" sz="900" b="1" kern="0" spc="200" dirty="0">
                <a:solidFill>
                  <a:srgbClr val="C42B37"/>
                </a:solidFill>
                <a:latin typeface="Consolas" pitchFamily="34" charset="0"/>
                <a:ea typeface="Consolas" pitchFamily="34" charset="-122"/>
                <a:cs typeface="Consolas" pitchFamily="34" charset="-120"/>
              </a:rPr>
              <a:t>WANTS</a:t>
            </a:r>
            <a:endParaRPr lang="en-US" sz="900" dirty="0"/>
          </a:p>
        </p:txBody>
      </p:sp>
      <p:sp>
        <p:nvSpPr>
          <p:cNvPr id="14" name="Text 12"/>
          <p:cNvSpPr/>
          <p:nvPr/>
        </p:nvSpPr>
        <p:spPr>
          <a:xfrm>
            <a:off x="777240" y="5285232"/>
            <a:ext cx="5029200" cy="32004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The 5 signals worth stopping her weekend for. Ranked. Explained.</a:t>
            </a:r>
            <a:endParaRPr lang="en-US" sz="1200" dirty="0"/>
          </a:p>
        </p:txBody>
      </p:sp>
      <p:sp>
        <p:nvSpPr>
          <p:cNvPr id="15" name="Shape 13"/>
          <p:cNvSpPr/>
          <p:nvPr/>
        </p:nvSpPr>
        <p:spPr>
          <a:xfrm>
            <a:off x="6172200" y="2423160"/>
            <a:ext cx="5486400" cy="3200400"/>
          </a:xfrm>
          <a:prstGeom prst="rect">
            <a:avLst/>
          </a:prstGeom>
          <a:solidFill>
            <a:srgbClr val="F8F5EE"/>
          </a:solidFill>
          <a:ln w="6350">
            <a:solidFill>
              <a:srgbClr val="A4A4AC"/>
            </a:solidFill>
            <a:prstDash val="solid"/>
          </a:ln>
        </p:spPr>
        <p:txBody>
          <a:bodyPr/>
          <a:lstStyle/>
          <a:p>
            <a:endParaRPr lang="en-US"/>
          </a:p>
        </p:txBody>
      </p:sp>
      <p:sp>
        <p:nvSpPr>
          <p:cNvPr id="16" name="Text 14"/>
          <p:cNvSpPr/>
          <p:nvPr/>
        </p:nvSpPr>
        <p:spPr>
          <a:xfrm>
            <a:off x="6446520" y="2651760"/>
            <a:ext cx="5029200" cy="27432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PERSONA 02</a:t>
            </a:r>
            <a:endParaRPr lang="en-US" sz="1000" dirty="0"/>
          </a:p>
        </p:txBody>
      </p:sp>
      <p:sp>
        <p:nvSpPr>
          <p:cNvPr id="17" name="Text 15"/>
          <p:cNvSpPr/>
          <p:nvPr/>
        </p:nvSpPr>
        <p:spPr>
          <a:xfrm>
            <a:off x="6446520" y="2926080"/>
            <a:ext cx="5029200" cy="502920"/>
          </a:xfrm>
          <a:prstGeom prst="rect">
            <a:avLst/>
          </a:prstGeom>
          <a:noFill/>
          <a:ln/>
        </p:spPr>
        <p:txBody>
          <a:bodyPr wrap="square" lIns="0" tIns="0" rIns="0" bIns="0" rtlCol="0" anchor="ctr"/>
          <a:lstStyle/>
          <a:p>
            <a:pPr marL="0" indent="0">
              <a:buNone/>
            </a:pPr>
            <a:r>
              <a:rPr lang="en-US" sz="2600" b="1" dirty="0">
                <a:solidFill>
                  <a:srgbClr val="0F0F14"/>
                </a:solidFill>
                <a:latin typeface="Cambria" pitchFamily="34" charset="0"/>
                <a:ea typeface="Cambria" pitchFamily="34" charset="-122"/>
                <a:cs typeface="Cambria" pitchFamily="34" charset="-120"/>
              </a:rPr>
              <a:t>Alex</a:t>
            </a:r>
            <a:r>
              <a:rPr lang="en-US" sz="2000" i="1" dirty="0">
                <a:solidFill>
                  <a:srgbClr val="5A5A62"/>
                </a:solidFill>
                <a:latin typeface="Cambria" pitchFamily="34" charset="0"/>
                <a:ea typeface="Cambria" pitchFamily="34" charset="-122"/>
                <a:cs typeface="Cambria" pitchFamily="34" charset="-120"/>
              </a:rPr>
              <a:t>. Small team on a dev tool</a:t>
            </a:r>
            <a:endParaRPr lang="en-US" sz="2600" dirty="0"/>
          </a:p>
        </p:txBody>
      </p:sp>
      <p:sp>
        <p:nvSpPr>
          <p:cNvPr id="18" name="Text 16"/>
          <p:cNvSpPr/>
          <p:nvPr/>
        </p:nvSpPr>
        <p:spPr>
          <a:xfrm>
            <a:off x="6446520" y="3474720"/>
            <a:ext cx="5029200" cy="594360"/>
          </a:xfrm>
          <a:prstGeom prst="rect">
            <a:avLst/>
          </a:prstGeom>
          <a:noFill/>
          <a:ln/>
        </p:spPr>
        <p:txBody>
          <a:bodyPr wrap="square" lIns="0" tIns="0" rIns="0" bIns="0" rtlCol="0" anchor="t"/>
          <a:lstStyle/>
          <a:p>
            <a:pPr marL="0" indent="0">
              <a:buNone/>
            </a:pPr>
            <a:r>
              <a:rPr lang="en-US" sz="1200" i="1" dirty="0">
                <a:solidFill>
                  <a:srgbClr val="5A5A62"/>
                </a:solidFill>
                <a:latin typeface="Calibri" pitchFamily="34" charset="0"/>
                <a:ea typeface="Calibri" pitchFamily="34" charset="-122"/>
                <a:cs typeface="Calibri" pitchFamily="34" charset="-120"/>
              </a:rPr>
              <a:t>Three-person team maintaining a testing framework with real production users.</a:t>
            </a:r>
            <a:endParaRPr lang="en-US" sz="1200" dirty="0"/>
          </a:p>
        </p:txBody>
      </p:sp>
      <p:sp>
        <p:nvSpPr>
          <p:cNvPr id="19" name="Text 17"/>
          <p:cNvSpPr/>
          <p:nvPr/>
        </p:nvSpPr>
        <p:spPr>
          <a:xfrm>
            <a:off x="6446520" y="4160520"/>
            <a:ext cx="1828800" cy="256032"/>
          </a:xfrm>
          <a:prstGeom prst="rect">
            <a:avLst/>
          </a:prstGeom>
          <a:noFill/>
          <a:ln/>
        </p:spPr>
        <p:txBody>
          <a:bodyPr wrap="square" lIns="0" tIns="0" rIns="0" bIns="0" rtlCol="0" anchor="ctr"/>
          <a:lstStyle/>
          <a:p>
            <a:pPr marL="0" indent="0">
              <a:buNone/>
            </a:pPr>
            <a:r>
              <a:rPr lang="en-US" sz="900" b="1" kern="0" spc="200" dirty="0">
                <a:solidFill>
                  <a:srgbClr val="C42B37"/>
                </a:solidFill>
                <a:latin typeface="Consolas" pitchFamily="34" charset="0"/>
                <a:ea typeface="Consolas" pitchFamily="34" charset="-122"/>
                <a:cs typeface="Consolas" pitchFamily="34" charset="-120"/>
              </a:rPr>
              <a:t>PAIN</a:t>
            </a:r>
            <a:endParaRPr lang="en-US" sz="900" dirty="0"/>
          </a:p>
        </p:txBody>
      </p:sp>
      <p:sp>
        <p:nvSpPr>
          <p:cNvPr id="20" name="Text 18"/>
          <p:cNvSpPr/>
          <p:nvPr/>
        </p:nvSpPr>
        <p:spPr>
          <a:xfrm>
            <a:off x="6446520" y="4416552"/>
            <a:ext cx="5029200" cy="59436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One person doing community. Always behind. Adoption signals lost in noise.</a:t>
            </a:r>
            <a:endParaRPr lang="en-US" sz="1200" dirty="0"/>
          </a:p>
        </p:txBody>
      </p:sp>
      <p:sp>
        <p:nvSpPr>
          <p:cNvPr id="21" name="Text 19"/>
          <p:cNvSpPr/>
          <p:nvPr/>
        </p:nvSpPr>
        <p:spPr>
          <a:xfrm>
            <a:off x="6446520" y="5029200"/>
            <a:ext cx="1828800" cy="256032"/>
          </a:xfrm>
          <a:prstGeom prst="rect">
            <a:avLst/>
          </a:prstGeom>
          <a:noFill/>
          <a:ln/>
        </p:spPr>
        <p:txBody>
          <a:bodyPr wrap="square" lIns="0" tIns="0" rIns="0" bIns="0" rtlCol="0" anchor="ctr"/>
          <a:lstStyle/>
          <a:p>
            <a:pPr marL="0" indent="0">
              <a:buNone/>
            </a:pPr>
            <a:r>
              <a:rPr lang="en-US" sz="900" b="1" kern="0" spc="200" dirty="0">
                <a:solidFill>
                  <a:srgbClr val="C42B37"/>
                </a:solidFill>
                <a:latin typeface="Consolas" pitchFamily="34" charset="0"/>
                <a:ea typeface="Consolas" pitchFamily="34" charset="-122"/>
                <a:cs typeface="Consolas" pitchFamily="34" charset="-120"/>
              </a:rPr>
              <a:t>WANTS</a:t>
            </a:r>
            <a:endParaRPr lang="en-US" sz="900" dirty="0"/>
          </a:p>
        </p:txBody>
      </p:sp>
      <p:sp>
        <p:nvSpPr>
          <p:cNvPr id="22" name="Text 20"/>
          <p:cNvSpPr/>
          <p:nvPr/>
        </p:nvSpPr>
        <p:spPr>
          <a:xfrm>
            <a:off x="6446520" y="5285232"/>
            <a:ext cx="5029200" cy="32004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A weekly queue. Three signals this week. Not three hundred.</a:t>
            </a:r>
            <a:endParaRPr lang="en-US" sz="1200" dirty="0"/>
          </a:p>
        </p:txBody>
      </p:sp>
      <p:sp>
        <p:nvSpPr>
          <p:cNvPr id="23" name="Text 21"/>
          <p:cNvSpPr/>
          <p:nvPr/>
        </p:nvSpPr>
        <p:spPr>
          <a:xfrm>
            <a:off x="502920" y="5989320"/>
            <a:ext cx="11155680" cy="365760"/>
          </a:xfrm>
          <a:prstGeom prst="rect">
            <a:avLst/>
          </a:prstGeom>
          <a:noFill/>
          <a:ln/>
        </p:spPr>
        <p:txBody>
          <a:bodyPr wrap="square" lIns="0" tIns="0" rIns="0" bIns="0" rtlCol="0" anchor="ctr"/>
          <a:lstStyle/>
          <a:p>
            <a:pPr marL="0" indent="0" algn="ctr">
              <a:buNone/>
            </a:pPr>
            <a:r>
              <a:rPr lang="en-US" sz="1500" i="1" dirty="0">
                <a:solidFill>
                  <a:srgbClr val="0F0F14"/>
                </a:solidFill>
                <a:latin typeface="Cambria" pitchFamily="34" charset="0"/>
                <a:ea typeface="Cambria" pitchFamily="34" charset="-122"/>
                <a:cs typeface="Cambria" pitchFamily="34" charset="-120"/>
              </a:rPr>
              <a:t>The maintainer’s inbox is not a coverage problem. It’s a triage problem</a:t>
            </a:r>
            <a:r>
              <a:rPr lang="en-US" sz="1500" i="1" dirty="0">
                <a:solidFill>
                  <a:srgbClr val="E63946"/>
                </a:solidFill>
                <a:latin typeface="Cambria" pitchFamily="34" charset="0"/>
                <a:ea typeface="Cambria" pitchFamily="34" charset="-122"/>
                <a:cs typeface="Cambria" pitchFamily="34" charset="-120"/>
              </a:rPr>
              <a:t>.</a:t>
            </a:r>
            <a:endParaRPr lang="en-US" sz="1500" dirty="0"/>
          </a:p>
        </p:txBody>
      </p:sp>
      <p:sp>
        <p:nvSpPr>
          <p:cNvPr id="25" name="Text 22"/>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26" name="Text 23"/>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05</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WHY ME</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3400" b="1" dirty="0">
                <a:solidFill>
                  <a:srgbClr val="0F0F14"/>
                </a:solidFill>
                <a:latin typeface="Cambria" pitchFamily="34" charset="0"/>
                <a:ea typeface="Cambria" pitchFamily="34" charset="-122"/>
                <a:cs typeface="Cambria" pitchFamily="34" charset="-120"/>
              </a:rPr>
              <a:t>Five years shipping tools engineers adopt</a:t>
            </a:r>
            <a:r>
              <a:rPr lang="en-US" sz="3400" b="1" dirty="0">
                <a:solidFill>
                  <a:srgbClr val="E63946"/>
                </a:solidFill>
                <a:latin typeface="Cambria" pitchFamily="34" charset="0"/>
                <a:ea typeface="Cambria" pitchFamily="34" charset="-122"/>
                <a:cs typeface="Cambria" pitchFamily="34" charset="-120"/>
              </a:rPr>
              <a:t>.</a:t>
            </a:r>
            <a:endParaRPr lang="en-US" sz="3400" dirty="0"/>
          </a:p>
        </p:txBody>
      </p:sp>
      <p:sp>
        <p:nvSpPr>
          <p:cNvPr id="6" name="Text 4"/>
          <p:cNvSpPr/>
          <p:nvPr/>
        </p:nvSpPr>
        <p:spPr>
          <a:xfrm>
            <a:off x="502920" y="155448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Verifiable public numbers. No adjectives required.</a:t>
            </a:r>
            <a:endParaRPr lang="en-US" sz="1800" dirty="0"/>
          </a:p>
        </p:txBody>
      </p:sp>
      <p:sp>
        <p:nvSpPr>
          <p:cNvPr id="7" name="Shape 5"/>
          <p:cNvSpPr/>
          <p:nvPr/>
        </p:nvSpPr>
        <p:spPr>
          <a:xfrm>
            <a:off x="502920" y="2651760"/>
            <a:ext cx="3703320" cy="2788920"/>
          </a:xfrm>
          <a:prstGeom prst="rect">
            <a:avLst/>
          </a:prstGeom>
          <a:solidFill>
            <a:srgbClr val="F8F5EE"/>
          </a:solidFill>
          <a:ln w="6350">
            <a:solidFill>
              <a:srgbClr val="A4A4AC"/>
            </a:solidFill>
            <a:prstDash val="solid"/>
          </a:ln>
        </p:spPr>
        <p:txBody>
          <a:bodyPr/>
          <a:lstStyle/>
          <a:p>
            <a:endParaRPr lang="en-US"/>
          </a:p>
        </p:txBody>
      </p:sp>
      <p:sp>
        <p:nvSpPr>
          <p:cNvPr id="8" name="Text 6"/>
          <p:cNvSpPr/>
          <p:nvPr/>
        </p:nvSpPr>
        <p:spPr>
          <a:xfrm>
            <a:off x="777240" y="2971800"/>
            <a:ext cx="3154680" cy="1051560"/>
          </a:xfrm>
          <a:prstGeom prst="rect">
            <a:avLst/>
          </a:prstGeom>
          <a:noFill/>
          <a:ln/>
        </p:spPr>
        <p:txBody>
          <a:bodyPr wrap="square" lIns="0" tIns="0" rIns="0" bIns="0" rtlCol="0" anchor="t"/>
          <a:lstStyle/>
          <a:p>
            <a:pPr marL="0" indent="0">
              <a:buNone/>
            </a:pPr>
            <a:r>
              <a:rPr lang="en-US" sz="5600" b="1" dirty="0">
                <a:solidFill>
                  <a:srgbClr val="E63946"/>
                </a:solidFill>
                <a:latin typeface="Cambria" pitchFamily="34" charset="0"/>
                <a:ea typeface="Cambria" pitchFamily="34" charset="-122"/>
                <a:cs typeface="Cambria" pitchFamily="34" charset="-120"/>
              </a:rPr>
              <a:t>3.9M+</a:t>
            </a:r>
            <a:endParaRPr lang="en-US" sz="5600" dirty="0"/>
          </a:p>
        </p:txBody>
      </p:sp>
      <p:sp>
        <p:nvSpPr>
          <p:cNvPr id="9" name="Text 7"/>
          <p:cNvSpPr/>
          <p:nvPr/>
        </p:nvSpPr>
        <p:spPr>
          <a:xfrm>
            <a:off x="777240" y="4069080"/>
            <a:ext cx="3154680" cy="274320"/>
          </a:xfrm>
          <a:prstGeom prst="rect">
            <a:avLst/>
          </a:prstGeom>
          <a:noFill/>
          <a:ln/>
        </p:spPr>
        <p:txBody>
          <a:bodyPr wrap="square" lIns="0" tIns="0" rIns="0" bIns="0" rtlCol="0" anchor="ctr"/>
          <a:lstStyle/>
          <a:p>
            <a:pPr marL="0" indent="0">
              <a:buNone/>
            </a:pPr>
            <a:r>
              <a:rPr lang="en-US" sz="1000" kern="0" spc="300" dirty="0">
                <a:solidFill>
                  <a:srgbClr val="5A5A62"/>
                </a:solidFill>
                <a:latin typeface="Consolas" pitchFamily="34" charset="0"/>
                <a:ea typeface="Consolas" pitchFamily="34" charset="-122"/>
                <a:cs typeface="Consolas" pitchFamily="34" charset="-120"/>
              </a:rPr>
              <a:t>NPM DOWNLOADS</a:t>
            </a:r>
            <a:endParaRPr lang="en-US" sz="1000" dirty="0"/>
          </a:p>
        </p:txBody>
      </p:sp>
      <p:sp>
        <p:nvSpPr>
          <p:cNvPr id="10" name="Shape 8"/>
          <p:cNvSpPr/>
          <p:nvPr/>
        </p:nvSpPr>
        <p:spPr>
          <a:xfrm>
            <a:off x="777240" y="4434840"/>
            <a:ext cx="3154680" cy="0"/>
          </a:xfrm>
          <a:prstGeom prst="line">
            <a:avLst/>
          </a:prstGeom>
          <a:noFill/>
          <a:ln w="6350">
            <a:solidFill>
              <a:srgbClr val="A4A4AC"/>
            </a:solidFill>
            <a:prstDash val="solid"/>
          </a:ln>
        </p:spPr>
        <p:txBody>
          <a:bodyPr/>
          <a:lstStyle/>
          <a:p>
            <a:endParaRPr lang="en-US"/>
          </a:p>
        </p:txBody>
      </p:sp>
      <p:sp>
        <p:nvSpPr>
          <p:cNvPr id="11" name="Text 9"/>
          <p:cNvSpPr/>
          <p:nvPr/>
        </p:nvSpPr>
        <p:spPr>
          <a:xfrm>
            <a:off x="777240" y="4572000"/>
            <a:ext cx="3154680" cy="731520"/>
          </a:xfrm>
          <a:prstGeom prst="rect">
            <a:avLst/>
          </a:prstGeom>
          <a:noFill/>
          <a:ln/>
        </p:spPr>
        <p:txBody>
          <a:bodyPr wrap="square" lIns="0" tIns="0" rIns="0" bIns="0" rtlCol="0" anchor="t"/>
          <a:lstStyle/>
          <a:p>
            <a:pPr marL="0" indent="0">
              <a:buNone/>
            </a:pPr>
            <a:r>
              <a:rPr lang="en-US" sz="1100" i="1" dirty="0">
                <a:solidFill>
                  <a:srgbClr val="5A5A62"/>
                </a:solidFill>
                <a:latin typeface="Calibri" pitchFamily="34" charset="0"/>
                <a:ea typeface="Calibri" pitchFamily="34" charset="-122"/>
                <a:cs typeface="Calibri" pitchFamily="34" charset="-120"/>
              </a:rPr>
              <a:t>Random Word · TypeScript · shipped 2020 · still growing</a:t>
            </a:r>
            <a:endParaRPr lang="en-US" sz="1100" dirty="0"/>
          </a:p>
        </p:txBody>
      </p:sp>
      <p:sp>
        <p:nvSpPr>
          <p:cNvPr id="12" name="Shape 10"/>
          <p:cNvSpPr/>
          <p:nvPr/>
        </p:nvSpPr>
        <p:spPr>
          <a:xfrm>
            <a:off x="4297680" y="2651760"/>
            <a:ext cx="3703320" cy="2788920"/>
          </a:xfrm>
          <a:prstGeom prst="rect">
            <a:avLst/>
          </a:prstGeom>
          <a:solidFill>
            <a:srgbClr val="F8F5EE"/>
          </a:solidFill>
          <a:ln w="6350">
            <a:solidFill>
              <a:srgbClr val="A4A4AC"/>
            </a:solidFill>
            <a:prstDash val="solid"/>
          </a:ln>
        </p:spPr>
        <p:txBody>
          <a:bodyPr/>
          <a:lstStyle/>
          <a:p>
            <a:endParaRPr lang="en-US"/>
          </a:p>
        </p:txBody>
      </p:sp>
      <p:sp>
        <p:nvSpPr>
          <p:cNvPr id="13" name="Text 11"/>
          <p:cNvSpPr/>
          <p:nvPr/>
        </p:nvSpPr>
        <p:spPr>
          <a:xfrm>
            <a:off x="4572000" y="2971800"/>
            <a:ext cx="3154680" cy="1051560"/>
          </a:xfrm>
          <a:prstGeom prst="rect">
            <a:avLst/>
          </a:prstGeom>
          <a:noFill/>
          <a:ln/>
        </p:spPr>
        <p:txBody>
          <a:bodyPr wrap="square" lIns="0" tIns="0" rIns="0" bIns="0" rtlCol="0" anchor="t"/>
          <a:lstStyle/>
          <a:p>
            <a:pPr marL="0" indent="0">
              <a:buNone/>
            </a:pPr>
            <a:r>
              <a:rPr lang="en-US" sz="5600" b="1" dirty="0">
                <a:solidFill>
                  <a:srgbClr val="E63946"/>
                </a:solidFill>
                <a:latin typeface="Cambria" pitchFamily="34" charset="0"/>
                <a:ea typeface="Cambria" pitchFamily="34" charset="-122"/>
                <a:cs typeface="Cambria" pitchFamily="34" charset="-120"/>
              </a:rPr>
              <a:t>63k+</a:t>
            </a:r>
            <a:endParaRPr lang="en-US" sz="5600" dirty="0"/>
          </a:p>
        </p:txBody>
      </p:sp>
      <p:sp>
        <p:nvSpPr>
          <p:cNvPr id="14" name="Text 12"/>
          <p:cNvSpPr/>
          <p:nvPr/>
        </p:nvSpPr>
        <p:spPr>
          <a:xfrm>
            <a:off x="4572000" y="4069080"/>
            <a:ext cx="3154680" cy="274320"/>
          </a:xfrm>
          <a:prstGeom prst="rect">
            <a:avLst/>
          </a:prstGeom>
          <a:noFill/>
          <a:ln/>
        </p:spPr>
        <p:txBody>
          <a:bodyPr wrap="square" lIns="0" tIns="0" rIns="0" bIns="0" rtlCol="0" anchor="ctr"/>
          <a:lstStyle/>
          <a:p>
            <a:pPr marL="0" indent="0">
              <a:buNone/>
            </a:pPr>
            <a:r>
              <a:rPr lang="en-US" sz="1000" kern="0" spc="300" dirty="0">
                <a:solidFill>
                  <a:srgbClr val="5A5A62"/>
                </a:solidFill>
                <a:latin typeface="Consolas" pitchFamily="34" charset="0"/>
                <a:ea typeface="Consolas" pitchFamily="34" charset="-122"/>
                <a:cs typeface="Consolas" pitchFamily="34" charset="-120"/>
              </a:rPr>
              <a:t>WEEKLY DOWNLOADS</a:t>
            </a:r>
            <a:endParaRPr lang="en-US" sz="1000" dirty="0"/>
          </a:p>
        </p:txBody>
      </p:sp>
      <p:sp>
        <p:nvSpPr>
          <p:cNvPr id="15" name="Shape 13"/>
          <p:cNvSpPr/>
          <p:nvPr/>
        </p:nvSpPr>
        <p:spPr>
          <a:xfrm>
            <a:off x="4572000" y="4434840"/>
            <a:ext cx="3154680" cy="0"/>
          </a:xfrm>
          <a:prstGeom prst="line">
            <a:avLst/>
          </a:prstGeom>
          <a:noFill/>
          <a:ln w="6350">
            <a:solidFill>
              <a:srgbClr val="A4A4AC"/>
            </a:solidFill>
            <a:prstDash val="solid"/>
          </a:ln>
        </p:spPr>
        <p:txBody>
          <a:bodyPr/>
          <a:lstStyle/>
          <a:p>
            <a:endParaRPr lang="en-US"/>
          </a:p>
        </p:txBody>
      </p:sp>
      <p:sp>
        <p:nvSpPr>
          <p:cNvPr id="16" name="Text 14"/>
          <p:cNvSpPr/>
          <p:nvPr/>
        </p:nvSpPr>
        <p:spPr>
          <a:xfrm>
            <a:off x="4572000" y="4572000"/>
            <a:ext cx="3154680" cy="731520"/>
          </a:xfrm>
          <a:prstGeom prst="rect">
            <a:avLst/>
          </a:prstGeom>
          <a:noFill/>
          <a:ln/>
        </p:spPr>
        <p:txBody>
          <a:bodyPr wrap="square" lIns="0" tIns="0" rIns="0" bIns="0" rtlCol="0" anchor="t"/>
          <a:lstStyle/>
          <a:p>
            <a:pPr marL="0" indent="0">
              <a:buNone/>
            </a:pPr>
            <a:r>
              <a:rPr lang="en-US" sz="1100" i="1" dirty="0">
                <a:solidFill>
                  <a:srgbClr val="5A5A62"/>
                </a:solidFill>
                <a:latin typeface="Calibri" pitchFamily="34" charset="0"/>
                <a:ea typeface="Calibri" pitchFamily="34" charset="-122"/>
                <a:cs typeface="Calibri" pitchFamily="34" charset="-120"/>
              </a:rPr>
              <a:t>Nightwatch Reporter Revamp · React · BrowserStack · prod</a:t>
            </a:r>
            <a:endParaRPr lang="en-US" sz="1100" dirty="0"/>
          </a:p>
        </p:txBody>
      </p:sp>
      <p:sp>
        <p:nvSpPr>
          <p:cNvPr id="17" name="Shape 15"/>
          <p:cNvSpPr/>
          <p:nvPr/>
        </p:nvSpPr>
        <p:spPr>
          <a:xfrm>
            <a:off x="8092440" y="2651760"/>
            <a:ext cx="3703320" cy="2788920"/>
          </a:xfrm>
          <a:prstGeom prst="rect">
            <a:avLst/>
          </a:prstGeom>
          <a:solidFill>
            <a:srgbClr val="F8F5EE"/>
          </a:solidFill>
          <a:ln w="6350">
            <a:solidFill>
              <a:srgbClr val="A4A4AC"/>
            </a:solidFill>
            <a:prstDash val="solid"/>
          </a:ln>
        </p:spPr>
        <p:txBody>
          <a:bodyPr/>
          <a:lstStyle/>
          <a:p>
            <a:endParaRPr lang="en-US"/>
          </a:p>
        </p:txBody>
      </p:sp>
      <p:sp>
        <p:nvSpPr>
          <p:cNvPr id="18" name="Text 16"/>
          <p:cNvSpPr/>
          <p:nvPr/>
        </p:nvSpPr>
        <p:spPr>
          <a:xfrm>
            <a:off x="8366760" y="2971800"/>
            <a:ext cx="3154680" cy="1051560"/>
          </a:xfrm>
          <a:prstGeom prst="rect">
            <a:avLst/>
          </a:prstGeom>
          <a:noFill/>
          <a:ln/>
        </p:spPr>
        <p:txBody>
          <a:bodyPr wrap="square" lIns="0" tIns="0" rIns="0" bIns="0" rtlCol="0" anchor="t"/>
          <a:lstStyle/>
          <a:p>
            <a:pPr marL="0" indent="0">
              <a:buNone/>
            </a:pPr>
            <a:r>
              <a:rPr lang="en-US" sz="5600" b="1" dirty="0">
                <a:solidFill>
                  <a:srgbClr val="E63946"/>
                </a:solidFill>
                <a:latin typeface="Cambria" pitchFamily="34" charset="0"/>
                <a:ea typeface="Cambria" pitchFamily="34" charset="-122"/>
                <a:cs typeface="Cambria" pitchFamily="34" charset="-120"/>
              </a:rPr>
              <a:t>500k</a:t>
            </a:r>
            <a:endParaRPr lang="en-US" sz="5600" dirty="0"/>
          </a:p>
        </p:txBody>
      </p:sp>
      <p:sp>
        <p:nvSpPr>
          <p:cNvPr id="19" name="Text 17"/>
          <p:cNvSpPr/>
          <p:nvPr/>
        </p:nvSpPr>
        <p:spPr>
          <a:xfrm>
            <a:off x="8366760" y="4069080"/>
            <a:ext cx="3154680" cy="274320"/>
          </a:xfrm>
          <a:prstGeom prst="rect">
            <a:avLst/>
          </a:prstGeom>
          <a:noFill/>
          <a:ln/>
        </p:spPr>
        <p:txBody>
          <a:bodyPr wrap="square" lIns="0" tIns="0" rIns="0" bIns="0" rtlCol="0" anchor="ctr"/>
          <a:lstStyle/>
          <a:p>
            <a:pPr marL="0" indent="0">
              <a:buNone/>
            </a:pPr>
            <a:r>
              <a:rPr lang="en-US" sz="1000" kern="0" spc="300" dirty="0">
                <a:solidFill>
                  <a:srgbClr val="5A5A62"/>
                </a:solidFill>
                <a:latin typeface="Consolas" pitchFamily="34" charset="0"/>
                <a:ea typeface="Consolas" pitchFamily="34" charset="-122"/>
                <a:cs typeface="Consolas" pitchFamily="34" charset="-120"/>
              </a:rPr>
              <a:t>USERS, ZERO DOWNTIME</a:t>
            </a:r>
            <a:endParaRPr lang="en-US" sz="1000" dirty="0"/>
          </a:p>
        </p:txBody>
      </p:sp>
      <p:sp>
        <p:nvSpPr>
          <p:cNvPr id="20" name="Shape 18"/>
          <p:cNvSpPr/>
          <p:nvPr/>
        </p:nvSpPr>
        <p:spPr>
          <a:xfrm>
            <a:off x="8366760" y="4434840"/>
            <a:ext cx="3154680" cy="0"/>
          </a:xfrm>
          <a:prstGeom prst="line">
            <a:avLst/>
          </a:prstGeom>
          <a:noFill/>
          <a:ln w="6350">
            <a:solidFill>
              <a:srgbClr val="A4A4AC"/>
            </a:solidFill>
            <a:prstDash val="solid"/>
          </a:ln>
        </p:spPr>
        <p:txBody>
          <a:bodyPr/>
          <a:lstStyle/>
          <a:p>
            <a:endParaRPr lang="en-US"/>
          </a:p>
        </p:txBody>
      </p:sp>
      <p:sp>
        <p:nvSpPr>
          <p:cNvPr id="21" name="Text 19"/>
          <p:cNvSpPr/>
          <p:nvPr/>
        </p:nvSpPr>
        <p:spPr>
          <a:xfrm>
            <a:off x="8366760" y="4572000"/>
            <a:ext cx="3154680" cy="731520"/>
          </a:xfrm>
          <a:prstGeom prst="rect">
            <a:avLst/>
          </a:prstGeom>
          <a:noFill/>
          <a:ln/>
        </p:spPr>
        <p:txBody>
          <a:bodyPr wrap="square" lIns="0" tIns="0" rIns="0" bIns="0" rtlCol="0" anchor="t"/>
          <a:lstStyle/>
          <a:p>
            <a:pPr marL="0" indent="0">
              <a:buNone/>
            </a:pPr>
            <a:r>
              <a:rPr lang="en-US" sz="1100" i="1" dirty="0">
                <a:solidFill>
                  <a:srgbClr val="5A5A62"/>
                </a:solidFill>
                <a:latin typeface="Calibri" pitchFamily="34" charset="0"/>
                <a:ea typeface="Calibri" pitchFamily="34" charset="-122"/>
                <a:cs typeface="Calibri" pitchFamily="34" charset="-120"/>
              </a:rPr>
              <a:t>Kubernetes / FluxCD migration · BrowserStack · 2024</a:t>
            </a:r>
            <a:endParaRPr lang="en-US" sz="1100" dirty="0"/>
          </a:p>
        </p:txBody>
      </p:sp>
      <p:sp>
        <p:nvSpPr>
          <p:cNvPr id="22" name="Text 20"/>
          <p:cNvSpPr/>
          <p:nvPr/>
        </p:nvSpPr>
        <p:spPr>
          <a:xfrm>
            <a:off x="502920" y="5806440"/>
            <a:ext cx="11155680" cy="365760"/>
          </a:xfrm>
          <a:prstGeom prst="rect">
            <a:avLst/>
          </a:prstGeom>
          <a:noFill/>
          <a:ln/>
        </p:spPr>
        <p:txBody>
          <a:bodyPr wrap="square" lIns="0" tIns="0" rIns="0" bIns="0" rtlCol="0" anchor="ctr"/>
          <a:lstStyle/>
          <a:p>
            <a:pPr marL="0" indent="0" algn="ctr">
              <a:buNone/>
            </a:pPr>
            <a:r>
              <a:rPr lang="en-US" sz="1500" i="1" dirty="0">
                <a:solidFill>
                  <a:srgbClr val="0F0F14"/>
                </a:solidFill>
                <a:latin typeface="Cambria" pitchFamily="34" charset="0"/>
                <a:ea typeface="Cambria" pitchFamily="34" charset="-122"/>
                <a:cs typeface="Cambria" pitchFamily="34" charset="-120"/>
              </a:rPr>
              <a:t>These aren’t claims. They’re numbers you can verify without taking my word for it</a:t>
            </a:r>
            <a:r>
              <a:rPr lang="en-US" sz="1500" i="1" dirty="0">
                <a:solidFill>
                  <a:srgbClr val="E63946"/>
                </a:solidFill>
                <a:latin typeface="Cambria" pitchFamily="34" charset="0"/>
                <a:ea typeface="Cambria" pitchFamily="34" charset="-122"/>
                <a:cs typeface="Cambria" pitchFamily="34" charset="-120"/>
              </a:rPr>
              <a:t>.</a:t>
            </a:r>
            <a:endParaRPr lang="en-US" sz="1500" dirty="0"/>
          </a:p>
        </p:txBody>
      </p:sp>
      <p:sp>
        <p:nvSpPr>
          <p:cNvPr id="24" name="Text 21"/>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25" name="Text 22"/>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06</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THE PRODUCT FRAMEWORK</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3000" b="1" dirty="0">
                <a:solidFill>
                  <a:srgbClr val="0F0F14"/>
                </a:solidFill>
                <a:latin typeface="Cambria" pitchFamily="34" charset="0"/>
                <a:ea typeface="Cambria" pitchFamily="34" charset="-122"/>
                <a:cs typeface="Cambria" pitchFamily="34" charset="-120"/>
              </a:rPr>
              <a:t>You don’t get another dashboard. You get 5 signals</a:t>
            </a:r>
            <a:r>
              <a:rPr lang="en-US" sz="3000" b="1" dirty="0">
                <a:solidFill>
                  <a:srgbClr val="E63946"/>
                </a:solidFill>
                <a:latin typeface="Cambria" pitchFamily="34" charset="0"/>
                <a:ea typeface="Cambria" pitchFamily="34" charset="-122"/>
                <a:cs typeface="Cambria" pitchFamily="34" charset="-120"/>
              </a:rPr>
              <a:t>.</a:t>
            </a:r>
            <a:endParaRPr lang="en-US" sz="3000" dirty="0"/>
          </a:p>
        </p:txBody>
      </p:sp>
      <p:sp>
        <p:nvSpPr>
          <p:cNvPr id="6" name="Text 4"/>
          <p:cNvSpPr/>
          <p:nvPr/>
        </p:nvSpPr>
        <p:spPr>
          <a:xfrm>
            <a:off x="502920" y="150876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The 4-Signal Framework. Every classification has a source-weighted confidence score.</a:t>
            </a:r>
            <a:endParaRPr lang="en-US" sz="1800" dirty="0"/>
          </a:p>
        </p:txBody>
      </p:sp>
      <p:sp>
        <p:nvSpPr>
          <p:cNvPr id="7" name="Shape 5"/>
          <p:cNvSpPr/>
          <p:nvPr/>
        </p:nvSpPr>
        <p:spPr>
          <a:xfrm>
            <a:off x="502920" y="2606040"/>
            <a:ext cx="2770632" cy="502920"/>
          </a:xfrm>
          <a:prstGeom prst="rect">
            <a:avLst/>
          </a:prstGeom>
          <a:solidFill>
            <a:srgbClr val="E63946"/>
          </a:solidFill>
          <a:ln/>
        </p:spPr>
        <p:txBody>
          <a:bodyPr/>
          <a:lstStyle/>
          <a:p>
            <a:endParaRPr lang="en-US"/>
          </a:p>
        </p:txBody>
      </p:sp>
      <p:sp>
        <p:nvSpPr>
          <p:cNvPr id="8" name="Text 6"/>
          <p:cNvSpPr/>
          <p:nvPr/>
        </p:nvSpPr>
        <p:spPr>
          <a:xfrm>
            <a:off x="502920" y="2606040"/>
            <a:ext cx="2770632" cy="502920"/>
          </a:xfrm>
          <a:prstGeom prst="rect">
            <a:avLst/>
          </a:prstGeom>
          <a:noFill/>
          <a:ln/>
        </p:spPr>
        <p:txBody>
          <a:bodyPr wrap="square" lIns="0" tIns="0" rIns="0" bIns="0" rtlCol="0" anchor="ctr"/>
          <a:lstStyle/>
          <a:p>
            <a:pPr marL="0" indent="0" algn="ctr">
              <a:buNone/>
            </a:pPr>
            <a:r>
              <a:rPr lang="en-US" sz="1400" b="1" kern="0" spc="400" dirty="0">
                <a:solidFill>
                  <a:srgbClr val="F0EDE4"/>
                </a:solidFill>
                <a:latin typeface="Consolas" pitchFamily="34" charset="0"/>
                <a:ea typeface="Consolas" pitchFamily="34" charset="-122"/>
                <a:cs typeface="Consolas" pitchFamily="34" charset="-120"/>
              </a:rPr>
              <a:t>SIGNAL</a:t>
            </a:r>
            <a:endParaRPr lang="en-US" sz="1400" dirty="0"/>
          </a:p>
        </p:txBody>
      </p:sp>
      <p:sp>
        <p:nvSpPr>
          <p:cNvPr id="9" name="Shape 7"/>
          <p:cNvSpPr/>
          <p:nvPr/>
        </p:nvSpPr>
        <p:spPr>
          <a:xfrm>
            <a:off x="502920" y="3108960"/>
            <a:ext cx="2770632" cy="2606040"/>
          </a:xfrm>
          <a:prstGeom prst="rect">
            <a:avLst/>
          </a:prstGeom>
          <a:solidFill>
            <a:srgbClr val="F8F5EE"/>
          </a:solidFill>
          <a:ln w="6350">
            <a:solidFill>
              <a:srgbClr val="A4A4AC"/>
            </a:solidFill>
            <a:prstDash val="solid"/>
          </a:ln>
        </p:spPr>
        <p:txBody>
          <a:bodyPr/>
          <a:lstStyle/>
          <a:p>
            <a:endParaRPr lang="en-US"/>
          </a:p>
        </p:txBody>
      </p:sp>
      <p:sp>
        <p:nvSpPr>
          <p:cNvPr id="10" name="Text 8"/>
          <p:cNvSpPr/>
          <p:nvPr/>
        </p:nvSpPr>
        <p:spPr>
          <a:xfrm>
            <a:off x="731520" y="3291840"/>
            <a:ext cx="2313432" cy="320040"/>
          </a:xfrm>
          <a:prstGeom prst="rect">
            <a:avLst/>
          </a:prstGeom>
          <a:noFill/>
          <a:ln/>
        </p:spPr>
        <p:txBody>
          <a:bodyPr wrap="square" lIns="0" tIns="0" rIns="0" bIns="0" rtlCol="0" anchor="ctr"/>
          <a:lstStyle/>
          <a:p>
            <a:pPr marL="0" indent="0">
              <a:buNone/>
            </a:pPr>
            <a:r>
              <a:rPr lang="en-US" sz="1800" b="1" i="1" dirty="0">
                <a:solidFill>
                  <a:srgbClr val="0F0F14"/>
                </a:solidFill>
                <a:latin typeface="Cambria" pitchFamily="34" charset="0"/>
                <a:ea typeface="Cambria" pitchFamily="34" charset="-122"/>
                <a:cs typeface="Cambria" pitchFamily="34" charset="-120"/>
              </a:rPr>
              <a:t>Act now</a:t>
            </a:r>
            <a:endParaRPr lang="en-US" sz="1800" dirty="0"/>
          </a:p>
        </p:txBody>
      </p:sp>
      <p:sp>
        <p:nvSpPr>
          <p:cNvPr id="11" name="Shape 9"/>
          <p:cNvSpPr/>
          <p:nvPr/>
        </p:nvSpPr>
        <p:spPr>
          <a:xfrm>
            <a:off x="731520" y="3703320"/>
            <a:ext cx="2313432" cy="0"/>
          </a:xfrm>
          <a:prstGeom prst="line">
            <a:avLst/>
          </a:prstGeom>
          <a:noFill/>
          <a:ln w="6350">
            <a:solidFill>
              <a:srgbClr val="A4A4AC"/>
            </a:solidFill>
            <a:prstDash val="solid"/>
          </a:ln>
        </p:spPr>
        <p:txBody>
          <a:bodyPr/>
          <a:lstStyle/>
          <a:p>
            <a:endParaRPr lang="en-US"/>
          </a:p>
        </p:txBody>
      </p:sp>
      <p:sp>
        <p:nvSpPr>
          <p:cNvPr id="12" name="Text 10"/>
          <p:cNvSpPr/>
          <p:nvPr/>
        </p:nvSpPr>
        <p:spPr>
          <a:xfrm>
            <a:off x="731520" y="3840480"/>
            <a:ext cx="2313432" cy="169164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Reproducible bug from a real user. Reply within 48h.</a:t>
            </a:r>
            <a:endParaRPr lang="en-US" sz="1200" dirty="0"/>
          </a:p>
        </p:txBody>
      </p:sp>
      <p:sp>
        <p:nvSpPr>
          <p:cNvPr id="13" name="Shape 11"/>
          <p:cNvSpPr/>
          <p:nvPr/>
        </p:nvSpPr>
        <p:spPr>
          <a:xfrm>
            <a:off x="3337560" y="2606040"/>
            <a:ext cx="2770632" cy="502920"/>
          </a:xfrm>
          <a:prstGeom prst="rect">
            <a:avLst/>
          </a:prstGeom>
          <a:solidFill>
            <a:srgbClr val="5A5A62"/>
          </a:solidFill>
          <a:ln/>
        </p:spPr>
        <p:txBody>
          <a:bodyPr/>
          <a:lstStyle/>
          <a:p>
            <a:endParaRPr lang="en-US"/>
          </a:p>
        </p:txBody>
      </p:sp>
      <p:sp>
        <p:nvSpPr>
          <p:cNvPr id="14" name="Text 12"/>
          <p:cNvSpPr/>
          <p:nvPr/>
        </p:nvSpPr>
        <p:spPr>
          <a:xfrm>
            <a:off x="3337560" y="2606040"/>
            <a:ext cx="2770632" cy="502920"/>
          </a:xfrm>
          <a:prstGeom prst="rect">
            <a:avLst/>
          </a:prstGeom>
          <a:noFill/>
          <a:ln/>
        </p:spPr>
        <p:txBody>
          <a:bodyPr wrap="square" lIns="0" tIns="0" rIns="0" bIns="0" rtlCol="0" anchor="ctr"/>
          <a:lstStyle/>
          <a:p>
            <a:pPr marL="0" indent="0" algn="ctr">
              <a:buNone/>
            </a:pPr>
            <a:r>
              <a:rPr lang="en-US" sz="1400" b="1" kern="0" spc="400" dirty="0">
                <a:solidFill>
                  <a:srgbClr val="F0EDE4"/>
                </a:solidFill>
                <a:latin typeface="Consolas" pitchFamily="34" charset="0"/>
                <a:ea typeface="Consolas" pitchFamily="34" charset="-122"/>
                <a:cs typeface="Consolas" pitchFamily="34" charset="-120"/>
              </a:rPr>
              <a:t>SILENCE</a:t>
            </a:r>
            <a:endParaRPr lang="en-US" sz="1400" dirty="0"/>
          </a:p>
        </p:txBody>
      </p:sp>
      <p:sp>
        <p:nvSpPr>
          <p:cNvPr id="15" name="Shape 13"/>
          <p:cNvSpPr/>
          <p:nvPr/>
        </p:nvSpPr>
        <p:spPr>
          <a:xfrm>
            <a:off x="3337560" y="3108960"/>
            <a:ext cx="2770632" cy="2606040"/>
          </a:xfrm>
          <a:prstGeom prst="rect">
            <a:avLst/>
          </a:prstGeom>
          <a:solidFill>
            <a:srgbClr val="F8F5EE"/>
          </a:solidFill>
          <a:ln w="6350">
            <a:solidFill>
              <a:srgbClr val="A4A4AC"/>
            </a:solidFill>
            <a:prstDash val="solid"/>
          </a:ln>
        </p:spPr>
        <p:txBody>
          <a:bodyPr/>
          <a:lstStyle/>
          <a:p>
            <a:endParaRPr lang="en-US"/>
          </a:p>
        </p:txBody>
      </p:sp>
      <p:sp>
        <p:nvSpPr>
          <p:cNvPr id="16" name="Text 14"/>
          <p:cNvSpPr/>
          <p:nvPr/>
        </p:nvSpPr>
        <p:spPr>
          <a:xfrm>
            <a:off x="3566160" y="3291840"/>
            <a:ext cx="2313432" cy="320040"/>
          </a:xfrm>
          <a:prstGeom prst="rect">
            <a:avLst/>
          </a:prstGeom>
          <a:noFill/>
          <a:ln/>
        </p:spPr>
        <p:txBody>
          <a:bodyPr wrap="square" lIns="0" tIns="0" rIns="0" bIns="0" rtlCol="0" anchor="ctr"/>
          <a:lstStyle/>
          <a:p>
            <a:pPr marL="0" indent="0">
              <a:buNone/>
            </a:pPr>
            <a:r>
              <a:rPr lang="en-US" sz="1800" b="1" i="1" dirty="0">
                <a:solidFill>
                  <a:srgbClr val="0F0F14"/>
                </a:solidFill>
                <a:latin typeface="Cambria" pitchFamily="34" charset="0"/>
                <a:ea typeface="Cambria" pitchFamily="34" charset="-122"/>
                <a:cs typeface="Cambria" pitchFamily="34" charset="-120"/>
              </a:rPr>
              <a:t>Ignore</a:t>
            </a:r>
            <a:endParaRPr lang="en-US" sz="1800" dirty="0"/>
          </a:p>
        </p:txBody>
      </p:sp>
      <p:sp>
        <p:nvSpPr>
          <p:cNvPr id="17" name="Shape 15"/>
          <p:cNvSpPr/>
          <p:nvPr/>
        </p:nvSpPr>
        <p:spPr>
          <a:xfrm>
            <a:off x="3566160" y="3703320"/>
            <a:ext cx="2313432" cy="0"/>
          </a:xfrm>
          <a:prstGeom prst="line">
            <a:avLst/>
          </a:prstGeom>
          <a:noFill/>
          <a:ln w="6350">
            <a:solidFill>
              <a:srgbClr val="A4A4AC"/>
            </a:solidFill>
            <a:prstDash val="solid"/>
          </a:ln>
        </p:spPr>
        <p:txBody>
          <a:bodyPr/>
          <a:lstStyle/>
          <a:p>
            <a:endParaRPr lang="en-US"/>
          </a:p>
        </p:txBody>
      </p:sp>
      <p:sp>
        <p:nvSpPr>
          <p:cNvPr id="18" name="Text 16"/>
          <p:cNvSpPr/>
          <p:nvPr/>
        </p:nvSpPr>
        <p:spPr>
          <a:xfrm>
            <a:off x="3566160" y="3840480"/>
            <a:ext cx="2313432" cy="169164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Praise retweets, drive-by stars. Doesn’t predict anything.</a:t>
            </a:r>
            <a:endParaRPr lang="en-US" sz="1200" dirty="0"/>
          </a:p>
        </p:txBody>
      </p:sp>
      <p:sp>
        <p:nvSpPr>
          <p:cNvPr id="19" name="Shape 17"/>
          <p:cNvSpPr/>
          <p:nvPr/>
        </p:nvSpPr>
        <p:spPr>
          <a:xfrm>
            <a:off x="6172200" y="2606040"/>
            <a:ext cx="2770632" cy="502920"/>
          </a:xfrm>
          <a:prstGeom prst="rect">
            <a:avLst/>
          </a:prstGeom>
          <a:solidFill>
            <a:srgbClr val="0F0F14"/>
          </a:solidFill>
          <a:ln/>
        </p:spPr>
        <p:txBody>
          <a:bodyPr/>
          <a:lstStyle/>
          <a:p>
            <a:endParaRPr lang="en-US"/>
          </a:p>
        </p:txBody>
      </p:sp>
      <p:sp>
        <p:nvSpPr>
          <p:cNvPr id="20" name="Text 18"/>
          <p:cNvSpPr/>
          <p:nvPr/>
        </p:nvSpPr>
        <p:spPr>
          <a:xfrm>
            <a:off x="6172200" y="2606040"/>
            <a:ext cx="2770632" cy="502920"/>
          </a:xfrm>
          <a:prstGeom prst="rect">
            <a:avLst/>
          </a:prstGeom>
          <a:noFill/>
          <a:ln/>
        </p:spPr>
        <p:txBody>
          <a:bodyPr wrap="square" lIns="0" tIns="0" rIns="0" bIns="0" rtlCol="0" anchor="ctr"/>
          <a:lstStyle/>
          <a:p>
            <a:pPr marL="0" indent="0" algn="ctr">
              <a:buNone/>
            </a:pPr>
            <a:r>
              <a:rPr lang="en-US" sz="1400" b="1" kern="0" spc="400" dirty="0">
                <a:solidFill>
                  <a:srgbClr val="F0EDE4"/>
                </a:solidFill>
                <a:latin typeface="Consolas" pitchFamily="34" charset="0"/>
                <a:ea typeface="Consolas" pitchFamily="34" charset="-122"/>
                <a:cs typeface="Consolas" pitchFamily="34" charset="-120"/>
              </a:rPr>
              <a:t>SURFACE</a:t>
            </a:r>
            <a:endParaRPr lang="en-US" sz="1400" dirty="0"/>
          </a:p>
        </p:txBody>
      </p:sp>
      <p:sp>
        <p:nvSpPr>
          <p:cNvPr id="21" name="Shape 19"/>
          <p:cNvSpPr/>
          <p:nvPr/>
        </p:nvSpPr>
        <p:spPr>
          <a:xfrm>
            <a:off x="6172200" y="3108960"/>
            <a:ext cx="2770632" cy="2606040"/>
          </a:xfrm>
          <a:prstGeom prst="rect">
            <a:avLst/>
          </a:prstGeom>
          <a:solidFill>
            <a:srgbClr val="F8F5EE"/>
          </a:solidFill>
          <a:ln w="6350">
            <a:solidFill>
              <a:srgbClr val="A4A4AC"/>
            </a:solidFill>
            <a:prstDash val="solid"/>
          </a:ln>
        </p:spPr>
        <p:txBody>
          <a:bodyPr/>
          <a:lstStyle/>
          <a:p>
            <a:endParaRPr lang="en-US"/>
          </a:p>
        </p:txBody>
      </p:sp>
      <p:sp>
        <p:nvSpPr>
          <p:cNvPr id="22" name="Text 20"/>
          <p:cNvSpPr/>
          <p:nvPr/>
        </p:nvSpPr>
        <p:spPr>
          <a:xfrm>
            <a:off x="6400800" y="3291840"/>
            <a:ext cx="2313432" cy="320040"/>
          </a:xfrm>
          <a:prstGeom prst="rect">
            <a:avLst/>
          </a:prstGeom>
          <a:noFill/>
          <a:ln/>
        </p:spPr>
        <p:txBody>
          <a:bodyPr wrap="square" lIns="0" tIns="0" rIns="0" bIns="0" rtlCol="0" anchor="ctr"/>
          <a:lstStyle/>
          <a:p>
            <a:pPr marL="0" indent="0">
              <a:buNone/>
            </a:pPr>
            <a:r>
              <a:rPr lang="en-US" sz="1800" b="1" i="1" dirty="0">
                <a:solidFill>
                  <a:srgbClr val="0F0F14"/>
                </a:solidFill>
                <a:latin typeface="Cambria" pitchFamily="34" charset="0"/>
                <a:ea typeface="Cambria" pitchFamily="34" charset="-122"/>
                <a:cs typeface="Cambria" pitchFamily="34" charset="-120"/>
              </a:rPr>
              <a:t>Consider</a:t>
            </a:r>
            <a:endParaRPr lang="en-US" sz="1800" dirty="0"/>
          </a:p>
        </p:txBody>
      </p:sp>
      <p:sp>
        <p:nvSpPr>
          <p:cNvPr id="23" name="Shape 21"/>
          <p:cNvSpPr/>
          <p:nvPr/>
        </p:nvSpPr>
        <p:spPr>
          <a:xfrm>
            <a:off x="6400800" y="3703320"/>
            <a:ext cx="2313432" cy="0"/>
          </a:xfrm>
          <a:prstGeom prst="line">
            <a:avLst/>
          </a:prstGeom>
          <a:noFill/>
          <a:ln w="6350">
            <a:solidFill>
              <a:srgbClr val="A4A4AC"/>
            </a:solidFill>
            <a:prstDash val="solid"/>
          </a:ln>
        </p:spPr>
        <p:txBody>
          <a:bodyPr/>
          <a:lstStyle/>
          <a:p>
            <a:endParaRPr lang="en-US"/>
          </a:p>
        </p:txBody>
      </p:sp>
      <p:sp>
        <p:nvSpPr>
          <p:cNvPr id="24" name="Text 22"/>
          <p:cNvSpPr/>
          <p:nvPr/>
        </p:nvSpPr>
        <p:spPr>
          <a:xfrm>
            <a:off x="6400800" y="3840480"/>
            <a:ext cx="2313432" cy="169164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Repeated question hinting at a docs gap. Batch weekly.</a:t>
            </a:r>
            <a:endParaRPr lang="en-US" sz="1200" dirty="0"/>
          </a:p>
        </p:txBody>
      </p:sp>
      <p:sp>
        <p:nvSpPr>
          <p:cNvPr id="25" name="Shape 23"/>
          <p:cNvSpPr/>
          <p:nvPr/>
        </p:nvSpPr>
        <p:spPr>
          <a:xfrm>
            <a:off x="9006840" y="2606040"/>
            <a:ext cx="2770632" cy="502920"/>
          </a:xfrm>
          <a:prstGeom prst="rect">
            <a:avLst/>
          </a:prstGeom>
          <a:solidFill>
            <a:srgbClr val="C42B37"/>
          </a:solidFill>
          <a:ln/>
        </p:spPr>
        <p:txBody>
          <a:bodyPr/>
          <a:lstStyle/>
          <a:p>
            <a:endParaRPr lang="en-US"/>
          </a:p>
        </p:txBody>
      </p:sp>
      <p:sp>
        <p:nvSpPr>
          <p:cNvPr id="26" name="Text 24"/>
          <p:cNvSpPr/>
          <p:nvPr/>
        </p:nvSpPr>
        <p:spPr>
          <a:xfrm>
            <a:off x="9006840" y="2606040"/>
            <a:ext cx="2770632" cy="502920"/>
          </a:xfrm>
          <a:prstGeom prst="rect">
            <a:avLst/>
          </a:prstGeom>
          <a:noFill/>
          <a:ln/>
        </p:spPr>
        <p:txBody>
          <a:bodyPr wrap="square" lIns="0" tIns="0" rIns="0" bIns="0" rtlCol="0" anchor="ctr"/>
          <a:lstStyle/>
          <a:p>
            <a:pPr marL="0" indent="0" algn="ctr">
              <a:buNone/>
            </a:pPr>
            <a:r>
              <a:rPr lang="en-US" sz="1400" b="1" kern="0" spc="400" dirty="0">
                <a:solidFill>
                  <a:srgbClr val="F0EDE4"/>
                </a:solidFill>
                <a:latin typeface="Consolas" pitchFamily="34" charset="0"/>
                <a:ea typeface="Consolas" pitchFamily="34" charset="-122"/>
                <a:cs typeface="Consolas" pitchFamily="34" charset="-120"/>
              </a:rPr>
              <a:t>SUBSCRIBE</a:t>
            </a:r>
            <a:endParaRPr lang="en-US" sz="1400" dirty="0"/>
          </a:p>
        </p:txBody>
      </p:sp>
      <p:sp>
        <p:nvSpPr>
          <p:cNvPr id="27" name="Shape 25"/>
          <p:cNvSpPr/>
          <p:nvPr/>
        </p:nvSpPr>
        <p:spPr>
          <a:xfrm>
            <a:off x="9006840" y="3108960"/>
            <a:ext cx="2770632" cy="2606040"/>
          </a:xfrm>
          <a:prstGeom prst="rect">
            <a:avLst/>
          </a:prstGeom>
          <a:solidFill>
            <a:srgbClr val="F8F5EE"/>
          </a:solidFill>
          <a:ln w="6350">
            <a:solidFill>
              <a:srgbClr val="A4A4AC"/>
            </a:solidFill>
            <a:prstDash val="solid"/>
          </a:ln>
        </p:spPr>
        <p:txBody>
          <a:bodyPr/>
          <a:lstStyle/>
          <a:p>
            <a:endParaRPr lang="en-US"/>
          </a:p>
        </p:txBody>
      </p:sp>
      <p:sp>
        <p:nvSpPr>
          <p:cNvPr id="28" name="Text 26"/>
          <p:cNvSpPr/>
          <p:nvPr/>
        </p:nvSpPr>
        <p:spPr>
          <a:xfrm>
            <a:off x="9235440" y="3291840"/>
            <a:ext cx="2313432" cy="320040"/>
          </a:xfrm>
          <a:prstGeom prst="rect">
            <a:avLst/>
          </a:prstGeom>
          <a:noFill/>
          <a:ln/>
        </p:spPr>
        <p:txBody>
          <a:bodyPr wrap="square" lIns="0" tIns="0" rIns="0" bIns="0" rtlCol="0" anchor="ctr"/>
          <a:lstStyle/>
          <a:p>
            <a:pPr marL="0" indent="0">
              <a:buNone/>
            </a:pPr>
            <a:r>
              <a:rPr lang="en-US" sz="1800" b="1" i="1" dirty="0">
                <a:solidFill>
                  <a:srgbClr val="0F0F14"/>
                </a:solidFill>
                <a:latin typeface="Cambria" pitchFamily="34" charset="0"/>
                <a:ea typeface="Cambria" pitchFamily="34" charset="-122"/>
                <a:cs typeface="Cambria" pitchFamily="34" charset="-120"/>
              </a:rPr>
              <a:t>Watch</a:t>
            </a:r>
            <a:endParaRPr lang="en-US" sz="1800" dirty="0"/>
          </a:p>
        </p:txBody>
      </p:sp>
      <p:sp>
        <p:nvSpPr>
          <p:cNvPr id="29" name="Shape 27"/>
          <p:cNvSpPr/>
          <p:nvPr/>
        </p:nvSpPr>
        <p:spPr>
          <a:xfrm>
            <a:off x="9235440" y="3703320"/>
            <a:ext cx="2313432" cy="0"/>
          </a:xfrm>
          <a:prstGeom prst="line">
            <a:avLst/>
          </a:prstGeom>
          <a:noFill/>
          <a:ln w="6350">
            <a:solidFill>
              <a:srgbClr val="A4A4AC"/>
            </a:solidFill>
            <a:prstDash val="solid"/>
          </a:ln>
        </p:spPr>
        <p:txBody>
          <a:bodyPr/>
          <a:lstStyle/>
          <a:p>
            <a:endParaRPr lang="en-US"/>
          </a:p>
        </p:txBody>
      </p:sp>
      <p:sp>
        <p:nvSpPr>
          <p:cNvPr id="30" name="Text 28"/>
          <p:cNvSpPr/>
          <p:nvPr/>
        </p:nvSpPr>
        <p:spPr>
          <a:xfrm>
            <a:off x="9235440" y="3840480"/>
            <a:ext cx="2313432" cy="169164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Adjacent tool citing you. Might shift ecosystem gravity.</a:t>
            </a:r>
            <a:endParaRPr lang="en-US" sz="1200" dirty="0"/>
          </a:p>
        </p:txBody>
      </p:sp>
      <p:sp>
        <p:nvSpPr>
          <p:cNvPr id="31" name="Text 29"/>
          <p:cNvSpPr/>
          <p:nvPr/>
        </p:nvSpPr>
        <p:spPr>
          <a:xfrm>
            <a:off x="502920" y="5989320"/>
            <a:ext cx="11155680" cy="365760"/>
          </a:xfrm>
          <a:prstGeom prst="rect">
            <a:avLst/>
          </a:prstGeom>
          <a:noFill/>
          <a:ln/>
        </p:spPr>
        <p:txBody>
          <a:bodyPr wrap="square" lIns="0" tIns="0" rIns="0" bIns="0" rtlCol="0" anchor="ctr"/>
          <a:lstStyle/>
          <a:p>
            <a:pPr marL="0" indent="0" algn="ctr">
              <a:buNone/>
            </a:pPr>
            <a:r>
              <a:rPr lang="en-US" sz="1500" i="1" dirty="0">
                <a:solidFill>
                  <a:srgbClr val="0F0F14"/>
                </a:solidFill>
                <a:latin typeface="Cambria" pitchFamily="34" charset="0"/>
                <a:ea typeface="Cambria" pitchFamily="34" charset="-122"/>
                <a:cs typeface="Cambria" pitchFamily="34" charset="-120"/>
              </a:rPr>
              <a:t>Prescriptive, not descriptive</a:t>
            </a:r>
            <a:r>
              <a:rPr lang="en-US" sz="1500" i="1" dirty="0">
                <a:solidFill>
                  <a:srgbClr val="E63946"/>
                </a:solidFill>
                <a:latin typeface="Cambria" pitchFamily="34" charset="0"/>
                <a:ea typeface="Cambria" pitchFamily="34" charset="-122"/>
                <a:cs typeface="Cambria" pitchFamily="34" charset="-120"/>
              </a:rPr>
              <a:t>.</a:t>
            </a:r>
            <a:endParaRPr lang="en-US" sz="1500" dirty="0"/>
          </a:p>
        </p:txBody>
      </p:sp>
      <p:sp>
        <p:nvSpPr>
          <p:cNvPr id="33" name="Text 30"/>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34" name="Text 31"/>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07</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COMPETITIVE LANDSCAPE</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2800" b="1" dirty="0">
                <a:solidFill>
                  <a:srgbClr val="0F0F14"/>
                </a:solidFill>
                <a:latin typeface="Cambria" pitchFamily="34" charset="0"/>
                <a:ea typeface="Cambria" pitchFamily="34" charset="-122"/>
                <a:cs typeface="Cambria" pitchFamily="34" charset="-120"/>
              </a:rPr>
              <a:t>Every tool in this space optimizes for the wrong thing</a:t>
            </a:r>
            <a:r>
              <a:rPr lang="en-US" sz="2800" b="1" dirty="0">
                <a:solidFill>
                  <a:srgbClr val="E63946"/>
                </a:solidFill>
                <a:latin typeface="Cambria" pitchFamily="34" charset="0"/>
                <a:ea typeface="Cambria" pitchFamily="34" charset="-122"/>
                <a:cs typeface="Cambria" pitchFamily="34" charset="-120"/>
              </a:rPr>
              <a:t>.</a:t>
            </a:r>
            <a:endParaRPr lang="en-US" sz="2800" dirty="0"/>
          </a:p>
        </p:txBody>
      </p:sp>
      <p:sp>
        <p:nvSpPr>
          <p:cNvPr id="6" name="Text 4"/>
          <p:cNvSpPr/>
          <p:nvPr/>
        </p:nvSpPr>
        <p:spPr>
          <a:xfrm>
            <a:off x="502920" y="150876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Coverage is a solved problem. Triage is not.</a:t>
            </a:r>
            <a:endParaRPr lang="en-US" sz="1800" dirty="0"/>
          </a:p>
        </p:txBody>
      </p:sp>
      <p:sp>
        <p:nvSpPr>
          <p:cNvPr id="7" name="Shape 5"/>
          <p:cNvSpPr/>
          <p:nvPr/>
        </p:nvSpPr>
        <p:spPr>
          <a:xfrm>
            <a:off x="502920" y="2468880"/>
            <a:ext cx="2651760" cy="502920"/>
          </a:xfrm>
          <a:prstGeom prst="rect">
            <a:avLst/>
          </a:prstGeom>
          <a:solidFill>
            <a:srgbClr val="E5E1D5"/>
          </a:solidFill>
          <a:ln/>
        </p:spPr>
        <p:txBody>
          <a:bodyPr/>
          <a:lstStyle/>
          <a:p>
            <a:endParaRPr lang="en-US"/>
          </a:p>
        </p:txBody>
      </p:sp>
      <p:sp>
        <p:nvSpPr>
          <p:cNvPr id="8" name="Text 6"/>
          <p:cNvSpPr/>
          <p:nvPr/>
        </p:nvSpPr>
        <p:spPr>
          <a:xfrm>
            <a:off x="640080" y="2468880"/>
            <a:ext cx="2377440" cy="502920"/>
          </a:xfrm>
          <a:prstGeom prst="rect">
            <a:avLst/>
          </a:prstGeom>
          <a:noFill/>
          <a:ln/>
        </p:spPr>
        <p:txBody>
          <a:bodyPr wrap="square" lIns="0" tIns="0" rIns="0" bIns="0" rtlCol="0" anchor="ctr"/>
          <a:lstStyle/>
          <a:p>
            <a:pPr marL="0" indent="0">
              <a:buNone/>
            </a:pPr>
            <a:r>
              <a:rPr lang="en-US" sz="1000" b="1" kern="0" spc="200" dirty="0">
                <a:solidFill>
                  <a:srgbClr val="5A5A62"/>
                </a:solidFill>
                <a:latin typeface="Consolas" pitchFamily="34" charset="0"/>
                <a:ea typeface="Consolas" pitchFamily="34" charset="-122"/>
                <a:cs typeface="Consolas" pitchFamily="34" charset="-120"/>
              </a:rPr>
              <a:t>Factor</a:t>
            </a:r>
            <a:endParaRPr lang="en-US" sz="1000" dirty="0"/>
          </a:p>
        </p:txBody>
      </p:sp>
      <p:sp>
        <p:nvSpPr>
          <p:cNvPr id="9" name="Shape 7"/>
          <p:cNvSpPr/>
          <p:nvPr/>
        </p:nvSpPr>
        <p:spPr>
          <a:xfrm>
            <a:off x="3154680" y="2468880"/>
            <a:ext cx="2011680" cy="502920"/>
          </a:xfrm>
          <a:prstGeom prst="rect">
            <a:avLst/>
          </a:prstGeom>
          <a:solidFill>
            <a:srgbClr val="E5E1D5"/>
          </a:solidFill>
          <a:ln/>
        </p:spPr>
        <p:txBody>
          <a:bodyPr/>
          <a:lstStyle/>
          <a:p>
            <a:endParaRPr lang="en-US"/>
          </a:p>
        </p:txBody>
      </p:sp>
      <p:sp>
        <p:nvSpPr>
          <p:cNvPr id="10" name="Text 8"/>
          <p:cNvSpPr/>
          <p:nvPr/>
        </p:nvSpPr>
        <p:spPr>
          <a:xfrm>
            <a:off x="3291840" y="2468880"/>
            <a:ext cx="1737360" cy="502920"/>
          </a:xfrm>
          <a:prstGeom prst="rect">
            <a:avLst/>
          </a:prstGeom>
          <a:noFill/>
          <a:ln/>
        </p:spPr>
        <p:txBody>
          <a:bodyPr wrap="square" lIns="0" tIns="0" rIns="0" bIns="0" rtlCol="0" anchor="ctr"/>
          <a:lstStyle/>
          <a:p>
            <a:pPr marL="0" indent="0">
              <a:buNone/>
            </a:pPr>
            <a:r>
              <a:rPr lang="en-US" sz="1000" b="1" kern="0" spc="200" dirty="0">
                <a:solidFill>
                  <a:srgbClr val="5A5A62"/>
                </a:solidFill>
                <a:latin typeface="Consolas" pitchFamily="34" charset="0"/>
                <a:ea typeface="Consolas" pitchFamily="34" charset="-122"/>
                <a:cs typeface="Consolas" pitchFamily="34" charset="-120"/>
              </a:rPr>
              <a:t>GitHub Insights</a:t>
            </a:r>
            <a:endParaRPr lang="en-US" sz="1000" dirty="0"/>
          </a:p>
        </p:txBody>
      </p:sp>
      <p:sp>
        <p:nvSpPr>
          <p:cNvPr id="11" name="Shape 9"/>
          <p:cNvSpPr/>
          <p:nvPr/>
        </p:nvSpPr>
        <p:spPr>
          <a:xfrm>
            <a:off x="5166360" y="2468880"/>
            <a:ext cx="2011680" cy="502920"/>
          </a:xfrm>
          <a:prstGeom prst="rect">
            <a:avLst/>
          </a:prstGeom>
          <a:solidFill>
            <a:srgbClr val="E5E1D5"/>
          </a:solidFill>
          <a:ln/>
        </p:spPr>
        <p:txBody>
          <a:bodyPr/>
          <a:lstStyle/>
          <a:p>
            <a:endParaRPr lang="en-US"/>
          </a:p>
        </p:txBody>
      </p:sp>
      <p:sp>
        <p:nvSpPr>
          <p:cNvPr id="12" name="Text 10"/>
          <p:cNvSpPr/>
          <p:nvPr/>
        </p:nvSpPr>
        <p:spPr>
          <a:xfrm>
            <a:off x="5303520" y="2468880"/>
            <a:ext cx="1737360" cy="502920"/>
          </a:xfrm>
          <a:prstGeom prst="rect">
            <a:avLst/>
          </a:prstGeom>
          <a:noFill/>
          <a:ln/>
        </p:spPr>
        <p:txBody>
          <a:bodyPr wrap="square" lIns="0" tIns="0" rIns="0" bIns="0" rtlCol="0" anchor="ctr"/>
          <a:lstStyle/>
          <a:p>
            <a:pPr marL="0" indent="0">
              <a:buNone/>
            </a:pPr>
            <a:r>
              <a:rPr lang="en-US" sz="1000" b="1" kern="0" spc="200" dirty="0">
                <a:solidFill>
                  <a:srgbClr val="5A5A62"/>
                </a:solidFill>
                <a:latin typeface="Consolas" pitchFamily="34" charset="0"/>
                <a:ea typeface="Consolas" pitchFamily="34" charset="-122"/>
                <a:cs typeface="Consolas" pitchFamily="34" charset="-120"/>
              </a:rPr>
              <a:t>Mention.com</a:t>
            </a:r>
            <a:endParaRPr lang="en-US" sz="1000" dirty="0"/>
          </a:p>
        </p:txBody>
      </p:sp>
      <p:sp>
        <p:nvSpPr>
          <p:cNvPr id="13" name="Shape 11"/>
          <p:cNvSpPr/>
          <p:nvPr/>
        </p:nvSpPr>
        <p:spPr>
          <a:xfrm>
            <a:off x="7178040" y="2468880"/>
            <a:ext cx="2011680" cy="502920"/>
          </a:xfrm>
          <a:prstGeom prst="rect">
            <a:avLst/>
          </a:prstGeom>
          <a:solidFill>
            <a:srgbClr val="E5E1D5"/>
          </a:solidFill>
          <a:ln/>
        </p:spPr>
        <p:txBody>
          <a:bodyPr/>
          <a:lstStyle/>
          <a:p>
            <a:endParaRPr lang="en-US"/>
          </a:p>
        </p:txBody>
      </p:sp>
      <p:sp>
        <p:nvSpPr>
          <p:cNvPr id="14" name="Text 12"/>
          <p:cNvSpPr/>
          <p:nvPr/>
        </p:nvSpPr>
        <p:spPr>
          <a:xfrm>
            <a:off x="7315200" y="2468880"/>
            <a:ext cx="1737360" cy="502920"/>
          </a:xfrm>
          <a:prstGeom prst="rect">
            <a:avLst/>
          </a:prstGeom>
          <a:noFill/>
          <a:ln/>
        </p:spPr>
        <p:txBody>
          <a:bodyPr wrap="square" lIns="0" tIns="0" rIns="0" bIns="0" rtlCol="0" anchor="ctr"/>
          <a:lstStyle/>
          <a:p>
            <a:pPr marL="0" indent="0">
              <a:buNone/>
            </a:pPr>
            <a:r>
              <a:rPr lang="en-US" sz="1000" b="1" kern="0" spc="200" dirty="0">
                <a:solidFill>
                  <a:srgbClr val="5A5A62"/>
                </a:solidFill>
                <a:latin typeface="Consolas" pitchFamily="34" charset="0"/>
                <a:ea typeface="Consolas" pitchFamily="34" charset="-122"/>
                <a:cs typeface="Consolas" pitchFamily="34" charset="-120"/>
              </a:rPr>
              <a:t>Sprout Social</a:t>
            </a:r>
            <a:endParaRPr lang="en-US" sz="1000" dirty="0"/>
          </a:p>
        </p:txBody>
      </p:sp>
      <p:sp>
        <p:nvSpPr>
          <p:cNvPr id="15" name="Shape 13"/>
          <p:cNvSpPr/>
          <p:nvPr/>
        </p:nvSpPr>
        <p:spPr>
          <a:xfrm>
            <a:off x="9189720" y="2468880"/>
            <a:ext cx="2468880" cy="502920"/>
          </a:xfrm>
          <a:prstGeom prst="rect">
            <a:avLst/>
          </a:prstGeom>
          <a:solidFill>
            <a:srgbClr val="0F0F14"/>
          </a:solidFill>
          <a:ln/>
        </p:spPr>
        <p:txBody>
          <a:bodyPr/>
          <a:lstStyle/>
          <a:p>
            <a:endParaRPr lang="en-US"/>
          </a:p>
        </p:txBody>
      </p:sp>
      <p:sp>
        <p:nvSpPr>
          <p:cNvPr id="16" name="Text 14"/>
          <p:cNvSpPr/>
          <p:nvPr/>
        </p:nvSpPr>
        <p:spPr>
          <a:xfrm>
            <a:off x="9326880" y="2468880"/>
            <a:ext cx="2194560" cy="502920"/>
          </a:xfrm>
          <a:prstGeom prst="rect">
            <a:avLst/>
          </a:prstGeom>
          <a:noFill/>
          <a:ln/>
        </p:spPr>
        <p:txBody>
          <a:bodyPr wrap="square" lIns="0" tIns="0" rIns="0" bIns="0" rtlCol="0" anchor="ctr"/>
          <a:lstStyle/>
          <a:p>
            <a:pPr marL="0" indent="0">
              <a:buNone/>
            </a:pPr>
            <a:r>
              <a:rPr lang="en-US" sz="1000" b="1" kern="0" spc="200" dirty="0">
                <a:solidFill>
                  <a:srgbClr val="F0EDE4"/>
                </a:solidFill>
                <a:latin typeface="Consolas" pitchFamily="34" charset="0"/>
                <a:ea typeface="Consolas" pitchFamily="34" charset="-122"/>
                <a:cs typeface="Consolas" pitchFamily="34" charset="-120"/>
              </a:rPr>
              <a:t>Olembic</a:t>
            </a:r>
            <a:endParaRPr lang="en-US" sz="1000" dirty="0"/>
          </a:p>
        </p:txBody>
      </p:sp>
      <p:sp>
        <p:nvSpPr>
          <p:cNvPr id="17" name="Shape 15"/>
          <p:cNvSpPr/>
          <p:nvPr/>
        </p:nvSpPr>
        <p:spPr>
          <a:xfrm>
            <a:off x="502920" y="2971800"/>
            <a:ext cx="11155680" cy="502920"/>
          </a:xfrm>
          <a:prstGeom prst="rect">
            <a:avLst/>
          </a:prstGeom>
          <a:solidFill>
            <a:srgbClr val="F0EDE4"/>
          </a:solidFill>
          <a:ln/>
        </p:spPr>
        <p:txBody>
          <a:bodyPr/>
          <a:lstStyle/>
          <a:p>
            <a:endParaRPr lang="en-US"/>
          </a:p>
        </p:txBody>
      </p:sp>
      <p:sp>
        <p:nvSpPr>
          <p:cNvPr id="18" name="Text 16"/>
          <p:cNvSpPr/>
          <p:nvPr/>
        </p:nvSpPr>
        <p:spPr>
          <a:xfrm>
            <a:off x="640080" y="2971800"/>
            <a:ext cx="2377440" cy="502920"/>
          </a:xfrm>
          <a:prstGeom prst="rect">
            <a:avLst/>
          </a:prstGeom>
          <a:noFill/>
          <a:ln/>
        </p:spPr>
        <p:txBody>
          <a:bodyPr wrap="square" lIns="0" tIns="0" rIns="0" bIns="0" rtlCol="0" anchor="ctr"/>
          <a:lstStyle/>
          <a:p>
            <a:pPr marL="0" indent="0">
              <a:buNone/>
            </a:pPr>
            <a:r>
              <a:rPr lang="en-US" sz="1200" b="1" dirty="0">
                <a:solidFill>
                  <a:srgbClr val="0F0F14"/>
                </a:solidFill>
                <a:latin typeface="Calibri" pitchFamily="34" charset="0"/>
                <a:ea typeface="Calibri" pitchFamily="34" charset="-122"/>
                <a:cs typeface="Calibri" pitchFamily="34" charset="-120"/>
              </a:rPr>
              <a:t>Time to insight</a:t>
            </a:r>
            <a:endParaRPr lang="en-US" sz="1200" dirty="0"/>
          </a:p>
        </p:txBody>
      </p:sp>
      <p:sp>
        <p:nvSpPr>
          <p:cNvPr id="19" name="Text 17"/>
          <p:cNvSpPr/>
          <p:nvPr/>
        </p:nvSpPr>
        <p:spPr>
          <a:xfrm>
            <a:off x="3291840" y="297180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Hours</a:t>
            </a:r>
            <a:endParaRPr lang="en-US" sz="1200" dirty="0"/>
          </a:p>
        </p:txBody>
      </p:sp>
      <p:sp>
        <p:nvSpPr>
          <p:cNvPr id="20" name="Text 18"/>
          <p:cNvSpPr/>
          <p:nvPr/>
        </p:nvSpPr>
        <p:spPr>
          <a:xfrm>
            <a:off x="5303520" y="297180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Hours</a:t>
            </a:r>
            <a:endParaRPr lang="en-US" sz="1200" dirty="0"/>
          </a:p>
        </p:txBody>
      </p:sp>
      <p:sp>
        <p:nvSpPr>
          <p:cNvPr id="21" name="Text 19"/>
          <p:cNvSpPr/>
          <p:nvPr/>
        </p:nvSpPr>
        <p:spPr>
          <a:xfrm>
            <a:off x="7315200" y="297180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Hours</a:t>
            </a:r>
            <a:endParaRPr lang="en-US" sz="1200" dirty="0"/>
          </a:p>
        </p:txBody>
      </p:sp>
      <p:sp>
        <p:nvSpPr>
          <p:cNvPr id="22" name="Text 20"/>
          <p:cNvSpPr/>
          <p:nvPr/>
        </p:nvSpPr>
        <p:spPr>
          <a:xfrm>
            <a:off x="9326880" y="2971800"/>
            <a:ext cx="2194560" cy="502920"/>
          </a:xfrm>
          <a:prstGeom prst="rect">
            <a:avLst/>
          </a:prstGeom>
          <a:noFill/>
          <a:ln/>
        </p:spPr>
        <p:txBody>
          <a:bodyPr wrap="square" lIns="0" tIns="0" rIns="0" bIns="0" rtlCol="0" anchor="ctr"/>
          <a:lstStyle/>
          <a:p>
            <a:pPr marL="0" indent="0">
              <a:buNone/>
            </a:pPr>
            <a:r>
              <a:rPr lang="en-US" sz="1200" b="1" dirty="0">
                <a:solidFill>
                  <a:srgbClr val="C42B37"/>
                </a:solidFill>
                <a:latin typeface="Calibri" pitchFamily="34" charset="0"/>
                <a:ea typeface="Calibri" pitchFamily="34" charset="-122"/>
                <a:cs typeface="Calibri" pitchFamily="34" charset="-120"/>
              </a:rPr>
              <a:t>15 seconds</a:t>
            </a:r>
            <a:endParaRPr lang="en-US" sz="1200" dirty="0"/>
          </a:p>
        </p:txBody>
      </p:sp>
      <p:sp>
        <p:nvSpPr>
          <p:cNvPr id="23" name="Shape 21"/>
          <p:cNvSpPr/>
          <p:nvPr/>
        </p:nvSpPr>
        <p:spPr>
          <a:xfrm>
            <a:off x="502920" y="3474720"/>
            <a:ext cx="11155680" cy="502920"/>
          </a:xfrm>
          <a:prstGeom prst="rect">
            <a:avLst/>
          </a:prstGeom>
          <a:solidFill>
            <a:srgbClr val="F8F5EE"/>
          </a:solidFill>
          <a:ln/>
        </p:spPr>
        <p:txBody>
          <a:bodyPr/>
          <a:lstStyle/>
          <a:p>
            <a:endParaRPr lang="en-US"/>
          </a:p>
        </p:txBody>
      </p:sp>
      <p:sp>
        <p:nvSpPr>
          <p:cNvPr id="24" name="Text 22"/>
          <p:cNvSpPr/>
          <p:nvPr/>
        </p:nvSpPr>
        <p:spPr>
          <a:xfrm>
            <a:off x="640080" y="3474720"/>
            <a:ext cx="2377440" cy="502920"/>
          </a:xfrm>
          <a:prstGeom prst="rect">
            <a:avLst/>
          </a:prstGeom>
          <a:noFill/>
          <a:ln/>
        </p:spPr>
        <p:txBody>
          <a:bodyPr wrap="square" lIns="0" tIns="0" rIns="0" bIns="0" rtlCol="0" anchor="ctr"/>
          <a:lstStyle/>
          <a:p>
            <a:pPr marL="0" indent="0">
              <a:buNone/>
            </a:pPr>
            <a:r>
              <a:rPr lang="en-US" sz="1200" b="1" dirty="0">
                <a:solidFill>
                  <a:srgbClr val="0F0F14"/>
                </a:solidFill>
                <a:latin typeface="Calibri" pitchFamily="34" charset="0"/>
                <a:ea typeface="Calibri" pitchFamily="34" charset="-122"/>
                <a:cs typeface="Calibri" pitchFamily="34" charset="-120"/>
              </a:rPr>
              <a:t>Output style</a:t>
            </a:r>
            <a:endParaRPr lang="en-US" sz="1200" dirty="0"/>
          </a:p>
        </p:txBody>
      </p:sp>
      <p:sp>
        <p:nvSpPr>
          <p:cNvPr id="25" name="Text 23"/>
          <p:cNvSpPr/>
          <p:nvPr/>
        </p:nvSpPr>
        <p:spPr>
          <a:xfrm>
            <a:off x="3291840" y="347472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Charts</a:t>
            </a:r>
            <a:endParaRPr lang="en-US" sz="1200" dirty="0"/>
          </a:p>
        </p:txBody>
      </p:sp>
      <p:sp>
        <p:nvSpPr>
          <p:cNvPr id="26" name="Text 24"/>
          <p:cNvSpPr/>
          <p:nvPr/>
        </p:nvSpPr>
        <p:spPr>
          <a:xfrm>
            <a:off x="5303520" y="347472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Feed</a:t>
            </a:r>
            <a:endParaRPr lang="en-US" sz="1200" dirty="0"/>
          </a:p>
        </p:txBody>
      </p:sp>
      <p:sp>
        <p:nvSpPr>
          <p:cNvPr id="27" name="Text 25"/>
          <p:cNvSpPr/>
          <p:nvPr/>
        </p:nvSpPr>
        <p:spPr>
          <a:xfrm>
            <a:off x="7315200" y="347472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Feed</a:t>
            </a:r>
            <a:endParaRPr lang="en-US" sz="1200" dirty="0"/>
          </a:p>
        </p:txBody>
      </p:sp>
      <p:sp>
        <p:nvSpPr>
          <p:cNvPr id="28" name="Text 26"/>
          <p:cNvSpPr/>
          <p:nvPr/>
        </p:nvSpPr>
        <p:spPr>
          <a:xfrm>
            <a:off x="9326880" y="3474720"/>
            <a:ext cx="2194560" cy="502920"/>
          </a:xfrm>
          <a:prstGeom prst="rect">
            <a:avLst/>
          </a:prstGeom>
          <a:noFill/>
          <a:ln/>
        </p:spPr>
        <p:txBody>
          <a:bodyPr wrap="square" lIns="0" tIns="0" rIns="0" bIns="0" rtlCol="0" anchor="ctr"/>
          <a:lstStyle/>
          <a:p>
            <a:pPr marL="0" indent="0">
              <a:buNone/>
            </a:pPr>
            <a:r>
              <a:rPr lang="en-US" sz="1200" b="1" dirty="0">
                <a:solidFill>
                  <a:srgbClr val="C42B37"/>
                </a:solidFill>
                <a:latin typeface="Calibri" pitchFamily="34" charset="0"/>
                <a:ea typeface="Calibri" pitchFamily="34" charset="-122"/>
                <a:cs typeface="Calibri" pitchFamily="34" charset="-120"/>
              </a:rPr>
              <a:t>Ranked actions</a:t>
            </a:r>
            <a:endParaRPr lang="en-US" sz="1200" dirty="0"/>
          </a:p>
        </p:txBody>
      </p:sp>
      <p:sp>
        <p:nvSpPr>
          <p:cNvPr id="29" name="Shape 27"/>
          <p:cNvSpPr/>
          <p:nvPr/>
        </p:nvSpPr>
        <p:spPr>
          <a:xfrm>
            <a:off x="502920" y="3977640"/>
            <a:ext cx="11155680" cy="502920"/>
          </a:xfrm>
          <a:prstGeom prst="rect">
            <a:avLst/>
          </a:prstGeom>
          <a:solidFill>
            <a:srgbClr val="F0EDE4"/>
          </a:solidFill>
          <a:ln/>
        </p:spPr>
        <p:txBody>
          <a:bodyPr/>
          <a:lstStyle/>
          <a:p>
            <a:endParaRPr lang="en-US"/>
          </a:p>
        </p:txBody>
      </p:sp>
      <p:sp>
        <p:nvSpPr>
          <p:cNvPr id="30" name="Text 28"/>
          <p:cNvSpPr/>
          <p:nvPr/>
        </p:nvSpPr>
        <p:spPr>
          <a:xfrm>
            <a:off x="640080" y="3977640"/>
            <a:ext cx="2377440" cy="502920"/>
          </a:xfrm>
          <a:prstGeom prst="rect">
            <a:avLst/>
          </a:prstGeom>
          <a:noFill/>
          <a:ln/>
        </p:spPr>
        <p:txBody>
          <a:bodyPr wrap="square" lIns="0" tIns="0" rIns="0" bIns="0" rtlCol="0" anchor="ctr"/>
          <a:lstStyle/>
          <a:p>
            <a:pPr marL="0" indent="0">
              <a:buNone/>
            </a:pPr>
            <a:r>
              <a:rPr lang="en-US" sz="1200" b="1" dirty="0">
                <a:solidFill>
                  <a:srgbClr val="0F0F14"/>
                </a:solidFill>
                <a:latin typeface="Calibri" pitchFamily="34" charset="0"/>
                <a:ea typeface="Calibri" pitchFamily="34" charset="-122"/>
                <a:cs typeface="Calibri" pitchFamily="34" charset="-120"/>
              </a:rPr>
              <a:t>Source weighting</a:t>
            </a:r>
            <a:endParaRPr lang="en-US" sz="1200" dirty="0"/>
          </a:p>
        </p:txBody>
      </p:sp>
      <p:sp>
        <p:nvSpPr>
          <p:cNvPr id="31" name="Text 29"/>
          <p:cNvSpPr/>
          <p:nvPr/>
        </p:nvSpPr>
        <p:spPr>
          <a:xfrm>
            <a:off x="3291840" y="397764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None</a:t>
            </a:r>
            <a:endParaRPr lang="en-US" sz="1200" dirty="0"/>
          </a:p>
        </p:txBody>
      </p:sp>
      <p:sp>
        <p:nvSpPr>
          <p:cNvPr id="32" name="Text 30"/>
          <p:cNvSpPr/>
          <p:nvPr/>
        </p:nvSpPr>
        <p:spPr>
          <a:xfrm>
            <a:off x="5303520" y="397764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None</a:t>
            </a:r>
            <a:endParaRPr lang="en-US" sz="1200" dirty="0"/>
          </a:p>
        </p:txBody>
      </p:sp>
      <p:sp>
        <p:nvSpPr>
          <p:cNvPr id="33" name="Text 31"/>
          <p:cNvSpPr/>
          <p:nvPr/>
        </p:nvSpPr>
        <p:spPr>
          <a:xfrm>
            <a:off x="7315200" y="397764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None</a:t>
            </a:r>
            <a:endParaRPr lang="en-US" sz="1200" dirty="0"/>
          </a:p>
        </p:txBody>
      </p:sp>
      <p:sp>
        <p:nvSpPr>
          <p:cNvPr id="34" name="Text 32"/>
          <p:cNvSpPr/>
          <p:nvPr/>
        </p:nvSpPr>
        <p:spPr>
          <a:xfrm>
            <a:off x="9326880" y="3977640"/>
            <a:ext cx="2194560" cy="502920"/>
          </a:xfrm>
          <a:prstGeom prst="rect">
            <a:avLst/>
          </a:prstGeom>
          <a:noFill/>
          <a:ln/>
        </p:spPr>
        <p:txBody>
          <a:bodyPr wrap="square" lIns="0" tIns="0" rIns="0" bIns="0" rtlCol="0" anchor="ctr"/>
          <a:lstStyle/>
          <a:p>
            <a:pPr marL="0" indent="0">
              <a:buNone/>
            </a:pPr>
            <a:r>
              <a:rPr lang="en-US" sz="1200" b="1" dirty="0">
                <a:solidFill>
                  <a:srgbClr val="C42B37"/>
                </a:solidFill>
                <a:latin typeface="Calibri" pitchFamily="34" charset="0"/>
                <a:ea typeface="Calibri" pitchFamily="34" charset="-122"/>
                <a:cs typeface="Calibri" pitchFamily="34" charset="-120"/>
              </a:rPr>
              <a:t>Per-project</a:t>
            </a:r>
            <a:endParaRPr lang="en-US" sz="1200" dirty="0"/>
          </a:p>
        </p:txBody>
      </p:sp>
      <p:sp>
        <p:nvSpPr>
          <p:cNvPr id="35" name="Shape 33"/>
          <p:cNvSpPr/>
          <p:nvPr/>
        </p:nvSpPr>
        <p:spPr>
          <a:xfrm>
            <a:off x="502920" y="4480560"/>
            <a:ext cx="11155680" cy="502920"/>
          </a:xfrm>
          <a:prstGeom prst="rect">
            <a:avLst/>
          </a:prstGeom>
          <a:solidFill>
            <a:srgbClr val="F8F5EE"/>
          </a:solidFill>
          <a:ln/>
        </p:spPr>
        <p:txBody>
          <a:bodyPr/>
          <a:lstStyle/>
          <a:p>
            <a:endParaRPr lang="en-US"/>
          </a:p>
        </p:txBody>
      </p:sp>
      <p:sp>
        <p:nvSpPr>
          <p:cNvPr id="36" name="Text 34"/>
          <p:cNvSpPr/>
          <p:nvPr/>
        </p:nvSpPr>
        <p:spPr>
          <a:xfrm>
            <a:off x="640080" y="4480560"/>
            <a:ext cx="2377440" cy="502920"/>
          </a:xfrm>
          <a:prstGeom prst="rect">
            <a:avLst/>
          </a:prstGeom>
          <a:noFill/>
          <a:ln/>
        </p:spPr>
        <p:txBody>
          <a:bodyPr wrap="square" lIns="0" tIns="0" rIns="0" bIns="0" rtlCol="0" anchor="ctr"/>
          <a:lstStyle/>
          <a:p>
            <a:pPr marL="0" indent="0">
              <a:buNone/>
            </a:pPr>
            <a:r>
              <a:rPr lang="en-US" sz="1200" b="1" dirty="0">
                <a:solidFill>
                  <a:srgbClr val="0F0F14"/>
                </a:solidFill>
                <a:latin typeface="Calibri" pitchFamily="34" charset="0"/>
                <a:ea typeface="Calibri" pitchFamily="34" charset="-122"/>
                <a:cs typeface="Calibri" pitchFamily="34" charset="-120"/>
              </a:rPr>
              <a:t>Domain awareness</a:t>
            </a:r>
            <a:endParaRPr lang="en-US" sz="1200" dirty="0"/>
          </a:p>
        </p:txBody>
      </p:sp>
      <p:sp>
        <p:nvSpPr>
          <p:cNvPr id="37" name="Text 35"/>
          <p:cNvSpPr/>
          <p:nvPr/>
        </p:nvSpPr>
        <p:spPr>
          <a:xfrm>
            <a:off x="3291840" y="448056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Repo only</a:t>
            </a:r>
            <a:endParaRPr lang="en-US" sz="1200" dirty="0"/>
          </a:p>
        </p:txBody>
      </p:sp>
      <p:sp>
        <p:nvSpPr>
          <p:cNvPr id="38" name="Text 36"/>
          <p:cNvSpPr/>
          <p:nvPr/>
        </p:nvSpPr>
        <p:spPr>
          <a:xfrm>
            <a:off x="5303520" y="448056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Generic</a:t>
            </a:r>
            <a:endParaRPr lang="en-US" sz="1200" dirty="0"/>
          </a:p>
        </p:txBody>
      </p:sp>
      <p:sp>
        <p:nvSpPr>
          <p:cNvPr id="39" name="Text 37"/>
          <p:cNvSpPr/>
          <p:nvPr/>
        </p:nvSpPr>
        <p:spPr>
          <a:xfrm>
            <a:off x="7315200" y="448056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Generic</a:t>
            </a:r>
            <a:endParaRPr lang="en-US" sz="1200" dirty="0"/>
          </a:p>
        </p:txBody>
      </p:sp>
      <p:sp>
        <p:nvSpPr>
          <p:cNvPr id="40" name="Text 38"/>
          <p:cNvSpPr/>
          <p:nvPr/>
        </p:nvSpPr>
        <p:spPr>
          <a:xfrm>
            <a:off x="9326880" y="4480560"/>
            <a:ext cx="2194560" cy="502920"/>
          </a:xfrm>
          <a:prstGeom prst="rect">
            <a:avLst/>
          </a:prstGeom>
          <a:noFill/>
          <a:ln/>
        </p:spPr>
        <p:txBody>
          <a:bodyPr wrap="square" lIns="0" tIns="0" rIns="0" bIns="0" rtlCol="0" anchor="ctr"/>
          <a:lstStyle/>
          <a:p>
            <a:pPr marL="0" indent="0">
              <a:buNone/>
            </a:pPr>
            <a:r>
              <a:rPr lang="en-US" sz="1200" b="1" dirty="0">
                <a:solidFill>
                  <a:srgbClr val="C42B37"/>
                </a:solidFill>
                <a:latin typeface="Calibri" pitchFamily="34" charset="0"/>
                <a:ea typeface="Calibri" pitchFamily="34" charset="-122"/>
                <a:cs typeface="Calibri" pitchFamily="34" charset="-120"/>
              </a:rPr>
              <a:t>Dev tools</a:t>
            </a:r>
            <a:endParaRPr lang="en-US" sz="1200" dirty="0"/>
          </a:p>
        </p:txBody>
      </p:sp>
      <p:sp>
        <p:nvSpPr>
          <p:cNvPr id="41" name="Shape 39"/>
          <p:cNvSpPr/>
          <p:nvPr/>
        </p:nvSpPr>
        <p:spPr>
          <a:xfrm>
            <a:off x="502920" y="4983480"/>
            <a:ext cx="11155680" cy="502920"/>
          </a:xfrm>
          <a:prstGeom prst="rect">
            <a:avLst/>
          </a:prstGeom>
          <a:solidFill>
            <a:srgbClr val="F0EDE4"/>
          </a:solidFill>
          <a:ln/>
        </p:spPr>
        <p:txBody>
          <a:bodyPr/>
          <a:lstStyle/>
          <a:p>
            <a:endParaRPr lang="en-US"/>
          </a:p>
        </p:txBody>
      </p:sp>
      <p:sp>
        <p:nvSpPr>
          <p:cNvPr id="42" name="Text 40"/>
          <p:cNvSpPr/>
          <p:nvPr/>
        </p:nvSpPr>
        <p:spPr>
          <a:xfrm>
            <a:off x="640080" y="4983480"/>
            <a:ext cx="2377440" cy="502920"/>
          </a:xfrm>
          <a:prstGeom prst="rect">
            <a:avLst/>
          </a:prstGeom>
          <a:noFill/>
          <a:ln/>
        </p:spPr>
        <p:txBody>
          <a:bodyPr wrap="square" lIns="0" tIns="0" rIns="0" bIns="0" rtlCol="0" anchor="ctr"/>
          <a:lstStyle/>
          <a:p>
            <a:pPr marL="0" indent="0">
              <a:buNone/>
            </a:pPr>
            <a:r>
              <a:rPr lang="en-US" sz="1200" b="1" dirty="0">
                <a:solidFill>
                  <a:srgbClr val="0F0F14"/>
                </a:solidFill>
                <a:latin typeface="Calibri" pitchFamily="34" charset="0"/>
                <a:ea typeface="Calibri" pitchFamily="34" charset="-122"/>
                <a:cs typeface="Calibri" pitchFamily="34" charset="-120"/>
              </a:rPr>
              <a:t>Confidence scoring</a:t>
            </a:r>
            <a:endParaRPr lang="en-US" sz="1200" dirty="0"/>
          </a:p>
        </p:txBody>
      </p:sp>
      <p:sp>
        <p:nvSpPr>
          <p:cNvPr id="43" name="Text 41"/>
          <p:cNvSpPr/>
          <p:nvPr/>
        </p:nvSpPr>
        <p:spPr>
          <a:xfrm>
            <a:off x="3291840" y="498348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a:t>
            </a:r>
            <a:endParaRPr lang="en-US" sz="1200" dirty="0"/>
          </a:p>
        </p:txBody>
      </p:sp>
      <p:sp>
        <p:nvSpPr>
          <p:cNvPr id="44" name="Text 42"/>
          <p:cNvSpPr/>
          <p:nvPr/>
        </p:nvSpPr>
        <p:spPr>
          <a:xfrm>
            <a:off x="5303520" y="498348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a:t>
            </a:r>
            <a:endParaRPr lang="en-US" sz="1200" dirty="0"/>
          </a:p>
        </p:txBody>
      </p:sp>
      <p:sp>
        <p:nvSpPr>
          <p:cNvPr id="45" name="Text 43"/>
          <p:cNvSpPr/>
          <p:nvPr/>
        </p:nvSpPr>
        <p:spPr>
          <a:xfrm>
            <a:off x="7315200" y="4983480"/>
            <a:ext cx="1737360" cy="502920"/>
          </a:xfrm>
          <a:prstGeom prst="rect">
            <a:avLst/>
          </a:prstGeom>
          <a:noFill/>
          <a:ln/>
        </p:spPr>
        <p:txBody>
          <a:bodyPr wrap="square" lIns="0" tIns="0" rIns="0" bIns="0" rtlCol="0" anchor="ctr"/>
          <a:lstStyle/>
          <a:p>
            <a:pPr marL="0" indent="0">
              <a:buNone/>
            </a:pPr>
            <a:r>
              <a:rPr lang="en-US" sz="1200" dirty="0">
                <a:solidFill>
                  <a:srgbClr val="5A5A62"/>
                </a:solidFill>
                <a:latin typeface="Calibri" pitchFamily="34" charset="0"/>
                <a:ea typeface="Calibri" pitchFamily="34" charset="-122"/>
                <a:cs typeface="Calibri" pitchFamily="34" charset="-120"/>
              </a:rPr>
              <a:t>✗</a:t>
            </a:r>
            <a:endParaRPr lang="en-US" sz="1200" dirty="0"/>
          </a:p>
        </p:txBody>
      </p:sp>
      <p:sp>
        <p:nvSpPr>
          <p:cNvPr id="46" name="Text 44"/>
          <p:cNvSpPr/>
          <p:nvPr/>
        </p:nvSpPr>
        <p:spPr>
          <a:xfrm>
            <a:off x="9326880" y="4983480"/>
            <a:ext cx="2194560" cy="502920"/>
          </a:xfrm>
          <a:prstGeom prst="rect">
            <a:avLst/>
          </a:prstGeom>
          <a:noFill/>
          <a:ln/>
        </p:spPr>
        <p:txBody>
          <a:bodyPr wrap="square" lIns="0" tIns="0" rIns="0" bIns="0" rtlCol="0" anchor="ctr"/>
          <a:lstStyle/>
          <a:p>
            <a:pPr marL="0" indent="0">
              <a:buNone/>
            </a:pPr>
            <a:r>
              <a:rPr lang="en-US" sz="1200" b="1" dirty="0">
                <a:solidFill>
                  <a:srgbClr val="C42B37"/>
                </a:solidFill>
                <a:latin typeface="Calibri" pitchFamily="34" charset="0"/>
                <a:ea typeface="Calibri" pitchFamily="34" charset="-122"/>
                <a:cs typeface="Calibri" pitchFamily="34" charset="-120"/>
              </a:rPr>
              <a:t>✓</a:t>
            </a:r>
            <a:endParaRPr lang="en-US" sz="1200" dirty="0"/>
          </a:p>
        </p:txBody>
      </p:sp>
      <p:sp>
        <p:nvSpPr>
          <p:cNvPr id="47" name="Shape 45"/>
          <p:cNvSpPr/>
          <p:nvPr/>
        </p:nvSpPr>
        <p:spPr>
          <a:xfrm>
            <a:off x="9189720" y="2468880"/>
            <a:ext cx="0" cy="3017520"/>
          </a:xfrm>
          <a:prstGeom prst="line">
            <a:avLst/>
          </a:prstGeom>
          <a:noFill/>
          <a:ln w="19050">
            <a:solidFill>
              <a:srgbClr val="E63946"/>
            </a:solidFill>
            <a:prstDash val="solid"/>
          </a:ln>
        </p:spPr>
        <p:txBody>
          <a:bodyPr/>
          <a:lstStyle/>
          <a:p>
            <a:endParaRPr lang="en-US"/>
          </a:p>
        </p:txBody>
      </p:sp>
      <p:sp>
        <p:nvSpPr>
          <p:cNvPr id="48" name="Shape 46"/>
          <p:cNvSpPr/>
          <p:nvPr/>
        </p:nvSpPr>
        <p:spPr>
          <a:xfrm>
            <a:off x="502920" y="5806440"/>
            <a:ext cx="11155680" cy="594360"/>
          </a:xfrm>
          <a:prstGeom prst="rect">
            <a:avLst/>
          </a:prstGeom>
          <a:solidFill>
            <a:srgbClr val="0F0F14"/>
          </a:solidFill>
          <a:ln/>
        </p:spPr>
        <p:txBody>
          <a:bodyPr/>
          <a:lstStyle/>
          <a:p>
            <a:endParaRPr lang="en-US"/>
          </a:p>
        </p:txBody>
      </p:sp>
      <p:sp>
        <p:nvSpPr>
          <p:cNvPr id="49" name="Shape 47"/>
          <p:cNvSpPr/>
          <p:nvPr/>
        </p:nvSpPr>
        <p:spPr>
          <a:xfrm>
            <a:off x="502920" y="5806440"/>
            <a:ext cx="73152" cy="594360"/>
          </a:xfrm>
          <a:prstGeom prst="rect">
            <a:avLst/>
          </a:prstGeom>
          <a:solidFill>
            <a:srgbClr val="E63946"/>
          </a:solidFill>
          <a:ln/>
        </p:spPr>
        <p:txBody>
          <a:bodyPr/>
          <a:lstStyle/>
          <a:p>
            <a:endParaRPr lang="en-US"/>
          </a:p>
        </p:txBody>
      </p:sp>
      <p:sp>
        <p:nvSpPr>
          <p:cNvPr id="50" name="Text 48"/>
          <p:cNvSpPr/>
          <p:nvPr/>
        </p:nvSpPr>
        <p:spPr>
          <a:xfrm>
            <a:off x="777240" y="5806440"/>
            <a:ext cx="10698480" cy="594360"/>
          </a:xfrm>
          <a:prstGeom prst="rect">
            <a:avLst/>
          </a:prstGeom>
          <a:noFill/>
          <a:ln/>
        </p:spPr>
        <p:txBody>
          <a:bodyPr wrap="square" lIns="0" tIns="0" rIns="0" bIns="0" rtlCol="0" anchor="ctr"/>
          <a:lstStyle/>
          <a:p>
            <a:pPr marL="0" indent="0">
              <a:buNone/>
            </a:pPr>
            <a:r>
              <a:rPr lang="en-US" sz="1100" b="1" kern="0" spc="200" dirty="0">
                <a:solidFill>
                  <a:srgbClr val="E63946"/>
                </a:solidFill>
                <a:latin typeface="Consolas" pitchFamily="34" charset="0"/>
                <a:ea typeface="Consolas" pitchFamily="34" charset="-122"/>
                <a:cs typeface="Consolas" pitchFamily="34" charset="-120"/>
              </a:rPr>
              <a:t>Positioning. </a:t>
            </a:r>
            <a:r>
              <a:rPr lang="en-US" sz="1500" i="1" dirty="0">
                <a:solidFill>
                  <a:srgbClr val="F0EDE4"/>
                </a:solidFill>
                <a:latin typeface="Cambria" pitchFamily="34" charset="0"/>
                <a:ea typeface="Cambria" pitchFamily="34" charset="-122"/>
                <a:cs typeface="Cambria" pitchFamily="34" charset="-120"/>
              </a:rPr>
              <a:t>Prescriptive where competitors are just descriptive</a:t>
            </a:r>
            <a:r>
              <a:rPr lang="en-US" sz="1500" i="1" dirty="0">
                <a:solidFill>
                  <a:srgbClr val="E63946"/>
                </a:solidFill>
                <a:latin typeface="Cambria" pitchFamily="34" charset="0"/>
                <a:ea typeface="Cambria" pitchFamily="34" charset="-122"/>
                <a:cs typeface="Cambria" pitchFamily="34" charset="-120"/>
              </a:rPr>
              <a:t>.</a:t>
            </a:r>
            <a:endParaRPr lang="en-US" sz="1100" dirty="0"/>
          </a:p>
        </p:txBody>
      </p:sp>
      <p:sp>
        <p:nvSpPr>
          <p:cNvPr id="52" name="Text 49"/>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53" name="Text 50"/>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08</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POSITIONING MATRIX</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3200" b="1" dirty="0">
                <a:solidFill>
                  <a:srgbClr val="0F0F14"/>
                </a:solidFill>
                <a:latin typeface="Cambria" pitchFamily="34" charset="0"/>
                <a:ea typeface="Cambria" pitchFamily="34" charset="-122"/>
                <a:cs typeface="Cambria" pitchFamily="34" charset="-120"/>
              </a:rPr>
              <a:t>We win where others can’t compete</a:t>
            </a:r>
            <a:r>
              <a:rPr lang="en-US" sz="3200" b="1" dirty="0">
                <a:solidFill>
                  <a:srgbClr val="E63946"/>
                </a:solidFill>
                <a:latin typeface="Cambria" pitchFamily="34" charset="0"/>
                <a:ea typeface="Cambria" pitchFamily="34" charset="-122"/>
                <a:cs typeface="Cambria" pitchFamily="34" charset="-120"/>
              </a:rPr>
              <a:t>.</a:t>
            </a:r>
            <a:endParaRPr lang="en-US" sz="3200" dirty="0"/>
          </a:p>
        </p:txBody>
      </p:sp>
      <p:sp>
        <p:nvSpPr>
          <p:cNvPr id="6" name="Text 4"/>
          <p:cNvSpPr/>
          <p:nvPr/>
        </p:nvSpPr>
        <p:spPr>
          <a:xfrm>
            <a:off x="502920" y="155448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Two axes. One empty quadrant. That’s where Olembic lives.</a:t>
            </a:r>
            <a:endParaRPr lang="en-US" sz="1800" dirty="0"/>
          </a:p>
        </p:txBody>
      </p:sp>
      <p:sp>
        <p:nvSpPr>
          <p:cNvPr id="7" name="Shape 5"/>
          <p:cNvSpPr/>
          <p:nvPr/>
        </p:nvSpPr>
        <p:spPr>
          <a:xfrm>
            <a:off x="2651760" y="2423160"/>
            <a:ext cx="6766560" cy="3291840"/>
          </a:xfrm>
          <a:prstGeom prst="rect">
            <a:avLst/>
          </a:prstGeom>
          <a:solidFill>
            <a:srgbClr val="F8F5EE"/>
          </a:solidFill>
          <a:ln w="9525">
            <a:solidFill>
              <a:srgbClr val="A4A4AC"/>
            </a:solidFill>
            <a:prstDash val="solid"/>
          </a:ln>
        </p:spPr>
        <p:txBody>
          <a:bodyPr/>
          <a:lstStyle/>
          <a:p>
            <a:endParaRPr lang="en-US"/>
          </a:p>
        </p:txBody>
      </p:sp>
      <p:sp>
        <p:nvSpPr>
          <p:cNvPr id="8" name="Shape 6"/>
          <p:cNvSpPr/>
          <p:nvPr/>
        </p:nvSpPr>
        <p:spPr>
          <a:xfrm>
            <a:off x="2651760" y="4069080"/>
            <a:ext cx="6766560" cy="0"/>
          </a:xfrm>
          <a:prstGeom prst="line">
            <a:avLst/>
          </a:prstGeom>
          <a:noFill/>
          <a:ln w="6350">
            <a:solidFill>
              <a:srgbClr val="A4A4AC"/>
            </a:solidFill>
            <a:prstDash val="dash"/>
          </a:ln>
        </p:spPr>
        <p:txBody>
          <a:bodyPr/>
          <a:lstStyle/>
          <a:p>
            <a:endParaRPr lang="en-US"/>
          </a:p>
        </p:txBody>
      </p:sp>
      <p:sp>
        <p:nvSpPr>
          <p:cNvPr id="9" name="Shape 7"/>
          <p:cNvSpPr/>
          <p:nvPr/>
        </p:nvSpPr>
        <p:spPr>
          <a:xfrm>
            <a:off x="6035040" y="2423160"/>
            <a:ext cx="0" cy="3291840"/>
          </a:xfrm>
          <a:prstGeom prst="line">
            <a:avLst/>
          </a:prstGeom>
          <a:noFill/>
          <a:ln w="6350">
            <a:solidFill>
              <a:srgbClr val="A4A4AC"/>
            </a:solidFill>
            <a:prstDash val="dash"/>
          </a:ln>
        </p:spPr>
        <p:txBody>
          <a:bodyPr/>
          <a:lstStyle/>
          <a:p>
            <a:endParaRPr lang="en-US"/>
          </a:p>
        </p:txBody>
      </p:sp>
      <p:sp>
        <p:nvSpPr>
          <p:cNvPr id="10" name="Text 8"/>
          <p:cNvSpPr/>
          <p:nvPr/>
        </p:nvSpPr>
        <p:spPr>
          <a:xfrm>
            <a:off x="777240" y="2377440"/>
            <a:ext cx="1737360" cy="320040"/>
          </a:xfrm>
          <a:prstGeom prst="rect">
            <a:avLst/>
          </a:prstGeom>
          <a:noFill/>
          <a:ln/>
        </p:spPr>
        <p:txBody>
          <a:bodyPr wrap="square" lIns="0" tIns="0" rIns="0" bIns="0" rtlCol="0" anchor="ctr"/>
          <a:lstStyle/>
          <a:p>
            <a:pPr marL="0" indent="0" algn="r">
              <a:buNone/>
            </a:pPr>
            <a:r>
              <a:rPr lang="en-US" sz="900" b="1" kern="0" spc="200" dirty="0">
                <a:solidFill>
                  <a:srgbClr val="5A5A62"/>
                </a:solidFill>
                <a:latin typeface="Consolas" pitchFamily="34" charset="0"/>
                <a:ea typeface="Consolas" pitchFamily="34" charset="-122"/>
                <a:cs typeface="Consolas" pitchFamily="34" charset="-120"/>
              </a:rPr>
              <a:t>DEV-NATIVE</a:t>
            </a:r>
            <a:endParaRPr lang="en-US" sz="900" dirty="0"/>
          </a:p>
        </p:txBody>
      </p:sp>
      <p:sp>
        <p:nvSpPr>
          <p:cNvPr id="11" name="Text 9"/>
          <p:cNvSpPr/>
          <p:nvPr/>
        </p:nvSpPr>
        <p:spPr>
          <a:xfrm>
            <a:off x="777240" y="5440680"/>
            <a:ext cx="1737360" cy="320040"/>
          </a:xfrm>
          <a:prstGeom prst="rect">
            <a:avLst/>
          </a:prstGeom>
          <a:noFill/>
          <a:ln/>
        </p:spPr>
        <p:txBody>
          <a:bodyPr wrap="square" lIns="0" tIns="0" rIns="0" bIns="0" rtlCol="0" anchor="ctr"/>
          <a:lstStyle/>
          <a:p>
            <a:pPr marL="0" indent="0" algn="r">
              <a:buNone/>
            </a:pPr>
            <a:r>
              <a:rPr lang="en-US" sz="900" b="1" kern="0" spc="200" dirty="0">
                <a:solidFill>
                  <a:srgbClr val="5A5A62"/>
                </a:solidFill>
                <a:latin typeface="Consolas" pitchFamily="34" charset="0"/>
                <a:ea typeface="Consolas" pitchFamily="34" charset="-122"/>
                <a:cs typeface="Consolas" pitchFamily="34" charset="-120"/>
              </a:rPr>
              <a:t>GENERIC</a:t>
            </a:r>
            <a:endParaRPr lang="en-US" sz="900" dirty="0"/>
          </a:p>
        </p:txBody>
      </p:sp>
      <p:sp>
        <p:nvSpPr>
          <p:cNvPr id="12" name="Shape 10"/>
          <p:cNvSpPr/>
          <p:nvPr/>
        </p:nvSpPr>
        <p:spPr>
          <a:xfrm>
            <a:off x="2514600" y="2514600"/>
            <a:ext cx="0" cy="3108960"/>
          </a:xfrm>
          <a:prstGeom prst="line">
            <a:avLst/>
          </a:prstGeom>
          <a:noFill/>
          <a:ln w="12700">
            <a:solidFill>
              <a:srgbClr val="5A5A62"/>
            </a:solidFill>
            <a:prstDash val="solid"/>
            <a:tailEnd type="triangle"/>
          </a:ln>
        </p:spPr>
        <p:txBody>
          <a:bodyPr/>
          <a:lstStyle/>
          <a:p>
            <a:endParaRPr lang="en-US"/>
          </a:p>
        </p:txBody>
      </p:sp>
      <p:sp>
        <p:nvSpPr>
          <p:cNvPr id="13" name="Text 11"/>
          <p:cNvSpPr/>
          <p:nvPr/>
        </p:nvSpPr>
        <p:spPr>
          <a:xfrm>
            <a:off x="2651760" y="5788152"/>
            <a:ext cx="1828800" cy="274320"/>
          </a:xfrm>
          <a:prstGeom prst="rect">
            <a:avLst/>
          </a:prstGeom>
          <a:noFill/>
          <a:ln/>
        </p:spPr>
        <p:txBody>
          <a:bodyPr wrap="square" lIns="0" tIns="0" rIns="0" bIns="0" rtlCol="0" anchor="ctr"/>
          <a:lstStyle/>
          <a:p>
            <a:pPr marL="0" indent="0" algn="l">
              <a:buNone/>
            </a:pPr>
            <a:r>
              <a:rPr lang="en-US" sz="900" b="1" kern="0" spc="200" dirty="0">
                <a:solidFill>
                  <a:srgbClr val="5A5A62"/>
                </a:solidFill>
                <a:latin typeface="Consolas" pitchFamily="34" charset="0"/>
                <a:ea typeface="Consolas" pitchFamily="34" charset="-122"/>
                <a:cs typeface="Consolas" pitchFamily="34" charset="-120"/>
              </a:rPr>
              <a:t>COVERAGE</a:t>
            </a:r>
            <a:endParaRPr lang="en-US" sz="900" dirty="0"/>
          </a:p>
        </p:txBody>
      </p:sp>
      <p:sp>
        <p:nvSpPr>
          <p:cNvPr id="14" name="Text 12"/>
          <p:cNvSpPr/>
          <p:nvPr/>
        </p:nvSpPr>
        <p:spPr>
          <a:xfrm>
            <a:off x="7589520" y="5788152"/>
            <a:ext cx="1828800" cy="274320"/>
          </a:xfrm>
          <a:prstGeom prst="rect">
            <a:avLst/>
          </a:prstGeom>
          <a:noFill/>
          <a:ln/>
        </p:spPr>
        <p:txBody>
          <a:bodyPr wrap="square" lIns="0" tIns="0" rIns="0" bIns="0" rtlCol="0" anchor="ctr"/>
          <a:lstStyle/>
          <a:p>
            <a:pPr marL="0" indent="0" algn="r">
              <a:buNone/>
            </a:pPr>
            <a:r>
              <a:rPr lang="en-US" sz="900" b="1" kern="0" spc="200" dirty="0">
                <a:solidFill>
                  <a:srgbClr val="5A5A62"/>
                </a:solidFill>
                <a:latin typeface="Consolas" pitchFamily="34" charset="0"/>
                <a:ea typeface="Consolas" pitchFamily="34" charset="-122"/>
                <a:cs typeface="Consolas" pitchFamily="34" charset="-120"/>
              </a:rPr>
              <a:t>TRIAGE</a:t>
            </a:r>
            <a:endParaRPr lang="en-US" sz="900" dirty="0"/>
          </a:p>
        </p:txBody>
      </p:sp>
      <p:sp>
        <p:nvSpPr>
          <p:cNvPr id="15" name="Shape 13"/>
          <p:cNvSpPr/>
          <p:nvPr/>
        </p:nvSpPr>
        <p:spPr>
          <a:xfrm>
            <a:off x="2743200" y="6172200"/>
            <a:ext cx="6583680" cy="0"/>
          </a:xfrm>
          <a:prstGeom prst="line">
            <a:avLst/>
          </a:prstGeom>
          <a:noFill/>
          <a:ln w="12700">
            <a:solidFill>
              <a:srgbClr val="5A5A62"/>
            </a:solidFill>
            <a:prstDash val="solid"/>
            <a:tailEnd type="triangle"/>
          </a:ln>
        </p:spPr>
        <p:txBody>
          <a:bodyPr/>
          <a:lstStyle/>
          <a:p>
            <a:endParaRPr lang="en-US"/>
          </a:p>
        </p:txBody>
      </p:sp>
      <p:sp>
        <p:nvSpPr>
          <p:cNvPr id="16" name="Shape 14"/>
          <p:cNvSpPr/>
          <p:nvPr/>
        </p:nvSpPr>
        <p:spPr>
          <a:xfrm>
            <a:off x="3291840" y="4526280"/>
            <a:ext cx="201168" cy="201168"/>
          </a:xfrm>
          <a:prstGeom prst="ellipse">
            <a:avLst/>
          </a:prstGeom>
          <a:solidFill>
            <a:srgbClr val="5A5A62"/>
          </a:solidFill>
          <a:ln/>
        </p:spPr>
        <p:txBody>
          <a:bodyPr/>
          <a:lstStyle/>
          <a:p>
            <a:endParaRPr lang="en-US"/>
          </a:p>
        </p:txBody>
      </p:sp>
      <p:sp>
        <p:nvSpPr>
          <p:cNvPr id="17" name="Text 15"/>
          <p:cNvSpPr/>
          <p:nvPr/>
        </p:nvSpPr>
        <p:spPr>
          <a:xfrm>
            <a:off x="3566160" y="4416552"/>
            <a:ext cx="2011680" cy="274320"/>
          </a:xfrm>
          <a:prstGeom prst="rect">
            <a:avLst/>
          </a:prstGeom>
          <a:noFill/>
          <a:ln/>
        </p:spPr>
        <p:txBody>
          <a:bodyPr wrap="square" lIns="0" tIns="0" rIns="0" bIns="0" rtlCol="0" anchor="ctr"/>
          <a:lstStyle/>
          <a:p>
            <a:pPr marL="0" indent="0">
              <a:buNone/>
            </a:pPr>
            <a:r>
              <a:rPr lang="en-US" sz="1100" dirty="0">
                <a:solidFill>
                  <a:srgbClr val="0F0F14"/>
                </a:solidFill>
                <a:latin typeface="Calibri" pitchFamily="34" charset="0"/>
                <a:ea typeface="Calibri" pitchFamily="34" charset="-122"/>
                <a:cs typeface="Calibri" pitchFamily="34" charset="-120"/>
              </a:rPr>
              <a:t>Sprout Social</a:t>
            </a:r>
            <a:endParaRPr lang="en-US" sz="1100" dirty="0"/>
          </a:p>
        </p:txBody>
      </p:sp>
      <p:sp>
        <p:nvSpPr>
          <p:cNvPr id="18" name="Shape 16"/>
          <p:cNvSpPr/>
          <p:nvPr/>
        </p:nvSpPr>
        <p:spPr>
          <a:xfrm>
            <a:off x="3657600" y="5029200"/>
            <a:ext cx="201168" cy="201168"/>
          </a:xfrm>
          <a:prstGeom prst="ellipse">
            <a:avLst/>
          </a:prstGeom>
          <a:solidFill>
            <a:srgbClr val="5A5A62"/>
          </a:solidFill>
          <a:ln/>
        </p:spPr>
        <p:txBody>
          <a:bodyPr/>
          <a:lstStyle/>
          <a:p>
            <a:endParaRPr lang="en-US"/>
          </a:p>
        </p:txBody>
      </p:sp>
      <p:sp>
        <p:nvSpPr>
          <p:cNvPr id="19" name="Text 17"/>
          <p:cNvSpPr/>
          <p:nvPr/>
        </p:nvSpPr>
        <p:spPr>
          <a:xfrm>
            <a:off x="3931920" y="4919472"/>
            <a:ext cx="2011680" cy="274320"/>
          </a:xfrm>
          <a:prstGeom prst="rect">
            <a:avLst/>
          </a:prstGeom>
          <a:noFill/>
          <a:ln/>
        </p:spPr>
        <p:txBody>
          <a:bodyPr wrap="square" lIns="0" tIns="0" rIns="0" bIns="0" rtlCol="0" anchor="ctr"/>
          <a:lstStyle/>
          <a:p>
            <a:pPr marL="0" indent="0">
              <a:buNone/>
            </a:pPr>
            <a:r>
              <a:rPr lang="en-US" sz="1100" dirty="0">
                <a:solidFill>
                  <a:srgbClr val="0F0F14"/>
                </a:solidFill>
                <a:latin typeface="Calibri" pitchFamily="34" charset="0"/>
                <a:ea typeface="Calibri" pitchFamily="34" charset="-122"/>
                <a:cs typeface="Calibri" pitchFamily="34" charset="-120"/>
              </a:rPr>
              <a:t>Mention.com</a:t>
            </a:r>
            <a:endParaRPr lang="en-US" sz="1100" dirty="0"/>
          </a:p>
        </p:txBody>
      </p:sp>
      <p:sp>
        <p:nvSpPr>
          <p:cNvPr id="20" name="Shape 18"/>
          <p:cNvSpPr/>
          <p:nvPr/>
        </p:nvSpPr>
        <p:spPr>
          <a:xfrm>
            <a:off x="7223760" y="4709160"/>
            <a:ext cx="201168" cy="201168"/>
          </a:xfrm>
          <a:prstGeom prst="ellipse">
            <a:avLst/>
          </a:prstGeom>
          <a:solidFill>
            <a:srgbClr val="5A5A62"/>
          </a:solidFill>
          <a:ln/>
        </p:spPr>
        <p:txBody>
          <a:bodyPr/>
          <a:lstStyle/>
          <a:p>
            <a:endParaRPr lang="en-US"/>
          </a:p>
        </p:txBody>
      </p:sp>
      <p:sp>
        <p:nvSpPr>
          <p:cNvPr id="21" name="Text 19"/>
          <p:cNvSpPr/>
          <p:nvPr/>
        </p:nvSpPr>
        <p:spPr>
          <a:xfrm>
            <a:off x="7498080" y="4599432"/>
            <a:ext cx="1828800" cy="274320"/>
          </a:xfrm>
          <a:prstGeom prst="rect">
            <a:avLst/>
          </a:prstGeom>
          <a:noFill/>
          <a:ln/>
        </p:spPr>
        <p:txBody>
          <a:bodyPr wrap="square" lIns="0" tIns="0" rIns="0" bIns="0" rtlCol="0" anchor="ctr"/>
          <a:lstStyle/>
          <a:p>
            <a:pPr marL="0" indent="0">
              <a:buNone/>
            </a:pPr>
            <a:r>
              <a:rPr lang="en-US" sz="1100" dirty="0">
                <a:solidFill>
                  <a:srgbClr val="0F0F14"/>
                </a:solidFill>
                <a:latin typeface="Calibri" pitchFamily="34" charset="0"/>
                <a:ea typeface="Calibri" pitchFamily="34" charset="-122"/>
                <a:cs typeface="Calibri" pitchFamily="34" charset="-120"/>
              </a:rPr>
              <a:t>GitHub Insights</a:t>
            </a:r>
            <a:endParaRPr lang="en-US" sz="1100" dirty="0"/>
          </a:p>
        </p:txBody>
      </p:sp>
      <p:sp>
        <p:nvSpPr>
          <p:cNvPr id="22" name="Shape 20"/>
          <p:cNvSpPr/>
          <p:nvPr/>
        </p:nvSpPr>
        <p:spPr>
          <a:xfrm>
            <a:off x="4023360" y="2926080"/>
            <a:ext cx="201168" cy="201168"/>
          </a:xfrm>
          <a:prstGeom prst="ellipse">
            <a:avLst/>
          </a:prstGeom>
          <a:solidFill>
            <a:srgbClr val="5A5A62"/>
          </a:solidFill>
          <a:ln/>
        </p:spPr>
        <p:txBody>
          <a:bodyPr/>
          <a:lstStyle/>
          <a:p>
            <a:endParaRPr lang="en-US"/>
          </a:p>
        </p:txBody>
      </p:sp>
      <p:sp>
        <p:nvSpPr>
          <p:cNvPr id="23" name="Text 21"/>
          <p:cNvSpPr/>
          <p:nvPr/>
        </p:nvSpPr>
        <p:spPr>
          <a:xfrm>
            <a:off x="4297680" y="2816352"/>
            <a:ext cx="1828800" cy="274320"/>
          </a:xfrm>
          <a:prstGeom prst="rect">
            <a:avLst/>
          </a:prstGeom>
          <a:noFill/>
          <a:ln/>
        </p:spPr>
        <p:txBody>
          <a:bodyPr wrap="square" lIns="0" tIns="0" rIns="0" bIns="0" rtlCol="0" anchor="ctr"/>
          <a:lstStyle/>
          <a:p>
            <a:pPr marL="0" indent="0">
              <a:buNone/>
            </a:pPr>
            <a:r>
              <a:rPr lang="en-US" sz="1100" dirty="0">
                <a:solidFill>
                  <a:srgbClr val="0F0F14"/>
                </a:solidFill>
                <a:latin typeface="Calibri" pitchFamily="34" charset="0"/>
                <a:ea typeface="Calibri" pitchFamily="34" charset="-122"/>
                <a:cs typeface="Calibri" pitchFamily="34" charset="-120"/>
              </a:rPr>
              <a:t>Meltwater</a:t>
            </a:r>
            <a:endParaRPr lang="en-US" sz="1100" dirty="0"/>
          </a:p>
        </p:txBody>
      </p:sp>
      <p:sp>
        <p:nvSpPr>
          <p:cNvPr id="24" name="Shape 22"/>
          <p:cNvSpPr/>
          <p:nvPr/>
        </p:nvSpPr>
        <p:spPr>
          <a:xfrm>
            <a:off x="7360920" y="2697480"/>
            <a:ext cx="1417320" cy="1417320"/>
          </a:xfrm>
          <a:prstGeom prst="ellipse">
            <a:avLst/>
          </a:prstGeom>
          <a:solidFill>
            <a:srgbClr val="E63946">
              <a:alpha val="15000"/>
            </a:srgbClr>
          </a:solidFill>
          <a:ln w="12700">
            <a:solidFill>
              <a:srgbClr val="E63946"/>
            </a:solidFill>
            <a:prstDash val="dash"/>
          </a:ln>
        </p:spPr>
        <p:txBody>
          <a:bodyPr/>
          <a:lstStyle/>
          <a:p>
            <a:endParaRPr lang="en-US"/>
          </a:p>
        </p:txBody>
      </p:sp>
      <p:sp>
        <p:nvSpPr>
          <p:cNvPr id="25" name="Shape 23"/>
          <p:cNvSpPr/>
          <p:nvPr/>
        </p:nvSpPr>
        <p:spPr>
          <a:xfrm>
            <a:off x="8001000" y="3337560"/>
            <a:ext cx="274320" cy="274320"/>
          </a:xfrm>
          <a:prstGeom prst="star5">
            <a:avLst/>
          </a:prstGeom>
          <a:solidFill>
            <a:srgbClr val="E63946"/>
          </a:solidFill>
          <a:ln/>
        </p:spPr>
        <p:txBody>
          <a:bodyPr/>
          <a:lstStyle/>
          <a:p>
            <a:endParaRPr lang="en-US"/>
          </a:p>
        </p:txBody>
      </p:sp>
      <p:sp>
        <p:nvSpPr>
          <p:cNvPr id="26" name="Text 24"/>
          <p:cNvSpPr/>
          <p:nvPr/>
        </p:nvSpPr>
        <p:spPr>
          <a:xfrm>
            <a:off x="7132320" y="3657600"/>
            <a:ext cx="2011680" cy="292608"/>
          </a:xfrm>
          <a:prstGeom prst="rect">
            <a:avLst/>
          </a:prstGeom>
          <a:noFill/>
          <a:ln/>
        </p:spPr>
        <p:txBody>
          <a:bodyPr wrap="square" lIns="0" tIns="0" rIns="0" bIns="0" rtlCol="0" anchor="ctr"/>
          <a:lstStyle/>
          <a:p>
            <a:pPr marL="0" indent="0" algn="ctr">
              <a:buNone/>
            </a:pPr>
            <a:r>
              <a:rPr lang="en-US" sz="1600" b="1" dirty="0">
                <a:solidFill>
                  <a:srgbClr val="E63946"/>
                </a:solidFill>
                <a:latin typeface="Cambria" pitchFamily="34" charset="0"/>
                <a:ea typeface="Cambria" pitchFamily="34" charset="-122"/>
                <a:cs typeface="Cambria" pitchFamily="34" charset="-120"/>
              </a:rPr>
              <a:t>OLEMBIC</a:t>
            </a:r>
            <a:endParaRPr lang="en-US" sz="1600" dirty="0"/>
          </a:p>
        </p:txBody>
      </p:sp>
      <p:sp>
        <p:nvSpPr>
          <p:cNvPr id="27" name="Text 25"/>
          <p:cNvSpPr/>
          <p:nvPr/>
        </p:nvSpPr>
        <p:spPr>
          <a:xfrm>
            <a:off x="7132320" y="3931920"/>
            <a:ext cx="2011680" cy="228600"/>
          </a:xfrm>
          <a:prstGeom prst="rect">
            <a:avLst/>
          </a:prstGeom>
          <a:noFill/>
          <a:ln/>
        </p:spPr>
        <p:txBody>
          <a:bodyPr wrap="square" lIns="0" tIns="0" rIns="0" bIns="0" rtlCol="0" anchor="ctr"/>
          <a:lstStyle/>
          <a:p>
            <a:pPr marL="0" indent="0" algn="ctr">
              <a:buNone/>
            </a:pPr>
            <a:r>
              <a:rPr lang="en-US" sz="800" i="1" kern="0" spc="200" dirty="0">
                <a:solidFill>
                  <a:srgbClr val="5A5A62"/>
                </a:solidFill>
                <a:latin typeface="Consolas" pitchFamily="34" charset="0"/>
                <a:ea typeface="Consolas" pitchFamily="34" charset="-122"/>
                <a:cs typeface="Consolas" pitchFamily="34" charset="-120"/>
              </a:rPr>
              <a:t>sweet spot</a:t>
            </a:r>
            <a:endParaRPr lang="en-US" sz="800" dirty="0"/>
          </a:p>
        </p:txBody>
      </p:sp>
      <p:sp>
        <p:nvSpPr>
          <p:cNvPr id="28" name="Text 26"/>
          <p:cNvSpPr/>
          <p:nvPr/>
        </p:nvSpPr>
        <p:spPr>
          <a:xfrm>
            <a:off x="502920" y="6309360"/>
            <a:ext cx="11155680" cy="256032"/>
          </a:xfrm>
          <a:prstGeom prst="rect">
            <a:avLst/>
          </a:prstGeom>
          <a:noFill/>
          <a:ln/>
        </p:spPr>
        <p:txBody>
          <a:bodyPr wrap="square" lIns="0" tIns="0" rIns="0" bIns="0" rtlCol="0" anchor="ctr"/>
          <a:lstStyle/>
          <a:p>
            <a:pPr marL="0" indent="0" algn="ctr">
              <a:buNone/>
            </a:pPr>
            <a:r>
              <a:rPr lang="en-US" sz="1300" i="1" dirty="0">
                <a:solidFill>
                  <a:srgbClr val="5A5A62"/>
                </a:solidFill>
                <a:latin typeface="Cambria" pitchFamily="34" charset="0"/>
                <a:ea typeface="Cambria" pitchFamily="34" charset="-122"/>
                <a:cs typeface="Cambria" pitchFamily="34" charset="-120"/>
              </a:rPr>
              <a:t>The tools worth building answer one question. </a:t>
            </a:r>
            <a:r>
              <a:rPr lang="en-US" sz="1400" b="1" i="1" dirty="0">
                <a:solidFill>
                  <a:srgbClr val="0F0F14"/>
                </a:solidFill>
                <a:latin typeface="Cambria" pitchFamily="34" charset="0"/>
                <a:ea typeface="Cambria" pitchFamily="34" charset="-122"/>
                <a:cs typeface="Cambria" pitchFamily="34" charset="-120"/>
              </a:rPr>
              <a:t>What should I stop what I’m doing for</a:t>
            </a:r>
            <a:r>
              <a:rPr lang="en-US" sz="1400" b="1" i="1" dirty="0">
                <a:solidFill>
                  <a:srgbClr val="E63946"/>
                </a:solidFill>
                <a:latin typeface="Cambria" pitchFamily="34" charset="0"/>
                <a:ea typeface="Cambria" pitchFamily="34" charset="-122"/>
                <a:cs typeface="Cambria" pitchFamily="34" charset="-120"/>
              </a:rPr>
              <a:t>?</a:t>
            </a:r>
            <a:endParaRPr lang="en-US" sz="1300" dirty="0"/>
          </a:p>
        </p:txBody>
      </p:sp>
      <p:sp>
        <p:nvSpPr>
          <p:cNvPr id="30" name="Text 27"/>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31" name="Text 28"/>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09</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VISUAL IDENTITY</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4200" b="1" dirty="0">
                <a:solidFill>
                  <a:srgbClr val="0F0F14"/>
                </a:solidFill>
                <a:latin typeface="Cambria" pitchFamily="34" charset="0"/>
                <a:ea typeface="Cambria" pitchFamily="34" charset="-122"/>
                <a:cs typeface="Cambria" pitchFamily="34" charset="-120"/>
              </a:rPr>
              <a:t>Signal and Static</a:t>
            </a:r>
            <a:r>
              <a:rPr lang="en-US" sz="4200" b="1" dirty="0">
                <a:solidFill>
                  <a:srgbClr val="E63946"/>
                </a:solidFill>
                <a:latin typeface="Cambria" pitchFamily="34" charset="0"/>
                <a:ea typeface="Cambria" pitchFamily="34" charset="-122"/>
                <a:cs typeface="Cambria" pitchFamily="34" charset="-120"/>
              </a:rPr>
              <a:t>.</a:t>
            </a:r>
            <a:endParaRPr lang="en-US" sz="4200" dirty="0"/>
          </a:p>
        </p:txBody>
      </p:sp>
      <p:sp>
        <p:nvSpPr>
          <p:cNvPr id="6" name="Text 4"/>
          <p:cNvSpPr/>
          <p:nvPr/>
        </p:nvSpPr>
        <p:spPr>
          <a:xfrm>
            <a:off x="502920" y="155448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One system. Two neutrals. One accent. Reserved for the signal color.</a:t>
            </a:r>
            <a:endParaRPr lang="en-US" sz="1800" dirty="0"/>
          </a:p>
        </p:txBody>
      </p:sp>
      <p:sp>
        <p:nvSpPr>
          <p:cNvPr id="7" name="Text 5"/>
          <p:cNvSpPr/>
          <p:nvPr/>
        </p:nvSpPr>
        <p:spPr>
          <a:xfrm>
            <a:off x="502920" y="2514600"/>
            <a:ext cx="5486400" cy="27432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COLOR PALETTE</a:t>
            </a:r>
            <a:endParaRPr lang="en-US" sz="1000" dirty="0"/>
          </a:p>
        </p:txBody>
      </p:sp>
      <p:sp>
        <p:nvSpPr>
          <p:cNvPr id="8" name="Shape 6"/>
          <p:cNvSpPr/>
          <p:nvPr/>
        </p:nvSpPr>
        <p:spPr>
          <a:xfrm>
            <a:off x="502920" y="2834640"/>
            <a:ext cx="5486400" cy="0"/>
          </a:xfrm>
          <a:prstGeom prst="line">
            <a:avLst/>
          </a:prstGeom>
          <a:noFill/>
          <a:ln w="6350">
            <a:solidFill>
              <a:srgbClr val="A4A4AC"/>
            </a:solidFill>
            <a:prstDash val="solid"/>
          </a:ln>
        </p:spPr>
        <p:txBody>
          <a:bodyPr/>
          <a:lstStyle/>
          <a:p>
            <a:endParaRPr lang="en-US"/>
          </a:p>
        </p:txBody>
      </p:sp>
      <p:sp>
        <p:nvSpPr>
          <p:cNvPr id="9" name="Shape 7"/>
          <p:cNvSpPr/>
          <p:nvPr/>
        </p:nvSpPr>
        <p:spPr>
          <a:xfrm>
            <a:off x="502920" y="3017520"/>
            <a:ext cx="1280160" cy="914400"/>
          </a:xfrm>
          <a:prstGeom prst="rect">
            <a:avLst/>
          </a:prstGeom>
          <a:solidFill>
            <a:srgbClr val="0F0F14"/>
          </a:solidFill>
          <a:ln w="6350">
            <a:solidFill>
              <a:srgbClr val="A4A4AC"/>
            </a:solidFill>
            <a:prstDash val="solid"/>
          </a:ln>
        </p:spPr>
        <p:txBody>
          <a:bodyPr/>
          <a:lstStyle/>
          <a:p>
            <a:endParaRPr lang="en-US"/>
          </a:p>
        </p:txBody>
      </p:sp>
      <p:sp>
        <p:nvSpPr>
          <p:cNvPr id="10" name="Text 8"/>
          <p:cNvSpPr/>
          <p:nvPr/>
        </p:nvSpPr>
        <p:spPr>
          <a:xfrm>
            <a:off x="612648" y="3108960"/>
            <a:ext cx="1097280" cy="256032"/>
          </a:xfrm>
          <a:prstGeom prst="rect">
            <a:avLst/>
          </a:prstGeom>
          <a:noFill/>
          <a:ln/>
        </p:spPr>
        <p:txBody>
          <a:bodyPr wrap="square" lIns="0" tIns="0" rIns="0" bIns="0" rtlCol="0" anchor="ctr"/>
          <a:lstStyle/>
          <a:p>
            <a:pPr marL="0" indent="0">
              <a:buNone/>
            </a:pPr>
            <a:r>
              <a:rPr lang="en-US" sz="900" dirty="0">
                <a:solidFill>
                  <a:srgbClr val="F0EDE4"/>
                </a:solidFill>
                <a:latin typeface="Consolas" pitchFamily="34" charset="0"/>
                <a:ea typeface="Consolas" pitchFamily="34" charset="-122"/>
                <a:cs typeface="Consolas" pitchFamily="34" charset="-120"/>
              </a:rPr>
              <a:t>#0F0F14</a:t>
            </a:r>
            <a:endParaRPr lang="en-US" sz="900" dirty="0"/>
          </a:p>
        </p:txBody>
      </p:sp>
      <p:sp>
        <p:nvSpPr>
          <p:cNvPr id="11" name="Text 9"/>
          <p:cNvSpPr/>
          <p:nvPr/>
        </p:nvSpPr>
        <p:spPr>
          <a:xfrm>
            <a:off x="1920240" y="3154680"/>
            <a:ext cx="1280160" cy="320040"/>
          </a:xfrm>
          <a:prstGeom prst="rect">
            <a:avLst/>
          </a:prstGeom>
          <a:noFill/>
          <a:ln/>
        </p:spPr>
        <p:txBody>
          <a:bodyPr wrap="square" lIns="0" tIns="0" rIns="0" bIns="0" rtlCol="0" anchor="ctr"/>
          <a:lstStyle/>
          <a:p>
            <a:pPr marL="0" indent="0">
              <a:buNone/>
            </a:pPr>
            <a:r>
              <a:rPr lang="en-US" sz="1500" b="1" dirty="0">
                <a:solidFill>
                  <a:srgbClr val="0F0F14"/>
                </a:solidFill>
                <a:latin typeface="Cambria" pitchFamily="34" charset="0"/>
                <a:ea typeface="Cambria" pitchFamily="34" charset="-122"/>
                <a:cs typeface="Cambria" pitchFamily="34" charset="-120"/>
              </a:rPr>
              <a:t>Ink</a:t>
            </a:r>
            <a:endParaRPr lang="en-US" sz="1500" dirty="0"/>
          </a:p>
        </p:txBody>
      </p:sp>
      <p:sp>
        <p:nvSpPr>
          <p:cNvPr id="12" name="Text 10"/>
          <p:cNvSpPr/>
          <p:nvPr/>
        </p:nvSpPr>
        <p:spPr>
          <a:xfrm>
            <a:off x="1920240" y="3474720"/>
            <a:ext cx="1280160" cy="365760"/>
          </a:xfrm>
          <a:prstGeom prst="rect">
            <a:avLst/>
          </a:prstGeom>
          <a:noFill/>
          <a:ln/>
        </p:spPr>
        <p:txBody>
          <a:bodyPr wrap="square" lIns="0" tIns="0" rIns="0" bIns="0" rtlCol="0" anchor="ctr"/>
          <a:lstStyle/>
          <a:p>
            <a:pPr marL="0" indent="0">
              <a:buNone/>
            </a:pPr>
            <a:r>
              <a:rPr lang="en-US" sz="1000" i="1" dirty="0">
                <a:solidFill>
                  <a:srgbClr val="5A5A62"/>
                </a:solidFill>
                <a:latin typeface="Calibri" pitchFamily="34" charset="0"/>
                <a:ea typeface="Calibri" pitchFamily="34" charset="-122"/>
                <a:cs typeface="Calibri" pitchFamily="34" charset="-120"/>
              </a:rPr>
              <a:t>text · dark surfaces</a:t>
            </a:r>
            <a:endParaRPr lang="en-US" sz="1000" dirty="0"/>
          </a:p>
        </p:txBody>
      </p:sp>
      <p:sp>
        <p:nvSpPr>
          <p:cNvPr id="13" name="Shape 11"/>
          <p:cNvSpPr/>
          <p:nvPr/>
        </p:nvSpPr>
        <p:spPr>
          <a:xfrm>
            <a:off x="3246120" y="3017520"/>
            <a:ext cx="1280160" cy="914400"/>
          </a:xfrm>
          <a:prstGeom prst="rect">
            <a:avLst/>
          </a:prstGeom>
          <a:solidFill>
            <a:srgbClr val="F0EDE4"/>
          </a:solidFill>
          <a:ln w="6350">
            <a:solidFill>
              <a:srgbClr val="A4A4AC"/>
            </a:solidFill>
            <a:prstDash val="solid"/>
          </a:ln>
        </p:spPr>
        <p:txBody>
          <a:bodyPr/>
          <a:lstStyle/>
          <a:p>
            <a:endParaRPr lang="en-US"/>
          </a:p>
        </p:txBody>
      </p:sp>
      <p:sp>
        <p:nvSpPr>
          <p:cNvPr id="14" name="Text 12"/>
          <p:cNvSpPr/>
          <p:nvPr/>
        </p:nvSpPr>
        <p:spPr>
          <a:xfrm>
            <a:off x="3355848" y="3108960"/>
            <a:ext cx="1097280" cy="256032"/>
          </a:xfrm>
          <a:prstGeom prst="rect">
            <a:avLst/>
          </a:prstGeom>
          <a:noFill/>
          <a:ln/>
        </p:spPr>
        <p:txBody>
          <a:bodyPr wrap="square" lIns="0" tIns="0" rIns="0" bIns="0" rtlCol="0" anchor="ctr"/>
          <a:lstStyle/>
          <a:p>
            <a:pPr marL="0" indent="0">
              <a:buNone/>
            </a:pPr>
            <a:r>
              <a:rPr lang="en-US" sz="900" dirty="0">
                <a:solidFill>
                  <a:srgbClr val="0F0F14"/>
                </a:solidFill>
                <a:latin typeface="Consolas" pitchFamily="34" charset="0"/>
                <a:ea typeface="Consolas" pitchFamily="34" charset="-122"/>
                <a:cs typeface="Consolas" pitchFamily="34" charset="-120"/>
              </a:rPr>
              <a:t>#F0EDE4</a:t>
            </a:r>
            <a:endParaRPr lang="en-US" sz="900" dirty="0"/>
          </a:p>
        </p:txBody>
      </p:sp>
      <p:sp>
        <p:nvSpPr>
          <p:cNvPr id="15" name="Text 13"/>
          <p:cNvSpPr/>
          <p:nvPr/>
        </p:nvSpPr>
        <p:spPr>
          <a:xfrm>
            <a:off x="4663440" y="3154680"/>
            <a:ext cx="1280160" cy="320040"/>
          </a:xfrm>
          <a:prstGeom prst="rect">
            <a:avLst/>
          </a:prstGeom>
          <a:noFill/>
          <a:ln/>
        </p:spPr>
        <p:txBody>
          <a:bodyPr wrap="square" lIns="0" tIns="0" rIns="0" bIns="0" rtlCol="0" anchor="ctr"/>
          <a:lstStyle/>
          <a:p>
            <a:pPr marL="0" indent="0">
              <a:buNone/>
            </a:pPr>
            <a:r>
              <a:rPr lang="en-US" sz="1500" b="1" dirty="0">
                <a:solidFill>
                  <a:srgbClr val="0F0F14"/>
                </a:solidFill>
                <a:latin typeface="Cambria" pitchFamily="34" charset="0"/>
                <a:ea typeface="Cambria" pitchFamily="34" charset="-122"/>
                <a:cs typeface="Cambria" pitchFamily="34" charset="-120"/>
              </a:rPr>
              <a:t>Paper</a:t>
            </a:r>
            <a:endParaRPr lang="en-US" sz="1500" dirty="0"/>
          </a:p>
        </p:txBody>
      </p:sp>
      <p:sp>
        <p:nvSpPr>
          <p:cNvPr id="16" name="Text 14"/>
          <p:cNvSpPr/>
          <p:nvPr/>
        </p:nvSpPr>
        <p:spPr>
          <a:xfrm>
            <a:off x="4663440" y="3474720"/>
            <a:ext cx="1280160" cy="365760"/>
          </a:xfrm>
          <a:prstGeom prst="rect">
            <a:avLst/>
          </a:prstGeom>
          <a:noFill/>
          <a:ln/>
        </p:spPr>
        <p:txBody>
          <a:bodyPr wrap="square" lIns="0" tIns="0" rIns="0" bIns="0" rtlCol="0" anchor="ctr"/>
          <a:lstStyle/>
          <a:p>
            <a:pPr marL="0" indent="0">
              <a:buNone/>
            </a:pPr>
            <a:r>
              <a:rPr lang="en-US" sz="1000" i="1" dirty="0">
                <a:solidFill>
                  <a:srgbClr val="5A5A62"/>
                </a:solidFill>
                <a:latin typeface="Calibri" pitchFamily="34" charset="0"/>
                <a:ea typeface="Calibri" pitchFamily="34" charset="-122"/>
                <a:cs typeface="Calibri" pitchFamily="34" charset="-120"/>
              </a:rPr>
              <a:t>background</a:t>
            </a:r>
            <a:endParaRPr lang="en-US" sz="1000" dirty="0"/>
          </a:p>
        </p:txBody>
      </p:sp>
      <p:sp>
        <p:nvSpPr>
          <p:cNvPr id="17" name="Shape 15"/>
          <p:cNvSpPr/>
          <p:nvPr/>
        </p:nvSpPr>
        <p:spPr>
          <a:xfrm>
            <a:off x="502920" y="4389120"/>
            <a:ext cx="1280160" cy="914400"/>
          </a:xfrm>
          <a:prstGeom prst="rect">
            <a:avLst/>
          </a:prstGeom>
          <a:solidFill>
            <a:srgbClr val="E63946"/>
          </a:solidFill>
          <a:ln w="6350">
            <a:solidFill>
              <a:srgbClr val="A4A4AC"/>
            </a:solidFill>
            <a:prstDash val="solid"/>
          </a:ln>
        </p:spPr>
        <p:txBody>
          <a:bodyPr/>
          <a:lstStyle/>
          <a:p>
            <a:endParaRPr lang="en-US"/>
          </a:p>
        </p:txBody>
      </p:sp>
      <p:sp>
        <p:nvSpPr>
          <p:cNvPr id="18" name="Text 16"/>
          <p:cNvSpPr/>
          <p:nvPr/>
        </p:nvSpPr>
        <p:spPr>
          <a:xfrm>
            <a:off x="612648" y="4480560"/>
            <a:ext cx="1097280" cy="256032"/>
          </a:xfrm>
          <a:prstGeom prst="rect">
            <a:avLst/>
          </a:prstGeom>
          <a:noFill/>
          <a:ln/>
        </p:spPr>
        <p:txBody>
          <a:bodyPr wrap="square" lIns="0" tIns="0" rIns="0" bIns="0" rtlCol="0" anchor="ctr"/>
          <a:lstStyle/>
          <a:p>
            <a:pPr marL="0" indent="0">
              <a:buNone/>
            </a:pPr>
            <a:r>
              <a:rPr lang="en-US" sz="900" dirty="0">
                <a:solidFill>
                  <a:srgbClr val="F0EDE4"/>
                </a:solidFill>
                <a:latin typeface="Consolas" pitchFamily="34" charset="0"/>
                <a:ea typeface="Consolas" pitchFamily="34" charset="-122"/>
                <a:cs typeface="Consolas" pitchFamily="34" charset="-120"/>
              </a:rPr>
              <a:t>#E63946</a:t>
            </a:r>
            <a:endParaRPr lang="en-US" sz="900" dirty="0"/>
          </a:p>
        </p:txBody>
      </p:sp>
      <p:sp>
        <p:nvSpPr>
          <p:cNvPr id="19" name="Text 17"/>
          <p:cNvSpPr/>
          <p:nvPr/>
        </p:nvSpPr>
        <p:spPr>
          <a:xfrm>
            <a:off x="1920240" y="4526280"/>
            <a:ext cx="1280160" cy="320040"/>
          </a:xfrm>
          <a:prstGeom prst="rect">
            <a:avLst/>
          </a:prstGeom>
          <a:noFill/>
          <a:ln/>
        </p:spPr>
        <p:txBody>
          <a:bodyPr wrap="square" lIns="0" tIns="0" rIns="0" bIns="0" rtlCol="0" anchor="ctr"/>
          <a:lstStyle/>
          <a:p>
            <a:pPr marL="0" indent="0">
              <a:buNone/>
            </a:pPr>
            <a:r>
              <a:rPr lang="en-US" sz="1500" b="1" dirty="0">
                <a:solidFill>
                  <a:srgbClr val="0F0F14"/>
                </a:solidFill>
                <a:latin typeface="Cambria" pitchFamily="34" charset="0"/>
                <a:ea typeface="Cambria" pitchFamily="34" charset="-122"/>
                <a:cs typeface="Cambria" pitchFamily="34" charset="-120"/>
              </a:rPr>
              <a:t>Vermillion</a:t>
            </a:r>
            <a:endParaRPr lang="en-US" sz="1500" dirty="0"/>
          </a:p>
        </p:txBody>
      </p:sp>
      <p:sp>
        <p:nvSpPr>
          <p:cNvPr id="20" name="Text 18"/>
          <p:cNvSpPr/>
          <p:nvPr/>
        </p:nvSpPr>
        <p:spPr>
          <a:xfrm>
            <a:off x="1920240" y="4846320"/>
            <a:ext cx="1280160" cy="365760"/>
          </a:xfrm>
          <a:prstGeom prst="rect">
            <a:avLst/>
          </a:prstGeom>
          <a:noFill/>
          <a:ln/>
        </p:spPr>
        <p:txBody>
          <a:bodyPr wrap="square" lIns="0" tIns="0" rIns="0" bIns="0" rtlCol="0" anchor="ctr"/>
          <a:lstStyle/>
          <a:p>
            <a:pPr marL="0" indent="0">
              <a:buNone/>
            </a:pPr>
            <a:r>
              <a:rPr lang="en-US" sz="1000" i="1" dirty="0">
                <a:solidFill>
                  <a:srgbClr val="5A5A62"/>
                </a:solidFill>
                <a:latin typeface="Calibri" pitchFamily="34" charset="0"/>
                <a:ea typeface="Calibri" pitchFamily="34" charset="-122"/>
                <a:cs typeface="Calibri" pitchFamily="34" charset="-120"/>
              </a:rPr>
              <a:t>the signal color</a:t>
            </a:r>
            <a:endParaRPr lang="en-US" sz="1000" dirty="0"/>
          </a:p>
        </p:txBody>
      </p:sp>
      <p:sp>
        <p:nvSpPr>
          <p:cNvPr id="21" name="Shape 19"/>
          <p:cNvSpPr/>
          <p:nvPr/>
        </p:nvSpPr>
        <p:spPr>
          <a:xfrm>
            <a:off x="3246120" y="4389120"/>
            <a:ext cx="1280160" cy="914400"/>
          </a:xfrm>
          <a:prstGeom prst="rect">
            <a:avLst/>
          </a:prstGeom>
          <a:solidFill>
            <a:srgbClr val="5A5A62"/>
          </a:solidFill>
          <a:ln w="6350">
            <a:solidFill>
              <a:srgbClr val="A4A4AC"/>
            </a:solidFill>
            <a:prstDash val="solid"/>
          </a:ln>
        </p:spPr>
        <p:txBody>
          <a:bodyPr/>
          <a:lstStyle/>
          <a:p>
            <a:endParaRPr lang="en-US"/>
          </a:p>
        </p:txBody>
      </p:sp>
      <p:sp>
        <p:nvSpPr>
          <p:cNvPr id="22" name="Text 20"/>
          <p:cNvSpPr/>
          <p:nvPr/>
        </p:nvSpPr>
        <p:spPr>
          <a:xfrm>
            <a:off x="3355848" y="4480560"/>
            <a:ext cx="1097280" cy="256032"/>
          </a:xfrm>
          <a:prstGeom prst="rect">
            <a:avLst/>
          </a:prstGeom>
          <a:noFill/>
          <a:ln/>
        </p:spPr>
        <p:txBody>
          <a:bodyPr wrap="square" lIns="0" tIns="0" rIns="0" bIns="0" rtlCol="0" anchor="ctr"/>
          <a:lstStyle/>
          <a:p>
            <a:pPr marL="0" indent="0">
              <a:buNone/>
            </a:pPr>
            <a:r>
              <a:rPr lang="en-US" sz="900" dirty="0">
                <a:solidFill>
                  <a:srgbClr val="F0EDE4"/>
                </a:solidFill>
                <a:latin typeface="Consolas" pitchFamily="34" charset="0"/>
                <a:ea typeface="Consolas" pitchFamily="34" charset="-122"/>
                <a:cs typeface="Consolas" pitchFamily="34" charset="-120"/>
              </a:rPr>
              <a:t>#5A5A62</a:t>
            </a:r>
            <a:endParaRPr lang="en-US" sz="900" dirty="0"/>
          </a:p>
        </p:txBody>
      </p:sp>
      <p:sp>
        <p:nvSpPr>
          <p:cNvPr id="23" name="Text 21"/>
          <p:cNvSpPr/>
          <p:nvPr/>
        </p:nvSpPr>
        <p:spPr>
          <a:xfrm>
            <a:off x="4663440" y="4526280"/>
            <a:ext cx="1280160" cy="320040"/>
          </a:xfrm>
          <a:prstGeom prst="rect">
            <a:avLst/>
          </a:prstGeom>
          <a:noFill/>
          <a:ln/>
        </p:spPr>
        <p:txBody>
          <a:bodyPr wrap="square" lIns="0" tIns="0" rIns="0" bIns="0" rtlCol="0" anchor="ctr"/>
          <a:lstStyle/>
          <a:p>
            <a:pPr marL="0" indent="0">
              <a:buNone/>
            </a:pPr>
            <a:r>
              <a:rPr lang="en-US" sz="1500" b="1" dirty="0">
                <a:solidFill>
                  <a:srgbClr val="0F0F14"/>
                </a:solidFill>
                <a:latin typeface="Cambria" pitchFamily="34" charset="0"/>
                <a:ea typeface="Cambria" pitchFamily="34" charset="-122"/>
                <a:cs typeface="Cambria" pitchFamily="34" charset="-120"/>
              </a:rPr>
              <a:t>Stone</a:t>
            </a:r>
            <a:endParaRPr lang="en-US" sz="1500" dirty="0"/>
          </a:p>
        </p:txBody>
      </p:sp>
      <p:sp>
        <p:nvSpPr>
          <p:cNvPr id="24" name="Text 22"/>
          <p:cNvSpPr/>
          <p:nvPr/>
        </p:nvSpPr>
        <p:spPr>
          <a:xfrm>
            <a:off x="4663440" y="4846320"/>
            <a:ext cx="1280160" cy="365760"/>
          </a:xfrm>
          <a:prstGeom prst="rect">
            <a:avLst/>
          </a:prstGeom>
          <a:noFill/>
          <a:ln/>
        </p:spPr>
        <p:txBody>
          <a:bodyPr wrap="square" lIns="0" tIns="0" rIns="0" bIns="0" rtlCol="0" anchor="ctr"/>
          <a:lstStyle/>
          <a:p>
            <a:pPr marL="0" indent="0">
              <a:buNone/>
            </a:pPr>
            <a:r>
              <a:rPr lang="en-US" sz="1000" i="1" dirty="0">
                <a:solidFill>
                  <a:srgbClr val="5A5A62"/>
                </a:solidFill>
                <a:latin typeface="Calibri" pitchFamily="34" charset="0"/>
                <a:ea typeface="Calibri" pitchFamily="34" charset="-122"/>
                <a:cs typeface="Calibri" pitchFamily="34" charset="-120"/>
              </a:rPr>
              <a:t>muted text</a:t>
            </a:r>
            <a:endParaRPr lang="en-US" sz="1000" dirty="0"/>
          </a:p>
        </p:txBody>
      </p:sp>
      <p:sp>
        <p:nvSpPr>
          <p:cNvPr id="25" name="Text 23"/>
          <p:cNvSpPr/>
          <p:nvPr/>
        </p:nvSpPr>
        <p:spPr>
          <a:xfrm>
            <a:off x="6263640" y="2514600"/>
            <a:ext cx="5486400" cy="27432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TYPE STACK</a:t>
            </a:r>
            <a:endParaRPr lang="en-US" sz="1000" dirty="0"/>
          </a:p>
        </p:txBody>
      </p:sp>
      <p:sp>
        <p:nvSpPr>
          <p:cNvPr id="26" name="Shape 24"/>
          <p:cNvSpPr/>
          <p:nvPr/>
        </p:nvSpPr>
        <p:spPr>
          <a:xfrm>
            <a:off x="6263640" y="2834640"/>
            <a:ext cx="5394960" cy="0"/>
          </a:xfrm>
          <a:prstGeom prst="line">
            <a:avLst/>
          </a:prstGeom>
          <a:noFill/>
          <a:ln w="6350">
            <a:solidFill>
              <a:srgbClr val="A4A4AC"/>
            </a:solidFill>
            <a:prstDash val="solid"/>
          </a:ln>
        </p:spPr>
        <p:txBody>
          <a:bodyPr/>
          <a:lstStyle/>
          <a:p>
            <a:endParaRPr lang="en-US"/>
          </a:p>
        </p:txBody>
      </p:sp>
      <p:sp>
        <p:nvSpPr>
          <p:cNvPr id="27" name="Text 25"/>
          <p:cNvSpPr/>
          <p:nvPr/>
        </p:nvSpPr>
        <p:spPr>
          <a:xfrm>
            <a:off x="6263640" y="3017520"/>
            <a:ext cx="1280160" cy="822960"/>
          </a:xfrm>
          <a:prstGeom prst="rect">
            <a:avLst/>
          </a:prstGeom>
          <a:noFill/>
          <a:ln/>
        </p:spPr>
        <p:txBody>
          <a:bodyPr wrap="square" lIns="0" tIns="0" rIns="0" bIns="0" rtlCol="0" anchor="ctr"/>
          <a:lstStyle/>
          <a:p>
            <a:pPr marL="0" indent="0">
              <a:buNone/>
            </a:pPr>
            <a:r>
              <a:rPr lang="en-US" sz="4800" b="1" dirty="0">
                <a:solidFill>
                  <a:srgbClr val="0F0F14"/>
                </a:solidFill>
                <a:latin typeface="Cambria" pitchFamily="34" charset="0"/>
                <a:ea typeface="Cambria" pitchFamily="34" charset="-122"/>
                <a:cs typeface="Cambria" pitchFamily="34" charset="-120"/>
              </a:rPr>
              <a:t>Aa</a:t>
            </a:r>
            <a:endParaRPr lang="en-US" sz="4800" dirty="0"/>
          </a:p>
        </p:txBody>
      </p:sp>
      <p:sp>
        <p:nvSpPr>
          <p:cNvPr id="28" name="Text 26"/>
          <p:cNvSpPr/>
          <p:nvPr/>
        </p:nvSpPr>
        <p:spPr>
          <a:xfrm>
            <a:off x="7680960" y="3108960"/>
            <a:ext cx="3931920" cy="731520"/>
          </a:xfrm>
          <a:prstGeom prst="rect">
            <a:avLst/>
          </a:prstGeom>
          <a:noFill/>
          <a:ln/>
        </p:spPr>
        <p:txBody>
          <a:bodyPr wrap="square" lIns="0" tIns="0" rIns="0" bIns="0" rtlCol="0" anchor="t"/>
          <a:lstStyle/>
          <a:p>
            <a:pPr marL="0" indent="0">
              <a:buNone/>
            </a:pPr>
            <a:r>
              <a:rPr lang="en-US" sz="1500" b="1" dirty="0">
                <a:solidFill>
                  <a:srgbClr val="0F0F14"/>
                </a:solidFill>
                <a:latin typeface="Cambria" pitchFamily="34" charset="0"/>
                <a:ea typeface="Cambria" pitchFamily="34" charset="-122"/>
                <a:cs typeface="Cambria" pitchFamily="34" charset="-120"/>
              </a:rPr>
              <a:t>Fraunces</a:t>
            </a:r>
            <a:endParaRPr lang="en-US" sz="1500" dirty="0"/>
          </a:p>
          <a:p>
            <a:pPr marL="0" indent="0">
              <a:buNone/>
            </a:pPr>
            <a:r>
              <a:rPr lang="en-US" sz="1100" i="1" dirty="0">
                <a:solidFill>
                  <a:srgbClr val="5A5A62"/>
                </a:solidFill>
                <a:latin typeface="Calibri" pitchFamily="34" charset="0"/>
                <a:ea typeface="Calibri" pitchFamily="34" charset="-122"/>
                <a:cs typeface="Calibri" pitchFamily="34" charset="-120"/>
              </a:rPr>
              <a:t>Display serif. For the ideas.</a:t>
            </a:r>
            <a:endParaRPr lang="en-US" sz="1500" dirty="0"/>
          </a:p>
        </p:txBody>
      </p:sp>
      <p:sp>
        <p:nvSpPr>
          <p:cNvPr id="29" name="Text 27"/>
          <p:cNvSpPr/>
          <p:nvPr/>
        </p:nvSpPr>
        <p:spPr>
          <a:xfrm>
            <a:off x="6263640" y="3931920"/>
            <a:ext cx="1280160" cy="640080"/>
          </a:xfrm>
          <a:prstGeom prst="rect">
            <a:avLst/>
          </a:prstGeom>
          <a:noFill/>
          <a:ln/>
        </p:spPr>
        <p:txBody>
          <a:bodyPr wrap="square" lIns="0" tIns="0" rIns="0" bIns="0" rtlCol="0" anchor="ctr"/>
          <a:lstStyle/>
          <a:p>
            <a:pPr marL="0" indent="0">
              <a:buNone/>
            </a:pPr>
            <a:r>
              <a:rPr lang="en-US" sz="3800" dirty="0">
                <a:solidFill>
                  <a:srgbClr val="0F0F14"/>
                </a:solidFill>
                <a:latin typeface="Calibri" pitchFamily="34" charset="0"/>
                <a:ea typeface="Calibri" pitchFamily="34" charset="-122"/>
                <a:cs typeface="Calibri" pitchFamily="34" charset="-120"/>
              </a:rPr>
              <a:t>Aa</a:t>
            </a:r>
            <a:endParaRPr lang="en-US" sz="3800" dirty="0"/>
          </a:p>
        </p:txBody>
      </p:sp>
      <p:sp>
        <p:nvSpPr>
          <p:cNvPr id="30" name="Text 28"/>
          <p:cNvSpPr/>
          <p:nvPr/>
        </p:nvSpPr>
        <p:spPr>
          <a:xfrm>
            <a:off x="7680960" y="4023360"/>
            <a:ext cx="3931920" cy="731520"/>
          </a:xfrm>
          <a:prstGeom prst="rect">
            <a:avLst/>
          </a:prstGeom>
          <a:noFill/>
          <a:ln/>
        </p:spPr>
        <p:txBody>
          <a:bodyPr wrap="square" lIns="0" tIns="0" rIns="0" bIns="0" rtlCol="0" anchor="t"/>
          <a:lstStyle/>
          <a:p>
            <a:pPr marL="0" indent="0">
              <a:buNone/>
            </a:pPr>
            <a:r>
              <a:rPr lang="en-US" sz="1500" b="1" dirty="0">
                <a:solidFill>
                  <a:srgbClr val="0F0F14"/>
                </a:solidFill>
                <a:latin typeface="Calibri" pitchFamily="34" charset="0"/>
                <a:ea typeface="Calibri" pitchFamily="34" charset="-122"/>
                <a:cs typeface="Calibri" pitchFamily="34" charset="-120"/>
              </a:rPr>
              <a:t>Inter</a:t>
            </a:r>
            <a:endParaRPr lang="en-US" sz="1500" dirty="0"/>
          </a:p>
          <a:p>
            <a:pPr marL="0" indent="0">
              <a:buNone/>
            </a:pPr>
            <a:r>
              <a:rPr lang="en-US" sz="1100" i="1" dirty="0">
                <a:solidFill>
                  <a:srgbClr val="5A5A62"/>
                </a:solidFill>
                <a:latin typeface="Calibri" pitchFamily="34" charset="0"/>
                <a:ea typeface="Calibri" pitchFamily="34" charset="-122"/>
                <a:cs typeface="Calibri" pitchFamily="34" charset="-120"/>
              </a:rPr>
              <a:t>Body sans. For the work.</a:t>
            </a:r>
            <a:endParaRPr lang="en-US" sz="1500" dirty="0"/>
          </a:p>
        </p:txBody>
      </p:sp>
      <p:sp>
        <p:nvSpPr>
          <p:cNvPr id="31" name="Text 29"/>
          <p:cNvSpPr/>
          <p:nvPr/>
        </p:nvSpPr>
        <p:spPr>
          <a:xfrm>
            <a:off x="6263640" y="4846320"/>
            <a:ext cx="1280160" cy="640080"/>
          </a:xfrm>
          <a:prstGeom prst="rect">
            <a:avLst/>
          </a:prstGeom>
          <a:noFill/>
          <a:ln/>
        </p:spPr>
        <p:txBody>
          <a:bodyPr wrap="square" lIns="0" tIns="0" rIns="0" bIns="0" rtlCol="0" anchor="ctr"/>
          <a:lstStyle/>
          <a:p>
            <a:pPr marL="0" indent="0">
              <a:buNone/>
            </a:pPr>
            <a:r>
              <a:rPr lang="en-US" sz="3800" b="1" dirty="0">
                <a:solidFill>
                  <a:srgbClr val="0F0F14"/>
                </a:solidFill>
                <a:latin typeface="Consolas" pitchFamily="34" charset="0"/>
                <a:ea typeface="Consolas" pitchFamily="34" charset="-122"/>
                <a:cs typeface="Consolas" pitchFamily="34" charset="-120"/>
              </a:rPr>
              <a:t>01</a:t>
            </a:r>
            <a:endParaRPr lang="en-US" sz="3800" dirty="0"/>
          </a:p>
        </p:txBody>
      </p:sp>
      <p:sp>
        <p:nvSpPr>
          <p:cNvPr id="32" name="Text 30"/>
          <p:cNvSpPr/>
          <p:nvPr/>
        </p:nvSpPr>
        <p:spPr>
          <a:xfrm>
            <a:off x="7680960" y="4937760"/>
            <a:ext cx="3931920" cy="731520"/>
          </a:xfrm>
          <a:prstGeom prst="rect">
            <a:avLst/>
          </a:prstGeom>
          <a:noFill/>
          <a:ln/>
        </p:spPr>
        <p:txBody>
          <a:bodyPr wrap="square" lIns="0" tIns="0" rIns="0" bIns="0" rtlCol="0" anchor="t"/>
          <a:lstStyle/>
          <a:p>
            <a:pPr marL="0" indent="0">
              <a:buNone/>
            </a:pPr>
            <a:r>
              <a:rPr lang="en-US" sz="1500" b="1" dirty="0">
                <a:solidFill>
                  <a:srgbClr val="0F0F14"/>
                </a:solidFill>
                <a:latin typeface="Calibri" pitchFamily="34" charset="0"/>
                <a:ea typeface="Calibri" pitchFamily="34" charset="-122"/>
                <a:cs typeface="Calibri" pitchFamily="34" charset="-120"/>
              </a:rPr>
              <a:t>JetBrains Mono</a:t>
            </a:r>
            <a:endParaRPr lang="en-US" sz="1500" dirty="0"/>
          </a:p>
          <a:p>
            <a:pPr marL="0" indent="0">
              <a:buNone/>
            </a:pPr>
            <a:r>
              <a:rPr lang="en-US" sz="1100" i="1" dirty="0">
                <a:solidFill>
                  <a:srgbClr val="5A5A62"/>
                </a:solidFill>
                <a:latin typeface="Calibri" pitchFamily="34" charset="0"/>
                <a:ea typeface="Calibri" pitchFamily="34" charset="-122"/>
                <a:cs typeface="Calibri" pitchFamily="34" charset="-120"/>
              </a:rPr>
              <a:t>Monospace. For labels and code.</a:t>
            </a:r>
            <a:endParaRPr lang="en-US" sz="1500" dirty="0"/>
          </a:p>
        </p:txBody>
      </p:sp>
      <p:sp>
        <p:nvSpPr>
          <p:cNvPr id="33" name="Text 31"/>
          <p:cNvSpPr/>
          <p:nvPr/>
        </p:nvSpPr>
        <p:spPr>
          <a:xfrm>
            <a:off x="502920" y="6080760"/>
            <a:ext cx="11155680" cy="365760"/>
          </a:xfrm>
          <a:prstGeom prst="rect">
            <a:avLst/>
          </a:prstGeom>
          <a:noFill/>
          <a:ln/>
        </p:spPr>
        <p:txBody>
          <a:bodyPr wrap="square" lIns="0" tIns="0" rIns="0" bIns="0" rtlCol="0" anchor="ctr"/>
          <a:lstStyle/>
          <a:p>
            <a:pPr marL="0" indent="0" algn="ctr">
              <a:buNone/>
            </a:pPr>
            <a:r>
              <a:rPr lang="en-US" sz="1500" i="1" dirty="0">
                <a:solidFill>
                  <a:srgbClr val="0F0F14"/>
                </a:solidFill>
                <a:latin typeface="Cambria" pitchFamily="34" charset="0"/>
                <a:ea typeface="Cambria" pitchFamily="34" charset="-122"/>
                <a:cs typeface="Cambria" pitchFamily="34" charset="-120"/>
              </a:rPr>
              <a:t>A serif for the idea. A sans for the work. Monospace for the code</a:t>
            </a:r>
            <a:r>
              <a:rPr lang="en-US" sz="1500" i="1" dirty="0">
                <a:solidFill>
                  <a:srgbClr val="E63946"/>
                </a:solidFill>
                <a:latin typeface="Cambria" pitchFamily="34" charset="0"/>
                <a:ea typeface="Cambria" pitchFamily="34" charset="-122"/>
                <a:cs typeface="Cambria" pitchFamily="34" charset="-120"/>
              </a:rPr>
              <a:t>.</a:t>
            </a:r>
            <a:endParaRPr lang="en-US" sz="1500" dirty="0"/>
          </a:p>
        </p:txBody>
      </p:sp>
      <p:sp>
        <p:nvSpPr>
          <p:cNvPr id="35" name="Text 32"/>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36" name="Text 33"/>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10</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BRAND CONSISTENCY</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3400" b="1" dirty="0">
                <a:solidFill>
                  <a:srgbClr val="0F0F14"/>
                </a:solidFill>
                <a:latin typeface="Cambria" pitchFamily="34" charset="0"/>
                <a:ea typeface="Cambria" pitchFamily="34" charset="-122"/>
                <a:cs typeface="Cambria" pitchFamily="34" charset="-120"/>
              </a:rPr>
              <a:t>Three surfaces. Same grammar</a:t>
            </a:r>
            <a:r>
              <a:rPr lang="en-US" sz="3400" b="1" dirty="0">
                <a:solidFill>
                  <a:srgbClr val="E63946"/>
                </a:solidFill>
                <a:latin typeface="Cambria" pitchFamily="34" charset="0"/>
                <a:ea typeface="Cambria" pitchFamily="34" charset="-122"/>
                <a:cs typeface="Cambria" pitchFamily="34" charset="-120"/>
              </a:rPr>
              <a:t>.</a:t>
            </a:r>
            <a:endParaRPr lang="en-US" sz="3400" dirty="0"/>
          </a:p>
        </p:txBody>
      </p:sp>
      <p:sp>
        <p:nvSpPr>
          <p:cNvPr id="6" name="Text 4"/>
          <p:cNvSpPr/>
          <p:nvPr/>
        </p:nvSpPr>
        <p:spPr>
          <a:xfrm>
            <a:off x="502920" y="155448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Cohesion by design. Not by duplication.</a:t>
            </a:r>
            <a:endParaRPr lang="en-US" sz="1800" dirty="0"/>
          </a:p>
        </p:txBody>
      </p:sp>
      <p:sp>
        <p:nvSpPr>
          <p:cNvPr id="7" name="Text 5"/>
          <p:cNvSpPr/>
          <p:nvPr/>
        </p:nvSpPr>
        <p:spPr>
          <a:xfrm>
            <a:off x="502920" y="2468880"/>
            <a:ext cx="3383280" cy="27432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WEBSITE</a:t>
            </a:r>
            <a:endParaRPr lang="en-US" sz="1000" dirty="0"/>
          </a:p>
        </p:txBody>
      </p:sp>
      <p:sp>
        <p:nvSpPr>
          <p:cNvPr id="8" name="Text 6"/>
          <p:cNvSpPr/>
          <p:nvPr/>
        </p:nvSpPr>
        <p:spPr>
          <a:xfrm>
            <a:off x="502920" y="2743200"/>
            <a:ext cx="3383280" cy="365760"/>
          </a:xfrm>
          <a:prstGeom prst="rect">
            <a:avLst/>
          </a:prstGeom>
          <a:noFill/>
          <a:ln/>
        </p:spPr>
        <p:txBody>
          <a:bodyPr wrap="square" lIns="0" tIns="0" rIns="0" bIns="0" rtlCol="0" anchor="ctr"/>
          <a:lstStyle/>
          <a:p>
            <a:pPr marL="0" indent="0">
              <a:buNone/>
            </a:pPr>
            <a:r>
              <a:rPr lang="en-US" sz="1500" i="1" dirty="0">
                <a:solidFill>
                  <a:srgbClr val="0F0F14"/>
                </a:solidFill>
                <a:latin typeface="Cambria" pitchFamily="34" charset="0"/>
                <a:ea typeface="Cambria" pitchFamily="34" charset="-122"/>
                <a:cs typeface="Cambria" pitchFamily="34" charset="-120"/>
              </a:rPr>
              <a:t>announces a positioning claim</a:t>
            </a:r>
            <a:endParaRPr lang="en-US" sz="1500" dirty="0"/>
          </a:p>
        </p:txBody>
      </p:sp>
      <p:pic>
        <p:nvPicPr>
          <p:cNvPr id="9" name="Image 0" descr="/home/claude/final-v2/assets/website-hero-cropped.png"/>
          <p:cNvPicPr>
            <a:picLocks noChangeAspect="1"/>
          </p:cNvPicPr>
          <p:nvPr/>
        </p:nvPicPr>
        <p:blipFill>
          <a:blip r:embed="rId3"/>
          <a:stretch>
            <a:fillRect/>
          </a:stretch>
        </p:blipFill>
        <p:spPr>
          <a:xfrm>
            <a:off x="4114800" y="2423160"/>
            <a:ext cx="2441448" cy="914400"/>
          </a:xfrm>
          <a:prstGeom prst="rect">
            <a:avLst/>
          </a:prstGeom>
        </p:spPr>
      </p:pic>
      <p:sp>
        <p:nvSpPr>
          <p:cNvPr id="10" name="Text 7"/>
          <p:cNvSpPr/>
          <p:nvPr/>
        </p:nvSpPr>
        <p:spPr>
          <a:xfrm>
            <a:off x="502920" y="3657600"/>
            <a:ext cx="3383280" cy="27432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LINKEDIN</a:t>
            </a:r>
            <a:endParaRPr lang="en-US" sz="1000" dirty="0"/>
          </a:p>
        </p:txBody>
      </p:sp>
      <p:sp>
        <p:nvSpPr>
          <p:cNvPr id="11" name="Text 8"/>
          <p:cNvSpPr/>
          <p:nvPr/>
        </p:nvSpPr>
        <p:spPr>
          <a:xfrm>
            <a:off x="502920" y="3931920"/>
            <a:ext cx="3383280" cy="365760"/>
          </a:xfrm>
          <a:prstGeom prst="rect">
            <a:avLst/>
          </a:prstGeom>
          <a:noFill/>
          <a:ln/>
        </p:spPr>
        <p:txBody>
          <a:bodyPr wrap="square" lIns="0" tIns="0" rIns="0" bIns="0" rtlCol="0" anchor="ctr"/>
          <a:lstStyle/>
          <a:p>
            <a:pPr marL="0" indent="0">
              <a:buNone/>
            </a:pPr>
            <a:r>
              <a:rPr lang="en-US" sz="1500" i="1" dirty="0">
                <a:solidFill>
                  <a:srgbClr val="0F0F14"/>
                </a:solidFill>
                <a:latin typeface="Cambria" pitchFamily="34" charset="0"/>
                <a:ea typeface="Cambria" pitchFamily="34" charset="-122"/>
                <a:cs typeface="Cambria" pitchFamily="34" charset="-120"/>
              </a:rPr>
              <a:t>announces a person</a:t>
            </a:r>
            <a:endParaRPr lang="en-US" sz="1500" dirty="0"/>
          </a:p>
        </p:txBody>
      </p:sp>
      <p:pic>
        <p:nvPicPr>
          <p:cNvPr id="12" name="Image 1" descr="/home/claude/final-v2/assets/linkedin-header.png"/>
          <p:cNvPicPr>
            <a:picLocks noChangeAspect="1"/>
          </p:cNvPicPr>
          <p:nvPr/>
        </p:nvPicPr>
        <p:blipFill>
          <a:blip r:embed="rId4"/>
          <a:stretch>
            <a:fillRect/>
          </a:stretch>
        </p:blipFill>
        <p:spPr>
          <a:xfrm>
            <a:off x="4114800" y="3611880"/>
            <a:ext cx="3657600" cy="914400"/>
          </a:xfrm>
          <a:prstGeom prst="rect">
            <a:avLst/>
          </a:prstGeom>
        </p:spPr>
      </p:pic>
      <p:sp>
        <p:nvSpPr>
          <p:cNvPr id="13" name="Text 9"/>
          <p:cNvSpPr/>
          <p:nvPr/>
        </p:nvSpPr>
        <p:spPr>
          <a:xfrm>
            <a:off x="502920" y="4846320"/>
            <a:ext cx="3383280" cy="27432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SUBSTACK</a:t>
            </a:r>
            <a:endParaRPr lang="en-US" sz="1000" dirty="0"/>
          </a:p>
        </p:txBody>
      </p:sp>
      <p:sp>
        <p:nvSpPr>
          <p:cNvPr id="14" name="Text 10"/>
          <p:cNvSpPr/>
          <p:nvPr/>
        </p:nvSpPr>
        <p:spPr>
          <a:xfrm>
            <a:off x="502920" y="5120640"/>
            <a:ext cx="3383280" cy="365760"/>
          </a:xfrm>
          <a:prstGeom prst="rect">
            <a:avLst/>
          </a:prstGeom>
          <a:noFill/>
          <a:ln/>
        </p:spPr>
        <p:txBody>
          <a:bodyPr wrap="square" lIns="0" tIns="0" rIns="0" bIns="0" rtlCol="0" anchor="ctr"/>
          <a:lstStyle/>
          <a:p>
            <a:pPr marL="0" indent="0">
              <a:buNone/>
            </a:pPr>
            <a:r>
              <a:rPr lang="en-US" sz="1500" i="1" dirty="0">
                <a:solidFill>
                  <a:srgbClr val="0F0F14"/>
                </a:solidFill>
                <a:latin typeface="Cambria" pitchFamily="34" charset="0"/>
                <a:ea typeface="Cambria" pitchFamily="34" charset="-122"/>
                <a:cs typeface="Cambria" pitchFamily="34" charset="-120"/>
              </a:rPr>
              <a:t>announces a body of work</a:t>
            </a:r>
            <a:endParaRPr lang="en-US" sz="1500" dirty="0"/>
          </a:p>
        </p:txBody>
      </p:sp>
      <p:pic>
        <p:nvPicPr>
          <p:cNvPr id="15" name="Image 2" descr="/home/claude/final-v2/assets/substack-header.png"/>
          <p:cNvPicPr>
            <a:picLocks noChangeAspect="1"/>
          </p:cNvPicPr>
          <p:nvPr/>
        </p:nvPicPr>
        <p:blipFill>
          <a:blip r:embed="rId5"/>
          <a:stretch>
            <a:fillRect/>
          </a:stretch>
        </p:blipFill>
        <p:spPr>
          <a:xfrm>
            <a:off x="4114800" y="4800600"/>
            <a:ext cx="2743200" cy="914400"/>
          </a:xfrm>
          <a:prstGeom prst="rect">
            <a:avLst/>
          </a:prstGeom>
        </p:spPr>
      </p:pic>
      <p:sp>
        <p:nvSpPr>
          <p:cNvPr id="16" name="Text 11"/>
          <p:cNvSpPr/>
          <p:nvPr/>
        </p:nvSpPr>
        <p:spPr>
          <a:xfrm>
            <a:off x="502920" y="6080760"/>
            <a:ext cx="11155680" cy="365760"/>
          </a:xfrm>
          <a:prstGeom prst="rect">
            <a:avLst/>
          </a:prstGeom>
          <a:noFill/>
          <a:ln/>
        </p:spPr>
        <p:txBody>
          <a:bodyPr wrap="square" lIns="0" tIns="0" rIns="0" bIns="0" rtlCol="0" anchor="ctr"/>
          <a:lstStyle/>
          <a:p>
            <a:pPr marL="0" indent="0" algn="ctr">
              <a:buNone/>
            </a:pPr>
            <a:r>
              <a:rPr lang="en-US" sz="1500" i="1" dirty="0">
                <a:solidFill>
                  <a:srgbClr val="0F0F14"/>
                </a:solidFill>
                <a:latin typeface="Cambria" pitchFamily="34" charset="0"/>
                <a:ea typeface="Cambria" pitchFamily="34" charset="-122"/>
                <a:cs typeface="Cambria" pitchFamily="34" charset="-120"/>
              </a:rPr>
              <a:t>Same palette. Same typefaces. Same mark. Different jobs</a:t>
            </a:r>
            <a:r>
              <a:rPr lang="en-US" sz="1500" i="1" dirty="0">
                <a:solidFill>
                  <a:srgbClr val="E63946"/>
                </a:solidFill>
                <a:latin typeface="Cambria" pitchFamily="34" charset="0"/>
                <a:ea typeface="Cambria" pitchFamily="34" charset="-122"/>
                <a:cs typeface="Cambria" pitchFamily="34" charset="-120"/>
              </a:rPr>
              <a:t>.</a:t>
            </a:r>
            <a:endParaRPr lang="en-US" sz="1500" dirty="0"/>
          </a:p>
        </p:txBody>
      </p:sp>
      <p:sp>
        <p:nvSpPr>
          <p:cNvPr id="18" name="Text 12"/>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19" name="Text 13"/>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11</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BRAND VOICE</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3200" b="1" dirty="0">
                <a:solidFill>
                  <a:srgbClr val="0F0F14"/>
                </a:solidFill>
                <a:latin typeface="Cambria" pitchFamily="34" charset="0"/>
                <a:ea typeface="Cambria" pitchFamily="34" charset="-122"/>
                <a:cs typeface="Cambria" pitchFamily="34" charset="-120"/>
              </a:rPr>
              <a:t>The same voice, across every channel</a:t>
            </a:r>
            <a:r>
              <a:rPr lang="en-US" sz="3200" b="1" dirty="0">
                <a:solidFill>
                  <a:srgbClr val="E63946"/>
                </a:solidFill>
                <a:latin typeface="Cambria" pitchFamily="34" charset="0"/>
                <a:ea typeface="Cambria" pitchFamily="34" charset="-122"/>
                <a:cs typeface="Cambria" pitchFamily="34" charset="-120"/>
              </a:rPr>
              <a:t>.</a:t>
            </a:r>
            <a:endParaRPr lang="en-US" sz="3200" dirty="0"/>
          </a:p>
        </p:txBody>
      </p:sp>
      <p:sp>
        <p:nvSpPr>
          <p:cNvPr id="6" name="Text 4"/>
          <p:cNvSpPr/>
          <p:nvPr/>
        </p:nvSpPr>
        <p:spPr>
          <a:xfrm>
            <a:off x="502920" y="155448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Same period. Same restraint. Same measured-not-claimed.</a:t>
            </a:r>
            <a:endParaRPr lang="en-US" sz="1800" dirty="0"/>
          </a:p>
        </p:txBody>
      </p:sp>
      <p:sp>
        <p:nvSpPr>
          <p:cNvPr id="7" name="Shape 5"/>
          <p:cNvSpPr/>
          <p:nvPr/>
        </p:nvSpPr>
        <p:spPr>
          <a:xfrm>
            <a:off x="502920" y="2514600"/>
            <a:ext cx="3611880" cy="3520440"/>
          </a:xfrm>
          <a:prstGeom prst="rect">
            <a:avLst/>
          </a:prstGeom>
          <a:solidFill>
            <a:srgbClr val="F8F5EE"/>
          </a:solidFill>
          <a:ln w="6350">
            <a:solidFill>
              <a:srgbClr val="A4A4AC"/>
            </a:solidFill>
            <a:prstDash val="solid"/>
          </a:ln>
        </p:spPr>
        <p:txBody>
          <a:bodyPr/>
          <a:lstStyle/>
          <a:p>
            <a:endParaRPr lang="en-US"/>
          </a:p>
        </p:txBody>
      </p:sp>
      <p:sp>
        <p:nvSpPr>
          <p:cNvPr id="8" name="Text 6"/>
          <p:cNvSpPr/>
          <p:nvPr/>
        </p:nvSpPr>
        <p:spPr>
          <a:xfrm>
            <a:off x="731520" y="2697480"/>
            <a:ext cx="3154680" cy="274320"/>
          </a:xfrm>
          <a:prstGeom prst="rect">
            <a:avLst/>
          </a:prstGeom>
          <a:noFill/>
          <a:ln/>
        </p:spPr>
        <p:txBody>
          <a:bodyPr wrap="square" lIns="0" tIns="0" rIns="0" bIns="0" rtlCol="0" anchor="ctr"/>
          <a:lstStyle/>
          <a:p>
            <a:pPr marL="0" indent="0">
              <a:buNone/>
            </a:pPr>
            <a:r>
              <a:rPr lang="en-US" sz="900" b="1" kern="0" spc="200" dirty="0">
                <a:solidFill>
                  <a:srgbClr val="C42B37"/>
                </a:solidFill>
                <a:latin typeface="Consolas" pitchFamily="34" charset="0"/>
                <a:ea typeface="Consolas" pitchFamily="34" charset="-122"/>
                <a:cs typeface="Consolas" pitchFamily="34" charset="-120"/>
              </a:rPr>
              <a:t>PRIMARY</a:t>
            </a:r>
            <a:endParaRPr lang="en-US" sz="900" dirty="0"/>
          </a:p>
        </p:txBody>
      </p:sp>
      <p:sp>
        <p:nvSpPr>
          <p:cNvPr id="9" name="Text 7"/>
          <p:cNvSpPr/>
          <p:nvPr/>
        </p:nvSpPr>
        <p:spPr>
          <a:xfrm>
            <a:off x="731520" y="2971800"/>
            <a:ext cx="3154680" cy="411480"/>
          </a:xfrm>
          <a:prstGeom prst="rect">
            <a:avLst/>
          </a:prstGeom>
          <a:noFill/>
          <a:ln/>
        </p:spPr>
        <p:txBody>
          <a:bodyPr wrap="square" lIns="0" tIns="0" rIns="0" bIns="0" rtlCol="0" anchor="ctr"/>
          <a:lstStyle/>
          <a:p>
            <a:pPr marL="0" indent="0">
              <a:buNone/>
            </a:pPr>
            <a:r>
              <a:rPr lang="en-US" sz="2200" b="1" dirty="0">
                <a:solidFill>
                  <a:srgbClr val="0F0F14"/>
                </a:solidFill>
                <a:latin typeface="Cambria" pitchFamily="34" charset="0"/>
                <a:ea typeface="Cambria" pitchFamily="34" charset="-122"/>
                <a:cs typeface="Cambria" pitchFamily="34" charset="-120"/>
              </a:rPr>
              <a:t>LinkedIn</a:t>
            </a:r>
            <a:r>
              <a:rPr lang="en-US" sz="2200" b="1" dirty="0">
                <a:solidFill>
                  <a:srgbClr val="E63946"/>
                </a:solidFill>
                <a:latin typeface="Cambria" pitchFamily="34" charset="0"/>
                <a:ea typeface="Cambria" pitchFamily="34" charset="-122"/>
                <a:cs typeface="Cambria" pitchFamily="34" charset="-120"/>
              </a:rPr>
              <a:t>.</a:t>
            </a:r>
            <a:endParaRPr lang="en-US" sz="2200" dirty="0"/>
          </a:p>
        </p:txBody>
      </p:sp>
      <p:sp>
        <p:nvSpPr>
          <p:cNvPr id="10" name="Text 8"/>
          <p:cNvSpPr/>
          <p:nvPr/>
        </p:nvSpPr>
        <p:spPr>
          <a:xfrm>
            <a:off x="731520" y="3474720"/>
            <a:ext cx="3154680" cy="320040"/>
          </a:xfrm>
          <a:prstGeom prst="rect">
            <a:avLst/>
          </a:prstGeom>
          <a:noFill/>
          <a:ln/>
        </p:spPr>
        <p:txBody>
          <a:bodyPr wrap="square" lIns="0" tIns="0" rIns="0" bIns="0" rtlCol="0" anchor="ctr"/>
          <a:lstStyle/>
          <a:p>
            <a:pPr marL="0" indent="0">
              <a:buNone/>
            </a:pPr>
            <a:r>
              <a:rPr lang="en-US" sz="1100" i="1" dirty="0">
                <a:solidFill>
                  <a:srgbClr val="5A5A62"/>
                </a:solidFill>
                <a:latin typeface="Calibri" pitchFamily="34" charset="0"/>
                <a:ea typeface="Calibri" pitchFamily="34" charset="-122"/>
                <a:cs typeface="Calibri" pitchFamily="34" charset="-120"/>
              </a:rPr>
              <a:t>Networking, hiring signals</a:t>
            </a:r>
            <a:endParaRPr lang="en-US" sz="1100" dirty="0"/>
          </a:p>
        </p:txBody>
      </p:sp>
      <p:sp>
        <p:nvSpPr>
          <p:cNvPr id="11" name="Shape 9"/>
          <p:cNvSpPr/>
          <p:nvPr/>
        </p:nvSpPr>
        <p:spPr>
          <a:xfrm>
            <a:off x="731520" y="3886200"/>
            <a:ext cx="3154680" cy="0"/>
          </a:xfrm>
          <a:prstGeom prst="line">
            <a:avLst/>
          </a:prstGeom>
          <a:noFill/>
          <a:ln w="6350">
            <a:solidFill>
              <a:srgbClr val="A4A4AC"/>
            </a:solidFill>
            <a:prstDash val="solid"/>
          </a:ln>
        </p:spPr>
        <p:txBody>
          <a:bodyPr/>
          <a:lstStyle/>
          <a:p>
            <a:endParaRPr lang="en-US"/>
          </a:p>
        </p:txBody>
      </p:sp>
      <p:sp>
        <p:nvSpPr>
          <p:cNvPr id="12" name="Text 10"/>
          <p:cNvSpPr/>
          <p:nvPr/>
        </p:nvSpPr>
        <p:spPr>
          <a:xfrm>
            <a:off x="731520" y="4023360"/>
            <a:ext cx="3154680" cy="1920240"/>
          </a:xfrm>
          <a:prstGeom prst="rect">
            <a:avLst/>
          </a:prstGeom>
          <a:noFill/>
          <a:ln/>
        </p:spPr>
        <p:txBody>
          <a:bodyPr wrap="square" lIns="0" tIns="0" rIns="0" bIns="0" rtlCol="0" anchor="t"/>
          <a:lstStyle/>
          <a:p>
            <a:pPr marL="0" indent="0">
              <a:buNone/>
            </a:pPr>
            <a:r>
              <a:rPr lang="en-US" sz="1200" i="1" dirty="0">
                <a:solidFill>
                  <a:srgbClr val="0F0F14"/>
                </a:solidFill>
                <a:latin typeface="Cambria" pitchFamily="34" charset="0"/>
                <a:ea typeface="Cambria" pitchFamily="34" charset="-122"/>
                <a:cs typeface="Cambria" pitchFamily="34" charset="-120"/>
              </a:rPr>
              <a:t>"Every brand monitoring tool I have used treats the maintainer’s inbox as a coverage problem. This is a solved problem, and it’s the wrong problem."</a:t>
            </a:r>
            <a:endParaRPr lang="en-US" sz="1200" dirty="0"/>
          </a:p>
        </p:txBody>
      </p:sp>
      <p:sp>
        <p:nvSpPr>
          <p:cNvPr id="13" name="Shape 11"/>
          <p:cNvSpPr/>
          <p:nvPr/>
        </p:nvSpPr>
        <p:spPr>
          <a:xfrm>
            <a:off x="4251960" y="2514600"/>
            <a:ext cx="3611880" cy="3520440"/>
          </a:xfrm>
          <a:prstGeom prst="rect">
            <a:avLst/>
          </a:prstGeom>
          <a:solidFill>
            <a:srgbClr val="F8F5EE"/>
          </a:solidFill>
          <a:ln w="6350">
            <a:solidFill>
              <a:srgbClr val="A4A4AC"/>
            </a:solidFill>
            <a:prstDash val="solid"/>
          </a:ln>
        </p:spPr>
        <p:txBody>
          <a:bodyPr/>
          <a:lstStyle/>
          <a:p>
            <a:endParaRPr lang="en-US"/>
          </a:p>
        </p:txBody>
      </p:sp>
      <p:sp>
        <p:nvSpPr>
          <p:cNvPr id="14" name="Text 12"/>
          <p:cNvSpPr/>
          <p:nvPr/>
        </p:nvSpPr>
        <p:spPr>
          <a:xfrm>
            <a:off x="4480560" y="2697480"/>
            <a:ext cx="3154680" cy="274320"/>
          </a:xfrm>
          <a:prstGeom prst="rect">
            <a:avLst/>
          </a:prstGeom>
          <a:noFill/>
          <a:ln/>
        </p:spPr>
        <p:txBody>
          <a:bodyPr wrap="square" lIns="0" tIns="0" rIns="0" bIns="0" rtlCol="0" anchor="ctr"/>
          <a:lstStyle/>
          <a:p>
            <a:pPr marL="0" indent="0">
              <a:buNone/>
            </a:pPr>
            <a:r>
              <a:rPr lang="en-US" sz="900" b="1" kern="0" spc="200" dirty="0">
                <a:solidFill>
                  <a:srgbClr val="C42B37"/>
                </a:solidFill>
                <a:latin typeface="Consolas" pitchFamily="34" charset="0"/>
                <a:ea typeface="Consolas" pitchFamily="34" charset="-122"/>
                <a:cs typeface="Consolas" pitchFamily="34" charset="-120"/>
              </a:rPr>
              <a:t>SECONDARY</a:t>
            </a:r>
            <a:endParaRPr lang="en-US" sz="900" dirty="0"/>
          </a:p>
        </p:txBody>
      </p:sp>
      <p:sp>
        <p:nvSpPr>
          <p:cNvPr id="15" name="Text 13"/>
          <p:cNvSpPr/>
          <p:nvPr/>
        </p:nvSpPr>
        <p:spPr>
          <a:xfrm>
            <a:off x="4480560" y="2971800"/>
            <a:ext cx="3154680" cy="411480"/>
          </a:xfrm>
          <a:prstGeom prst="rect">
            <a:avLst/>
          </a:prstGeom>
          <a:noFill/>
          <a:ln/>
        </p:spPr>
        <p:txBody>
          <a:bodyPr wrap="square" lIns="0" tIns="0" rIns="0" bIns="0" rtlCol="0" anchor="ctr"/>
          <a:lstStyle/>
          <a:p>
            <a:pPr marL="0" indent="0">
              <a:buNone/>
            </a:pPr>
            <a:r>
              <a:rPr lang="en-US" sz="2200" b="1" dirty="0">
                <a:solidFill>
                  <a:srgbClr val="0F0F14"/>
                </a:solidFill>
                <a:latin typeface="Cambria" pitchFamily="34" charset="0"/>
                <a:ea typeface="Cambria" pitchFamily="34" charset="-122"/>
                <a:cs typeface="Cambria" pitchFamily="34" charset="-120"/>
              </a:rPr>
              <a:t>Substack</a:t>
            </a:r>
            <a:r>
              <a:rPr lang="en-US" sz="2200" b="1" dirty="0">
                <a:solidFill>
                  <a:srgbClr val="E63946"/>
                </a:solidFill>
                <a:latin typeface="Cambria" pitchFamily="34" charset="0"/>
                <a:ea typeface="Cambria" pitchFamily="34" charset="-122"/>
                <a:cs typeface="Cambria" pitchFamily="34" charset="-120"/>
              </a:rPr>
              <a:t>.</a:t>
            </a:r>
            <a:endParaRPr lang="en-US" sz="2200" dirty="0"/>
          </a:p>
        </p:txBody>
      </p:sp>
      <p:sp>
        <p:nvSpPr>
          <p:cNvPr id="16" name="Text 14"/>
          <p:cNvSpPr/>
          <p:nvPr/>
        </p:nvSpPr>
        <p:spPr>
          <a:xfrm>
            <a:off x="4480560" y="3474720"/>
            <a:ext cx="3154680" cy="320040"/>
          </a:xfrm>
          <a:prstGeom prst="rect">
            <a:avLst/>
          </a:prstGeom>
          <a:noFill/>
          <a:ln/>
        </p:spPr>
        <p:txBody>
          <a:bodyPr wrap="square" lIns="0" tIns="0" rIns="0" bIns="0" rtlCol="0" anchor="ctr"/>
          <a:lstStyle/>
          <a:p>
            <a:pPr marL="0" indent="0">
              <a:buNone/>
            </a:pPr>
            <a:r>
              <a:rPr lang="en-US" sz="1100" i="1" dirty="0">
                <a:solidFill>
                  <a:srgbClr val="5A5A62"/>
                </a:solidFill>
                <a:latin typeface="Calibri" pitchFamily="34" charset="0"/>
                <a:ea typeface="Calibri" pitchFamily="34" charset="-122"/>
                <a:cs typeface="Calibri" pitchFamily="34" charset="-120"/>
              </a:rPr>
              <a:t>Long-form thought leadership</a:t>
            </a:r>
            <a:endParaRPr lang="en-US" sz="1100" dirty="0"/>
          </a:p>
        </p:txBody>
      </p:sp>
      <p:sp>
        <p:nvSpPr>
          <p:cNvPr id="17" name="Shape 15"/>
          <p:cNvSpPr/>
          <p:nvPr/>
        </p:nvSpPr>
        <p:spPr>
          <a:xfrm>
            <a:off x="4480560" y="3886200"/>
            <a:ext cx="3154680" cy="0"/>
          </a:xfrm>
          <a:prstGeom prst="line">
            <a:avLst/>
          </a:prstGeom>
          <a:noFill/>
          <a:ln w="6350">
            <a:solidFill>
              <a:srgbClr val="A4A4AC"/>
            </a:solidFill>
            <a:prstDash val="solid"/>
          </a:ln>
        </p:spPr>
        <p:txBody>
          <a:bodyPr/>
          <a:lstStyle/>
          <a:p>
            <a:endParaRPr lang="en-US"/>
          </a:p>
        </p:txBody>
      </p:sp>
      <p:sp>
        <p:nvSpPr>
          <p:cNvPr id="18" name="Text 16"/>
          <p:cNvSpPr/>
          <p:nvPr/>
        </p:nvSpPr>
        <p:spPr>
          <a:xfrm>
            <a:off x="4480560" y="4023360"/>
            <a:ext cx="3154680" cy="1920240"/>
          </a:xfrm>
          <a:prstGeom prst="rect">
            <a:avLst/>
          </a:prstGeom>
          <a:noFill/>
          <a:ln/>
        </p:spPr>
        <p:txBody>
          <a:bodyPr wrap="square" lIns="0" tIns="0" rIns="0" bIns="0" rtlCol="0" anchor="t"/>
          <a:lstStyle/>
          <a:p>
            <a:pPr marL="0" indent="0">
              <a:buNone/>
            </a:pPr>
            <a:r>
              <a:rPr lang="en-US" sz="1200" i="1" dirty="0">
                <a:solidFill>
                  <a:srgbClr val="0F0F14"/>
                </a:solidFill>
                <a:latin typeface="Cambria" pitchFamily="34" charset="0"/>
                <a:ea typeface="Cambria" pitchFamily="34" charset="-122"/>
                <a:cs typeface="Cambria" pitchFamily="34" charset="-120"/>
              </a:rPr>
              <a:t>"The bottleneck for a solo maintainer with real users isn’t visibility. It’s triage. Which 3 signals out of 300 predict churn before they show up in your download graph?"</a:t>
            </a:r>
            <a:endParaRPr lang="en-US" sz="1200" dirty="0"/>
          </a:p>
        </p:txBody>
      </p:sp>
      <p:sp>
        <p:nvSpPr>
          <p:cNvPr id="19" name="Shape 17"/>
          <p:cNvSpPr/>
          <p:nvPr/>
        </p:nvSpPr>
        <p:spPr>
          <a:xfrm>
            <a:off x="8001000" y="2514600"/>
            <a:ext cx="3611880" cy="3520440"/>
          </a:xfrm>
          <a:prstGeom prst="rect">
            <a:avLst/>
          </a:prstGeom>
          <a:solidFill>
            <a:srgbClr val="F8F5EE"/>
          </a:solidFill>
          <a:ln w="6350">
            <a:solidFill>
              <a:srgbClr val="A4A4AC"/>
            </a:solidFill>
            <a:prstDash val="solid"/>
          </a:ln>
        </p:spPr>
        <p:txBody>
          <a:bodyPr/>
          <a:lstStyle/>
          <a:p>
            <a:endParaRPr lang="en-US"/>
          </a:p>
        </p:txBody>
      </p:sp>
      <p:sp>
        <p:nvSpPr>
          <p:cNvPr id="20" name="Text 18"/>
          <p:cNvSpPr/>
          <p:nvPr/>
        </p:nvSpPr>
        <p:spPr>
          <a:xfrm>
            <a:off x="8229600" y="2697480"/>
            <a:ext cx="3154680" cy="274320"/>
          </a:xfrm>
          <a:prstGeom prst="rect">
            <a:avLst/>
          </a:prstGeom>
          <a:noFill/>
          <a:ln/>
        </p:spPr>
        <p:txBody>
          <a:bodyPr wrap="square" lIns="0" tIns="0" rIns="0" bIns="0" rtlCol="0" anchor="ctr"/>
          <a:lstStyle/>
          <a:p>
            <a:pPr marL="0" indent="0">
              <a:buNone/>
            </a:pPr>
            <a:r>
              <a:rPr lang="en-US" sz="900" b="1" kern="0" spc="200" dirty="0">
                <a:solidFill>
                  <a:srgbClr val="C42B37"/>
                </a:solidFill>
                <a:latin typeface="Consolas" pitchFamily="34" charset="0"/>
                <a:ea typeface="Consolas" pitchFamily="34" charset="-122"/>
                <a:cs typeface="Consolas" pitchFamily="34" charset="-120"/>
              </a:rPr>
              <a:t>TERTIARY</a:t>
            </a:r>
            <a:endParaRPr lang="en-US" sz="900" dirty="0"/>
          </a:p>
        </p:txBody>
      </p:sp>
      <p:sp>
        <p:nvSpPr>
          <p:cNvPr id="21" name="Text 19"/>
          <p:cNvSpPr/>
          <p:nvPr/>
        </p:nvSpPr>
        <p:spPr>
          <a:xfrm>
            <a:off x="8229600" y="2971800"/>
            <a:ext cx="3154680" cy="411480"/>
          </a:xfrm>
          <a:prstGeom prst="rect">
            <a:avLst/>
          </a:prstGeom>
          <a:noFill/>
          <a:ln/>
        </p:spPr>
        <p:txBody>
          <a:bodyPr wrap="square" lIns="0" tIns="0" rIns="0" bIns="0" rtlCol="0" anchor="ctr"/>
          <a:lstStyle/>
          <a:p>
            <a:pPr marL="0" indent="0">
              <a:buNone/>
            </a:pPr>
            <a:r>
              <a:rPr lang="en-US" sz="2200" b="1" dirty="0">
                <a:solidFill>
                  <a:srgbClr val="0F0F14"/>
                </a:solidFill>
                <a:latin typeface="Cambria" pitchFamily="34" charset="0"/>
                <a:ea typeface="Cambria" pitchFamily="34" charset="-122"/>
                <a:cs typeface="Cambria" pitchFamily="34" charset="-120"/>
              </a:rPr>
              <a:t>GitHub / OSS</a:t>
            </a:r>
            <a:r>
              <a:rPr lang="en-US" sz="2200" b="1" dirty="0">
                <a:solidFill>
                  <a:srgbClr val="E63946"/>
                </a:solidFill>
                <a:latin typeface="Cambria" pitchFamily="34" charset="0"/>
                <a:ea typeface="Cambria" pitchFamily="34" charset="-122"/>
                <a:cs typeface="Cambria" pitchFamily="34" charset="-120"/>
              </a:rPr>
              <a:t>.</a:t>
            </a:r>
            <a:endParaRPr lang="en-US" sz="2200" dirty="0"/>
          </a:p>
        </p:txBody>
      </p:sp>
      <p:sp>
        <p:nvSpPr>
          <p:cNvPr id="22" name="Text 20"/>
          <p:cNvSpPr/>
          <p:nvPr/>
        </p:nvSpPr>
        <p:spPr>
          <a:xfrm>
            <a:off x="8229600" y="3474720"/>
            <a:ext cx="3154680" cy="320040"/>
          </a:xfrm>
          <a:prstGeom prst="rect">
            <a:avLst/>
          </a:prstGeom>
          <a:noFill/>
          <a:ln/>
        </p:spPr>
        <p:txBody>
          <a:bodyPr wrap="square" lIns="0" tIns="0" rIns="0" bIns="0" rtlCol="0" anchor="ctr"/>
          <a:lstStyle/>
          <a:p>
            <a:pPr marL="0" indent="0">
              <a:buNone/>
            </a:pPr>
            <a:r>
              <a:rPr lang="en-US" sz="1100" i="1" dirty="0">
                <a:solidFill>
                  <a:srgbClr val="5A5A62"/>
                </a:solidFill>
                <a:latin typeface="Calibri" pitchFamily="34" charset="0"/>
                <a:ea typeface="Calibri" pitchFamily="34" charset="-122"/>
                <a:cs typeface="Calibri" pitchFamily="34" charset="-120"/>
              </a:rPr>
              <a:t>Build-in-public, technical</a:t>
            </a:r>
            <a:endParaRPr lang="en-US" sz="1100" dirty="0"/>
          </a:p>
        </p:txBody>
      </p:sp>
      <p:sp>
        <p:nvSpPr>
          <p:cNvPr id="23" name="Shape 21"/>
          <p:cNvSpPr/>
          <p:nvPr/>
        </p:nvSpPr>
        <p:spPr>
          <a:xfrm>
            <a:off x="8229600" y="3886200"/>
            <a:ext cx="3154680" cy="0"/>
          </a:xfrm>
          <a:prstGeom prst="line">
            <a:avLst/>
          </a:prstGeom>
          <a:noFill/>
          <a:ln w="6350">
            <a:solidFill>
              <a:srgbClr val="A4A4AC"/>
            </a:solidFill>
            <a:prstDash val="solid"/>
          </a:ln>
        </p:spPr>
        <p:txBody>
          <a:bodyPr/>
          <a:lstStyle/>
          <a:p>
            <a:endParaRPr lang="en-US"/>
          </a:p>
        </p:txBody>
      </p:sp>
      <p:sp>
        <p:nvSpPr>
          <p:cNvPr id="24" name="Text 22"/>
          <p:cNvSpPr/>
          <p:nvPr/>
        </p:nvSpPr>
        <p:spPr>
          <a:xfrm>
            <a:off x="8229600" y="4023360"/>
            <a:ext cx="3154680" cy="1920240"/>
          </a:xfrm>
          <a:prstGeom prst="rect">
            <a:avLst/>
          </a:prstGeom>
          <a:noFill/>
          <a:ln/>
        </p:spPr>
        <p:txBody>
          <a:bodyPr wrap="square" lIns="0" tIns="0" rIns="0" bIns="0" rtlCol="0" anchor="t"/>
          <a:lstStyle/>
          <a:p>
            <a:pPr marL="0" indent="0">
              <a:buNone/>
            </a:pPr>
            <a:r>
              <a:rPr lang="en-US" sz="1200" i="1" dirty="0">
                <a:solidFill>
                  <a:srgbClr val="0F0F14"/>
                </a:solidFill>
                <a:latin typeface="Cambria" pitchFamily="34" charset="0"/>
                <a:ea typeface="Cambria" pitchFamily="34" charset="-122"/>
                <a:cs typeface="Cambria" pitchFamily="34" charset="-120"/>
              </a:rPr>
              <a:t>"Random Word: cryptographically random words from diverse dictionaries. Zero dependencies. TypeScript. 3.9M downloads and counting."</a:t>
            </a:r>
            <a:endParaRPr lang="en-US" sz="1200" dirty="0"/>
          </a:p>
        </p:txBody>
      </p:sp>
      <p:sp>
        <p:nvSpPr>
          <p:cNvPr id="25" name="Text 23"/>
          <p:cNvSpPr/>
          <p:nvPr/>
        </p:nvSpPr>
        <p:spPr>
          <a:xfrm>
            <a:off x="502920" y="6172200"/>
            <a:ext cx="11155680" cy="320040"/>
          </a:xfrm>
          <a:prstGeom prst="rect">
            <a:avLst/>
          </a:prstGeom>
          <a:noFill/>
          <a:ln/>
        </p:spPr>
        <p:txBody>
          <a:bodyPr wrap="square" lIns="0" tIns="0" rIns="0" bIns="0" rtlCol="0" anchor="ctr"/>
          <a:lstStyle/>
          <a:p>
            <a:pPr marL="0" indent="0" algn="ctr">
              <a:buNone/>
            </a:pPr>
            <a:r>
              <a:rPr lang="en-US" sz="1500" i="1" dirty="0">
                <a:solidFill>
                  <a:srgbClr val="0F0F14"/>
                </a:solidFill>
                <a:latin typeface="Cambria" pitchFamily="34" charset="0"/>
                <a:ea typeface="Cambria" pitchFamily="34" charset="-122"/>
                <a:cs typeface="Cambria" pitchFamily="34" charset="-120"/>
              </a:rPr>
              <a:t>Voice is the brand</a:t>
            </a:r>
            <a:r>
              <a:rPr lang="en-US" sz="1500" i="1" dirty="0">
                <a:solidFill>
                  <a:srgbClr val="E63946"/>
                </a:solidFill>
                <a:latin typeface="Cambria" pitchFamily="34" charset="0"/>
                <a:ea typeface="Cambria" pitchFamily="34" charset="-122"/>
                <a:cs typeface="Cambria" pitchFamily="34" charset="-120"/>
              </a:rPr>
              <a:t>.</a:t>
            </a:r>
            <a:r>
              <a:rPr lang="en-US" sz="1500" i="1" dirty="0">
                <a:solidFill>
                  <a:srgbClr val="5A5A62"/>
                </a:solidFill>
                <a:latin typeface="Cambria" pitchFamily="34" charset="0"/>
                <a:ea typeface="Cambria" pitchFamily="34" charset="-122"/>
                <a:cs typeface="Cambria" pitchFamily="34" charset="-120"/>
              </a:rPr>
              <a:t> Everything else is decoration.</a:t>
            </a:r>
            <a:endParaRPr lang="en-US" sz="1500" dirty="0"/>
          </a:p>
        </p:txBody>
      </p:sp>
      <p:sp>
        <p:nvSpPr>
          <p:cNvPr id="27" name="Text 24"/>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28" name="Text 25"/>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F1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F0EDE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0F0F14"/>
                </a:solidFill>
                <a:latin typeface="Consolas" pitchFamily="34" charset="0"/>
                <a:ea typeface="Consolas" pitchFamily="34" charset="-122"/>
                <a:cs typeface="Consolas" pitchFamily="34" charset="-120"/>
              </a:rPr>
              <a:t>12</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A4A4AC"/>
                </a:solidFill>
                <a:latin typeface="Consolas" pitchFamily="34" charset="0"/>
                <a:ea typeface="Consolas" pitchFamily="34" charset="-122"/>
                <a:cs typeface="Consolas" pitchFamily="34" charset="-120"/>
              </a:rPr>
              <a:t>ORIGIN STORY</a:t>
            </a:r>
            <a:endParaRPr lang="en-US" sz="1000" dirty="0"/>
          </a:p>
        </p:txBody>
      </p:sp>
      <p:sp>
        <p:nvSpPr>
          <p:cNvPr id="5" name="Text 3"/>
          <p:cNvSpPr/>
          <p:nvPr/>
        </p:nvSpPr>
        <p:spPr>
          <a:xfrm>
            <a:off x="502920" y="777240"/>
            <a:ext cx="11155680" cy="777240"/>
          </a:xfrm>
          <a:prstGeom prst="rect">
            <a:avLst/>
          </a:prstGeom>
          <a:noFill/>
          <a:ln/>
        </p:spPr>
        <p:txBody>
          <a:bodyPr wrap="square" lIns="0" tIns="0" rIns="0" bIns="0" rtlCol="0" anchor="ctr"/>
          <a:lstStyle/>
          <a:p>
            <a:pPr marL="0" indent="0">
              <a:buNone/>
            </a:pPr>
            <a:r>
              <a:rPr lang="en-US" sz="3600" b="1" dirty="0">
                <a:solidFill>
                  <a:srgbClr val="F0EDE4"/>
                </a:solidFill>
                <a:latin typeface="Cambria" pitchFamily="34" charset="0"/>
                <a:ea typeface="Cambria" pitchFamily="34" charset="-122"/>
                <a:cs typeface="Cambria" pitchFamily="34" charset="-120"/>
              </a:rPr>
              <a:t>The story behind Olembic</a:t>
            </a:r>
            <a:r>
              <a:rPr lang="en-US" sz="3600" b="1" dirty="0">
                <a:solidFill>
                  <a:srgbClr val="E63946"/>
                </a:solidFill>
                <a:latin typeface="Cambria" pitchFamily="34" charset="0"/>
                <a:ea typeface="Cambria" pitchFamily="34" charset="-122"/>
                <a:cs typeface="Cambria" pitchFamily="34" charset="-120"/>
              </a:rPr>
              <a:t>.</a:t>
            </a:r>
            <a:endParaRPr lang="en-US" sz="3600" dirty="0"/>
          </a:p>
        </p:txBody>
      </p:sp>
      <p:sp>
        <p:nvSpPr>
          <p:cNvPr id="6" name="Text 4"/>
          <p:cNvSpPr/>
          <p:nvPr/>
        </p:nvSpPr>
        <p:spPr>
          <a:xfrm>
            <a:off x="502920" y="1600200"/>
            <a:ext cx="10972800" cy="320040"/>
          </a:xfrm>
          <a:prstGeom prst="rect">
            <a:avLst/>
          </a:prstGeom>
          <a:noFill/>
          <a:ln/>
        </p:spPr>
        <p:txBody>
          <a:bodyPr wrap="square" lIns="0" tIns="0" rIns="0" bIns="0" rtlCol="0" anchor="ctr"/>
          <a:lstStyle/>
          <a:p>
            <a:pPr marL="0" indent="0">
              <a:buNone/>
            </a:pPr>
            <a:r>
              <a:rPr lang="en-US" sz="1000" b="1" kern="0" spc="300" dirty="0">
                <a:solidFill>
                  <a:srgbClr val="E63946"/>
                </a:solidFill>
                <a:latin typeface="Consolas" pitchFamily="34" charset="0"/>
                <a:ea typeface="Consolas" pitchFamily="34" charset="-122"/>
                <a:cs typeface="Consolas" pitchFamily="34" charset="-120"/>
              </a:rPr>
              <a:t>FRAMEWORK: OVERCOMING THE MONSTER</a:t>
            </a:r>
            <a:endParaRPr lang="en-US" sz="1000" dirty="0"/>
          </a:p>
        </p:txBody>
      </p:sp>
      <p:sp>
        <p:nvSpPr>
          <p:cNvPr id="7" name="Shape 5"/>
          <p:cNvSpPr/>
          <p:nvPr/>
        </p:nvSpPr>
        <p:spPr>
          <a:xfrm>
            <a:off x="502920" y="2148840"/>
            <a:ext cx="2770632" cy="3794760"/>
          </a:xfrm>
          <a:prstGeom prst="rect">
            <a:avLst/>
          </a:prstGeom>
          <a:solidFill>
            <a:srgbClr val="1A1B23"/>
          </a:solidFill>
          <a:ln w="6350">
            <a:solidFill>
              <a:srgbClr val="2A2B33"/>
            </a:solidFill>
            <a:prstDash val="solid"/>
          </a:ln>
        </p:spPr>
        <p:txBody>
          <a:bodyPr/>
          <a:lstStyle/>
          <a:p>
            <a:endParaRPr lang="en-US"/>
          </a:p>
        </p:txBody>
      </p:sp>
      <p:sp>
        <p:nvSpPr>
          <p:cNvPr id="8" name="Text 6"/>
          <p:cNvSpPr/>
          <p:nvPr/>
        </p:nvSpPr>
        <p:spPr>
          <a:xfrm>
            <a:off x="731520" y="2331720"/>
            <a:ext cx="914400" cy="777240"/>
          </a:xfrm>
          <a:prstGeom prst="rect">
            <a:avLst/>
          </a:prstGeom>
          <a:noFill/>
          <a:ln/>
        </p:spPr>
        <p:txBody>
          <a:bodyPr wrap="square" lIns="0" tIns="0" rIns="0" bIns="0" rtlCol="0" anchor="t"/>
          <a:lstStyle/>
          <a:p>
            <a:pPr marL="0" indent="0">
              <a:buNone/>
            </a:pPr>
            <a:r>
              <a:rPr lang="en-US" sz="5600" b="1" i="1" dirty="0">
                <a:solidFill>
                  <a:srgbClr val="E63946"/>
                </a:solidFill>
                <a:latin typeface="Cambria" pitchFamily="34" charset="0"/>
                <a:ea typeface="Cambria" pitchFamily="34" charset="-122"/>
                <a:cs typeface="Cambria" pitchFamily="34" charset="-120"/>
              </a:rPr>
              <a:t>1</a:t>
            </a:r>
            <a:endParaRPr lang="en-US" sz="5600" dirty="0"/>
          </a:p>
        </p:txBody>
      </p:sp>
      <p:sp>
        <p:nvSpPr>
          <p:cNvPr id="9" name="Shape 7"/>
          <p:cNvSpPr/>
          <p:nvPr/>
        </p:nvSpPr>
        <p:spPr>
          <a:xfrm>
            <a:off x="731520" y="3200400"/>
            <a:ext cx="2313432" cy="0"/>
          </a:xfrm>
          <a:prstGeom prst="line">
            <a:avLst/>
          </a:prstGeom>
          <a:noFill/>
          <a:ln w="19050">
            <a:solidFill>
              <a:srgbClr val="E63946"/>
            </a:solidFill>
            <a:prstDash val="solid"/>
          </a:ln>
        </p:spPr>
        <p:txBody>
          <a:bodyPr/>
          <a:lstStyle/>
          <a:p>
            <a:endParaRPr lang="en-US"/>
          </a:p>
        </p:txBody>
      </p:sp>
      <p:sp>
        <p:nvSpPr>
          <p:cNvPr id="10" name="Text 8"/>
          <p:cNvSpPr/>
          <p:nvPr/>
        </p:nvSpPr>
        <p:spPr>
          <a:xfrm>
            <a:off x="731520" y="3337560"/>
            <a:ext cx="2313432" cy="320040"/>
          </a:xfrm>
          <a:prstGeom prst="rect">
            <a:avLst/>
          </a:prstGeom>
          <a:noFill/>
          <a:ln/>
        </p:spPr>
        <p:txBody>
          <a:bodyPr wrap="square" lIns="0" tIns="0" rIns="0" bIns="0" rtlCol="0" anchor="ctr"/>
          <a:lstStyle/>
          <a:p>
            <a:pPr marL="0" indent="0">
              <a:buNone/>
            </a:pPr>
            <a:r>
              <a:rPr lang="en-US" sz="1000" b="1" kern="0" spc="250" dirty="0">
                <a:solidFill>
                  <a:srgbClr val="E63946"/>
                </a:solidFill>
                <a:latin typeface="Consolas" pitchFamily="34" charset="0"/>
                <a:ea typeface="Consolas" pitchFamily="34" charset="-122"/>
                <a:cs typeface="Consolas" pitchFamily="34" charset="-120"/>
              </a:rPr>
              <a:t>THE OVERWHELM</a:t>
            </a:r>
            <a:endParaRPr lang="en-US" sz="1000" dirty="0"/>
          </a:p>
        </p:txBody>
      </p:sp>
      <p:sp>
        <p:nvSpPr>
          <p:cNvPr id="11" name="Text 9"/>
          <p:cNvSpPr/>
          <p:nvPr/>
        </p:nvSpPr>
        <p:spPr>
          <a:xfrm>
            <a:off x="731520" y="3749040"/>
            <a:ext cx="2313432" cy="1965960"/>
          </a:xfrm>
          <a:prstGeom prst="rect">
            <a:avLst/>
          </a:prstGeom>
          <a:noFill/>
          <a:ln/>
        </p:spPr>
        <p:txBody>
          <a:bodyPr wrap="square" lIns="0" tIns="0" rIns="0" bIns="0" rtlCol="0" anchor="t"/>
          <a:lstStyle/>
          <a:p>
            <a:pPr marL="0" indent="0">
              <a:buNone/>
            </a:pPr>
            <a:r>
              <a:rPr lang="en-US" sz="1100" dirty="0">
                <a:solidFill>
                  <a:srgbClr val="F0EDE4"/>
                </a:solidFill>
                <a:latin typeface="Calibri" pitchFamily="34" charset="0"/>
                <a:ea typeface="Calibri" pitchFamily="34" charset="-122"/>
                <a:cs typeface="Calibri" pitchFamily="34" charset="-120"/>
              </a:rPr>
              <a:t>Random Word hit 3.9 million downloads. A weekend project I built to learn Python packaging. Suddenly there were 300 mentions a week and one person triaging. Me. On weekends.</a:t>
            </a:r>
            <a:endParaRPr lang="en-US" sz="1100" dirty="0"/>
          </a:p>
        </p:txBody>
      </p:sp>
      <p:sp>
        <p:nvSpPr>
          <p:cNvPr id="12" name="Shape 10"/>
          <p:cNvSpPr/>
          <p:nvPr/>
        </p:nvSpPr>
        <p:spPr>
          <a:xfrm>
            <a:off x="3337560" y="2148840"/>
            <a:ext cx="2770632" cy="3794760"/>
          </a:xfrm>
          <a:prstGeom prst="rect">
            <a:avLst/>
          </a:prstGeom>
          <a:solidFill>
            <a:srgbClr val="1A1B23"/>
          </a:solidFill>
          <a:ln w="6350">
            <a:solidFill>
              <a:srgbClr val="2A2B33"/>
            </a:solidFill>
            <a:prstDash val="solid"/>
          </a:ln>
        </p:spPr>
        <p:txBody>
          <a:bodyPr/>
          <a:lstStyle/>
          <a:p>
            <a:endParaRPr lang="en-US"/>
          </a:p>
        </p:txBody>
      </p:sp>
      <p:sp>
        <p:nvSpPr>
          <p:cNvPr id="13" name="Text 11"/>
          <p:cNvSpPr/>
          <p:nvPr/>
        </p:nvSpPr>
        <p:spPr>
          <a:xfrm>
            <a:off x="3566160" y="2331720"/>
            <a:ext cx="914400" cy="777240"/>
          </a:xfrm>
          <a:prstGeom prst="rect">
            <a:avLst/>
          </a:prstGeom>
          <a:noFill/>
          <a:ln/>
        </p:spPr>
        <p:txBody>
          <a:bodyPr wrap="square" lIns="0" tIns="0" rIns="0" bIns="0" rtlCol="0" anchor="t"/>
          <a:lstStyle/>
          <a:p>
            <a:pPr marL="0" indent="0">
              <a:buNone/>
            </a:pPr>
            <a:r>
              <a:rPr lang="en-US" sz="5600" b="1" i="1" dirty="0">
                <a:solidFill>
                  <a:srgbClr val="E63946"/>
                </a:solidFill>
                <a:latin typeface="Cambria" pitchFamily="34" charset="0"/>
                <a:ea typeface="Cambria" pitchFamily="34" charset="-122"/>
                <a:cs typeface="Cambria" pitchFamily="34" charset="-120"/>
              </a:rPr>
              <a:t>2</a:t>
            </a:r>
            <a:endParaRPr lang="en-US" sz="5600" dirty="0"/>
          </a:p>
        </p:txBody>
      </p:sp>
      <p:sp>
        <p:nvSpPr>
          <p:cNvPr id="14" name="Shape 12"/>
          <p:cNvSpPr/>
          <p:nvPr/>
        </p:nvSpPr>
        <p:spPr>
          <a:xfrm>
            <a:off x="3566160" y="3200400"/>
            <a:ext cx="2313432" cy="0"/>
          </a:xfrm>
          <a:prstGeom prst="line">
            <a:avLst/>
          </a:prstGeom>
          <a:noFill/>
          <a:ln w="19050">
            <a:solidFill>
              <a:srgbClr val="E63946"/>
            </a:solidFill>
            <a:prstDash val="solid"/>
          </a:ln>
        </p:spPr>
        <p:txBody>
          <a:bodyPr/>
          <a:lstStyle/>
          <a:p>
            <a:endParaRPr lang="en-US"/>
          </a:p>
        </p:txBody>
      </p:sp>
      <p:sp>
        <p:nvSpPr>
          <p:cNvPr id="15" name="Text 13"/>
          <p:cNvSpPr/>
          <p:nvPr/>
        </p:nvSpPr>
        <p:spPr>
          <a:xfrm>
            <a:off x="3566160" y="3337560"/>
            <a:ext cx="2313432" cy="320040"/>
          </a:xfrm>
          <a:prstGeom prst="rect">
            <a:avLst/>
          </a:prstGeom>
          <a:noFill/>
          <a:ln/>
        </p:spPr>
        <p:txBody>
          <a:bodyPr wrap="square" lIns="0" tIns="0" rIns="0" bIns="0" rtlCol="0" anchor="ctr"/>
          <a:lstStyle/>
          <a:p>
            <a:pPr marL="0" indent="0">
              <a:buNone/>
            </a:pPr>
            <a:r>
              <a:rPr lang="en-US" sz="1000" b="1" kern="0" spc="250" dirty="0">
                <a:solidFill>
                  <a:srgbClr val="E63946"/>
                </a:solidFill>
                <a:latin typeface="Consolas" pitchFamily="34" charset="0"/>
                <a:ea typeface="Consolas" pitchFamily="34" charset="-122"/>
                <a:cs typeface="Consolas" pitchFamily="34" charset="-120"/>
              </a:rPr>
              <a:t>THE PATTERN</a:t>
            </a:r>
            <a:endParaRPr lang="en-US" sz="1000" dirty="0"/>
          </a:p>
        </p:txBody>
      </p:sp>
      <p:sp>
        <p:nvSpPr>
          <p:cNvPr id="16" name="Text 14"/>
          <p:cNvSpPr/>
          <p:nvPr/>
        </p:nvSpPr>
        <p:spPr>
          <a:xfrm>
            <a:off x="3566160" y="3749040"/>
            <a:ext cx="2313432" cy="1965960"/>
          </a:xfrm>
          <a:prstGeom prst="rect">
            <a:avLst/>
          </a:prstGeom>
          <a:noFill/>
          <a:ln/>
        </p:spPr>
        <p:txBody>
          <a:bodyPr wrap="square" lIns="0" tIns="0" rIns="0" bIns="0" rtlCol="0" anchor="t"/>
          <a:lstStyle/>
          <a:p>
            <a:pPr marL="0" indent="0">
              <a:buNone/>
            </a:pPr>
            <a:r>
              <a:rPr lang="en-US" sz="1100" dirty="0">
                <a:solidFill>
                  <a:srgbClr val="F0EDE4"/>
                </a:solidFill>
                <a:latin typeface="Calibri" pitchFamily="34" charset="0"/>
                <a:ea typeface="Calibri" pitchFamily="34" charset="-122"/>
                <a:cs typeface="Calibri" pitchFamily="34" charset="-120"/>
              </a:rPr>
              <a:t>I kept a private log. Three kinds of signals mattered, almost always. Reproducible bugs from real users. Adjacent tools citing me. Repeated docs-gap questions. Everything else was noise.</a:t>
            </a:r>
            <a:endParaRPr lang="en-US" sz="1100" dirty="0"/>
          </a:p>
        </p:txBody>
      </p:sp>
      <p:sp>
        <p:nvSpPr>
          <p:cNvPr id="17" name="Shape 15"/>
          <p:cNvSpPr/>
          <p:nvPr/>
        </p:nvSpPr>
        <p:spPr>
          <a:xfrm>
            <a:off x="6172200" y="2148840"/>
            <a:ext cx="2770632" cy="3794760"/>
          </a:xfrm>
          <a:prstGeom prst="rect">
            <a:avLst/>
          </a:prstGeom>
          <a:solidFill>
            <a:srgbClr val="1A1B23"/>
          </a:solidFill>
          <a:ln w="6350">
            <a:solidFill>
              <a:srgbClr val="2A2B33"/>
            </a:solidFill>
            <a:prstDash val="solid"/>
          </a:ln>
        </p:spPr>
        <p:txBody>
          <a:bodyPr/>
          <a:lstStyle/>
          <a:p>
            <a:endParaRPr lang="en-US"/>
          </a:p>
        </p:txBody>
      </p:sp>
      <p:sp>
        <p:nvSpPr>
          <p:cNvPr id="18" name="Text 16"/>
          <p:cNvSpPr/>
          <p:nvPr/>
        </p:nvSpPr>
        <p:spPr>
          <a:xfrm>
            <a:off x="6400800" y="2331720"/>
            <a:ext cx="914400" cy="777240"/>
          </a:xfrm>
          <a:prstGeom prst="rect">
            <a:avLst/>
          </a:prstGeom>
          <a:noFill/>
          <a:ln/>
        </p:spPr>
        <p:txBody>
          <a:bodyPr wrap="square" lIns="0" tIns="0" rIns="0" bIns="0" rtlCol="0" anchor="t"/>
          <a:lstStyle/>
          <a:p>
            <a:pPr marL="0" indent="0">
              <a:buNone/>
            </a:pPr>
            <a:r>
              <a:rPr lang="en-US" sz="5600" b="1" i="1" dirty="0">
                <a:solidFill>
                  <a:srgbClr val="E63946"/>
                </a:solidFill>
                <a:latin typeface="Cambria" pitchFamily="34" charset="0"/>
                <a:ea typeface="Cambria" pitchFamily="34" charset="-122"/>
                <a:cs typeface="Cambria" pitchFamily="34" charset="-120"/>
              </a:rPr>
              <a:t>3</a:t>
            </a:r>
            <a:endParaRPr lang="en-US" sz="5600" dirty="0"/>
          </a:p>
        </p:txBody>
      </p:sp>
      <p:sp>
        <p:nvSpPr>
          <p:cNvPr id="19" name="Shape 17"/>
          <p:cNvSpPr/>
          <p:nvPr/>
        </p:nvSpPr>
        <p:spPr>
          <a:xfrm>
            <a:off x="6400800" y="3200400"/>
            <a:ext cx="2313432" cy="0"/>
          </a:xfrm>
          <a:prstGeom prst="line">
            <a:avLst/>
          </a:prstGeom>
          <a:noFill/>
          <a:ln w="19050">
            <a:solidFill>
              <a:srgbClr val="E63946"/>
            </a:solidFill>
            <a:prstDash val="solid"/>
          </a:ln>
        </p:spPr>
        <p:txBody>
          <a:bodyPr/>
          <a:lstStyle/>
          <a:p>
            <a:endParaRPr lang="en-US"/>
          </a:p>
        </p:txBody>
      </p:sp>
      <p:sp>
        <p:nvSpPr>
          <p:cNvPr id="20" name="Text 18"/>
          <p:cNvSpPr/>
          <p:nvPr/>
        </p:nvSpPr>
        <p:spPr>
          <a:xfrm>
            <a:off x="6400800" y="3337560"/>
            <a:ext cx="2313432" cy="320040"/>
          </a:xfrm>
          <a:prstGeom prst="rect">
            <a:avLst/>
          </a:prstGeom>
          <a:noFill/>
          <a:ln/>
        </p:spPr>
        <p:txBody>
          <a:bodyPr wrap="square" lIns="0" tIns="0" rIns="0" bIns="0" rtlCol="0" anchor="ctr"/>
          <a:lstStyle/>
          <a:p>
            <a:pPr marL="0" indent="0">
              <a:buNone/>
            </a:pPr>
            <a:r>
              <a:rPr lang="en-US" sz="1000" b="1" kern="0" spc="250" dirty="0">
                <a:solidFill>
                  <a:srgbClr val="E63946"/>
                </a:solidFill>
                <a:latin typeface="Consolas" pitchFamily="34" charset="0"/>
                <a:ea typeface="Consolas" pitchFamily="34" charset="-122"/>
                <a:cs typeface="Consolas" pitchFamily="34" charset="-120"/>
              </a:rPr>
              <a:t>THE CATEGORY ERROR</a:t>
            </a:r>
            <a:endParaRPr lang="en-US" sz="1000" dirty="0"/>
          </a:p>
        </p:txBody>
      </p:sp>
      <p:sp>
        <p:nvSpPr>
          <p:cNvPr id="21" name="Text 19"/>
          <p:cNvSpPr/>
          <p:nvPr/>
        </p:nvSpPr>
        <p:spPr>
          <a:xfrm>
            <a:off x="6400800" y="3749040"/>
            <a:ext cx="2313432" cy="1965960"/>
          </a:xfrm>
          <a:prstGeom prst="rect">
            <a:avLst/>
          </a:prstGeom>
          <a:noFill/>
          <a:ln/>
        </p:spPr>
        <p:txBody>
          <a:bodyPr wrap="square" lIns="0" tIns="0" rIns="0" bIns="0" rtlCol="0" anchor="t"/>
          <a:lstStyle/>
          <a:p>
            <a:pPr marL="0" indent="0">
              <a:buNone/>
            </a:pPr>
            <a:r>
              <a:rPr lang="en-US" sz="1100" dirty="0">
                <a:solidFill>
                  <a:srgbClr val="F0EDE4"/>
                </a:solidFill>
                <a:latin typeface="Calibri" pitchFamily="34" charset="0"/>
                <a:ea typeface="Calibri" pitchFamily="34" charset="-122"/>
                <a:cs typeface="Calibri" pitchFamily="34" charset="-120"/>
              </a:rPr>
              <a:t>Once I saw the pattern, I couldn’t unsee it. Every mention-tracking tool optimizes for coverage. Maintainers need triage. It’s not a feature gap. It’s a category error.</a:t>
            </a:r>
            <a:endParaRPr lang="en-US" sz="1100" dirty="0"/>
          </a:p>
        </p:txBody>
      </p:sp>
      <p:sp>
        <p:nvSpPr>
          <p:cNvPr id="22" name="Shape 20"/>
          <p:cNvSpPr/>
          <p:nvPr/>
        </p:nvSpPr>
        <p:spPr>
          <a:xfrm>
            <a:off x="9006840" y="2148840"/>
            <a:ext cx="2770632" cy="3794760"/>
          </a:xfrm>
          <a:prstGeom prst="rect">
            <a:avLst/>
          </a:prstGeom>
          <a:solidFill>
            <a:srgbClr val="1A1B23"/>
          </a:solidFill>
          <a:ln w="6350">
            <a:solidFill>
              <a:srgbClr val="2A2B33"/>
            </a:solidFill>
            <a:prstDash val="solid"/>
          </a:ln>
        </p:spPr>
        <p:txBody>
          <a:bodyPr/>
          <a:lstStyle/>
          <a:p>
            <a:endParaRPr lang="en-US"/>
          </a:p>
        </p:txBody>
      </p:sp>
      <p:sp>
        <p:nvSpPr>
          <p:cNvPr id="23" name="Text 21"/>
          <p:cNvSpPr/>
          <p:nvPr/>
        </p:nvSpPr>
        <p:spPr>
          <a:xfrm>
            <a:off x="9235440" y="2331720"/>
            <a:ext cx="914400" cy="777240"/>
          </a:xfrm>
          <a:prstGeom prst="rect">
            <a:avLst/>
          </a:prstGeom>
          <a:noFill/>
          <a:ln/>
        </p:spPr>
        <p:txBody>
          <a:bodyPr wrap="square" lIns="0" tIns="0" rIns="0" bIns="0" rtlCol="0" anchor="t"/>
          <a:lstStyle/>
          <a:p>
            <a:pPr marL="0" indent="0">
              <a:buNone/>
            </a:pPr>
            <a:r>
              <a:rPr lang="en-US" sz="5600" b="1" i="1" dirty="0">
                <a:solidFill>
                  <a:srgbClr val="E63946"/>
                </a:solidFill>
                <a:latin typeface="Cambria" pitchFamily="34" charset="0"/>
                <a:ea typeface="Cambria" pitchFamily="34" charset="-122"/>
                <a:cs typeface="Cambria" pitchFamily="34" charset="-120"/>
              </a:rPr>
              <a:t>4</a:t>
            </a:r>
            <a:endParaRPr lang="en-US" sz="5600" dirty="0"/>
          </a:p>
        </p:txBody>
      </p:sp>
      <p:sp>
        <p:nvSpPr>
          <p:cNvPr id="24" name="Shape 22"/>
          <p:cNvSpPr/>
          <p:nvPr/>
        </p:nvSpPr>
        <p:spPr>
          <a:xfrm>
            <a:off x="9235440" y="3200400"/>
            <a:ext cx="2313432" cy="0"/>
          </a:xfrm>
          <a:prstGeom prst="line">
            <a:avLst/>
          </a:prstGeom>
          <a:noFill/>
          <a:ln w="19050">
            <a:solidFill>
              <a:srgbClr val="E63946"/>
            </a:solidFill>
            <a:prstDash val="solid"/>
          </a:ln>
        </p:spPr>
        <p:txBody>
          <a:bodyPr/>
          <a:lstStyle/>
          <a:p>
            <a:endParaRPr lang="en-US"/>
          </a:p>
        </p:txBody>
      </p:sp>
      <p:sp>
        <p:nvSpPr>
          <p:cNvPr id="25" name="Text 23"/>
          <p:cNvSpPr/>
          <p:nvPr/>
        </p:nvSpPr>
        <p:spPr>
          <a:xfrm>
            <a:off x="9235440" y="3337560"/>
            <a:ext cx="2313432" cy="320040"/>
          </a:xfrm>
          <a:prstGeom prst="rect">
            <a:avLst/>
          </a:prstGeom>
          <a:noFill/>
          <a:ln/>
        </p:spPr>
        <p:txBody>
          <a:bodyPr wrap="square" lIns="0" tIns="0" rIns="0" bIns="0" rtlCol="0" anchor="ctr"/>
          <a:lstStyle/>
          <a:p>
            <a:pPr marL="0" indent="0">
              <a:buNone/>
            </a:pPr>
            <a:r>
              <a:rPr lang="en-US" sz="1000" b="1" kern="0" spc="250" dirty="0">
                <a:solidFill>
                  <a:srgbClr val="E63946"/>
                </a:solidFill>
                <a:latin typeface="Consolas" pitchFamily="34" charset="0"/>
                <a:ea typeface="Consolas" pitchFamily="34" charset="-122"/>
                <a:cs typeface="Consolas" pitchFamily="34" charset="-120"/>
              </a:rPr>
              <a:t>THE BUILD</a:t>
            </a:r>
            <a:endParaRPr lang="en-US" sz="1000" dirty="0"/>
          </a:p>
        </p:txBody>
      </p:sp>
      <p:sp>
        <p:nvSpPr>
          <p:cNvPr id="26" name="Text 24"/>
          <p:cNvSpPr/>
          <p:nvPr/>
        </p:nvSpPr>
        <p:spPr>
          <a:xfrm>
            <a:off x="9235440" y="3749040"/>
            <a:ext cx="2313432" cy="1965960"/>
          </a:xfrm>
          <a:prstGeom prst="rect">
            <a:avLst/>
          </a:prstGeom>
          <a:noFill/>
          <a:ln/>
        </p:spPr>
        <p:txBody>
          <a:bodyPr wrap="square" lIns="0" tIns="0" rIns="0" bIns="0" rtlCol="0" anchor="t"/>
          <a:lstStyle/>
          <a:p>
            <a:pPr marL="0" indent="0">
              <a:buNone/>
            </a:pPr>
            <a:r>
              <a:rPr lang="en-US" sz="1100" dirty="0">
                <a:solidFill>
                  <a:srgbClr val="F0EDE4"/>
                </a:solidFill>
                <a:latin typeface="Calibri" pitchFamily="34" charset="0"/>
                <a:ea typeface="Calibri" pitchFamily="34" charset="-122"/>
                <a:cs typeface="Calibri" pitchFamily="34" charset="-120"/>
              </a:rPr>
              <a:t>I started Olembic that week. Bandit-weighted source scoring. RAG over public developer chatter. Five signals out of three hundred. Prototype, not shipped. Working on my machine.</a:t>
            </a:r>
            <a:endParaRPr lang="en-US" sz="1100" dirty="0"/>
          </a:p>
        </p:txBody>
      </p:sp>
      <p:sp>
        <p:nvSpPr>
          <p:cNvPr id="27" name="Text 25"/>
          <p:cNvSpPr/>
          <p:nvPr/>
        </p:nvSpPr>
        <p:spPr>
          <a:xfrm>
            <a:off x="502920" y="6172200"/>
            <a:ext cx="11155680" cy="320040"/>
          </a:xfrm>
          <a:prstGeom prst="rect">
            <a:avLst/>
          </a:prstGeom>
          <a:noFill/>
          <a:ln/>
        </p:spPr>
        <p:txBody>
          <a:bodyPr wrap="square" lIns="0" tIns="0" rIns="0" bIns="0" rtlCol="0" anchor="ctr"/>
          <a:lstStyle/>
          <a:p>
            <a:pPr marL="0" indent="0" algn="ctr">
              <a:buNone/>
            </a:pPr>
            <a:r>
              <a:rPr lang="en-US" sz="1000" kern="0" spc="200" dirty="0">
                <a:solidFill>
                  <a:srgbClr val="A4A4AC"/>
                </a:solidFill>
                <a:latin typeface="Consolas" pitchFamily="34" charset="0"/>
                <a:ea typeface="Consolas" pitchFamily="34" charset="-122"/>
                <a:cs typeface="Consolas" pitchFamily="34" charset="-120"/>
              </a:rPr>
              <a:t>Story  </a:t>
            </a:r>
            <a:r>
              <a:rPr lang="en-US" sz="1000" dirty="0">
                <a:solidFill>
                  <a:srgbClr val="E63946"/>
                </a:solidFill>
                <a:latin typeface="Consolas" pitchFamily="34" charset="0"/>
                <a:ea typeface="Consolas" pitchFamily="34" charset="-122"/>
                <a:cs typeface="Consolas" pitchFamily="34" charset="-120"/>
              </a:rPr>
              <a:t>→  </a:t>
            </a:r>
            <a:r>
              <a:rPr lang="en-US" sz="1000" kern="0" spc="200" dirty="0">
                <a:solidFill>
                  <a:srgbClr val="A4A4AC"/>
                </a:solidFill>
                <a:latin typeface="Consolas" pitchFamily="34" charset="0"/>
                <a:ea typeface="Consolas" pitchFamily="34" charset="-122"/>
                <a:cs typeface="Consolas" pitchFamily="34" charset="-120"/>
              </a:rPr>
              <a:t>Values.  </a:t>
            </a:r>
            <a:r>
              <a:rPr lang="en-US" sz="1200" i="1" dirty="0">
                <a:solidFill>
                  <a:srgbClr val="F0EDE4"/>
                </a:solidFill>
                <a:latin typeface="Cambria" pitchFamily="34" charset="0"/>
                <a:ea typeface="Cambria" pitchFamily="34" charset="-122"/>
                <a:cs typeface="Cambria" pitchFamily="34" charset="-120"/>
              </a:rPr>
              <a:t>Measured  ·  Shipped  ·  Depth  ·  Open  ·  Honest</a:t>
            </a:r>
            <a:endParaRPr lang="en-US" sz="1000" dirty="0"/>
          </a:p>
        </p:txBody>
      </p:sp>
      <p:sp>
        <p:nvSpPr>
          <p:cNvPr id="28" name="Text 26"/>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A4A4AC"/>
                </a:solidFill>
                <a:latin typeface="Consolas" pitchFamily="34" charset="0"/>
                <a:ea typeface="Consolas" pitchFamily="34" charset="-122"/>
                <a:cs typeface="Consolas" pitchFamily="34" charset="-120"/>
              </a:rPr>
              <a:t>VAIBHAV SINGH  ·  FINAL EXAM  ·  DEC 2026</a:t>
            </a:r>
            <a:endParaRPr lang="en-US" sz="900" dirty="0"/>
          </a:p>
        </p:txBody>
      </p:sp>
      <p:sp>
        <p:nvSpPr>
          <p:cNvPr id="29" name="Text 27"/>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A4A4AC"/>
                </a:solidFill>
                <a:latin typeface="Consolas" pitchFamily="34" charset="0"/>
                <a:ea typeface="Consolas" pitchFamily="34" charset="-122"/>
                <a:cs typeface="Consolas"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13</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BEFORE / AFTER</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3200" b="1" dirty="0">
                <a:solidFill>
                  <a:srgbClr val="0F0F14"/>
                </a:solidFill>
                <a:latin typeface="Cambria" pitchFamily="34" charset="0"/>
                <a:ea typeface="Cambria" pitchFamily="34" charset="-122"/>
                <a:cs typeface="Cambria" pitchFamily="34" charset="-120"/>
              </a:rPr>
              <a:t>What changes when you flip the frame</a:t>
            </a:r>
            <a:r>
              <a:rPr lang="en-US" sz="3200" b="1" dirty="0">
                <a:solidFill>
                  <a:srgbClr val="E63946"/>
                </a:solidFill>
                <a:latin typeface="Cambria" pitchFamily="34" charset="0"/>
                <a:ea typeface="Cambria" pitchFamily="34" charset="-122"/>
                <a:cs typeface="Cambria" pitchFamily="34" charset="-120"/>
              </a:rPr>
              <a:t>.</a:t>
            </a:r>
            <a:endParaRPr lang="en-US" sz="3200" dirty="0"/>
          </a:p>
        </p:txBody>
      </p:sp>
      <p:sp>
        <p:nvSpPr>
          <p:cNvPr id="6" name="Text 4"/>
          <p:cNvSpPr/>
          <p:nvPr/>
        </p:nvSpPr>
        <p:spPr>
          <a:xfrm>
            <a:off x="502920" y="155448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Maya’s Sunday, both ways.</a:t>
            </a:r>
            <a:endParaRPr lang="en-US" sz="1800" dirty="0"/>
          </a:p>
        </p:txBody>
      </p:sp>
      <p:sp>
        <p:nvSpPr>
          <p:cNvPr id="7" name="Shape 5"/>
          <p:cNvSpPr/>
          <p:nvPr/>
        </p:nvSpPr>
        <p:spPr>
          <a:xfrm>
            <a:off x="502920" y="2423160"/>
            <a:ext cx="5532120" cy="3703320"/>
          </a:xfrm>
          <a:prstGeom prst="rect">
            <a:avLst/>
          </a:prstGeom>
          <a:solidFill>
            <a:srgbClr val="F8F5EE"/>
          </a:solidFill>
          <a:ln w="6350">
            <a:solidFill>
              <a:srgbClr val="A4A4AC"/>
            </a:solidFill>
            <a:prstDash val="solid"/>
          </a:ln>
        </p:spPr>
        <p:txBody>
          <a:bodyPr/>
          <a:lstStyle/>
          <a:p>
            <a:endParaRPr lang="en-US"/>
          </a:p>
        </p:txBody>
      </p:sp>
      <p:sp>
        <p:nvSpPr>
          <p:cNvPr id="8" name="Text 6"/>
          <p:cNvSpPr/>
          <p:nvPr/>
        </p:nvSpPr>
        <p:spPr>
          <a:xfrm>
            <a:off x="777240" y="2651760"/>
            <a:ext cx="5074920" cy="274320"/>
          </a:xfrm>
          <a:prstGeom prst="rect">
            <a:avLst/>
          </a:prstGeom>
          <a:noFill/>
          <a:ln/>
        </p:spPr>
        <p:txBody>
          <a:bodyPr wrap="square" lIns="0" tIns="0" rIns="0" bIns="0" rtlCol="0" anchor="ctr"/>
          <a:lstStyle/>
          <a:p>
            <a:pPr marL="0" indent="0">
              <a:buNone/>
            </a:pPr>
            <a:r>
              <a:rPr lang="en-US" sz="1000" b="1" kern="0" spc="300" dirty="0">
                <a:solidFill>
                  <a:srgbClr val="5A5A62"/>
                </a:solidFill>
                <a:latin typeface="Consolas" pitchFamily="34" charset="0"/>
                <a:ea typeface="Consolas" pitchFamily="34" charset="-122"/>
                <a:cs typeface="Consolas" pitchFamily="34" charset="-120"/>
              </a:rPr>
              <a:t>BEFORE OLEMBIC</a:t>
            </a:r>
            <a:endParaRPr lang="en-US" sz="1000" dirty="0"/>
          </a:p>
        </p:txBody>
      </p:sp>
      <p:sp>
        <p:nvSpPr>
          <p:cNvPr id="9" name="Text 7"/>
          <p:cNvSpPr/>
          <p:nvPr/>
        </p:nvSpPr>
        <p:spPr>
          <a:xfrm>
            <a:off x="777240" y="2926080"/>
            <a:ext cx="5074920" cy="457200"/>
          </a:xfrm>
          <a:prstGeom prst="rect">
            <a:avLst/>
          </a:prstGeom>
          <a:noFill/>
          <a:ln/>
        </p:spPr>
        <p:txBody>
          <a:bodyPr wrap="square" lIns="0" tIns="0" rIns="0" bIns="0" rtlCol="0" anchor="ctr"/>
          <a:lstStyle/>
          <a:p>
            <a:pPr marL="0" indent="0">
              <a:buNone/>
            </a:pPr>
            <a:r>
              <a:rPr lang="en-US" sz="2400" b="1" dirty="0">
                <a:solidFill>
                  <a:srgbClr val="0F0F14"/>
                </a:solidFill>
                <a:latin typeface="Cambria" pitchFamily="34" charset="0"/>
                <a:ea typeface="Cambria" pitchFamily="34" charset="-122"/>
                <a:cs typeface="Cambria" pitchFamily="34" charset="-120"/>
              </a:rPr>
              <a:t>Maya’s Sunday</a:t>
            </a:r>
            <a:r>
              <a:rPr lang="en-US" sz="2400" b="1" dirty="0">
                <a:solidFill>
                  <a:srgbClr val="E63946"/>
                </a:solidFill>
                <a:latin typeface="Cambria" pitchFamily="34" charset="0"/>
                <a:ea typeface="Cambria" pitchFamily="34" charset="-122"/>
                <a:cs typeface="Cambria" pitchFamily="34" charset="-120"/>
              </a:rPr>
              <a:t>.</a:t>
            </a:r>
            <a:endParaRPr lang="en-US" sz="2400" dirty="0"/>
          </a:p>
        </p:txBody>
      </p:sp>
      <p:sp>
        <p:nvSpPr>
          <p:cNvPr id="10" name="Text 8"/>
          <p:cNvSpPr/>
          <p:nvPr/>
        </p:nvSpPr>
        <p:spPr>
          <a:xfrm>
            <a:off x="777240" y="3611880"/>
            <a:ext cx="274320" cy="365760"/>
          </a:xfrm>
          <a:prstGeom prst="rect">
            <a:avLst/>
          </a:prstGeom>
          <a:noFill/>
          <a:ln/>
        </p:spPr>
        <p:txBody>
          <a:bodyPr wrap="square" lIns="0" tIns="0" rIns="0" bIns="0" rtlCol="0" anchor="t"/>
          <a:lstStyle/>
          <a:p>
            <a:pPr marL="0" indent="0">
              <a:buNone/>
            </a:pPr>
            <a:r>
              <a:rPr lang="en-US" sz="1400" b="1" dirty="0">
                <a:solidFill>
                  <a:srgbClr val="5A5A62"/>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097280" y="3611880"/>
            <a:ext cx="4709160" cy="36576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40 GitHub notifications from the week, unread</a:t>
            </a:r>
            <a:endParaRPr lang="en-US" sz="1200" dirty="0"/>
          </a:p>
        </p:txBody>
      </p:sp>
      <p:sp>
        <p:nvSpPr>
          <p:cNvPr id="12" name="Text 10"/>
          <p:cNvSpPr/>
          <p:nvPr/>
        </p:nvSpPr>
        <p:spPr>
          <a:xfrm>
            <a:off x="777240" y="4069080"/>
            <a:ext cx="274320" cy="365760"/>
          </a:xfrm>
          <a:prstGeom prst="rect">
            <a:avLst/>
          </a:prstGeom>
          <a:noFill/>
          <a:ln/>
        </p:spPr>
        <p:txBody>
          <a:bodyPr wrap="square" lIns="0" tIns="0" rIns="0" bIns="0" rtlCol="0" anchor="t"/>
          <a:lstStyle/>
          <a:p>
            <a:pPr marL="0" indent="0">
              <a:buNone/>
            </a:pPr>
            <a:r>
              <a:rPr lang="en-US" sz="1400" b="1" dirty="0">
                <a:solidFill>
                  <a:srgbClr val="5A5A62"/>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097280" y="4069080"/>
            <a:ext cx="4709160" cy="36576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No idea which to open first</a:t>
            </a:r>
            <a:endParaRPr lang="en-US" sz="1200" dirty="0"/>
          </a:p>
        </p:txBody>
      </p:sp>
      <p:sp>
        <p:nvSpPr>
          <p:cNvPr id="14" name="Text 12"/>
          <p:cNvSpPr/>
          <p:nvPr/>
        </p:nvSpPr>
        <p:spPr>
          <a:xfrm>
            <a:off x="777240" y="4526280"/>
            <a:ext cx="274320" cy="365760"/>
          </a:xfrm>
          <a:prstGeom prst="rect">
            <a:avLst/>
          </a:prstGeom>
          <a:noFill/>
          <a:ln/>
        </p:spPr>
        <p:txBody>
          <a:bodyPr wrap="square" lIns="0" tIns="0" rIns="0" bIns="0" rtlCol="0" anchor="t"/>
          <a:lstStyle/>
          <a:p>
            <a:pPr marL="0" indent="0">
              <a:buNone/>
            </a:pPr>
            <a:r>
              <a:rPr lang="en-US" sz="1400" b="1" dirty="0">
                <a:solidFill>
                  <a:srgbClr val="5A5A62"/>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097280" y="4526280"/>
            <a:ext cx="4709160" cy="36576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Opens 12 in tabs, reads 8, answers 2</a:t>
            </a:r>
            <a:endParaRPr lang="en-US" sz="1200" dirty="0"/>
          </a:p>
        </p:txBody>
      </p:sp>
      <p:sp>
        <p:nvSpPr>
          <p:cNvPr id="16" name="Text 14"/>
          <p:cNvSpPr/>
          <p:nvPr/>
        </p:nvSpPr>
        <p:spPr>
          <a:xfrm>
            <a:off x="777240" y="4983480"/>
            <a:ext cx="274320" cy="365760"/>
          </a:xfrm>
          <a:prstGeom prst="rect">
            <a:avLst/>
          </a:prstGeom>
          <a:noFill/>
          <a:ln/>
        </p:spPr>
        <p:txBody>
          <a:bodyPr wrap="square" lIns="0" tIns="0" rIns="0" bIns="0" rtlCol="0" anchor="t"/>
          <a:lstStyle/>
          <a:p>
            <a:pPr marL="0" indent="0">
              <a:buNone/>
            </a:pPr>
            <a:r>
              <a:rPr lang="en-US" sz="1400" b="1" dirty="0">
                <a:solidFill>
                  <a:srgbClr val="5A5A62"/>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097280" y="4983480"/>
            <a:ext cx="4709160" cy="36576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Realizes 3 hours have passed</a:t>
            </a:r>
            <a:endParaRPr lang="en-US" sz="1200" dirty="0"/>
          </a:p>
        </p:txBody>
      </p:sp>
      <p:sp>
        <p:nvSpPr>
          <p:cNvPr id="18" name="Text 16"/>
          <p:cNvSpPr/>
          <p:nvPr/>
        </p:nvSpPr>
        <p:spPr>
          <a:xfrm>
            <a:off x="777240" y="5440680"/>
            <a:ext cx="274320" cy="365760"/>
          </a:xfrm>
          <a:prstGeom prst="rect">
            <a:avLst/>
          </a:prstGeom>
          <a:noFill/>
          <a:ln/>
        </p:spPr>
        <p:txBody>
          <a:bodyPr wrap="square" lIns="0" tIns="0" rIns="0" bIns="0" rtlCol="0" anchor="t"/>
          <a:lstStyle/>
          <a:p>
            <a:pPr marL="0" indent="0">
              <a:buNone/>
            </a:pPr>
            <a:r>
              <a:rPr lang="en-US" sz="1400" b="1" dirty="0">
                <a:solidFill>
                  <a:srgbClr val="5A5A62"/>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097280" y="5440680"/>
            <a:ext cx="4709160" cy="365760"/>
          </a:xfrm>
          <a:prstGeom prst="rect">
            <a:avLst/>
          </a:prstGeom>
          <a:noFill/>
          <a:ln/>
        </p:spPr>
        <p:txBody>
          <a:bodyPr wrap="square" lIns="0" tIns="0" rIns="0" bIns="0" rtlCol="0" anchor="t"/>
          <a:lstStyle/>
          <a:p>
            <a:pPr marL="0" indent="0">
              <a:buNone/>
            </a:pPr>
            <a:r>
              <a:rPr lang="en-US" sz="1200" dirty="0">
                <a:solidFill>
                  <a:srgbClr val="0F0F14"/>
                </a:solidFill>
                <a:latin typeface="Calibri" pitchFamily="34" charset="0"/>
                <a:ea typeface="Calibri" pitchFamily="34" charset="-122"/>
                <a:cs typeface="Calibri" pitchFamily="34" charset="-120"/>
              </a:rPr>
              <a:t>Closes tab feeling behind</a:t>
            </a:r>
            <a:endParaRPr lang="en-US" sz="1200" dirty="0"/>
          </a:p>
        </p:txBody>
      </p:sp>
      <p:sp>
        <p:nvSpPr>
          <p:cNvPr id="20" name="Shape 18"/>
          <p:cNvSpPr/>
          <p:nvPr/>
        </p:nvSpPr>
        <p:spPr>
          <a:xfrm>
            <a:off x="6126480" y="2423160"/>
            <a:ext cx="5532120" cy="3703320"/>
          </a:xfrm>
          <a:prstGeom prst="rect">
            <a:avLst/>
          </a:prstGeom>
          <a:solidFill>
            <a:srgbClr val="0F0F14"/>
          </a:solidFill>
          <a:ln w="6350">
            <a:solidFill>
              <a:srgbClr val="0F0F14"/>
            </a:solidFill>
            <a:prstDash val="solid"/>
          </a:ln>
        </p:spPr>
        <p:txBody>
          <a:bodyPr/>
          <a:lstStyle/>
          <a:p>
            <a:endParaRPr lang="en-US"/>
          </a:p>
        </p:txBody>
      </p:sp>
      <p:sp>
        <p:nvSpPr>
          <p:cNvPr id="21" name="Shape 19"/>
          <p:cNvSpPr/>
          <p:nvPr/>
        </p:nvSpPr>
        <p:spPr>
          <a:xfrm>
            <a:off x="6126480" y="2423160"/>
            <a:ext cx="73152" cy="3703320"/>
          </a:xfrm>
          <a:prstGeom prst="rect">
            <a:avLst/>
          </a:prstGeom>
          <a:solidFill>
            <a:srgbClr val="E63946"/>
          </a:solidFill>
          <a:ln/>
        </p:spPr>
        <p:txBody>
          <a:bodyPr/>
          <a:lstStyle/>
          <a:p>
            <a:endParaRPr lang="en-US"/>
          </a:p>
        </p:txBody>
      </p:sp>
      <p:sp>
        <p:nvSpPr>
          <p:cNvPr id="22" name="Text 20"/>
          <p:cNvSpPr/>
          <p:nvPr/>
        </p:nvSpPr>
        <p:spPr>
          <a:xfrm>
            <a:off x="6400800" y="2651760"/>
            <a:ext cx="5074920" cy="274320"/>
          </a:xfrm>
          <a:prstGeom prst="rect">
            <a:avLst/>
          </a:prstGeom>
          <a:noFill/>
          <a:ln/>
        </p:spPr>
        <p:txBody>
          <a:bodyPr wrap="square" lIns="0" tIns="0" rIns="0" bIns="0" rtlCol="0" anchor="ctr"/>
          <a:lstStyle/>
          <a:p>
            <a:pPr marL="0" indent="0">
              <a:buNone/>
            </a:pPr>
            <a:r>
              <a:rPr lang="en-US" sz="1000" b="1" kern="0" spc="300" dirty="0">
                <a:solidFill>
                  <a:srgbClr val="E63946"/>
                </a:solidFill>
                <a:latin typeface="Consolas" pitchFamily="34" charset="0"/>
                <a:ea typeface="Consolas" pitchFamily="34" charset="-122"/>
                <a:cs typeface="Consolas" pitchFamily="34" charset="-120"/>
              </a:rPr>
              <a:t>WITH OLEMBIC</a:t>
            </a:r>
            <a:endParaRPr lang="en-US" sz="1000" dirty="0"/>
          </a:p>
        </p:txBody>
      </p:sp>
      <p:sp>
        <p:nvSpPr>
          <p:cNvPr id="23" name="Text 21"/>
          <p:cNvSpPr/>
          <p:nvPr/>
        </p:nvSpPr>
        <p:spPr>
          <a:xfrm>
            <a:off x="6400800" y="2926080"/>
            <a:ext cx="5074920" cy="457200"/>
          </a:xfrm>
          <a:prstGeom prst="rect">
            <a:avLst/>
          </a:prstGeom>
          <a:noFill/>
          <a:ln/>
        </p:spPr>
        <p:txBody>
          <a:bodyPr wrap="square" lIns="0" tIns="0" rIns="0" bIns="0" rtlCol="0" anchor="ctr"/>
          <a:lstStyle/>
          <a:p>
            <a:pPr marL="0" indent="0">
              <a:buNone/>
            </a:pPr>
            <a:r>
              <a:rPr lang="en-US" sz="2400" b="1" dirty="0">
                <a:solidFill>
                  <a:srgbClr val="F0EDE4"/>
                </a:solidFill>
                <a:latin typeface="Cambria" pitchFamily="34" charset="0"/>
                <a:ea typeface="Cambria" pitchFamily="34" charset="-122"/>
                <a:cs typeface="Cambria" pitchFamily="34" charset="-120"/>
              </a:rPr>
              <a:t>Maya’s Sunday</a:t>
            </a:r>
            <a:r>
              <a:rPr lang="en-US" sz="2400" b="1" dirty="0">
                <a:solidFill>
                  <a:srgbClr val="E63946"/>
                </a:solidFill>
                <a:latin typeface="Cambria" pitchFamily="34" charset="0"/>
                <a:ea typeface="Cambria" pitchFamily="34" charset="-122"/>
                <a:cs typeface="Cambria" pitchFamily="34" charset="-120"/>
              </a:rPr>
              <a:t>.</a:t>
            </a:r>
            <a:endParaRPr lang="en-US" sz="2400" dirty="0"/>
          </a:p>
        </p:txBody>
      </p:sp>
      <p:sp>
        <p:nvSpPr>
          <p:cNvPr id="24" name="Text 22"/>
          <p:cNvSpPr/>
          <p:nvPr/>
        </p:nvSpPr>
        <p:spPr>
          <a:xfrm>
            <a:off x="6400800" y="3611880"/>
            <a:ext cx="274320" cy="365760"/>
          </a:xfrm>
          <a:prstGeom prst="rect">
            <a:avLst/>
          </a:prstGeom>
          <a:noFill/>
          <a:ln/>
        </p:spPr>
        <p:txBody>
          <a:bodyPr wrap="square" lIns="0" tIns="0" rIns="0" bIns="0" rtlCol="0" anchor="t"/>
          <a:lstStyle/>
          <a:p>
            <a:pPr marL="0" indent="0">
              <a:buNone/>
            </a:pPr>
            <a:r>
              <a:rPr lang="en-US" sz="1400" b="1" dirty="0">
                <a:solidFill>
                  <a:srgbClr val="E63946"/>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6720840" y="3611880"/>
            <a:ext cx="4709160" cy="365760"/>
          </a:xfrm>
          <a:prstGeom prst="rect">
            <a:avLst/>
          </a:prstGeom>
          <a:noFill/>
          <a:ln/>
        </p:spPr>
        <p:txBody>
          <a:bodyPr wrap="square" lIns="0" tIns="0" rIns="0" bIns="0" rtlCol="0" anchor="t"/>
          <a:lstStyle/>
          <a:p>
            <a:pPr marL="0" indent="0">
              <a:buNone/>
            </a:pPr>
            <a:r>
              <a:rPr lang="en-US" sz="1200" dirty="0">
                <a:solidFill>
                  <a:srgbClr val="F0EDE4"/>
                </a:solidFill>
                <a:latin typeface="Calibri" pitchFamily="34" charset="0"/>
                <a:ea typeface="Calibri" pitchFamily="34" charset="-122"/>
                <a:cs typeface="Calibri" pitchFamily="34" charset="-120"/>
              </a:rPr>
              <a:t>5 signals triaged, each with a confidence score</a:t>
            </a:r>
            <a:endParaRPr lang="en-US" sz="1200" dirty="0"/>
          </a:p>
        </p:txBody>
      </p:sp>
      <p:sp>
        <p:nvSpPr>
          <p:cNvPr id="26" name="Text 24"/>
          <p:cNvSpPr/>
          <p:nvPr/>
        </p:nvSpPr>
        <p:spPr>
          <a:xfrm>
            <a:off x="6400800" y="4069080"/>
            <a:ext cx="274320" cy="365760"/>
          </a:xfrm>
          <a:prstGeom prst="rect">
            <a:avLst/>
          </a:prstGeom>
          <a:noFill/>
          <a:ln/>
        </p:spPr>
        <p:txBody>
          <a:bodyPr wrap="square" lIns="0" tIns="0" rIns="0" bIns="0" rtlCol="0" anchor="t"/>
          <a:lstStyle/>
          <a:p>
            <a:pPr marL="0" indent="0">
              <a:buNone/>
            </a:pPr>
            <a:r>
              <a:rPr lang="en-US" sz="1400" b="1" dirty="0">
                <a:solidFill>
                  <a:srgbClr val="E63946"/>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6720840" y="4069080"/>
            <a:ext cx="4709160" cy="365760"/>
          </a:xfrm>
          <a:prstGeom prst="rect">
            <a:avLst/>
          </a:prstGeom>
          <a:noFill/>
          <a:ln/>
        </p:spPr>
        <p:txBody>
          <a:bodyPr wrap="square" lIns="0" tIns="0" rIns="0" bIns="0" rtlCol="0" anchor="t"/>
          <a:lstStyle/>
          <a:p>
            <a:pPr marL="0" indent="0">
              <a:buNone/>
            </a:pPr>
            <a:r>
              <a:rPr lang="en-US" sz="1200" dirty="0">
                <a:solidFill>
                  <a:srgbClr val="F0EDE4"/>
                </a:solidFill>
                <a:latin typeface="Calibri" pitchFamily="34" charset="0"/>
                <a:ea typeface="Calibri" pitchFamily="34" charset="-122"/>
                <a:cs typeface="Calibri" pitchFamily="34" charset="-120"/>
              </a:rPr>
              <a:t>Reproducible bug from user w/ 20 stars = SIGNAL</a:t>
            </a:r>
            <a:endParaRPr lang="en-US" sz="1200" dirty="0"/>
          </a:p>
        </p:txBody>
      </p:sp>
      <p:sp>
        <p:nvSpPr>
          <p:cNvPr id="28" name="Text 26"/>
          <p:cNvSpPr/>
          <p:nvPr/>
        </p:nvSpPr>
        <p:spPr>
          <a:xfrm>
            <a:off x="6400800" y="4526280"/>
            <a:ext cx="274320" cy="365760"/>
          </a:xfrm>
          <a:prstGeom prst="rect">
            <a:avLst/>
          </a:prstGeom>
          <a:noFill/>
          <a:ln/>
        </p:spPr>
        <p:txBody>
          <a:bodyPr wrap="square" lIns="0" tIns="0" rIns="0" bIns="0" rtlCol="0" anchor="t"/>
          <a:lstStyle/>
          <a:p>
            <a:pPr marL="0" indent="0">
              <a:buNone/>
            </a:pPr>
            <a:r>
              <a:rPr lang="en-US" sz="1400" b="1" dirty="0">
                <a:solidFill>
                  <a:srgbClr val="E63946"/>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6720840" y="4526280"/>
            <a:ext cx="4709160" cy="365760"/>
          </a:xfrm>
          <a:prstGeom prst="rect">
            <a:avLst/>
          </a:prstGeom>
          <a:noFill/>
          <a:ln/>
        </p:spPr>
        <p:txBody>
          <a:bodyPr wrap="square" lIns="0" tIns="0" rIns="0" bIns="0" rtlCol="0" anchor="t"/>
          <a:lstStyle/>
          <a:p>
            <a:pPr marL="0" indent="0">
              <a:buNone/>
            </a:pPr>
            <a:r>
              <a:rPr lang="en-US" sz="1200" dirty="0">
                <a:solidFill>
                  <a:srgbClr val="F0EDE4"/>
                </a:solidFill>
                <a:latin typeface="Calibri" pitchFamily="34" charset="0"/>
                <a:ea typeface="Calibri" pitchFamily="34" charset="-122"/>
                <a:cs typeface="Calibri" pitchFamily="34" charset="-120"/>
              </a:rPr>
              <a:t>Retweet + praise emojis = SILENCE</a:t>
            </a:r>
            <a:endParaRPr lang="en-US" sz="1200" dirty="0"/>
          </a:p>
        </p:txBody>
      </p:sp>
      <p:sp>
        <p:nvSpPr>
          <p:cNvPr id="30" name="Text 28"/>
          <p:cNvSpPr/>
          <p:nvPr/>
        </p:nvSpPr>
        <p:spPr>
          <a:xfrm>
            <a:off x="6400800" y="4983480"/>
            <a:ext cx="274320" cy="365760"/>
          </a:xfrm>
          <a:prstGeom prst="rect">
            <a:avLst/>
          </a:prstGeom>
          <a:noFill/>
          <a:ln/>
        </p:spPr>
        <p:txBody>
          <a:bodyPr wrap="square" lIns="0" tIns="0" rIns="0" bIns="0" rtlCol="0" anchor="t"/>
          <a:lstStyle/>
          <a:p>
            <a:pPr marL="0" indent="0">
              <a:buNone/>
            </a:pPr>
            <a:r>
              <a:rPr lang="en-US" sz="1400" b="1" dirty="0">
                <a:solidFill>
                  <a:srgbClr val="E63946"/>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6720840" y="4983480"/>
            <a:ext cx="4709160" cy="365760"/>
          </a:xfrm>
          <a:prstGeom prst="rect">
            <a:avLst/>
          </a:prstGeom>
          <a:noFill/>
          <a:ln/>
        </p:spPr>
        <p:txBody>
          <a:bodyPr wrap="square" lIns="0" tIns="0" rIns="0" bIns="0" rtlCol="0" anchor="t"/>
          <a:lstStyle/>
          <a:p>
            <a:pPr marL="0" indent="0">
              <a:buNone/>
            </a:pPr>
            <a:r>
              <a:rPr lang="en-US" sz="1200" dirty="0">
                <a:solidFill>
                  <a:srgbClr val="F0EDE4"/>
                </a:solidFill>
                <a:latin typeface="Calibri" pitchFamily="34" charset="0"/>
                <a:ea typeface="Calibri" pitchFamily="34" charset="-122"/>
                <a:cs typeface="Calibri" pitchFamily="34" charset="-120"/>
              </a:rPr>
              <a:t>Answers the 3 that matter, closes tab</a:t>
            </a:r>
            <a:endParaRPr lang="en-US" sz="1200" dirty="0"/>
          </a:p>
        </p:txBody>
      </p:sp>
      <p:sp>
        <p:nvSpPr>
          <p:cNvPr id="32" name="Text 30"/>
          <p:cNvSpPr/>
          <p:nvPr/>
        </p:nvSpPr>
        <p:spPr>
          <a:xfrm>
            <a:off x="6400800" y="5440680"/>
            <a:ext cx="274320" cy="365760"/>
          </a:xfrm>
          <a:prstGeom prst="rect">
            <a:avLst/>
          </a:prstGeom>
          <a:noFill/>
          <a:ln/>
        </p:spPr>
        <p:txBody>
          <a:bodyPr wrap="square" lIns="0" tIns="0" rIns="0" bIns="0" rtlCol="0" anchor="t"/>
          <a:lstStyle/>
          <a:p>
            <a:pPr marL="0" indent="0">
              <a:buNone/>
            </a:pPr>
            <a:r>
              <a:rPr lang="en-US" sz="1400" b="1" dirty="0">
                <a:solidFill>
                  <a:srgbClr val="E63946"/>
                </a:solidFill>
                <a:latin typeface="Calibri" pitchFamily="34" charset="0"/>
                <a:ea typeface="Calibri" pitchFamily="34" charset="-122"/>
                <a:cs typeface="Calibri" pitchFamily="34" charset="-120"/>
              </a:rPr>
              <a:t>✓</a:t>
            </a:r>
            <a:endParaRPr lang="en-US" sz="1400" dirty="0"/>
          </a:p>
        </p:txBody>
      </p:sp>
      <p:sp>
        <p:nvSpPr>
          <p:cNvPr id="33" name="Text 31"/>
          <p:cNvSpPr/>
          <p:nvPr/>
        </p:nvSpPr>
        <p:spPr>
          <a:xfrm>
            <a:off x="6720840" y="5440680"/>
            <a:ext cx="4709160" cy="365760"/>
          </a:xfrm>
          <a:prstGeom prst="rect">
            <a:avLst/>
          </a:prstGeom>
          <a:noFill/>
          <a:ln/>
        </p:spPr>
        <p:txBody>
          <a:bodyPr wrap="square" lIns="0" tIns="0" rIns="0" bIns="0" rtlCol="0" anchor="t"/>
          <a:lstStyle/>
          <a:p>
            <a:pPr marL="0" indent="0">
              <a:buNone/>
            </a:pPr>
            <a:r>
              <a:rPr lang="en-US" sz="1200" dirty="0">
                <a:solidFill>
                  <a:srgbClr val="F0EDE4"/>
                </a:solidFill>
                <a:latin typeface="Calibri" pitchFamily="34" charset="0"/>
                <a:ea typeface="Calibri" pitchFamily="34" charset="-122"/>
                <a:cs typeface="Calibri" pitchFamily="34" charset="-120"/>
              </a:rPr>
              <a:t>20 minutes total. Feels caught up.</a:t>
            </a:r>
            <a:endParaRPr lang="en-US" sz="1200" dirty="0"/>
          </a:p>
        </p:txBody>
      </p:sp>
      <p:sp>
        <p:nvSpPr>
          <p:cNvPr id="34" name="Text 32"/>
          <p:cNvSpPr/>
          <p:nvPr/>
        </p:nvSpPr>
        <p:spPr>
          <a:xfrm>
            <a:off x="502920" y="6263640"/>
            <a:ext cx="11155680" cy="320040"/>
          </a:xfrm>
          <a:prstGeom prst="rect">
            <a:avLst/>
          </a:prstGeom>
          <a:noFill/>
          <a:ln/>
        </p:spPr>
        <p:txBody>
          <a:bodyPr wrap="square" lIns="0" tIns="0" rIns="0" bIns="0" rtlCol="0" anchor="ctr"/>
          <a:lstStyle/>
          <a:p>
            <a:pPr marL="0" indent="0" algn="ctr">
              <a:buNone/>
            </a:pPr>
            <a:r>
              <a:rPr lang="en-US" sz="1500" i="1" dirty="0">
                <a:solidFill>
                  <a:srgbClr val="0F0F14"/>
                </a:solidFill>
                <a:latin typeface="Cambria" pitchFamily="34" charset="0"/>
                <a:ea typeface="Cambria" pitchFamily="34" charset="-122"/>
                <a:cs typeface="Cambria" pitchFamily="34" charset="-120"/>
              </a:rPr>
              <a:t>3 hours → 20 minutes. From coverage to triage</a:t>
            </a:r>
            <a:r>
              <a:rPr lang="en-US" sz="1500" i="1" dirty="0">
                <a:solidFill>
                  <a:srgbClr val="E63946"/>
                </a:solidFill>
                <a:latin typeface="Cambria" pitchFamily="34" charset="0"/>
                <a:ea typeface="Cambria" pitchFamily="34" charset="-122"/>
                <a:cs typeface="Cambria" pitchFamily="34" charset="-120"/>
              </a:rPr>
              <a:t>.</a:t>
            </a:r>
            <a:endParaRPr lang="en-US" sz="1500" dirty="0"/>
          </a:p>
        </p:txBody>
      </p:sp>
      <p:sp>
        <p:nvSpPr>
          <p:cNvPr id="36" name="Text 33"/>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37" name="Text 34"/>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14</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LIVE DEMO</a:t>
            </a:r>
            <a:endParaRPr lang="en-US" sz="1000" dirty="0"/>
          </a:p>
        </p:txBody>
      </p:sp>
      <p:sp>
        <p:nvSpPr>
          <p:cNvPr id="5" name="Text 3"/>
          <p:cNvSpPr/>
          <p:nvPr/>
        </p:nvSpPr>
        <p:spPr>
          <a:xfrm>
            <a:off x="502920" y="777240"/>
            <a:ext cx="11155680" cy="822960"/>
          </a:xfrm>
          <a:prstGeom prst="rect">
            <a:avLst/>
          </a:prstGeom>
          <a:noFill/>
          <a:ln/>
        </p:spPr>
        <p:txBody>
          <a:bodyPr wrap="square" lIns="0" tIns="0" rIns="0" bIns="0" rtlCol="0" anchor="ctr"/>
          <a:lstStyle/>
          <a:p>
            <a:pPr marL="0" indent="0">
              <a:buNone/>
            </a:pPr>
            <a:r>
              <a:rPr lang="en-US" sz="4000" b="1" dirty="0">
                <a:solidFill>
                  <a:srgbClr val="0F0F14"/>
                </a:solidFill>
                <a:latin typeface="Cambria" pitchFamily="34" charset="0"/>
                <a:ea typeface="Cambria" pitchFamily="34" charset="-122"/>
                <a:cs typeface="Cambria" pitchFamily="34" charset="-120"/>
              </a:rPr>
              <a:t>The system, in action</a:t>
            </a:r>
            <a:r>
              <a:rPr lang="en-US" sz="4000" b="1" dirty="0">
                <a:solidFill>
                  <a:srgbClr val="E63946"/>
                </a:solidFill>
                <a:latin typeface="Cambria" pitchFamily="34" charset="0"/>
                <a:ea typeface="Cambria" pitchFamily="34" charset="-122"/>
                <a:cs typeface="Cambria" pitchFamily="34" charset="-120"/>
              </a:rPr>
              <a:t>.</a:t>
            </a:r>
            <a:endParaRPr lang="en-US" sz="4000" dirty="0"/>
          </a:p>
        </p:txBody>
      </p:sp>
      <p:sp>
        <p:nvSpPr>
          <p:cNvPr id="6" name="Text 4"/>
          <p:cNvSpPr/>
          <p:nvPr/>
        </p:nvSpPr>
        <p:spPr>
          <a:xfrm>
            <a:off x="502920" y="155448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Website + Olembic prototype. Two minutes each.</a:t>
            </a:r>
            <a:endParaRPr lang="en-US" sz="1800" dirty="0"/>
          </a:p>
        </p:txBody>
      </p:sp>
      <p:sp>
        <p:nvSpPr>
          <p:cNvPr id="7" name="Shape 5"/>
          <p:cNvSpPr/>
          <p:nvPr/>
        </p:nvSpPr>
        <p:spPr>
          <a:xfrm>
            <a:off x="502920" y="2606040"/>
            <a:ext cx="3703320" cy="3063240"/>
          </a:xfrm>
          <a:prstGeom prst="rect">
            <a:avLst/>
          </a:prstGeom>
          <a:solidFill>
            <a:srgbClr val="F8F5EE"/>
          </a:solidFill>
          <a:ln w="6350">
            <a:solidFill>
              <a:srgbClr val="A4A4AC"/>
            </a:solidFill>
            <a:prstDash val="solid"/>
          </a:ln>
        </p:spPr>
        <p:txBody>
          <a:bodyPr/>
          <a:lstStyle/>
          <a:p>
            <a:endParaRPr lang="en-US"/>
          </a:p>
        </p:txBody>
      </p:sp>
      <p:sp>
        <p:nvSpPr>
          <p:cNvPr id="8" name="Text 6"/>
          <p:cNvSpPr/>
          <p:nvPr/>
        </p:nvSpPr>
        <p:spPr>
          <a:xfrm>
            <a:off x="777240" y="2834640"/>
            <a:ext cx="3154680" cy="640080"/>
          </a:xfrm>
          <a:prstGeom prst="rect">
            <a:avLst/>
          </a:prstGeom>
          <a:noFill/>
          <a:ln/>
        </p:spPr>
        <p:txBody>
          <a:bodyPr wrap="square" lIns="0" tIns="0" rIns="0" bIns="0" rtlCol="0" anchor="t"/>
          <a:lstStyle/>
          <a:p>
            <a:pPr marL="0" indent="0">
              <a:buNone/>
            </a:pPr>
            <a:r>
              <a:rPr lang="en-US" sz="4000" b="1" i="1" dirty="0">
                <a:solidFill>
                  <a:srgbClr val="E63946"/>
                </a:solidFill>
                <a:latin typeface="Cambria" pitchFamily="34" charset="0"/>
                <a:ea typeface="Cambria" pitchFamily="34" charset="-122"/>
                <a:cs typeface="Cambria" pitchFamily="34" charset="-120"/>
              </a:rPr>
              <a:t>01</a:t>
            </a:r>
            <a:endParaRPr lang="en-US" sz="4000" dirty="0"/>
          </a:p>
        </p:txBody>
      </p:sp>
      <p:sp>
        <p:nvSpPr>
          <p:cNvPr id="9" name="Text 7"/>
          <p:cNvSpPr/>
          <p:nvPr/>
        </p:nvSpPr>
        <p:spPr>
          <a:xfrm>
            <a:off x="777240" y="3520440"/>
            <a:ext cx="3154680" cy="27432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WEBSITE</a:t>
            </a:r>
            <a:endParaRPr lang="en-US" sz="1000" dirty="0"/>
          </a:p>
        </p:txBody>
      </p:sp>
      <p:sp>
        <p:nvSpPr>
          <p:cNvPr id="10" name="Shape 8"/>
          <p:cNvSpPr/>
          <p:nvPr/>
        </p:nvSpPr>
        <p:spPr>
          <a:xfrm>
            <a:off x="777240" y="3840480"/>
            <a:ext cx="3154680" cy="0"/>
          </a:xfrm>
          <a:prstGeom prst="line">
            <a:avLst/>
          </a:prstGeom>
          <a:noFill/>
          <a:ln w="6350">
            <a:solidFill>
              <a:srgbClr val="A4A4AC"/>
            </a:solidFill>
            <a:prstDash val="solid"/>
          </a:ln>
        </p:spPr>
        <p:txBody>
          <a:bodyPr/>
          <a:lstStyle/>
          <a:p>
            <a:endParaRPr lang="en-US"/>
          </a:p>
        </p:txBody>
      </p:sp>
      <p:sp>
        <p:nvSpPr>
          <p:cNvPr id="11" name="Text 9"/>
          <p:cNvSpPr/>
          <p:nvPr/>
        </p:nvSpPr>
        <p:spPr>
          <a:xfrm>
            <a:off x="777240" y="3977640"/>
            <a:ext cx="3154680" cy="457200"/>
          </a:xfrm>
          <a:prstGeom prst="rect">
            <a:avLst/>
          </a:prstGeom>
          <a:noFill/>
          <a:ln/>
        </p:spPr>
        <p:txBody>
          <a:bodyPr wrap="square" lIns="0" tIns="0" rIns="0" bIns="0" rtlCol="0" anchor="t"/>
          <a:lstStyle/>
          <a:p>
            <a:pPr marL="0" indent="0">
              <a:buNone/>
            </a:pPr>
            <a:r>
              <a:rPr lang="en-US" sz="1700" b="1" dirty="0">
                <a:solidFill>
                  <a:srgbClr val="0F0F14"/>
                </a:solidFill>
                <a:latin typeface="Cambria" pitchFamily="34" charset="0"/>
                <a:ea typeface="Cambria" pitchFamily="34" charset="-122"/>
                <a:cs typeface="Cambria" pitchFamily="34" charset="-120"/>
              </a:rPr>
              <a:t>The brand, shipped</a:t>
            </a:r>
            <a:endParaRPr lang="en-US" sz="1700" dirty="0"/>
          </a:p>
        </p:txBody>
      </p:sp>
      <p:sp>
        <p:nvSpPr>
          <p:cNvPr id="12" name="Text 10"/>
          <p:cNvSpPr/>
          <p:nvPr/>
        </p:nvSpPr>
        <p:spPr>
          <a:xfrm>
            <a:off x="777240" y="4526280"/>
            <a:ext cx="3154680" cy="1051560"/>
          </a:xfrm>
          <a:prstGeom prst="rect">
            <a:avLst/>
          </a:prstGeom>
          <a:noFill/>
          <a:ln/>
        </p:spPr>
        <p:txBody>
          <a:bodyPr wrap="square" lIns="0" tIns="0" rIns="0" bIns="0" rtlCol="0" anchor="t"/>
          <a:lstStyle/>
          <a:p>
            <a:pPr marL="0" indent="0">
              <a:buNone/>
            </a:pPr>
            <a:r>
              <a:rPr lang="en-US" sz="1100" dirty="0">
                <a:solidFill>
                  <a:srgbClr val="5A5A62"/>
                </a:solidFill>
                <a:latin typeface="Calibri" pitchFamily="34" charset="0"/>
                <a:ea typeface="Calibri" pitchFamily="34" charset="-122"/>
                <a:cs typeface="Calibri" pitchFamily="34" charset="-120"/>
              </a:rPr>
              <a:t>vaibhavsingh97.com. Hero, metrics above the fold, three projects, "Now" section, footer. One design system end-to-end.</a:t>
            </a:r>
            <a:endParaRPr lang="en-US" sz="1100" dirty="0"/>
          </a:p>
        </p:txBody>
      </p:sp>
      <p:sp>
        <p:nvSpPr>
          <p:cNvPr id="13" name="Shape 11"/>
          <p:cNvSpPr/>
          <p:nvPr/>
        </p:nvSpPr>
        <p:spPr>
          <a:xfrm>
            <a:off x="4297680" y="2606040"/>
            <a:ext cx="3703320" cy="3063240"/>
          </a:xfrm>
          <a:prstGeom prst="rect">
            <a:avLst/>
          </a:prstGeom>
          <a:solidFill>
            <a:srgbClr val="F8F5EE"/>
          </a:solidFill>
          <a:ln w="6350">
            <a:solidFill>
              <a:srgbClr val="A4A4AC"/>
            </a:solidFill>
            <a:prstDash val="solid"/>
          </a:ln>
        </p:spPr>
        <p:txBody>
          <a:bodyPr/>
          <a:lstStyle/>
          <a:p>
            <a:endParaRPr lang="en-US"/>
          </a:p>
        </p:txBody>
      </p:sp>
      <p:sp>
        <p:nvSpPr>
          <p:cNvPr id="14" name="Text 12"/>
          <p:cNvSpPr/>
          <p:nvPr/>
        </p:nvSpPr>
        <p:spPr>
          <a:xfrm>
            <a:off x="4572000" y="2834640"/>
            <a:ext cx="3154680" cy="640080"/>
          </a:xfrm>
          <a:prstGeom prst="rect">
            <a:avLst/>
          </a:prstGeom>
          <a:noFill/>
          <a:ln/>
        </p:spPr>
        <p:txBody>
          <a:bodyPr wrap="square" lIns="0" tIns="0" rIns="0" bIns="0" rtlCol="0" anchor="t"/>
          <a:lstStyle/>
          <a:p>
            <a:pPr marL="0" indent="0">
              <a:buNone/>
            </a:pPr>
            <a:r>
              <a:rPr lang="en-US" sz="4000" b="1" i="1" dirty="0">
                <a:solidFill>
                  <a:srgbClr val="E63946"/>
                </a:solidFill>
                <a:latin typeface="Cambria" pitchFamily="34" charset="0"/>
                <a:ea typeface="Cambria" pitchFamily="34" charset="-122"/>
                <a:cs typeface="Cambria" pitchFamily="34" charset="-120"/>
              </a:rPr>
              <a:t>02</a:t>
            </a:r>
            <a:endParaRPr lang="en-US" sz="4000" dirty="0"/>
          </a:p>
        </p:txBody>
      </p:sp>
      <p:sp>
        <p:nvSpPr>
          <p:cNvPr id="15" name="Text 13"/>
          <p:cNvSpPr/>
          <p:nvPr/>
        </p:nvSpPr>
        <p:spPr>
          <a:xfrm>
            <a:off x="4572000" y="3520440"/>
            <a:ext cx="3154680" cy="27432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OLEMBIC</a:t>
            </a:r>
            <a:endParaRPr lang="en-US" sz="1000" dirty="0"/>
          </a:p>
        </p:txBody>
      </p:sp>
      <p:sp>
        <p:nvSpPr>
          <p:cNvPr id="16" name="Shape 14"/>
          <p:cNvSpPr/>
          <p:nvPr/>
        </p:nvSpPr>
        <p:spPr>
          <a:xfrm>
            <a:off x="4572000" y="3840480"/>
            <a:ext cx="3154680" cy="0"/>
          </a:xfrm>
          <a:prstGeom prst="line">
            <a:avLst/>
          </a:prstGeom>
          <a:noFill/>
          <a:ln w="6350">
            <a:solidFill>
              <a:srgbClr val="A4A4AC"/>
            </a:solidFill>
            <a:prstDash val="solid"/>
          </a:ln>
        </p:spPr>
        <p:txBody>
          <a:bodyPr/>
          <a:lstStyle/>
          <a:p>
            <a:endParaRPr lang="en-US"/>
          </a:p>
        </p:txBody>
      </p:sp>
      <p:sp>
        <p:nvSpPr>
          <p:cNvPr id="17" name="Text 15"/>
          <p:cNvSpPr/>
          <p:nvPr/>
        </p:nvSpPr>
        <p:spPr>
          <a:xfrm>
            <a:off x="4572000" y="3977640"/>
            <a:ext cx="3154680" cy="457200"/>
          </a:xfrm>
          <a:prstGeom prst="rect">
            <a:avLst/>
          </a:prstGeom>
          <a:noFill/>
          <a:ln/>
        </p:spPr>
        <p:txBody>
          <a:bodyPr wrap="square" lIns="0" tIns="0" rIns="0" bIns="0" rtlCol="0" anchor="t"/>
          <a:lstStyle/>
          <a:p>
            <a:pPr marL="0" indent="0">
              <a:buNone/>
            </a:pPr>
            <a:r>
              <a:rPr lang="en-US" sz="1700" b="1" dirty="0">
                <a:solidFill>
                  <a:srgbClr val="0F0F14"/>
                </a:solidFill>
                <a:latin typeface="Cambria" pitchFamily="34" charset="0"/>
                <a:ea typeface="Cambria" pitchFamily="34" charset="-122"/>
                <a:cs typeface="Cambria" pitchFamily="34" charset="-120"/>
              </a:rPr>
              <a:t>The prototype, running</a:t>
            </a:r>
            <a:endParaRPr lang="en-US" sz="1700" dirty="0"/>
          </a:p>
        </p:txBody>
      </p:sp>
      <p:sp>
        <p:nvSpPr>
          <p:cNvPr id="18" name="Text 16"/>
          <p:cNvSpPr/>
          <p:nvPr/>
        </p:nvSpPr>
        <p:spPr>
          <a:xfrm>
            <a:off x="4572000" y="4526280"/>
            <a:ext cx="3154680" cy="1051560"/>
          </a:xfrm>
          <a:prstGeom prst="rect">
            <a:avLst/>
          </a:prstGeom>
          <a:noFill/>
          <a:ln/>
        </p:spPr>
        <p:txBody>
          <a:bodyPr wrap="square" lIns="0" tIns="0" rIns="0" bIns="0" rtlCol="0" anchor="t"/>
          <a:lstStyle/>
          <a:p>
            <a:pPr marL="0" indent="0">
              <a:buNone/>
            </a:pPr>
            <a:r>
              <a:rPr lang="en-US" sz="1100" dirty="0">
                <a:solidFill>
                  <a:srgbClr val="5A5A62"/>
                </a:solidFill>
                <a:latin typeface="Calibri" pitchFamily="34" charset="0"/>
                <a:ea typeface="Calibri" pitchFamily="34" charset="-122"/>
                <a:cs typeface="Calibri" pitchFamily="34" charset="-120"/>
              </a:rPr>
              <a:t>The 4-Signal Framework applied to a real package. Watch the bandit reweighting sources. Watch five signals surface out of three hundred.</a:t>
            </a:r>
            <a:endParaRPr lang="en-US" sz="1100" dirty="0"/>
          </a:p>
        </p:txBody>
      </p:sp>
      <p:sp>
        <p:nvSpPr>
          <p:cNvPr id="19" name="Shape 17"/>
          <p:cNvSpPr/>
          <p:nvPr/>
        </p:nvSpPr>
        <p:spPr>
          <a:xfrm>
            <a:off x="8092440" y="2606040"/>
            <a:ext cx="3703320" cy="3063240"/>
          </a:xfrm>
          <a:prstGeom prst="rect">
            <a:avLst/>
          </a:prstGeom>
          <a:solidFill>
            <a:srgbClr val="F8F5EE"/>
          </a:solidFill>
          <a:ln w="6350">
            <a:solidFill>
              <a:srgbClr val="A4A4AC"/>
            </a:solidFill>
            <a:prstDash val="solid"/>
          </a:ln>
        </p:spPr>
        <p:txBody>
          <a:bodyPr/>
          <a:lstStyle/>
          <a:p>
            <a:endParaRPr lang="en-US"/>
          </a:p>
        </p:txBody>
      </p:sp>
      <p:sp>
        <p:nvSpPr>
          <p:cNvPr id="20" name="Text 18"/>
          <p:cNvSpPr/>
          <p:nvPr/>
        </p:nvSpPr>
        <p:spPr>
          <a:xfrm>
            <a:off x="8366760" y="2834640"/>
            <a:ext cx="3154680" cy="640080"/>
          </a:xfrm>
          <a:prstGeom prst="rect">
            <a:avLst/>
          </a:prstGeom>
          <a:noFill/>
          <a:ln/>
        </p:spPr>
        <p:txBody>
          <a:bodyPr wrap="square" lIns="0" tIns="0" rIns="0" bIns="0" rtlCol="0" anchor="t"/>
          <a:lstStyle/>
          <a:p>
            <a:pPr marL="0" indent="0">
              <a:buNone/>
            </a:pPr>
            <a:r>
              <a:rPr lang="en-US" sz="4000" b="1" i="1" dirty="0">
                <a:solidFill>
                  <a:srgbClr val="E63946"/>
                </a:solidFill>
                <a:latin typeface="Cambria" pitchFamily="34" charset="0"/>
                <a:ea typeface="Cambria" pitchFamily="34" charset="-122"/>
                <a:cs typeface="Cambria" pitchFamily="34" charset="-120"/>
              </a:rPr>
              <a:t>03</a:t>
            </a:r>
            <a:endParaRPr lang="en-US" sz="4000" dirty="0"/>
          </a:p>
        </p:txBody>
      </p:sp>
      <p:sp>
        <p:nvSpPr>
          <p:cNvPr id="21" name="Text 19"/>
          <p:cNvSpPr/>
          <p:nvPr/>
        </p:nvSpPr>
        <p:spPr>
          <a:xfrm>
            <a:off x="8366760" y="3520440"/>
            <a:ext cx="3154680" cy="274320"/>
          </a:xfrm>
          <a:prstGeom prst="rect">
            <a:avLst/>
          </a:prstGeom>
          <a:noFill/>
          <a:ln/>
        </p:spPr>
        <p:txBody>
          <a:bodyPr wrap="square" lIns="0" tIns="0" rIns="0" bIns="0" rtlCol="0" anchor="ctr"/>
          <a:lstStyle/>
          <a:p>
            <a:pPr marL="0" indent="0">
              <a:buNone/>
            </a:pPr>
            <a:r>
              <a:rPr lang="en-US" sz="1000" b="1" kern="0" spc="300" dirty="0">
                <a:solidFill>
                  <a:srgbClr val="C42B37"/>
                </a:solidFill>
                <a:latin typeface="Consolas" pitchFamily="34" charset="0"/>
                <a:ea typeface="Consolas" pitchFamily="34" charset="-122"/>
                <a:cs typeface="Consolas" pitchFamily="34" charset="-120"/>
              </a:rPr>
              <a:t>SUBSTACK</a:t>
            </a:r>
            <a:endParaRPr lang="en-US" sz="1000" dirty="0"/>
          </a:p>
        </p:txBody>
      </p:sp>
      <p:sp>
        <p:nvSpPr>
          <p:cNvPr id="22" name="Shape 20"/>
          <p:cNvSpPr/>
          <p:nvPr/>
        </p:nvSpPr>
        <p:spPr>
          <a:xfrm>
            <a:off x="8366760" y="3840480"/>
            <a:ext cx="3154680" cy="0"/>
          </a:xfrm>
          <a:prstGeom prst="line">
            <a:avLst/>
          </a:prstGeom>
          <a:noFill/>
          <a:ln w="6350">
            <a:solidFill>
              <a:srgbClr val="A4A4AC"/>
            </a:solidFill>
            <a:prstDash val="solid"/>
          </a:ln>
        </p:spPr>
        <p:txBody>
          <a:bodyPr/>
          <a:lstStyle/>
          <a:p>
            <a:endParaRPr lang="en-US"/>
          </a:p>
        </p:txBody>
      </p:sp>
      <p:sp>
        <p:nvSpPr>
          <p:cNvPr id="23" name="Text 21"/>
          <p:cNvSpPr/>
          <p:nvPr/>
        </p:nvSpPr>
        <p:spPr>
          <a:xfrm>
            <a:off x="8366760" y="3977640"/>
            <a:ext cx="3154680" cy="457200"/>
          </a:xfrm>
          <a:prstGeom prst="rect">
            <a:avLst/>
          </a:prstGeom>
          <a:noFill/>
          <a:ln/>
        </p:spPr>
        <p:txBody>
          <a:bodyPr wrap="square" lIns="0" tIns="0" rIns="0" bIns="0" rtlCol="0" anchor="t"/>
          <a:lstStyle/>
          <a:p>
            <a:pPr marL="0" indent="0">
              <a:buNone/>
            </a:pPr>
            <a:r>
              <a:rPr lang="en-US" sz="1700" b="1" dirty="0">
                <a:solidFill>
                  <a:srgbClr val="0F0F14"/>
                </a:solidFill>
                <a:latin typeface="Cambria" pitchFamily="34" charset="0"/>
                <a:ea typeface="Cambria" pitchFamily="34" charset="-122"/>
                <a:cs typeface="Cambria" pitchFamily="34" charset="-120"/>
              </a:rPr>
              <a:t>The argument, published</a:t>
            </a:r>
            <a:endParaRPr lang="en-US" sz="1700" dirty="0"/>
          </a:p>
        </p:txBody>
      </p:sp>
      <p:sp>
        <p:nvSpPr>
          <p:cNvPr id="24" name="Text 22"/>
          <p:cNvSpPr/>
          <p:nvPr/>
        </p:nvSpPr>
        <p:spPr>
          <a:xfrm>
            <a:off x="8366760" y="4526280"/>
            <a:ext cx="3154680" cy="1051560"/>
          </a:xfrm>
          <a:prstGeom prst="rect">
            <a:avLst/>
          </a:prstGeom>
          <a:noFill/>
          <a:ln/>
        </p:spPr>
        <p:txBody>
          <a:bodyPr wrap="square" lIns="0" tIns="0" rIns="0" bIns="0" rtlCol="0" anchor="t"/>
          <a:lstStyle/>
          <a:p>
            <a:pPr marL="0" indent="0">
              <a:buNone/>
            </a:pPr>
            <a:r>
              <a:rPr lang="en-US" sz="1100" dirty="0">
                <a:solidFill>
                  <a:srgbClr val="5A5A62"/>
                </a:solidFill>
                <a:latin typeface="Calibri" pitchFamily="34" charset="0"/>
                <a:ea typeface="Calibri" pitchFamily="34" charset="-122"/>
                <a:cs typeface="Calibri" pitchFamily="34" charset="-120"/>
              </a:rPr>
              <a:t>Signal from Noise. First essay: the maintainer’s inbox is not a coverage problem. Published, promoted, indexed.</a:t>
            </a:r>
            <a:endParaRPr lang="en-US" sz="1100" dirty="0"/>
          </a:p>
        </p:txBody>
      </p:sp>
      <p:sp>
        <p:nvSpPr>
          <p:cNvPr id="25" name="Shape 23"/>
          <p:cNvSpPr/>
          <p:nvPr/>
        </p:nvSpPr>
        <p:spPr>
          <a:xfrm>
            <a:off x="502920" y="5989320"/>
            <a:ext cx="11155680" cy="457200"/>
          </a:xfrm>
          <a:prstGeom prst="rect">
            <a:avLst/>
          </a:prstGeom>
          <a:solidFill>
            <a:srgbClr val="0F0F14"/>
          </a:solidFill>
          <a:ln/>
        </p:spPr>
        <p:txBody>
          <a:bodyPr/>
          <a:lstStyle/>
          <a:p>
            <a:endParaRPr lang="en-US"/>
          </a:p>
        </p:txBody>
      </p:sp>
      <p:sp>
        <p:nvSpPr>
          <p:cNvPr id="26" name="Shape 24"/>
          <p:cNvSpPr/>
          <p:nvPr/>
        </p:nvSpPr>
        <p:spPr>
          <a:xfrm>
            <a:off x="502920" y="5989320"/>
            <a:ext cx="73152" cy="457200"/>
          </a:xfrm>
          <a:prstGeom prst="rect">
            <a:avLst/>
          </a:prstGeom>
          <a:solidFill>
            <a:srgbClr val="E63946"/>
          </a:solidFill>
          <a:ln/>
        </p:spPr>
        <p:txBody>
          <a:bodyPr/>
          <a:lstStyle/>
          <a:p>
            <a:endParaRPr lang="en-US"/>
          </a:p>
        </p:txBody>
      </p:sp>
      <p:sp>
        <p:nvSpPr>
          <p:cNvPr id="27" name="Text 25"/>
          <p:cNvSpPr/>
          <p:nvPr/>
        </p:nvSpPr>
        <p:spPr>
          <a:xfrm>
            <a:off x="777240" y="5989320"/>
            <a:ext cx="10698480" cy="457200"/>
          </a:xfrm>
          <a:prstGeom prst="rect">
            <a:avLst/>
          </a:prstGeom>
          <a:noFill/>
          <a:ln/>
        </p:spPr>
        <p:txBody>
          <a:bodyPr wrap="square" lIns="0" tIns="0" rIns="0" bIns="0" rtlCol="0" anchor="ctr"/>
          <a:lstStyle/>
          <a:p>
            <a:pPr marL="0" indent="0">
              <a:buNone/>
            </a:pPr>
            <a:r>
              <a:rPr lang="en-US" sz="1000" b="1" kern="0" spc="200" dirty="0">
                <a:solidFill>
                  <a:srgbClr val="E63946"/>
                </a:solidFill>
                <a:latin typeface="Consolas" pitchFamily="34" charset="0"/>
                <a:ea typeface="Consolas" pitchFamily="34" charset="-122"/>
                <a:cs typeface="Consolas" pitchFamily="34" charset="-120"/>
              </a:rPr>
              <a:t>BACKUP PLAN.  </a:t>
            </a:r>
            <a:r>
              <a:rPr lang="en-US" sz="1100" i="1" dirty="0">
                <a:solidFill>
                  <a:srgbClr val="A4A4AC"/>
                </a:solidFill>
                <a:latin typeface="Calibri" pitchFamily="34" charset="0"/>
                <a:ea typeface="Calibri" pitchFamily="34" charset="-122"/>
                <a:cs typeface="Calibri" pitchFamily="34" charset="-120"/>
              </a:rPr>
              <a:t>If the prototype breaks live, screenshots are ready in a backup tab. Keep talking.</a:t>
            </a:r>
            <a:endParaRPr lang="en-US" sz="1000" dirty="0"/>
          </a:p>
        </p:txBody>
      </p:sp>
      <p:sp>
        <p:nvSpPr>
          <p:cNvPr id="29" name="Text 26"/>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30" name="Text 27"/>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EDE4"/>
        </a:solidFill>
        <a:effectLst/>
      </p:bgPr>
    </p:bg>
    <p:spTree>
      <p:nvGrpSpPr>
        <p:cNvPr id="1" name=""/>
        <p:cNvGrpSpPr/>
        <p:nvPr/>
      </p:nvGrpSpPr>
      <p:grpSpPr>
        <a:xfrm>
          <a:off x="0" y="0"/>
          <a:ext cx="0" cy="0"/>
          <a:chOff x="0" y="0"/>
          <a:chExt cx="0" cy="0"/>
        </a:xfrm>
      </p:grpSpPr>
      <p:sp>
        <p:nvSpPr>
          <p:cNvPr id="2" name="Shape 0"/>
          <p:cNvSpPr/>
          <p:nvPr/>
        </p:nvSpPr>
        <p:spPr>
          <a:xfrm>
            <a:off x="502920" y="365760"/>
            <a:ext cx="384048" cy="256032"/>
          </a:xfrm>
          <a:prstGeom prst="rect">
            <a:avLst/>
          </a:prstGeom>
          <a:solidFill>
            <a:srgbClr val="0F0F14"/>
          </a:solidFill>
          <a:ln/>
        </p:spPr>
        <p:txBody>
          <a:bodyPr/>
          <a:lstStyle/>
          <a:p>
            <a:endParaRPr lang="en-US"/>
          </a:p>
        </p:txBody>
      </p:sp>
      <p:sp>
        <p:nvSpPr>
          <p:cNvPr id="3" name="Text 1"/>
          <p:cNvSpPr/>
          <p:nvPr/>
        </p:nvSpPr>
        <p:spPr>
          <a:xfrm>
            <a:off x="502920" y="365760"/>
            <a:ext cx="384048" cy="256032"/>
          </a:xfrm>
          <a:prstGeom prst="rect">
            <a:avLst/>
          </a:prstGeom>
          <a:noFill/>
          <a:ln/>
        </p:spPr>
        <p:txBody>
          <a:bodyPr wrap="square" lIns="0" tIns="0" rIns="0" bIns="0" rtlCol="0" anchor="ctr"/>
          <a:lstStyle/>
          <a:p>
            <a:pPr marL="0" indent="0" algn="ctr">
              <a:buNone/>
            </a:pPr>
            <a:r>
              <a:rPr lang="en-US" sz="1100" b="1" kern="0" spc="200" dirty="0">
                <a:solidFill>
                  <a:srgbClr val="F0EDE4"/>
                </a:solidFill>
                <a:latin typeface="Consolas" pitchFamily="34" charset="0"/>
                <a:ea typeface="Consolas" pitchFamily="34" charset="-122"/>
                <a:cs typeface="Consolas" pitchFamily="34" charset="-120"/>
              </a:rPr>
              <a:t>15</a:t>
            </a:r>
            <a:endParaRPr lang="en-US" sz="1100" dirty="0"/>
          </a:p>
        </p:txBody>
      </p:sp>
      <p:sp>
        <p:nvSpPr>
          <p:cNvPr id="4" name="Text 2"/>
          <p:cNvSpPr/>
          <p:nvPr/>
        </p:nvSpPr>
        <p:spPr>
          <a:xfrm>
            <a:off x="960120" y="347472"/>
            <a:ext cx="9144000" cy="292608"/>
          </a:xfrm>
          <a:prstGeom prst="rect">
            <a:avLst/>
          </a:prstGeom>
          <a:noFill/>
          <a:ln/>
        </p:spPr>
        <p:txBody>
          <a:bodyPr wrap="square" lIns="0" tIns="0" rIns="0" bIns="0" rtlCol="0" anchor="ctr"/>
          <a:lstStyle/>
          <a:p>
            <a:pPr marL="0" indent="0">
              <a:buNone/>
            </a:pPr>
            <a:r>
              <a:rPr lang="en-US" sz="1000" kern="0" spc="400" dirty="0">
                <a:solidFill>
                  <a:srgbClr val="5A5A62"/>
                </a:solidFill>
                <a:latin typeface="Consolas" pitchFamily="34" charset="0"/>
                <a:ea typeface="Consolas" pitchFamily="34" charset="-122"/>
                <a:cs typeface="Consolas" pitchFamily="34" charset="-120"/>
              </a:rPr>
              <a:t>CLOSING</a:t>
            </a:r>
            <a:endParaRPr lang="en-US" sz="1000" dirty="0"/>
          </a:p>
        </p:txBody>
      </p:sp>
      <p:sp>
        <p:nvSpPr>
          <p:cNvPr id="5" name="Text 3"/>
          <p:cNvSpPr/>
          <p:nvPr/>
        </p:nvSpPr>
        <p:spPr>
          <a:xfrm>
            <a:off x="502920" y="1280160"/>
            <a:ext cx="11155680" cy="822960"/>
          </a:xfrm>
          <a:prstGeom prst="rect">
            <a:avLst/>
          </a:prstGeom>
          <a:noFill/>
          <a:ln/>
        </p:spPr>
        <p:txBody>
          <a:bodyPr wrap="square" lIns="0" tIns="0" rIns="0" bIns="0" rtlCol="0" anchor="ctr"/>
          <a:lstStyle/>
          <a:p>
            <a:pPr marL="0" indent="0">
              <a:buNone/>
            </a:pPr>
            <a:r>
              <a:rPr lang="en-US" sz="4600" b="1" dirty="0">
                <a:solidFill>
                  <a:srgbClr val="0F0F14"/>
                </a:solidFill>
                <a:latin typeface="Cambria" pitchFamily="34" charset="0"/>
                <a:ea typeface="Cambria" pitchFamily="34" charset="-122"/>
                <a:cs typeface="Cambria" pitchFamily="34" charset="-120"/>
              </a:rPr>
              <a:t>Why did you build this</a:t>
            </a:r>
            <a:r>
              <a:rPr lang="en-US" sz="4600" b="1" dirty="0">
                <a:solidFill>
                  <a:srgbClr val="E63946"/>
                </a:solidFill>
                <a:latin typeface="Cambria" pitchFamily="34" charset="0"/>
                <a:ea typeface="Cambria" pitchFamily="34" charset="-122"/>
                <a:cs typeface="Cambria" pitchFamily="34" charset="-120"/>
              </a:rPr>
              <a:t>?</a:t>
            </a:r>
            <a:endParaRPr lang="en-US" sz="4600" dirty="0"/>
          </a:p>
        </p:txBody>
      </p:sp>
      <p:sp>
        <p:nvSpPr>
          <p:cNvPr id="6" name="Text 4"/>
          <p:cNvSpPr/>
          <p:nvPr/>
        </p:nvSpPr>
        <p:spPr>
          <a:xfrm>
            <a:off x="502920" y="2148840"/>
            <a:ext cx="11155680" cy="457200"/>
          </a:xfrm>
          <a:prstGeom prst="rect">
            <a:avLst/>
          </a:prstGeom>
          <a:noFill/>
          <a:ln/>
        </p:spPr>
        <p:txBody>
          <a:bodyPr wrap="square" lIns="0" tIns="0" rIns="0" bIns="0" rtlCol="0" anchor="ctr"/>
          <a:lstStyle/>
          <a:p>
            <a:pPr marL="0" indent="0">
              <a:buNone/>
            </a:pPr>
            <a:r>
              <a:rPr lang="en-US" sz="1800" i="1" dirty="0">
                <a:solidFill>
                  <a:srgbClr val="C42B37"/>
                </a:solidFill>
                <a:latin typeface="Cambria" pitchFamily="34" charset="0"/>
                <a:ea typeface="Cambria" pitchFamily="34" charset="-122"/>
                <a:cs typeface="Cambria" pitchFamily="34" charset="-120"/>
              </a:rPr>
              <a:t>The question behind every slide I built.</a:t>
            </a:r>
            <a:endParaRPr lang="en-US" sz="1800" dirty="0"/>
          </a:p>
        </p:txBody>
      </p:sp>
      <p:sp>
        <p:nvSpPr>
          <p:cNvPr id="7" name="Text 5"/>
          <p:cNvSpPr/>
          <p:nvPr/>
        </p:nvSpPr>
        <p:spPr>
          <a:xfrm>
            <a:off x="502920" y="3291840"/>
            <a:ext cx="2194560" cy="365760"/>
          </a:xfrm>
          <a:prstGeom prst="rect">
            <a:avLst/>
          </a:prstGeom>
          <a:noFill/>
          <a:ln/>
        </p:spPr>
        <p:txBody>
          <a:bodyPr wrap="square" lIns="0" tIns="0" rIns="0" bIns="0" rtlCol="0" anchor="ctr"/>
          <a:lstStyle/>
          <a:p>
            <a:pPr marL="0" indent="0">
              <a:buNone/>
            </a:pPr>
            <a:r>
              <a:rPr lang="en-US" sz="1100" b="1" kern="0" spc="300" dirty="0">
                <a:solidFill>
                  <a:srgbClr val="C42B37"/>
                </a:solidFill>
                <a:latin typeface="Consolas" pitchFamily="34" charset="0"/>
                <a:ea typeface="Consolas" pitchFamily="34" charset="-122"/>
                <a:cs typeface="Consolas" pitchFamily="34" charset="-120"/>
              </a:rPr>
              <a:t>THE STORY</a:t>
            </a:r>
            <a:endParaRPr lang="en-US" sz="1100" dirty="0"/>
          </a:p>
        </p:txBody>
      </p:sp>
      <p:sp>
        <p:nvSpPr>
          <p:cNvPr id="8" name="Text 6"/>
          <p:cNvSpPr/>
          <p:nvPr/>
        </p:nvSpPr>
        <p:spPr>
          <a:xfrm>
            <a:off x="2743200" y="3291840"/>
            <a:ext cx="2743200" cy="365760"/>
          </a:xfrm>
          <a:prstGeom prst="rect">
            <a:avLst/>
          </a:prstGeom>
          <a:noFill/>
          <a:ln/>
        </p:spPr>
        <p:txBody>
          <a:bodyPr wrap="square" lIns="0" tIns="0" rIns="0" bIns="0" rtlCol="0" anchor="ctr"/>
          <a:lstStyle/>
          <a:p>
            <a:pPr marL="0" indent="0">
              <a:buNone/>
            </a:pPr>
            <a:r>
              <a:rPr lang="en-US" sz="1500" i="1" dirty="0">
                <a:solidFill>
                  <a:srgbClr val="5A5A62"/>
                </a:solidFill>
                <a:latin typeface="Cambria" pitchFamily="34" charset="0"/>
                <a:ea typeface="Cambria" pitchFamily="34" charset="-122"/>
                <a:cs typeface="Cambria" pitchFamily="34" charset="-120"/>
              </a:rPr>
              <a:t>answered why</a:t>
            </a:r>
            <a:endParaRPr lang="en-US" sz="1500" dirty="0"/>
          </a:p>
        </p:txBody>
      </p:sp>
      <p:sp>
        <p:nvSpPr>
          <p:cNvPr id="9" name="Text 7"/>
          <p:cNvSpPr/>
          <p:nvPr/>
        </p:nvSpPr>
        <p:spPr>
          <a:xfrm>
            <a:off x="5623560" y="3291840"/>
            <a:ext cx="6035040" cy="365760"/>
          </a:xfrm>
          <a:prstGeom prst="rect">
            <a:avLst/>
          </a:prstGeom>
          <a:noFill/>
          <a:ln/>
        </p:spPr>
        <p:txBody>
          <a:bodyPr wrap="square" lIns="0" tIns="0" rIns="0" bIns="0" rtlCol="0" anchor="ctr"/>
          <a:lstStyle/>
          <a:p>
            <a:pPr marL="0" indent="0">
              <a:buNone/>
            </a:pPr>
            <a:r>
              <a:rPr lang="en-US" sz="1700" b="1" dirty="0">
                <a:solidFill>
                  <a:srgbClr val="0F0F14"/>
                </a:solidFill>
                <a:latin typeface="Cambria" pitchFamily="34" charset="0"/>
                <a:ea typeface="Cambria" pitchFamily="34" charset="-122"/>
                <a:cs typeface="Cambria" pitchFamily="34" charset="-120"/>
              </a:rPr>
              <a:t>I got tired of my own excuse.</a:t>
            </a:r>
            <a:endParaRPr lang="en-US" sz="1700" dirty="0"/>
          </a:p>
        </p:txBody>
      </p:sp>
      <p:sp>
        <p:nvSpPr>
          <p:cNvPr id="10" name="Text 8"/>
          <p:cNvSpPr/>
          <p:nvPr/>
        </p:nvSpPr>
        <p:spPr>
          <a:xfrm>
            <a:off x="502920" y="4069080"/>
            <a:ext cx="2194560" cy="365760"/>
          </a:xfrm>
          <a:prstGeom prst="rect">
            <a:avLst/>
          </a:prstGeom>
          <a:noFill/>
          <a:ln/>
        </p:spPr>
        <p:txBody>
          <a:bodyPr wrap="square" lIns="0" tIns="0" rIns="0" bIns="0" rtlCol="0" anchor="ctr"/>
          <a:lstStyle/>
          <a:p>
            <a:pPr marL="0" indent="0">
              <a:buNone/>
            </a:pPr>
            <a:r>
              <a:rPr lang="en-US" sz="1100" b="1" kern="0" spc="300" dirty="0">
                <a:solidFill>
                  <a:srgbClr val="C42B37"/>
                </a:solidFill>
                <a:latin typeface="Consolas" pitchFamily="34" charset="0"/>
                <a:ea typeface="Consolas" pitchFamily="34" charset="-122"/>
                <a:cs typeface="Consolas" pitchFamily="34" charset="-120"/>
              </a:rPr>
              <a:t>THE STRATEGY</a:t>
            </a:r>
            <a:endParaRPr lang="en-US" sz="1100" dirty="0"/>
          </a:p>
        </p:txBody>
      </p:sp>
      <p:sp>
        <p:nvSpPr>
          <p:cNvPr id="11" name="Text 9"/>
          <p:cNvSpPr/>
          <p:nvPr/>
        </p:nvSpPr>
        <p:spPr>
          <a:xfrm>
            <a:off x="2743200" y="4069080"/>
            <a:ext cx="2743200" cy="365760"/>
          </a:xfrm>
          <a:prstGeom prst="rect">
            <a:avLst/>
          </a:prstGeom>
          <a:noFill/>
          <a:ln/>
        </p:spPr>
        <p:txBody>
          <a:bodyPr wrap="square" lIns="0" tIns="0" rIns="0" bIns="0" rtlCol="0" anchor="ctr"/>
          <a:lstStyle/>
          <a:p>
            <a:pPr marL="0" indent="0">
              <a:buNone/>
            </a:pPr>
            <a:r>
              <a:rPr lang="en-US" sz="1500" i="1" dirty="0">
                <a:solidFill>
                  <a:srgbClr val="5A5A62"/>
                </a:solidFill>
                <a:latin typeface="Cambria" pitchFamily="34" charset="0"/>
                <a:ea typeface="Cambria" pitchFamily="34" charset="-122"/>
                <a:cs typeface="Cambria" pitchFamily="34" charset="-120"/>
              </a:rPr>
              <a:t>answered for whom</a:t>
            </a:r>
            <a:endParaRPr lang="en-US" sz="1500" dirty="0"/>
          </a:p>
        </p:txBody>
      </p:sp>
      <p:sp>
        <p:nvSpPr>
          <p:cNvPr id="12" name="Text 10"/>
          <p:cNvSpPr/>
          <p:nvPr/>
        </p:nvSpPr>
        <p:spPr>
          <a:xfrm>
            <a:off x="5623560" y="4069080"/>
            <a:ext cx="6035040" cy="365760"/>
          </a:xfrm>
          <a:prstGeom prst="rect">
            <a:avLst/>
          </a:prstGeom>
          <a:noFill/>
          <a:ln/>
        </p:spPr>
        <p:txBody>
          <a:bodyPr wrap="square" lIns="0" tIns="0" rIns="0" bIns="0" rtlCol="0" anchor="ctr"/>
          <a:lstStyle/>
          <a:p>
            <a:pPr marL="0" indent="0">
              <a:buNone/>
            </a:pPr>
            <a:r>
              <a:rPr lang="en-US" sz="1700" b="1" dirty="0">
                <a:solidFill>
                  <a:srgbClr val="0F0F14"/>
                </a:solidFill>
                <a:latin typeface="Cambria" pitchFamily="34" charset="0"/>
                <a:ea typeface="Cambria" pitchFamily="34" charset="-122"/>
                <a:cs typeface="Cambria" pitchFamily="34" charset="-120"/>
              </a:rPr>
              <a:t>Solo maintainers with real users and no time.</a:t>
            </a:r>
            <a:endParaRPr lang="en-US" sz="1700" dirty="0"/>
          </a:p>
        </p:txBody>
      </p:sp>
      <p:sp>
        <p:nvSpPr>
          <p:cNvPr id="13" name="Text 11"/>
          <p:cNvSpPr/>
          <p:nvPr/>
        </p:nvSpPr>
        <p:spPr>
          <a:xfrm>
            <a:off x="502920" y="4846320"/>
            <a:ext cx="2194560" cy="365760"/>
          </a:xfrm>
          <a:prstGeom prst="rect">
            <a:avLst/>
          </a:prstGeom>
          <a:noFill/>
          <a:ln/>
        </p:spPr>
        <p:txBody>
          <a:bodyPr wrap="square" lIns="0" tIns="0" rIns="0" bIns="0" rtlCol="0" anchor="ctr"/>
          <a:lstStyle/>
          <a:p>
            <a:pPr marL="0" indent="0">
              <a:buNone/>
            </a:pPr>
            <a:r>
              <a:rPr lang="en-US" sz="1100" b="1" kern="0" spc="300" dirty="0">
                <a:solidFill>
                  <a:srgbClr val="C42B37"/>
                </a:solidFill>
                <a:latin typeface="Consolas" pitchFamily="34" charset="0"/>
                <a:ea typeface="Consolas" pitchFamily="34" charset="-122"/>
                <a:cs typeface="Consolas" pitchFamily="34" charset="-120"/>
              </a:rPr>
              <a:t>THE DEMO</a:t>
            </a:r>
            <a:endParaRPr lang="en-US" sz="1100" dirty="0"/>
          </a:p>
        </p:txBody>
      </p:sp>
      <p:sp>
        <p:nvSpPr>
          <p:cNvPr id="14" name="Text 12"/>
          <p:cNvSpPr/>
          <p:nvPr/>
        </p:nvSpPr>
        <p:spPr>
          <a:xfrm>
            <a:off x="2743200" y="4846320"/>
            <a:ext cx="2743200" cy="365760"/>
          </a:xfrm>
          <a:prstGeom prst="rect">
            <a:avLst/>
          </a:prstGeom>
          <a:noFill/>
          <a:ln/>
        </p:spPr>
        <p:txBody>
          <a:bodyPr wrap="square" lIns="0" tIns="0" rIns="0" bIns="0" rtlCol="0" anchor="ctr"/>
          <a:lstStyle/>
          <a:p>
            <a:pPr marL="0" indent="0">
              <a:buNone/>
            </a:pPr>
            <a:r>
              <a:rPr lang="en-US" sz="1500" i="1" dirty="0">
                <a:solidFill>
                  <a:srgbClr val="5A5A62"/>
                </a:solidFill>
                <a:latin typeface="Cambria" pitchFamily="34" charset="0"/>
                <a:ea typeface="Cambria" pitchFamily="34" charset="-122"/>
                <a:cs typeface="Cambria" pitchFamily="34" charset="-120"/>
              </a:rPr>
              <a:t>answered how</a:t>
            </a:r>
            <a:endParaRPr lang="en-US" sz="1500" dirty="0"/>
          </a:p>
        </p:txBody>
      </p:sp>
      <p:sp>
        <p:nvSpPr>
          <p:cNvPr id="15" name="Text 13"/>
          <p:cNvSpPr/>
          <p:nvPr/>
        </p:nvSpPr>
        <p:spPr>
          <a:xfrm>
            <a:off x="5623560" y="4846320"/>
            <a:ext cx="6035040" cy="365760"/>
          </a:xfrm>
          <a:prstGeom prst="rect">
            <a:avLst/>
          </a:prstGeom>
          <a:noFill/>
          <a:ln/>
        </p:spPr>
        <p:txBody>
          <a:bodyPr wrap="square" lIns="0" tIns="0" rIns="0" bIns="0" rtlCol="0" anchor="ctr"/>
          <a:lstStyle/>
          <a:p>
            <a:pPr marL="0" indent="0">
              <a:buNone/>
            </a:pPr>
            <a:r>
              <a:rPr lang="en-US" sz="1700" b="1" dirty="0">
                <a:solidFill>
                  <a:srgbClr val="0F0F14"/>
                </a:solidFill>
                <a:latin typeface="Cambria" pitchFamily="34" charset="0"/>
                <a:ea typeface="Cambria" pitchFamily="34" charset="-122"/>
                <a:cs typeface="Cambria" pitchFamily="34" charset="-120"/>
              </a:rPr>
              <a:t>Triage-first architecture. Source-weighted learning.</a:t>
            </a:r>
            <a:endParaRPr lang="en-US" sz="1700" dirty="0"/>
          </a:p>
        </p:txBody>
      </p:sp>
      <p:sp>
        <p:nvSpPr>
          <p:cNvPr id="16" name="Shape 14"/>
          <p:cNvSpPr/>
          <p:nvPr/>
        </p:nvSpPr>
        <p:spPr>
          <a:xfrm>
            <a:off x="502920" y="5852160"/>
            <a:ext cx="11155680" cy="0"/>
          </a:xfrm>
          <a:prstGeom prst="line">
            <a:avLst/>
          </a:prstGeom>
          <a:noFill/>
          <a:ln w="9525">
            <a:solidFill>
              <a:srgbClr val="A4A4AC"/>
            </a:solidFill>
            <a:prstDash val="solid"/>
          </a:ln>
        </p:spPr>
        <p:txBody>
          <a:bodyPr/>
          <a:lstStyle/>
          <a:p>
            <a:endParaRPr lang="en-US"/>
          </a:p>
        </p:txBody>
      </p:sp>
      <p:sp>
        <p:nvSpPr>
          <p:cNvPr id="17" name="Text 15"/>
          <p:cNvSpPr/>
          <p:nvPr/>
        </p:nvSpPr>
        <p:spPr>
          <a:xfrm>
            <a:off x="502920" y="5989320"/>
            <a:ext cx="11155680" cy="457200"/>
          </a:xfrm>
          <a:prstGeom prst="rect">
            <a:avLst/>
          </a:prstGeom>
          <a:noFill/>
          <a:ln/>
        </p:spPr>
        <p:txBody>
          <a:bodyPr wrap="square" lIns="0" tIns="0" rIns="0" bIns="0" rtlCol="0" anchor="ctr"/>
          <a:lstStyle/>
          <a:p>
            <a:pPr marL="0" indent="0" algn="ctr">
              <a:buNone/>
            </a:pPr>
            <a:r>
              <a:rPr lang="en-US" sz="2200" i="1" dirty="0">
                <a:solidFill>
                  <a:srgbClr val="0F0F14"/>
                </a:solidFill>
                <a:latin typeface="Cambria" pitchFamily="34" charset="0"/>
                <a:ea typeface="Cambria" pitchFamily="34" charset="-122"/>
                <a:cs typeface="Cambria" pitchFamily="34" charset="-120"/>
              </a:rPr>
              <a:t>If all three connect, the question answers itself</a:t>
            </a:r>
            <a:r>
              <a:rPr lang="en-US" sz="2200" i="1" dirty="0">
                <a:solidFill>
                  <a:srgbClr val="E63946"/>
                </a:solidFill>
                <a:latin typeface="Cambria" pitchFamily="34" charset="0"/>
                <a:ea typeface="Cambria" pitchFamily="34" charset="-122"/>
                <a:cs typeface="Cambria" pitchFamily="34" charset="-120"/>
              </a:rPr>
              <a:t>.</a:t>
            </a:r>
            <a:endParaRPr lang="en-US" sz="2200" dirty="0"/>
          </a:p>
        </p:txBody>
      </p:sp>
      <p:sp>
        <p:nvSpPr>
          <p:cNvPr id="19" name="Text 16"/>
          <p:cNvSpPr/>
          <p:nvPr/>
        </p:nvSpPr>
        <p:spPr>
          <a:xfrm>
            <a:off x="502920" y="6492240"/>
            <a:ext cx="5486400" cy="256032"/>
          </a:xfrm>
          <a:prstGeom prst="rect">
            <a:avLst/>
          </a:prstGeom>
          <a:noFill/>
          <a:ln/>
        </p:spPr>
        <p:txBody>
          <a:bodyPr wrap="square" lIns="0" tIns="0" rIns="0" bIns="0" rtlCol="0" anchor="ctr"/>
          <a:lstStyle/>
          <a:p>
            <a:pPr marL="0" indent="0">
              <a:buNone/>
            </a:pPr>
            <a:r>
              <a:rPr lang="en-US" sz="900" kern="0" spc="200" dirty="0">
                <a:solidFill>
                  <a:srgbClr val="5A5A62"/>
                </a:solidFill>
                <a:latin typeface="Consolas" pitchFamily="34" charset="0"/>
                <a:ea typeface="Consolas" pitchFamily="34" charset="-122"/>
                <a:cs typeface="Consolas" pitchFamily="34" charset="-120"/>
              </a:rPr>
              <a:t>VAIBHAV SINGH  ·  FINAL EXAM  ·  DEC 2026</a:t>
            </a:r>
            <a:endParaRPr lang="en-US" sz="900" dirty="0"/>
          </a:p>
        </p:txBody>
      </p:sp>
      <p:sp>
        <p:nvSpPr>
          <p:cNvPr id="20" name="Text 17"/>
          <p:cNvSpPr/>
          <p:nvPr/>
        </p:nvSpPr>
        <p:spPr>
          <a:xfrm>
            <a:off x="9418320" y="6492240"/>
            <a:ext cx="2194560" cy="256032"/>
          </a:xfrm>
          <a:prstGeom prst="rect">
            <a:avLst/>
          </a:prstGeom>
          <a:noFill/>
          <a:ln/>
        </p:spPr>
        <p:txBody>
          <a:bodyPr wrap="square" lIns="0" tIns="0" rIns="0" bIns="0" rtlCol="0" anchor="ctr"/>
          <a:lstStyle/>
          <a:p>
            <a:pPr marL="0" indent="0" algn="r">
              <a:buNone/>
            </a:pPr>
            <a:r>
              <a:rPr lang="en-US" sz="900" kern="0" spc="200" dirty="0">
                <a:solidFill>
                  <a:srgbClr val="5A5A62"/>
                </a:solidFill>
                <a:latin typeface="Consolas" pitchFamily="34" charset="0"/>
                <a:ea typeface="Consolas" pitchFamily="34" charset="-122"/>
                <a:cs typeface="Consolas"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3693</Words>
  <Application>Microsoft Macintosh PowerPoint</Application>
  <PresentationFormat>Widescreen</PresentationFormat>
  <Paragraphs>335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Vaibhav Singh. Personal Brand Portfolio</dc:title>
  <dc:subject>PptxGenJS Presentation</dc:subject>
  <dc:creator>Vaibhav Singh</dc:creator>
  <cp:lastModifiedBy>Vaibhav Singh</cp:lastModifiedBy>
  <cp:revision>2</cp:revision>
  <dcterms:created xsi:type="dcterms:W3CDTF">2026-08-14T08:35:58Z</dcterms:created>
  <dcterms:modified xsi:type="dcterms:W3CDTF">2026-08-14T08:40:25Z</dcterms:modified>
</cp:coreProperties>
</file>