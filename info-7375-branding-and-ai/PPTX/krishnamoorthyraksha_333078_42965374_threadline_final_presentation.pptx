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threadline-lovat.vercel.app/"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threadline-lovat.vercel.app/" TargetMode="External"/><Relationship Id="rId2" Type="http://schemas.openxmlformats.org/officeDocument/2006/relationships/hyperlink" Target="https://www.linkedin.com/in/rakshakmoorthy22/" TargetMode="External"/><Relationship Id="rId3" Type="http://schemas.openxmlformats.org/officeDocument/2006/relationships/hyperlink" Target="https://threadline-app-szob.onrender.com" TargetMode="Externa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threadline-app-szob.onrender.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threadline-lovat.vercel.app/" TargetMode="External"/><Relationship Id="rId2" Type="http://schemas.openxmlformats.org/officeDocument/2006/relationships/hyperlink" Target="https://threadline-app-szob.onrender.com" TargetMode="External"/><Relationship Id="rId3" Type="http://schemas.openxmlformats.org/officeDocument/2006/relationships/hyperlink" Target="https://github.com/rakshakmoorthy/threadline-app" TargetMode="Externa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9509760" y="-1097280"/>
            <a:ext cx="2926080" cy="2926080"/>
          </a:xfrm>
          <a:prstGeom prst="ellipse">
            <a:avLst/>
          </a:prstGeom>
          <a:noFill/>
          <a:ln w="15875">
            <a:solidFill>
              <a:srgbClr val="26284A"/>
            </a:solidFill>
            <a:prstDash val="solid"/>
          </a:ln>
        </p:spPr>
      </p:sp>
      <p:sp>
        <p:nvSpPr>
          <p:cNvPr id="3" name="Shape 1"/>
          <p:cNvSpPr/>
          <p:nvPr/>
        </p:nvSpPr>
        <p:spPr>
          <a:xfrm>
            <a:off x="10012680" y="-594360"/>
            <a:ext cx="1920240" cy="1920240"/>
          </a:xfrm>
          <a:prstGeom prst="ellipse">
            <a:avLst/>
          </a:prstGeom>
          <a:noFill/>
          <a:ln w="12700">
            <a:solidFill>
              <a:srgbClr val="26284A"/>
            </a:solidFill>
            <a:prstDash val="solid"/>
          </a:ln>
        </p:spPr>
      </p:sp>
      <p:sp>
        <p:nvSpPr>
          <p:cNvPr id="4" name="Shape 2"/>
          <p:cNvSpPr/>
          <p:nvPr/>
        </p:nvSpPr>
        <p:spPr>
          <a:xfrm>
            <a:off x="-1463040" y="4206240"/>
            <a:ext cx="2926080" cy="2926080"/>
          </a:xfrm>
          <a:prstGeom prst="ellipse">
            <a:avLst/>
          </a:prstGeom>
          <a:noFill/>
          <a:ln w="15875">
            <a:solidFill>
              <a:srgbClr val="26284A"/>
            </a:solidFill>
            <a:prstDash val="solid"/>
          </a:ln>
        </p:spPr>
      </p:sp>
      <p:sp>
        <p:nvSpPr>
          <p:cNvPr id="5" name="Shape 3"/>
          <p:cNvSpPr/>
          <p:nvPr/>
        </p:nvSpPr>
        <p:spPr>
          <a:xfrm>
            <a:off x="-960120" y="4709160"/>
            <a:ext cx="1920240" cy="1920240"/>
          </a:xfrm>
          <a:prstGeom prst="ellipse">
            <a:avLst/>
          </a:prstGeom>
          <a:noFill/>
          <a:ln w="12700">
            <a:solidFill>
              <a:srgbClr val="26284A"/>
            </a:solidFill>
            <a:prstDash val="solid"/>
          </a:ln>
        </p:spPr>
      </p:sp>
      <p:sp>
        <p:nvSpPr>
          <p:cNvPr id="6" name="Shape 4"/>
          <p:cNvSpPr/>
          <p:nvPr/>
        </p:nvSpPr>
        <p:spPr>
          <a:xfrm>
            <a:off x="5212080" y="2194560"/>
            <a:ext cx="502920" cy="0"/>
          </a:xfrm>
          <a:prstGeom prst="line">
            <a:avLst/>
          </a:prstGeom>
          <a:noFill/>
          <a:ln w="15875">
            <a:solidFill>
              <a:srgbClr val="14BDAC"/>
            </a:solidFill>
            <a:prstDash val="dash"/>
          </a:ln>
        </p:spPr>
      </p:sp>
      <p:sp>
        <p:nvSpPr>
          <p:cNvPr id="7" name="Shape 5"/>
          <p:cNvSpPr/>
          <p:nvPr/>
        </p:nvSpPr>
        <p:spPr>
          <a:xfrm>
            <a:off x="5742432" y="2130552"/>
            <a:ext cx="128016" cy="128016"/>
          </a:xfrm>
          <a:prstGeom prst="ellipse">
            <a:avLst/>
          </a:prstGeom>
          <a:solidFill>
            <a:srgbClr val="14BDAC"/>
          </a:solidFill>
          <a:ln w="12700">
            <a:solidFill>
              <a:srgbClr val="14BDAC"/>
            </a:solidFill>
            <a:prstDash val="solid"/>
          </a:ln>
        </p:spPr>
      </p:sp>
      <p:sp>
        <p:nvSpPr>
          <p:cNvPr id="8" name="Text 6"/>
          <p:cNvSpPr/>
          <p:nvPr/>
        </p:nvSpPr>
        <p:spPr>
          <a:xfrm>
            <a:off x="457200" y="2377440"/>
            <a:ext cx="11247120" cy="914400"/>
          </a:xfrm>
          <a:prstGeom prst="rect">
            <a:avLst/>
          </a:prstGeom>
          <a:noFill/>
          <a:ln/>
        </p:spPr>
        <p:txBody>
          <a:bodyPr wrap="square" rtlCol="0" anchor="ctr"/>
          <a:lstStyle/>
          <a:p>
            <a:pPr algn="ctr" indent="0" marL="0">
              <a:buNone/>
            </a:pPr>
            <a:r>
              <a:rPr lang="en-US" sz="5400" b="1" dirty="0">
                <a:solidFill>
                  <a:srgbClr val="FFFFFF"/>
                </a:solidFill>
                <a:latin typeface="IBM Plex Sans" pitchFamily="34" charset="0"/>
                <a:ea typeface="IBM Plex Sans" pitchFamily="34" charset="-122"/>
                <a:cs typeface="IBM Plex Sans" pitchFamily="34" charset="-120"/>
              </a:rPr>
              <a:t>threadline</a:t>
            </a:r>
            <a:endParaRPr lang="en-US" sz="5400" dirty="0"/>
          </a:p>
        </p:txBody>
      </p:sp>
      <p:sp>
        <p:nvSpPr>
          <p:cNvPr id="9" name="Text 7"/>
          <p:cNvSpPr/>
          <p:nvPr/>
        </p:nvSpPr>
        <p:spPr>
          <a:xfrm>
            <a:off x="1371600" y="3291840"/>
            <a:ext cx="9418320" cy="457200"/>
          </a:xfrm>
          <a:prstGeom prst="rect">
            <a:avLst/>
          </a:prstGeom>
          <a:noFill/>
          <a:ln/>
        </p:spPr>
        <p:txBody>
          <a:bodyPr wrap="square" rtlCol="0" anchor="ctr"/>
          <a:lstStyle/>
          <a:p>
            <a:pPr algn="ctr" indent="0" marL="0">
              <a:buNone/>
            </a:pPr>
            <a:r>
              <a:rPr lang="en-US" sz="1800" dirty="0">
                <a:solidFill>
                  <a:srgbClr val="14BDAC"/>
                </a:solidFill>
                <a:latin typeface="IBM Plex Sans" pitchFamily="34" charset="0"/>
                <a:ea typeface="IBM Plex Sans" pitchFamily="34" charset="-122"/>
                <a:cs typeface="IBM Plex Sans" pitchFamily="34" charset="-120"/>
              </a:rPr>
              <a:t>Turning consumer frustration into product opportunities</a:t>
            </a:r>
            <a:endParaRPr lang="en-US" sz="1800" dirty="0"/>
          </a:p>
        </p:txBody>
      </p:sp>
      <p:sp>
        <p:nvSpPr>
          <p:cNvPr id="10" name="Text 8"/>
          <p:cNvSpPr/>
          <p:nvPr/>
        </p:nvSpPr>
        <p:spPr>
          <a:xfrm>
            <a:off x="1097280" y="3977640"/>
            <a:ext cx="9966960" cy="548640"/>
          </a:xfrm>
          <a:prstGeom prst="rect">
            <a:avLst/>
          </a:prstGeom>
          <a:noFill/>
          <a:ln/>
        </p:spPr>
        <p:txBody>
          <a:bodyPr wrap="square" rtlCol="0" anchor="ctr"/>
          <a:lstStyle/>
          <a:p>
            <a:pPr algn="ctr" indent="0" marL="0">
              <a:buNone/>
            </a:pPr>
            <a:r>
              <a:rPr lang="en-US" sz="1200" i="1" dirty="0">
                <a:solidFill>
                  <a:srgbClr val="D8E1E3"/>
                </a:solidFill>
                <a:latin typeface="IBM Plex Sans" pitchFamily="34" charset="0"/>
                <a:ea typeface="IBM Plex Sans" pitchFamily="34" charset="-122"/>
                <a:cs typeface="IBM Plex Sans" pitchFamily="34" charset="-120"/>
              </a:rPr>
              <a:t>For adaptive fashion brand teams, Threadline is the market intelligence tool that turns consumer complaints into ranked product opportunities — unlike product companies who sell garments, or AI tools that only monitor sentiment.</a:t>
            </a:r>
            <a:endParaRPr lang="en-US" sz="1200" dirty="0"/>
          </a:p>
        </p:txBody>
      </p:sp>
      <p:sp>
        <p:nvSpPr>
          <p:cNvPr id="11" name="Text 9"/>
          <p:cNvSpPr/>
          <p:nvPr/>
        </p:nvSpPr>
        <p:spPr>
          <a:xfrm>
            <a:off x="1705356" y="4983480"/>
            <a:ext cx="2194560" cy="457200"/>
          </a:xfrm>
          <a:prstGeom prst="rect">
            <a:avLst/>
          </a:prstGeom>
          <a:noFill/>
          <a:ln/>
        </p:spPr>
        <p:txBody>
          <a:bodyPr wrap="square" rtlCol="0" anchor="ctr"/>
          <a:lstStyle/>
          <a:p>
            <a:pPr algn="ctr" indent="0" marL="0">
              <a:buNone/>
            </a:pPr>
            <a:r>
              <a:rPr lang="en-US" sz="2400" b="1" dirty="0">
                <a:solidFill>
                  <a:srgbClr val="14BDAC"/>
                </a:solidFill>
                <a:latin typeface="IBM Plex Mono" pitchFamily="34" charset="0"/>
                <a:ea typeface="IBM Plex Mono" pitchFamily="34" charset="-122"/>
                <a:cs typeface="IBM Plex Mono" pitchFamily="34" charset="-120"/>
              </a:rPr>
              <a:t>2,618</a:t>
            </a:r>
            <a:endParaRPr lang="en-US" sz="2400" dirty="0"/>
          </a:p>
        </p:txBody>
      </p:sp>
      <p:sp>
        <p:nvSpPr>
          <p:cNvPr id="12" name="Text 10"/>
          <p:cNvSpPr/>
          <p:nvPr/>
        </p:nvSpPr>
        <p:spPr>
          <a:xfrm>
            <a:off x="1705356" y="5440680"/>
            <a:ext cx="2194560" cy="274320"/>
          </a:xfrm>
          <a:prstGeom prst="rect">
            <a:avLst/>
          </a:prstGeom>
          <a:noFill/>
          <a:ln/>
        </p:spPr>
        <p:txBody>
          <a:bodyPr wrap="square" rtlCol="0" anchor="ctr"/>
          <a:lstStyle/>
          <a:p>
            <a:pPr algn="ctr" indent="0" marL="0">
              <a:buNone/>
            </a:pPr>
            <a:r>
              <a:rPr lang="en-US" sz="1050" dirty="0">
                <a:solidFill>
                  <a:srgbClr val="9AA7AD"/>
                </a:solidFill>
                <a:latin typeface="IBM Plex Sans" pitchFamily="34" charset="0"/>
                <a:ea typeface="IBM Plex Sans" pitchFamily="34" charset="-122"/>
                <a:cs typeface="IBM Plex Sans" pitchFamily="34" charset="-120"/>
              </a:rPr>
              <a:t>signals</a:t>
            </a:r>
            <a:endParaRPr lang="en-US" sz="1050" dirty="0"/>
          </a:p>
        </p:txBody>
      </p:sp>
      <p:sp>
        <p:nvSpPr>
          <p:cNvPr id="13" name="Text 11"/>
          <p:cNvSpPr/>
          <p:nvPr/>
        </p:nvSpPr>
        <p:spPr>
          <a:xfrm>
            <a:off x="3899916" y="4983480"/>
            <a:ext cx="2194560" cy="457200"/>
          </a:xfrm>
          <a:prstGeom prst="rect">
            <a:avLst/>
          </a:prstGeom>
          <a:noFill/>
          <a:ln/>
        </p:spPr>
        <p:txBody>
          <a:bodyPr wrap="square" rtlCol="0" anchor="ctr"/>
          <a:lstStyle/>
          <a:p>
            <a:pPr algn="ctr" indent="0" marL="0">
              <a:buNone/>
            </a:pPr>
            <a:r>
              <a:rPr lang="en-US" sz="2400" b="1" dirty="0">
                <a:solidFill>
                  <a:srgbClr val="14BDAC"/>
                </a:solidFill>
                <a:latin typeface="IBM Plex Mono" pitchFamily="34" charset="0"/>
                <a:ea typeface="IBM Plex Mono" pitchFamily="34" charset="-122"/>
                <a:cs typeface="IBM Plex Mono" pitchFamily="34" charset="-120"/>
              </a:rPr>
              <a:t>20</a:t>
            </a:r>
            <a:endParaRPr lang="en-US" sz="2400" dirty="0"/>
          </a:p>
        </p:txBody>
      </p:sp>
      <p:sp>
        <p:nvSpPr>
          <p:cNvPr id="14" name="Text 12"/>
          <p:cNvSpPr/>
          <p:nvPr/>
        </p:nvSpPr>
        <p:spPr>
          <a:xfrm>
            <a:off x="3899916" y="5440680"/>
            <a:ext cx="2194560" cy="274320"/>
          </a:xfrm>
          <a:prstGeom prst="rect">
            <a:avLst/>
          </a:prstGeom>
          <a:noFill/>
          <a:ln/>
        </p:spPr>
        <p:txBody>
          <a:bodyPr wrap="square" rtlCol="0" anchor="ctr"/>
          <a:lstStyle/>
          <a:p>
            <a:pPr algn="ctr" indent="0" marL="0">
              <a:buNone/>
            </a:pPr>
            <a:r>
              <a:rPr lang="en-US" sz="1050" dirty="0">
                <a:solidFill>
                  <a:srgbClr val="9AA7AD"/>
                </a:solidFill>
                <a:latin typeface="IBM Plex Sans" pitchFamily="34" charset="0"/>
                <a:ea typeface="IBM Plex Sans" pitchFamily="34" charset="-122"/>
                <a:cs typeface="IBM Plex Sans" pitchFamily="34" charset="-120"/>
              </a:rPr>
              <a:t>opportunities</a:t>
            </a:r>
            <a:endParaRPr lang="en-US" sz="1050" dirty="0"/>
          </a:p>
        </p:txBody>
      </p:sp>
      <p:sp>
        <p:nvSpPr>
          <p:cNvPr id="15" name="Text 13"/>
          <p:cNvSpPr/>
          <p:nvPr/>
        </p:nvSpPr>
        <p:spPr>
          <a:xfrm>
            <a:off x="6094476" y="4983480"/>
            <a:ext cx="2194560" cy="457200"/>
          </a:xfrm>
          <a:prstGeom prst="rect">
            <a:avLst/>
          </a:prstGeom>
          <a:noFill/>
          <a:ln/>
        </p:spPr>
        <p:txBody>
          <a:bodyPr wrap="square" rtlCol="0" anchor="ctr"/>
          <a:lstStyle/>
          <a:p>
            <a:pPr algn="ctr" indent="0" marL="0">
              <a:buNone/>
            </a:pPr>
            <a:r>
              <a:rPr lang="en-US" sz="2400" b="1" dirty="0">
                <a:solidFill>
                  <a:srgbClr val="14BDAC"/>
                </a:solidFill>
                <a:latin typeface="IBM Plex Mono" pitchFamily="34" charset="0"/>
                <a:ea typeface="IBM Plex Mono" pitchFamily="34" charset="-122"/>
                <a:cs typeface="IBM Plex Mono" pitchFamily="34" charset="-120"/>
              </a:rPr>
              <a:t>4</a:t>
            </a:r>
            <a:endParaRPr lang="en-US" sz="2400" dirty="0"/>
          </a:p>
        </p:txBody>
      </p:sp>
      <p:sp>
        <p:nvSpPr>
          <p:cNvPr id="16" name="Text 14"/>
          <p:cNvSpPr/>
          <p:nvPr/>
        </p:nvSpPr>
        <p:spPr>
          <a:xfrm>
            <a:off x="6094476" y="5440680"/>
            <a:ext cx="2194560" cy="274320"/>
          </a:xfrm>
          <a:prstGeom prst="rect">
            <a:avLst/>
          </a:prstGeom>
          <a:noFill/>
          <a:ln/>
        </p:spPr>
        <p:txBody>
          <a:bodyPr wrap="square" rtlCol="0" anchor="ctr"/>
          <a:lstStyle/>
          <a:p>
            <a:pPr algn="ctr" indent="0" marL="0">
              <a:buNone/>
            </a:pPr>
            <a:r>
              <a:rPr lang="en-US" sz="1050" dirty="0">
                <a:solidFill>
                  <a:srgbClr val="9AA7AD"/>
                </a:solidFill>
                <a:latin typeface="IBM Plex Sans" pitchFamily="34" charset="0"/>
                <a:ea typeface="IBM Plex Sans" pitchFamily="34" charset="-122"/>
                <a:cs typeface="IBM Plex Sans" pitchFamily="34" charset="-120"/>
              </a:rPr>
              <a:t>conditions</a:t>
            </a:r>
            <a:endParaRPr lang="en-US" sz="1050" dirty="0"/>
          </a:p>
        </p:txBody>
      </p:sp>
      <p:sp>
        <p:nvSpPr>
          <p:cNvPr id="17" name="Text 15"/>
          <p:cNvSpPr/>
          <p:nvPr/>
        </p:nvSpPr>
        <p:spPr>
          <a:xfrm>
            <a:off x="8289036" y="4983480"/>
            <a:ext cx="2194560" cy="457200"/>
          </a:xfrm>
          <a:prstGeom prst="rect">
            <a:avLst/>
          </a:prstGeom>
          <a:noFill/>
          <a:ln/>
        </p:spPr>
        <p:txBody>
          <a:bodyPr wrap="square" rtlCol="0" anchor="ctr"/>
          <a:lstStyle/>
          <a:p>
            <a:pPr algn="ctr" indent="0" marL="0">
              <a:buNone/>
            </a:pPr>
            <a:r>
              <a:rPr lang="en-US" sz="2400" b="1" dirty="0">
                <a:solidFill>
                  <a:srgbClr val="14BDAC"/>
                </a:solidFill>
                <a:latin typeface="IBM Plex Mono" pitchFamily="34" charset="0"/>
                <a:ea typeface="IBM Plex Mono" pitchFamily="34" charset="-122"/>
                <a:cs typeface="IBM Plex Mono" pitchFamily="34" charset="-120"/>
              </a:rPr>
              <a:t>weekly</a:t>
            </a:r>
            <a:endParaRPr lang="en-US" sz="2400" dirty="0"/>
          </a:p>
        </p:txBody>
      </p:sp>
      <p:sp>
        <p:nvSpPr>
          <p:cNvPr id="18" name="Text 16"/>
          <p:cNvSpPr/>
          <p:nvPr/>
        </p:nvSpPr>
        <p:spPr>
          <a:xfrm>
            <a:off x="8289036" y="5440680"/>
            <a:ext cx="2194560" cy="274320"/>
          </a:xfrm>
          <a:prstGeom prst="rect">
            <a:avLst/>
          </a:prstGeom>
          <a:noFill/>
          <a:ln/>
        </p:spPr>
        <p:txBody>
          <a:bodyPr wrap="square" rtlCol="0" anchor="ctr"/>
          <a:lstStyle/>
          <a:p>
            <a:pPr algn="ctr" indent="0" marL="0">
              <a:buNone/>
            </a:pPr>
            <a:r>
              <a:rPr lang="en-US" sz="1050" dirty="0">
                <a:solidFill>
                  <a:srgbClr val="9AA7AD"/>
                </a:solidFill>
                <a:latin typeface="IBM Plex Sans" pitchFamily="34" charset="0"/>
                <a:ea typeface="IBM Plex Sans" pitchFamily="34" charset="-122"/>
                <a:cs typeface="IBM Plex Sans" pitchFamily="34" charset="-120"/>
              </a:rPr>
              <a:t>refresh</a:t>
            </a:r>
            <a:endParaRPr lang="en-US" sz="1050" dirty="0"/>
          </a:p>
        </p:txBody>
      </p:sp>
      <p:sp>
        <p:nvSpPr>
          <p:cNvPr id="19" name="Text 17"/>
          <p:cNvSpPr/>
          <p:nvPr/>
        </p:nvSpPr>
        <p:spPr>
          <a:xfrm>
            <a:off x="457200" y="6035040"/>
            <a:ext cx="11247120" cy="274320"/>
          </a:xfrm>
          <a:prstGeom prst="rect">
            <a:avLst/>
          </a:prstGeom>
          <a:noFill/>
          <a:ln/>
        </p:spPr>
        <p:txBody>
          <a:bodyPr wrap="square" rtlCol="0" anchor="ctr"/>
          <a:lstStyle/>
          <a:p>
            <a:pPr algn="ctr" indent="0" marL="0">
              <a:buNone/>
            </a:pPr>
            <a:r>
              <a:rPr lang="en-US" sz="1100" dirty="0">
                <a:solidFill>
                  <a:srgbClr val="9AA7AD"/>
                </a:solidFill>
                <a:latin typeface="IBM Plex Sans" pitchFamily="34" charset="0"/>
                <a:ea typeface="IBM Plex Sans" pitchFamily="34" charset="-122"/>
                <a:cs typeface="IBM Plex Sans" pitchFamily="34" charset="-120"/>
              </a:rPr>
              <a:t>Raksha Krishna Moorthy   •   INFO 7375 Branding &amp; AI   •   Northeastern University</a:t>
            </a:r>
            <a:endParaRPr lang="en-US" sz="1100" dirty="0"/>
          </a:p>
        </p:txBody>
      </p:sp>
      <p:sp>
        <p:nvSpPr>
          <p:cNvPr id="20" name="Text 18">
            <a:hlinkClick r:id="rId1" tooltip=""/>
          </p:cNvPr>
          <p:cNvSpPr/>
          <p:nvPr/>
        </p:nvSpPr>
        <p:spPr>
          <a:xfrm>
            <a:off x="457200" y="6309360"/>
            <a:ext cx="11247120" cy="274320"/>
          </a:xfrm>
          <a:prstGeom prst="rect">
            <a:avLst/>
          </a:prstGeom>
          <a:noFill/>
          <a:ln/>
        </p:spPr>
        <p:txBody>
          <a:bodyPr wrap="square" rtlCol="0" anchor="ctr"/>
          <a:lstStyle/>
          <a:p>
            <a:pPr algn="ctr" indent="0" marL="0">
              <a:buNone/>
            </a:pPr>
            <a:r>
              <a:rPr lang="en-US" sz="1200" u="sng" dirty="0">
                <a:solidFill>
                  <a:srgbClr val="14BDAC"/>
                </a:solidFill>
                <a:latin typeface="IBM Plex Mono" pitchFamily="34" charset="0"/>
                <a:ea typeface="IBM Plex Mono" pitchFamily="34" charset="-122"/>
                <a:cs typeface="IBM Plex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threadline-lovat.vercel.app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457200" y="384048"/>
            <a:ext cx="109728" cy="109728"/>
          </a:xfrm>
          <a:prstGeom prst="ellipse">
            <a:avLst/>
          </a:prstGeom>
          <a:solidFill>
            <a:srgbClr val="14BDAC"/>
          </a:solidFill>
          <a:ln w="12700">
            <a:solidFill>
              <a:srgbClr val="14BDAC"/>
            </a:solidFill>
            <a:prstDash val="solid"/>
          </a:ln>
        </p:spPr>
      </p:sp>
      <p:sp>
        <p:nvSpPr>
          <p:cNvPr id="3" name="Text 1"/>
          <p:cNvSpPr/>
          <p:nvPr/>
        </p:nvSpPr>
        <p:spPr>
          <a:xfrm>
            <a:off x="658368" y="256032"/>
            <a:ext cx="5486400" cy="320040"/>
          </a:xfrm>
          <a:prstGeom prst="rect">
            <a:avLst/>
          </a:prstGeom>
          <a:noFill/>
          <a:ln/>
        </p:spPr>
        <p:txBody>
          <a:bodyPr wrap="square" rtlCol="0" anchor="ctr"/>
          <a:lstStyle/>
          <a:p>
            <a:pPr algn="l" indent="0" marL="0">
              <a:buNone/>
            </a:pPr>
            <a:r>
              <a:rPr lang="en-US" sz="1100" b="1" spc="150" kern="0" dirty="0">
                <a:solidFill>
                  <a:srgbClr val="14BDAC"/>
                </a:solidFill>
                <a:latin typeface="IBM Plex Sans" pitchFamily="34" charset="0"/>
                <a:ea typeface="IBM Plex Sans" pitchFamily="34" charset="-122"/>
                <a:cs typeface="IBM Plex Sans" pitchFamily="34" charset="-120"/>
              </a:rPr>
              <a:t>BRAND STRATEGY</a:t>
            </a:r>
            <a:endParaRPr lang="en-US" sz="1100" dirty="0"/>
          </a:p>
        </p:txBody>
      </p:sp>
      <p:sp>
        <p:nvSpPr>
          <p:cNvPr id="4" name="Text 2"/>
          <p:cNvSpPr/>
          <p:nvPr/>
        </p:nvSpPr>
        <p:spPr>
          <a:xfrm>
            <a:off x="457200" y="548640"/>
            <a:ext cx="10332720" cy="548640"/>
          </a:xfrm>
          <a:prstGeom prst="rect">
            <a:avLst/>
          </a:prstGeom>
          <a:noFill/>
          <a:ln/>
        </p:spPr>
        <p:txBody>
          <a:bodyPr wrap="square" rtlCol="0" anchor="ctr"/>
          <a:lstStyle/>
          <a:p>
            <a:pPr algn="l" indent="0" marL="0">
              <a:buNone/>
            </a:pPr>
            <a:r>
              <a:rPr lang="en-US" sz="2700" b="1" dirty="0">
                <a:solidFill>
                  <a:srgbClr val="FFFFFF"/>
                </a:solidFill>
                <a:latin typeface="IBM Plex Sans" pitchFamily="34" charset="0"/>
                <a:ea typeface="IBM Plex Sans" pitchFamily="34" charset="-122"/>
                <a:cs typeface="IBM Plex Sans" pitchFamily="34" charset="-120"/>
              </a:rPr>
              <a:t>One-sentence value, five pillars</a:t>
            </a:r>
            <a:endParaRPr lang="en-US" sz="2700" dirty="0"/>
          </a:p>
        </p:txBody>
      </p:sp>
      <p:sp>
        <p:nvSpPr>
          <p:cNvPr id="5" name="Shape 3"/>
          <p:cNvSpPr/>
          <p:nvPr/>
        </p:nvSpPr>
        <p:spPr>
          <a:xfrm>
            <a:off x="457200" y="1417320"/>
            <a:ext cx="11247120" cy="1005840"/>
          </a:xfrm>
          <a:prstGeom prst="roundRect">
            <a:avLst>
              <a:gd name="adj" fmla="val 7273"/>
            </a:avLst>
          </a:prstGeom>
          <a:solidFill>
            <a:srgbClr val="20223A"/>
          </a:solidFill>
          <a:ln w="9525">
            <a:solidFill>
              <a:srgbClr val="33355A"/>
            </a:solidFill>
            <a:prstDash val="solid"/>
          </a:ln>
        </p:spPr>
      </p:sp>
      <p:sp>
        <p:nvSpPr>
          <p:cNvPr id="6" name="Shape 4"/>
          <p:cNvSpPr/>
          <p:nvPr/>
        </p:nvSpPr>
        <p:spPr>
          <a:xfrm>
            <a:off x="658368" y="1600200"/>
            <a:ext cx="82296" cy="82296"/>
          </a:xfrm>
          <a:prstGeom prst="ellipse">
            <a:avLst/>
          </a:prstGeom>
          <a:solidFill>
            <a:srgbClr val="14BDAC"/>
          </a:solidFill>
          <a:ln w="12700">
            <a:solidFill>
              <a:srgbClr val="14BDAC"/>
            </a:solidFill>
            <a:prstDash val="solid"/>
          </a:ln>
        </p:spPr>
      </p:sp>
      <p:sp>
        <p:nvSpPr>
          <p:cNvPr id="7" name="Text 5"/>
          <p:cNvSpPr/>
          <p:nvPr/>
        </p:nvSpPr>
        <p:spPr>
          <a:xfrm>
            <a:off x="868680" y="1508760"/>
            <a:ext cx="10607040" cy="822960"/>
          </a:xfrm>
          <a:prstGeom prst="rect">
            <a:avLst/>
          </a:prstGeom>
          <a:noFill/>
          <a:ln/>
        </p:spPr>
        <p:txBody>
          <a:bodyPr wrap="square" rtlCol="0" anchor="ctr"/>
          <a:lstStyle/>
          <a:p>
            <a:pPr algn="l" indent="0" marL="0">
              <a:buNone/>
            </a:pPr>
            <a:r>
              <a:rPr lang="en-US" sz="1350" dirty="0">
                <a:solidFill>
                  <a:srgbClr val="D8E1E3"/>
                </a:solidFill>
                <a:latin typeface="IBM Plex Sans" pitchFamily="34" charset="0"/>
                <a:ea typeface="IBM Plex Sans" pitchFamily="34" charset="-122"/>
                <a:cs typeface="IBM Plex Sans" pitchFamily="34" charset="-120"/>
              </a:rPr>
              <a:t>Threadline turns consumer frustration from condition-specific communities into product opportunities — so brands can enter the adaptive fashion market knowing what to build before they spend a dollar on research.</a:t>
            </a:r>
            <a:endParaRPr lang="en-US" sz="1350" dirty="0"/>
          </a:p>
        </p:txBody>
      </p:sp>
      <p:sp>
        <p:nvSpPr>
          <p:cNvPr id="8" name="Shape 6"/>
          <p:cNvSpPr/>
          <p:nvPr/>
        </p:nvSpPr>
        <p:spPr>
          <a:xfrm>
            <a:off x="713232" y="2953512"/>
            <a:ext cx="9034272" cy="0"/>
          </a:xfrm>
          <a:prstGeom prst="line">
            <a:avLst/>
          </a:prstGeom>
          <a:noFill/>
          <a:ln w="12700">
            <a:solidFill>
              <a:srgbClr val="33355A"/>
            </a:solidFill>
            <a:prstDash val="solid"/>
          </a:ln>
        </p:spPr>
      </p:sp>
      <p:sp>
        <p:nvSpPr>
          <p:cNvPr id="9" name="Shape 7"/>
          <p:cNvSpPr/>
          <p:nvPr/>
        </p:nvSpPr>
        <p:spPr>
          <a:xfrm>
            <a:off x="457200" y="3200400"/>
            <a:ext cx="2121408" cy="2377440"/>
          </a:xfrm>
          <a:prstGeom prst="roundRect">
            <a:avLst>
              <a:gd name="adj" fmla="val 2586"/>
            </a:avLst>
          </a:prstGeom>
          <a:solidFill>
            <a:srgbClr val="20223A"/>
          </a:solidFill>
          <a:ln w="9525">
            <a:solidFill>
              <a:srgbClr val="33355A"/>
            </a:solidFill>
            <a:prstDash val="solid"/>
          </a:ln>
        </p:spPr>
      </p:sp>
      <p:sp>
        <p:nvSpPr>
          <p:cNvPr id="10" name="Shape 8"/>
          <p:cNvSpPr/>
          <p:nvPr/>
        </p:nvSpPr>
        <p:spPr>
          <a:xfrm>
            <a:off x="1261872" y="2697480"/>
            <a:ext cx="512064" cy="512064"/>
          </a:xfrm>
          <a:prstGeom prst="ellipse">
            <a:avLst/>
          </a:prstGeom>
          <a:solidFill>
            <a:srgbClr val="14BDAC"/>
          </a:solidFill>
          <a:ln w="12700">
            <a:solidFill>
              <a:srgbClr val="14BDAC"/>
            </a:solidFill>
            <a:prstDash val="solid"/>
          </a:ln>
        </p:spPr>
      </p:sp>
      <p:sp>
        <p:nvSpPr>
          <p:cNvPr id="11" name="Text 9"/>
          <p:cNvSpPr/>
          <p:nvPr/>
        </p:nvSpPr>
        <p:spPr>
          <a:xfrm>
            <a:off x="1261872" y="2697480"/>
            <a:ext cx="512064" cy="512064"/>
          </a:xfrm>
          <a:prstGeom prst="rect">
            <a:avLst/>
          </a:prstGeom>
          <a:noFill/>
          <a:ln/>
        </p:spPr>
        <p:txBody>
          <a:bodyPr wrap="square" rtlCol="0" anchor="ctr"/>
          <a:lstStyle/>
          <a:p>
            <a:pPr algn="ctr" indent="0" marL="0">
              <a:buNone/>
            </a:pPr>
            <a:r>
              <a:rPr lang="en-US" sz="1400" b="1" dirty="0">
                <a:solidFill>
                  <a:srgbClr val="1A1A2E"/>
                </a:solidFill>
                <a:latin typeface="IBM Plex Mono" pitchFamily="34" charset="0"/>
                <a:ea typeface="IBM Plex Mono" pitchFamily="34" charset="-122"/>
                <a:cs typeface="IBM Plex Mono" pitchFamily="34" charset="-120"/>
              </a:rPr>
              <a:t>1</a:t>
            </a:r>
            <a:endParaRPr lang="en-US" sz="1400" dirty="0"/>
          </a:p>
        </p:txBody>
      </p:sp>
      <p:sp>
        <p:nvSpPr>
          <p:cNvPr id="12" name="Text 10"/>
          <p:cNvSpPr/>
          <p:nvPr/>
        </p:nvSpPr>
        <p:spPr>
          <a:xfrm>
            <a:off x="621792" y="3383280"/>
            <a:ext cx="1792224" cy="41148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Promise</a:t>
            </a:r>
            <a:endParaRPr lang="en-US" sz="1450" dirty="0"/>
          </a:p>
        </p:txBody>
      </p:sp>
      <p:sp>
        <p:nvSpPr>
          <p:cNvPr id="13" name="Text 11"/>
          <p:cNvSpPr/>
          <p:nvPr/>
        </p:nvSpPr>
        <p:spPr>
          <a:xfrm>
            <a:off x="621792" y="3886200"/>
            <a:ext cx="1792224" cy="1645920"/>
          </a:xfrm>
          <a:prstGeom prst="rect">
            <a:avLst/>
          </a:prstGeom>
          <a:noFill/>
          <a:ln/>
        </p:spPr>
        <p:txBody>
          <a:bodyPr wrap="square" rtlCol="0" anchor="ctr"/>
          <a:lstStyle/>
          <a:p>
            <a:pPr algn="l" indent="0" marL="0">
              <a:buNone/>
            </a:pPr>
            <a:r>
              <a:rPr lang="en-US" sz="1100" dirty="0">
                <a:solidFill>
                  <a:srgbClr val="9AA7AD"/>
                </a:solidFill>
                <a:latin typeface="IBM Plex Sans" pitchFamily="34" charset="0"/>
                <a:ea typeface="IBM Plex Sans" pitchFamily="34" charset="-122"/>
                <a:cs typeface="IBM Plex Sans" pitchFamily="34" charset="-120"/>
              </a:rPr>
              <a:t>Every opportunity built from verified signals, not assumptions.</a:t>
            </a:r>
            <a:endParaRPr lang="en-US" sz="1100" dirty="0"/>
          </a:p>
        </p:txBody>
      </p:sp>
      <p:sp>
        <p:nvSpPr>
          <p:cNvPr id="14" name="Shape 12"/>
          <p:cNvSpPr/>
          <p:nvPr/>
        </p:nvSpPr>
        <p:spPr>
          <a:xfrm>
            <a:off x="2715768" y="3200400"/>
            <a:ext cx="2121408" cy="2377440"/>
          </a:xfrm>
          <a:prstGeom prst="roundRect">
            <a:avLst>
              <a:gd name="adj" fmla="val 2586"/>
            </a:avLst>
          </a:prstGeom>
          <a:solidFill>
            <a:srgbClr val="20223A"/>
          </a:solidFill>
          <a:ln w="9525">
            <a:solidFill>
              <a:srgbClr val="33355A"/>
            </a:solidFill>
            <a:prstDash val="solid"/>
          </a:ln>
        </p:spPr>
      </p:sp>
      <p:sp>
        <p:nvSpPr>
          <p:cNvPr id="15" name="Shape 13"/>
          <p:cNvSpPr/>
          <p:nvPr/>
        </p:nvSpPr>
        <p:spPr>
          <a:xfrm>
            <a:off x="3520440" y="2697480"/>
            <a:ext cx="512064" cy="512064"/>
          </a:xfrm>
          <a:prstGeom prst="ellipse">
            <a:avLst/>
          </a:prstGeom>
          <a:solidFill>
            <a:srgbClr val="14BDAC"/>
          </a:solidFill>
          <a:ln w="12700">
            <a:solidFill>
              <a:srgbClr val="14BDAC"/>
            </a:solidFill>
            <a:prstDash val="solid"/>
          </a:ln>
        </p:spPr>
      </p:sp>
      <p:sp>
        <p:nvSpPr>
          <p:cNvPr id="16" name="Text 14"/>
          <p:cNvSpPr/>
          <p:nvPr/>
        </p:nvSpPr>
        <p:spPr>
          <a:xfrm>
            <a:off x="3520440" y="2697480"/>
            <a:ext cx="512064" cy="512064"/>
          </a:xfrm>
          <a:prstGeom prst="rect">
            <a:avLst/>
          </a:prstGeom>
          <a:noFill/>
          <a:ln/>
        </p:spPr>
        <p:txBody>
          <a:bodyPr wrap="square" rtlCol="0" anchor="ctr"/>
          <a:lstStyle/>
          <a:p>
            <a:pPr algn="ctr" indent="0" marL="0">
              <a:buNone/>
            </a:pPr>
            <a:r>
              <a:rPr lang="en-US" sz="1400" b="1" dirty="0">
                <a:solidFill>
                  <a:srgbClr val="1A1A2E"/>
                </a:solidFill>
                <a:latin typeface="IBM Plex Mono" pitchFamily="34" charset="0"/>
                <a:ea typeface="IBM Plex Mono" pitchFamily="34" charset="-122"/>
                <a:cs typeface="IBM Plex Mono" pitchFamily="34" charset="-120"/>
              </a:rPr>
              <a:t>2</a:t>
            </a:r>
            <a:endParaRPr lang="en-US" sz="1400" dirty="0"/>
          </a:p>
        </p:txBody>
      </p:sp>
      <p:sp>
        <p:nvSpPr>
          <p:cNvPr id="17" name="Text 15"/>
          <p:cNvSpPr/>
          <p:nvPr/>
        </p:nvSpPr>
        <p:spPr>
          <a:xfrm>
            <a:off x="2880360" y="3383280"/>
            <a:ext cx="1792224" cy="41148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Personality</a:t>
            </a:r>
            <a:endParaRPr lang="en-US" sz="1450" dirty="0"/>
          </a:p>
        </p:txBody>
      </p:sp>
      <p:sp>
        <p:nvSpPr>
          <p:cNvPr id="18" name="Text 16"/>
          <p:cNvSpPr/>
          <p:nvPr/>
        </p:nvSpPr>
        <p:spPr>
          <a:xfrm>
            <a:off x="2880360" y="3886200"/>
            <a:ext cx="1792224" cy="1645920"/>
          </a:xfrm>
          <a:prstGeom prst="rect">
            <a:avLst/>
          </a:prstGeom>
          <a:noFill/>
          <a:ln/>
        </p:spPr>
        <p:txBody>
          <a:bodyPr wrap="square" rtlCol="0" anchor="ctr"/>
          <a:lstStyle/>
          <a:p>
            <a:pPr algn="l" indent="0" marL="0">
              <a:buNone/>
            </a:pPr>
            <a:r>
              <a:rPr lang="en-US" sz="1100" dirty="0">
                <a:solidFill>
                  <a:srgbClr val="9AA7AD"/>
                </a:solidFill>
                <a:latin typeface="IBM Plex Sans" pitchFamily="34" charset="0"/>
                <a:ea typeface="IBM Plex Sans" pitchFamily="34" charset="-122"/>
                <a:cs typeface="IBM Plex Sans" pitchFamily="34" charset="-120"/>
              </a:rPr>
              <a:t>Precise, evidence-driven, fast, human-centered.</a:t>
            </a:r>
            <a:endParaRPr lang="en-US" sz="1100" dirty="0"/>
          </a:p>
        </p:txBody>
      </p:sp>
      <p:sp>
        <p:nvSpPr>
          <p:cNvPr id="19" name="Shape 17"/>
          <p:cNvSpPr/>
          <p:nvPr/>
        </p:nvSpPr>
        <p:spPr>
          <a:xfrm>
            <a:off x="4974336" y="3200400"/>
            <a:ext cx="2121408" cy="2377440"/>
          </a:xfrm>
          <a:prstGeom prst="roundRect">
            <a:avLst>
              <a:gd name="adj" fmla="val 2586"/>
            </a:avLst>
          </a:prstGeom>
          <a:solidFill>
            <a:srgbClr val="20223A"/>
          </a:solidFill>
          <a:ln w="9525">
            <a:solidFill>
              <a:srgbClr val="33355A"/>
            </a:solidFill>
            <a:prstDash val="solid"/>
          </a:ln>
        </p:spPr>
      </p:sp>
      <p:sp>
        <p:nvSpPr>
          <p:cNvPr id="20" name="Shape 18"/>
          <p:cNvSpPr/>
          <p:nvPr/>
        </p:nvSpPr>
        <p:spPr>
          <a:xfrm>
            <a:off x="5779008" y="2697480"/>
            <a:ext cx="512064" cy="512064"/>
          </a:xfrm>
          <a:prstGeom prst="ellipse">
            <a:avLst/>
          </a:prstGeom>
          <a:solidFill>
            <a:srgbClr val="14BDAC"/>
          </a:solidFill>
          <a:ln w="12700">
            <a:solidFill>
              <a:srgbClr val="14BDAC"/>
            </a:solidFill>
            <a:prstDash val="solid"/>
          </a:ln>
        </p:spPr>
      </p:sp>
      <p:sp>
        <p:nvSpPr>
          <p:cNvPr id="21" name="Text 19"/>
          <p:cNvSpPr/>
          <p:nvPr/>
        </p:nvSpPr>
        <p:spPr>
          <a:xfrm>
            <a:off x="5779008" y="2697480"/>
            <a:ext cx="512064" cy="512064"/>
          </a:xfrm>
          <a:prstGeom prst="rect">
            <a:avLst/>
          </a:prstGeom>
          <a:noFill/>
          <a:ln/>
        </p:spPr>
        <p:txBody>
          <a:bodyPr wrap="square" rtlCol="0" anchor="ctr"/>
          <a:lstStyle/>
          <a:p>
            <a:pPr algn="ctr" indent="0" marL="0">
              <a:buNone/>
            </a:pPr>
            <a:r>
              <a:rPr lang="en-US" sz="1400" b="1" dirty="0">
                <a:solidFill>
                  <a:srgbClr val="1A1A2E"/>
                </a:solidFill>
                <a:latin typeface="IBM Plex Mono" pitchFamily="34" charset="0"/>
                <a:ea typeface="IBM Plex Mono" pitchFamily="34" charset="-122"/>
                <a:cs typeface="IBM Plex Mono" pitchFamily="34" charset="-120"/>
              </a:rPr>
              <a:t>3</a:t>
            </a:r>
            <a:endParaRPr lang="en-US" sz="1400" dirty="0"/>
          </a:p>
        </p:txBody>
      </p:sp>
      <p:sp>
        <p:nvSpPr>
          <p:cNvPr id="22" name="Text 20"/>
          <p:cNvSpPr/>
          <p:nvPr/>
        </p:nvSpPr>
        <p:spPr>
          <a:xfrm>
            <a:off x="5138928" y="3383280"/>
            <a:ext cx="1792224" cy="41148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Story</a:t>
            </a:r>
            <a:endParaRPr lang="en-US" sz="1450" dirty="0"/>
          </a:p>
        </p:txBody>
      </p:sp>
      <p:sp>
        <p:nvSpPr>
          <p:cNvPr id="23" name="Text 21"/>
          <p:cNvSpPr/>
          <p:nvPr/>
        </p:nvSpPr>
        <p:spPr>
          <a:xfrm>
            <a:off x="5138928" y="3886200"/>
            <a:ext cx="1792224" cy="1645920"/>
          </a:xfrm>
          <a:prstGeom prst="rect">
            <a:avLst/>
          </a:prstGeom>
          <a:noFill/>
          <a:ln/>
        </p:spPr>
        <p:txBody>
          <a:bodyPr wrap="square" rtlCol="0" anchor="ctr"/>
          <a:lstStyle/>
          <a:p>
            <a:pPr algn="l" indent="0" marL="0">
              <a:buNone/>
            </a:pPr>
            <a:r>
              <a:rPr lang="en-US" sz="1100" dirty="0">
                <a:solidFill>
                  <a:srgbClr val="9AA7AD"/>
                </a:solidFill>
                <a:latin typeface="IBM Plex Sans" pitchFamily="34" charset="0"/>
                <a:ea typeface="IBM Plex Sans" pitchFamily="34" charset="-122"/>
                <a:cs typeface="IBM Plex Sans" pitchFamily="34" charset="-120"/>
              </a:rPr>
              <a:t>Built from a real gap noticed firsthand in healthcare work.</a:t>
            </a:r>
            <a:endParaRPr lang="en-US" sz="1100" dirty="0"/>
          </a:p>
        </p:txBody>
      </p:sp>
      <p:sp>
        <p:nvSpPr>
          <p:cNvPr id="24" name="Shape 22"/>
          <p:cNvSpPr/>
          <p:nvPr/>
        </p:nvSpPr>
        <p:spPr>
          <a:xfrm>
            <a:off x="7232904" y="3200400"/>
            <a:ext cx="2121408" cy="2377440"/>
          </a:xfrm>
          <a:prstGeom prst="roundRect">
            <a:avLst>
              <a:gd name="adj" fmla="val 2586"/>
            </a:avLst>
          </a:prstGeom>
          <a:solidFill>
            <a:srgbClr val="20223A"/>
          </a:solidFill>
          <a:ln w="9525">
            <a:solidFill>
              <a:srgbClr val="33355A"/>
            </a:solidFill>
            <a:prstDash val="solid"/>
          </a:ln>
        </p:spPr>
      </p:sp>
      <p:sp>
        <p:nvSpPr>
          <p:cNvPr id="25" name="Shape 23"/>
          <p:cNvSpPr/>
          <p:nvPr/>
        </p:nvSpPr>
        <p:spPr>
          <a:xfrm>
            <a:off x="8037576" y="2697480"/>
            <a:ext cx="512064" cy="512064"/>
          </a:xfrm>
          <a:prstGeom prst="ellipse">
            <a:avLst/>
          </a:prstGeom>
          <a:solidFill>
            <a:srgbClr val="14BDAC"/>
          </a:solidFill>
          <a:ln w="12700">
            <a:solidFill>
              <a:srgbClr val="14BDAC"/>
            </a:solidFill>
            <a:prstDash val="solid"/>
          </a:ln>
        </p:spPr>
      </p:sp>
      <p:sp>
        <p:nvSpPr>
          <p:cNvPr id="26" name="Text 24"/>
          <p:cNvSpPr/>
          <p:nvPr/>
        </p:nvSpPr>
        <p:spPr>
          <a:xfrm>
            <a:off x="8037576" y="2697480"/>
            <a:ext cx="512064" cy="512064"/>
          </a:xfrm>
          <a:prstGeom prst="rect">
            <a:avLst/>
          </a:prstGeom>
          <a:noFill/>
          <a:ln/>
        </p:spPr>
        <p:txBody>
          <a:bodyPr wrap="square" rtlCol="0" anchor="ctr"/>
          <a:lstStyle/>
          <a:p>
            <a:pPr algn="ctr" indent="0" marL="0">
              <a:buNone/>
            </a:pPr>
            <a:r>
              <a:rPr lang="en-US" sz="1400" b="1" dirty="0">
                <a:solidFill>
                  <a:srgbClr val="1A1A2E"/>
                </a:solidFill>
                <a:latin typeface="IBM Plex Mono" pitchFamily="34" charset="0"/>
                <a:ea typeface="IBM Plex Mono" pitchFamily="34" charset="-122"/>
                <a:cs typeface="IBM Plex Mono" pitchFamily="34" charset="-120"/>
              </a:rPr>
              <a:t>4</a:t>
            </a:r>
            <a:endParaRPr lang="en-US" sz="1400" dirty="0"/>
          </a:p>
        </p:txBody>
      </p:sp>
      <p:sp>
        <p:nvSpPr>
          <p:cNvPr id="27" name="Text 25"/>
          <p:cNvSpPr/>
          <p:nvPr/>
        </p:nvSpPr>
        <p:spPr>
          <a:xfrm>
            <a:off x="7397496" y="3383280"/>
            <a:ext cx="1792224" cy="41148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Differentiation</a:t>
            </a:r>
            <a:endParaRPr lang="en-US" sz="1450" dirty="0"/>
          </a:p>
        </p:txBody>
      </p:sp>
      <p:sp>
        <p:nvSpPr>
          <p:cNvPr id="28" name="Text 26"/>
          <p:cNvSpPr/>
          <p:nvPr/>
        </p:nvSpPr>
        <p:spPr>
          <a:xfrm>
            <a:off x="7397496" y="3886200"/>
            <a:ext cx="1792224" cy="1645920"/>
          </a:xfrm>
          <a:prstGeom prst="rect">
            <a:avLst/>
          </a:prstGeom>
          <a:noFill/>
          <a:ln/>
        </p:spPr>
        <p:txBody>
          <a:bodyPr wrap="square" rtlCol="0" anchor="ctr"/>
          <a:lstStyle/>
          <a:p>
            <a:pPr algn="l" indent="0" marL="0">
              <a:buNone/>
            </a:pPr>
            <a:r>
              <a:rPr lang="en-US" sz="1100" dirty="0">
                <a:solidFill>
                  <a:srgbClr val="9AA7AD"/>
                </a:solidFill>
                <a:latin typeface="IBM Plex Sans" pitchFamily="34" charset="0"/>
                <a:ea typeface="IBM Plex Sans" pitchFamily="34" charset="-122"/>
                <a:cs typeface="IBM Plex Sans" pitchFamily="34" charset="-120"/>
              </a:rPr>
              <a:t>An intelligence tool, not a product company.</a:t>
            </a:r>
            <a:endParaRPr lang="en-US" sz="1100" dirty="0"/>
          </a:p>
        </p:txBody>
      </p:sp>
      <p:sp>
        <p:nvSpPr>
          <p:cNvPr id="29" name="Shape 27"/>
          <p:cNvSpPr/>
          <p:nvPr/>
        </p:nvSpPr>
        <p:spPr>
          <a:xfrm>
            <a:off x="9491472" y="3200400"/>
            <a:ext cx="2121408" cy="2377440"/>
          </a:xfrm>
          <a:prstGeom prst="roundRect">
            <a:avLst>
              <a:gd name="adj" fmla="val 2586"/>
            </a:avLst>
          </a:prstGeom>
          <a:solidFill>
            <a:srgbClr val="20223A"/>
          </a:solidFill>
          <a:ln w="9525">
            <a:solidFill>
              <a:srgbClr val="33355A"/>
            </a:solidFill>
            <a:prstDash val="solid"/>
          </a:ln>
        </p:spPr>
      </p:sp>
      <p:sp>
        <p:nvSpPr>
          <p:cNvPr id="30" name="Shape 28"/>
          <p:cNvSpPr/>
          <p:nvPr/>
        </p:nvSpPr>
        <p:spPr>
          <a:xfrm>
            <a:off x="10296144" y="2697480"/>
            <a:ext cx="512064" cy="512064"/>
          </a:xfrm>
          <a:prstGeom prst="ellipse">
            <a:avLst/>
          </a:prstGeom>
          <a:solidFill>
            <a:srgbClr val="14BDAC"/>
          </a:solidFill>
          <a:ln w="12700">
            <a:solidFill>
              <a:srgbClr val="14BDAC"/>
            </a:solidFill>
            <a:prstDash val="solid"/>
          </a:ln>
        </p:spPr>
      </p:sp>
      <p:sp>
        <p:nvSpPr>
          <p:cNvPr id="31" name="Text 29"/>
          <p:cNvSpPr/>
          <p:nvPr/>
        </p:nvSpPr>
        <p:spPr>
          <a:xfrm>
            <a:off x="10296144" y="2697480"/>
            <a:ext cx="512064" cy="512064"/>
          </a:xfrm>
          <a:prstGeom prst="rect">
            <a:avLst/>
          </a:prstGeom>
          <a:noFill/>
          <a:ln/>
        </p:spPr>
        <p:txBody>
          <a:bodyPr wrap="square" rtlCol="0" anchor="ctr"/>
          <a:lstStyle/>
          <a:p>
            <a:pPr algn="ctr" indent="0" marL="0">
              <a:buNone/>
            </a:pPr>
            <a:r>
              <a:rPr lang="en-US" sz="1400" b="1" dirty="0">
                <a:solidFill>
                  <a:srgbClr val="1A1A2E"/>
                </a:solidFill>
                <a:latin typeface="IBM Plex Mono" pitchFamily="34" charset="0"/>
                <a:ea typeface="IBM Plex Mono" pitchFamily="34" charset="-122"/>
                <a:cs typeface="IBM Plex Mono" pitchFamily="34" charset="-120"/>
              </a:rPr>
              <a:t>5</a:t>
            </a:r>
            <a:endParaRPr lang="en-US" sz="1400" dirty="0"/>
          </a:p>
        </p:txBody>
      </p:sp>
      <p:sp>
        <p:nvSpPr>
          <p:cNvPr id="32" name="Text 30"/>
          <p:cNvSpPr/>
          <p:nvPr/>
        </p:nvSpPr>
        <p:spPr>
          <a:xfrm>
            <a:off x="9656064" y="3383280"/>
            <a:ext cx="1792224" cy="41148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Experience</a:t>
            </a:r>
            <a:endParaRPr lang="en-US" sz="1450" dirty="0"/>
          </a:p>
        </p:txBody>
      </p:sp>
      <p:sp>
        <p:nvSpPr>
          <p:cNvPr id="33" name="Text 31"/>
          <p:cNvSpPr/>
          <p:nvPr/>
        </p:nvSpPr>
        <p:spPr>
          <a:xfrm>
            <a:off x="9656064" y="3886200"/>
            <a:ext cx="1792224" cy="1645920"/>
          </a:xfrm>
          <a:prstGeom prst="rect">
            <a:avLst/>
          </a:prstGeom>
          <a:noFill/>
          <a:ln/>
        </p:spPr>
        <p:txBody>
          <a:bodyPr wrap="square" rtlCol="0" anchor="ctr"/>
          <a:lstStyle/>
          <a:p>
            <a:pPr algn="l" indent="0" marL="0">
              <a:buNone/>
            </a:pPr>
            <a:r>
              <a:rPr lang="en-US" sz="1100" dirty="0">
                <a:solidFill>
                  <a:srgbClr val="9AA7AD"/>
                </a:solidFill>
                <a:latin typeface="IBM Plex Sans" pitchFamily="34" charset="0"/>
                <a:ea typeface="IBM Plex Sans" pitchFamily="34" charset="-122"/>
                <a:cs typeface="IBM Plex Sans" pitchFamily="34" charset="-120"/>
              </a:rPr>
              <a:t>Confident, defensible decisions — not guesswork.</a:t>
            </a:r>
            <a:endParaRPr lang="en-US" sz="1100" dirty="0"/>
          </a:p>
        </p:txBody>
      </p:sp>
      <p:sp>
        <p:nvSpPr>
          <p:cNvPr id="34" name="Shape 32"/>
          <p:cNvSpPr/>
          <p:nvPr/>
        </p:nvSpPr>
        <p:spPr>
          <a:xfrm>
            <a:off x="9692640" y="6537960"/>
            <a:ext cx="100584" cy="100584"/>
          </a:xfrm>
          <a:prstGeom prst="ellipse">
            <a:avLst/>
          </a:prstGeom>
          <a:noFill/>
          <a:ln w="12700">
            <a:solidFill>
              <a:srgbClr val="33355A"/>
            </a:solidFill>
            <a:prstDash val="solid"/>
          </a:ln>
        </p:spPr>
      </p:sp>
      <p:sp>
        <p:nvSpPr>
          <p:cNvPr id="35" name="Shape 33"/>
          <p:cNvSpPr/>
          <p:nvPr/>
        </p:nvSpPr>
        <p:spPr>
          <a:xfrm>
            <a:off x="9930384" y="6537960"/>
            <a:ext cx="100584" cy="100584"/>
          </a:xfrm>
          <a:prstGeom prst="ellipse">
            <a:avLst/>
          </a:prstGeom>
          <a:solidFill>
            <a:srgbClr val="14BDAC"/>
          </a:solidFill>
          <a:ln w="12700">
            <a:solidFill>
              <a:srgbClr val="14BDAC"/>
            </a:solidFill>
            <a:prstDash val="solid"/>
          </a:ln>
        </p:spPr>
      </p:sp>
      <p:sp>
        <p:nvSpPr>
          <p:cNvPr id="36" name="Shape 34"/>
          <p:cNvSpPr/>
          <p:nvPr/>
        </p:nvSpPr>
        <p:spPr>
          <a:xfrm>
            <a:off x="10168128" y="6537960"/>
            <a:ext cx="100584" cy="100584"/>
          </a:xfrm>
          <a:prstGeom prst="ellipse">
            <a:avLst/>
          </a:prstGeom>
          <a:noFill/>
          <a:ln w="12700">
            <a:solidFill>
              <a:srgbClr val="33355A"/>
            </a:solidFill>
            <a:prstDash val="solid"/>
          </a:ln>
        </p:spPr>
      </p:sp>
      <p:sp>
        <p:nvSpPr>
          <p:cNvPr id="37" name="Shape 35"/>
          <p:cNvSpPr/>
          <p:nvPr/>
        </p:nvSpPr>
        <p:spPr>
          <a:xfrm>
            <a:off x="10405872" y="6537960"/>
            <a:ext cx="100584" cy="100584"/>
          </a:xfrm>
          <a:prstGeom prst="ellipse">
            <a:avLst/>
          </a:prstGeom>
          <a:noFill/>
          <a:ln w="12700">
            <a:solidFill>
              <a:srgbClr val="33355A"/>
            </a:solidFill>
            <a:prstDash val="solid"/>
          </a:ln>
        </p:spPr>
      </p:sp>
      <p:sp>
        <p:nvSpPr>
          <p:cNvPr id="38" name="Shape 36"/>
          <p:cNvSpPr/>
          <p:nvPr/>
        </p:nvSpPr>
        <p:spPr>
          <a:xfrm>
            <a:off x="10643616" y="6537960"/>
            <a:ext cx="100584" cy="100584"/>
          </a:xfrm>
          <a:prstGeom prst="ellipse">
            <a:avLst/>
          </a:prstGeom>
          <a:noFill/>
          <a:ln w="12700">
            <a:solidFill>
              <a:srgbClr val="33355A"/>
            </a:solidFill>
            <a:prstDash val="solid"/>
          </a:ln>
        </p:spPr>
      </p:sp>
      <p:sp>
        <p:nvSpPr>
          <p:cNvPr id="39" name="Text 37"/>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40" name="Text 38"/>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457200" y="384048"/>
            <a:ext cx="109728" cy="109728"/>
          </a:xfrm>
          <a:prstGeom prst="ellipse">
            <a:avLst/>
          </a:prstGeom>
          <a:solidFill>
            <a:srgbClr val="14BDAC"/>
          </a:solidFill>
          <a:ln w="12700">
            <a:solidFill>
              <a:srgbClr val="14BDAC"/>
            </a:solidFill>
            <a:prstDash val="solid"/>
          </a:ln>
        </p:spPr>
      </p:sp>
      <p:sp>
        <p:nvSpPr>
          <p:cNvPr id="3" name="Text 1"/>
          <p:cNvSpPr/>
          <p:nvPr/>
        </p:nvSpPr>
        <p:spPr>
          <a:xfrm>
            <a:off x="658368" y="256032"/>
            <a:ext cx="5486400" cy="320040"/>
          </a:xfrm>
          <a:prstGeom prst="rect">
            <a:avLst/>
          </a:prstGeom>
          <a:noFill/>
          <a:ln/>
        </p:spPr>
        <p:txBody>
          <a:bodyPr wrap="square" rtlCol="0" anchor="ctr"/>
          <a:lstStyle/>
          <a:p>
            <a:pPr algn="l" indent="0" marL="0">
              <a:buNone/>
            </a:pPr>
            <a:r>
              <a:rPr lang="en-US" sz="1100" b="1" spc="150" kern="0" dirty="0">
                <a:solidFill>
                  <a:srgbClr val="14BDAC"/>
                </a:solidFill>
                <a:latin typeface="IBM Plex Sans" pitchFamily="34" charset="0"/>
                <a:ea typeface="IBM Plex Sans" pitchFamily="34" charset="-122"/>
                <a:cs typeface="IBM Plex Sans" pitchFamily="34" charset="-120"/>
              </a:rPr>
              <a:t>BRAND STRATEGY</a:t>
            </a:r>
            <a:endParaRPr lang="en-US" sz="1100" dirty="0"/>
          </a:p>
        </p:txBody>
      </p:sp>
      <p:sp>
        <p:nvSpPr>
          <p:cNvPr id="4" name="Text 2"/>
          <p:cNvSpPr/>
          <p:nvPr/>
        </p:nvSpPr>
        <p:spPr>
          <a:xfrm>
            <a:off x="457200" y="548640"/>
            <a:ext cx="10332720" cy="548640"/>
          </a:xfrm>
          <a:prstGeom prst="rect">
            <a:avLst/>
          </a:prstGeom>
          <a:noFill/>
          <a:ln/>
        </p:spPr>
        <p:txBody>
          <a:bodyPr wrap="square" rtlCol="0" anchor="ctr"/>
          <a:lstStyle/>
          <a:p>
            <a:pPr algn="l" indent="0" marL="0">
              <a:buNone/>
            </a:pPr>
            <a:r>
              <a:rPr lang="en-US" sz="2700" b="1" dirty="0">
                <a:solidFill>
                  <a:srgbClr val="FFFFFF"/>
                </a:solidFill>
                <a:latin typeface="IBM Plex Sans" pitchFamily="34" charset="0"/>
                <a:ea typeface="IBM Plex Sans" pitchFamily="34" charset="-122"/>
                <a:cs typeface="IBM Plex Sans" pitchFamily="34" charset="-120"/>
              </a:rPr>
              <a:t>Who we serve</a:t>
            </a:r>
            <a:endParaRPr lang="en-US" sz="2700" dirty="0"/>
          </a:p>
        </p:txBody>
      </p:sp>
      <p:sp>
        <p:nvSpPr>
          <p:cNvPr id="5" name="Shape 3"/>
          <p:cNvSpPr/>
          <p:nvPr/>
        </p:nvSpPr>
        <p:spPr>
          <a:xfrm>
            <a:off x="457200" y="1463040"/>
            <a:ext cx="5349240" cy="4709160"/>
          </a:xfrm>
          <a:prstGeom prst="roundRect">
            <a:avLst>
              <a:gd name="adj" fmla="val 1553"/>
            </a:avLst>
          </a:prstGeom>
          <a:solidFill>
            <a:srgbClr val="20223A"/>
          </a:solidFill>
          <a:ln w="9525">
            <a:solidFill>
              <a:srgbClr val="33355A"/>
            </a:solidFill>
            <a:prstDash val="solid"/>
          </a:ln>
        </p:spPr>
      </p:sp>
      <p:sp>
        <p:nvSpPr>
          <p:cNvPr id="6" name="Shape 4"/>
          <p:cNvSpPr/>
          <p:nvPr/>
        </p:nvSpPr>
        <p:spPr>
          <a:xfrm>
            <a:off x="777240" y="1737360"/>
            <a:ext cx="566928" cy="566928"/>
          </a:xfrm>
          <a:prstGeom prst="ellipse">
            <a:avLst/>
          </a:prstGeom>
          <a:solidFill>
            <a:srgbClr val="0D7377"/>
          </a:solidFill>
          <a:ln w="12700">
            <a:solidFill>
              <a:srgbClr val="0D7377"/>
            </a:solidFill>
            <a:prstDash val="solid"/>
          </a:ln>
        </p:spPr>
      </p:sp>
      <p:sp>
        <p:nvSpPr>
          <p:cNvPr id="7" name="Text 5"/>
          <p:cNvSpPr/>
          <p:nvPr/>
        </p:nvSpPr>
        <p:spPr>
          <a:xfrm>
            <a:off x="777240" y="1737360"/>
            <a:ext cx="566928" cy="566928"/>
          </a:xfrm>
          <a:prstGeom prst="rect">
            <a:avLst/>
          </a:prstGeom>
          <a:noFill/>
          <a:ln/>
        </p:spPr>
        <p:txBody>
          <a:bodyPr wrap="square" rtlCol="0" anchor="ctr"/>
          <a:lstStyle/>
          <a:p>
            <a:pPr algn="ctr" indent="0" marL="0">
              <a:buNone/>
            </a:pPr>
            <a:r>
              <a:rPr lang="en-US" sz="1500" b="1" dirty="0">
                <a:solidFill>
                  <a:srgbClr val="FFFFFF"/>
                </a:solidFill>
                <a:latin typeface="IBM Plex Sans" pitchFamily="34" charset="0"/>
                <a:ea typeface="IBM Plex Sans" pitchFamily="34" charset="-122"/>
                <a:cs typeface="IBM Plex Sans" pitchFamily="34" charset="-120"/>
              </a:rPr>
              <a:t>SK</a:t>
            </a:r>
            <a:endParaRPr lang="en-US" sz="1500" dirty="0"/>
          </a:p>
        </p:txBody>
      </p:sp>
      <p:sp>
        <p:nvSpPr>
          <p:cNvPr id="8" name="Text 6"/>
          <p:cNvSpPr/>
          <p:nvPr/>
        </p:nvSpPr>
        <p:spPr>
          <a:xfrm>
            <a:off x="1508760" y="1755648"/>
            <a:ext cx="3977640" cy="274320"/>
          </a:xfrm>
          <a:prstGeom prst="rect">
            <a:avLst/>
          </a:prstGeom>
          <a:noFill/>
          <a:ln/>
        </p:spPr>
        <p:txBody>
          <a:bodyPr wrap="square" rtlCol="0" anchor="ctr"/>
          <a:lstStyle/>
          <a:p>
            <a:pPr indent="0" marL="0">
              <a:buNone/>
            </a:pPr>
            <a:r>
              <a:rPr lang="en-US" sz="1050" b="1" dirty="0">
                <a:solidFill>
                  <a:srgbClr val="14BDAC"/>
                </a:solidFill>
                <a:latin typeface="IBM Plex Sans" pitchFamily="34" charset="0"/>
                <a:ea typeface="IBM Plex Sans" pitchFamily="34" charset="-122"/>
                <a:cs typeface="IBM Plex Sans" pitchFamily="34" charset="-120"/>
              </a:rPr>
              <a:t>PERSONA 1 — THE ESTABLISHED BRAND</a:t>
            </a:r>
            <a:endParaRPr lang="en-US" sz="1050" dirty="0"/>
          </a:p>
        </p:txBody>
      </p:sp>
      <p:sp>
        <p:nvSpPr>
          <p:cNvPr id="9" name="Text 7"/>
          <p:cNvSpPr/>
          <p:nvPr/>
        </p:nvSpPr>
        <p:spPr>
          <a:xfrm>
            <a:off x="1508760" y="1965960"/>
            <a:ext cx="3977640" cy="365760"/>
          </a:xfrm>
          <a:prstGeom prst="rect">
            <a:avLst/>
          </a:prstGeom>
          <a:noFill/>
          <a:ln/>
        </p:spPr>
        <p:txBody>
          <a:bodyPr wrap="square" rtlCol="0" anchor="ctr"/>
          <a:lstStyle/>
          <a:p>
            <a:pPr indent="0" marL="0">
              <a:buNone/>
            </a:pPr>
            <a:r>
              <a:rPr lang="en-US" sz="1800" b="1" dirty="0">
                <a:solidFill>
                  <a:srgbClr val="FFFFFF"/>
                </a:solidFill>
                <a:latin typeface="IBM Plex Sans" pitchFamily="34" charset="0"/>
                <a:ea typeface="IBM Plex Sans" pitchFamily="34" charset="-122"/>
                <a:cs typeface="IBM Plex Sans" pitchFamily="34" charset="-120"/>
              </a:rPr>
              <a:t>Sana Kapoor</a:t>
            </a:r>
            <a:endParaRPr lang="en-US" sz="1800" dirty="0"/>
          </a:p>
        </p:txBody>
      </p:sp>
      <p:sp>
        <p:nvSpPr>
          <p:cNvPr id="10" name="Text 8"/>
          <p:cNvSpPr/>
          <p:nvPr/>
        </p:nvSpPr>
        <p:spPr>
          <a:xfrm>
            <a:off x="777240" y="2468880"/>
            <a:ext cx="4709160" cy="457200"/>
          </a:xfrm>
          <a:prstGeom prst="rect">
            <a:avLst/>
          </a:prstGeom>
          <a:noFill/>
          <a:ln/>
        </p:spPr>
        <p:txBody>
          <a:bodyPr wrap="square" rtlCol="0" anchor="ctr"/>
          <a:lstStyle/>
          <a:p>
            <a:pPr indent="0" marL="0">
              <a:buNone/>
            </a:pPr>
            <a:r>
              <a:rPr lang="en-US" sz="1200" dirty="0">
                <a:solidFill>
                  <a:srgbClr val="9AA7AD"/>
                </a:solidFill>
                <a:latin typeface="IBM Plex Sans" pitchFamily="34" charset="0"/>
                <a:ea typeface="IBM Plex Sans" pitchFamily="34" charset="-122"/>
                <a:cs typeface="IBM Plex Sans" pitchFamily="34" charset="-120"/>
              </a:rPr>
              <a:t>Senior Product Manager, adaptive apparel division</a:t>
            </a:r>
            <a:endParaRPr lang="en-US" sz="1200" dirty="0"/>
          </a:p>
        </p:txBody>
      </p:sp>
      <p:sp>
        <p:nvSpPr>
          <p:cNvPr id="11" name="Shape 9"/>
          <p:cNvSpPr/>
          <p:nvPr/>
        </p:nvSpPr>
        <p:spPr>
          <a:xfrm>
            <a:off x="777240" y="3035808"/>
            <a:ext cx="4709160" cy="0"/>
          </a:xfrm>
          <a:prstGeom prst="line">
            <a:avLst/>
          </a:prstGeom>
          <a:noFill/>
          <a:ln w="9525">
            <a:solidFill>
              <a:srgbClr val="33355A"/>
            </a:solidFill>
            <a:prstDash val="solid"/>
          </a:ln>
        </p:spPr>
      </p:sp>
      <p:sp>
        <p:nvSpPr>
          <p:cNvPr id="12" name="Text 10"/>
          <p:cNvSpPr/>
          <p:nvPr/>
        </p:nvSpPr>
        <p:spPr>
          <a:xfrm>
            <a:off x="777240" y="3200400"/>
            <a:ext cx="4709160" cy="274320"/>
          </a:xfrm>
          <a:prstGeom prst="rect">
            <a:avLst/>
          </a:prstGeom>
          <a:noFill/>
          <a:ln/>
        </p:spPr>
        <p:txBody>
          <a:bodyPr wrap="square" rtlCol="0" anchor="ctr"/>
          <a:lstStyle/>
          <a:p>
            <a:pPr indent="0" marL="0">
              <a:buNone/>
            </a:pPr>
            <a:r>
              <a:rPr lang="en-US" sz="1100" b="1" spc="100" kern="0" dirty="0">
                <a:solidFill>
                  <a:srgbClr val="14BDAC"/>
                </a:solidFill>
                <a:latin typeface="IBM Plex Sans" pitchFamily="34" charset="0"/>
                <a:ea typeface="IBM Plex Sans" pitchFamily="34" charset="-122"/>
                <a:cs typeface="IBM Plex Sans" pitchFamily="34" charset="-120"/>
              </a:rPr>
              <a:t>PAIN</a:t>
            </a:r>
            <a:endParaRPr lang="en-US" sz="1100" dirty="0"/>
          </a:p>
        </p:txBody>
      </p:sp>
      <p:sp>
        <p:nvSpPr>
          <p:cNvPr id="13" name="Text 11"/>
          <p:cNvSpPr/>
          <p:nvPr/>
        </p:nvSpPr>
        <p:spPr>
          <a:xfrm>
            <a:off x="777240" y="3474720"/>
            <a:ext cx="4709160" cy="1005840"/>
          </a:xfrm>
          <a:prstGeom prst="rect">
            <a:avLst/>
          </a:prstGeom>
          <a:noFill/>
          <a:ln/>
        </p:spPr>
        <p:txBody>
          <a:bodyPr wrap="square" rtlCol="0" anchor="ctr"/>
          <a:lstStyle/>
          <a:p>
            <a:pPr algn="l" indent="0" marL="0">
              <a:buNone/>
            </a:pPr>
            <a:r>
              <a:rPr lang="en-US" sz="1250" dirty="0">
                <a:solidFill>
                  <a:srgbClr val="D8E1E3"/>
                </a:solidFill>
                <a:latin typeface="IBM Plex Sans" pitchFamily="34" charset="0"/>
                <a:ea typeface="IBM Plex Sans" pitchFamily="34" charset="-122"/>
                <a:cs typeface="IBM Plex Sans" pitchFamily="34" charset="-120"/>
              </a:rPr>
              <a:t>Two product launches missed last year — the real customer complaint surfaced only after shipping, with no research budget to catch it earlier.</a:t>
            </a:r>
            <a:endParaRPr lang="en-US" sz="1250" dirty="0"/>
          </a:p>
        </p:txBody>
      </p:sp>
      <p:sp>
        <p:nvSpPr>
          <p:cNvPr id="14" name="Text 12"/>
          <p:cNvSpPr/>
          <p:nvPr/>
        </p:nvSpPr>
        <p:spPr>
          <a:xfrm>
            <a:off x="777240" y="4572000"/>
            <a:ext cx="4709160" cy="274320"/>
          </a:xfrm>
          <a:prstGeom prst="rect">
            <a:avLst/>
          </a:prstGeom>
          <a:noFill/>
          <a:ln/>
        </p:spPr>
        <p:txBody>
          <a:bodyPr wrap="square" rtlCol="0" anchor="ctr"/>
          <a:lstStyle/>
          <a:p>
            <a:pPr indent="0" marL="0">
              <a:buNone/>
            </a:pPr>
            <a:r>
              <a:rPr lang="en-US" sz="1100" b="1" spc="100" kern="0" dirty="0">
                <a:solidFill>
                  <a:srgbClr val="14BDAC"/>
                </a:solidFill>
                <a:latin typeface="IBM Plex Sans" pitchFamily="34" charset="0"/>
                <a:ea typeface="IBM Plex Sans" pitchFamily="34" charset="-122"/>
                <a:cs typeface="IBM Plex Sans" pitchFamily="34" charset="-120"/>
              </a:rPr>
              <a:t>WANTS</a:t>
            </a:r>
            <a:endParaRPr lang="en-US" sz="1100" dirty="0"/>
          </a:p>
        </p:txBody>
      </p:sp>
      <p:sp>
        <p:nvSpPr>
          <p:cNvPr id="15" name="Text 13"/>
          <p:cNvSpPr/>
          <p:nvPr/>
        </p:nvSpPr>
        <p:spPr>
          <a:xfrm>
            <a:off x="777240" y="4846320"/>
            <a:ext cx="4709160" cy="1005840"/>
          </a:xfrm>
          <a:prstGeom prst="rect">
            <a:avLst/>
          </a:prstGeom>
          <a:noFill/>
          <a:ln/>
        </p:spPr>
        <p:txBody>
          <a:bodyPr wrap="square" rtlCol="0" anchor="ctr"/>
          <a:lstStyle/>
          <a:p>
            <a:pPr algn="l" indent="0" marL="0">
              <a:buNone/>
            </a:pPr>
            <a:r>
              <a:rPr lang="en-US" sz="1250" dirty="0">
                <a:solidFill>
                  <a:srgbClr val="D8E1E3"/>
                </a:solidFill>
                <a:latin typeface="IBM Plex Sans" pitchFamily="34" charset="0"/>
                <a:ea typeface="IBM Plex Sans" pitchFamily="34" charset="-122"/>
                <a:cs typeface="IBM Plex Sans" pitchFamily="34" charset="-120"/>
              </a:rPr>
              <a:t>A specific, evidence-backed product decision she can defend in her next roadmap meeting — before the budget is spent.</a:t>
            </a:r>
            <a:endParaRPr lang="en-US" sz="1250" dirty="0"/>
          </a:p>
        </p:txBody>
      </p:sp>
      <p:sp>
        <p:nvSpPr>
          <p:cNvPr id="16" name="Shape 14"/>
          <p:cNvSpPr/>
          <p:nvPr/>
        </p:nvSpPr>
        <p:spPr>
          <a:xfrm>
            <a:off x="6355080" y="1463040"/>
            <a:ext cx="5349240" cy="4709160"/>
          </a:xfrm>
          <a:prstGeom prst="roundRect">
            <a:avLst>
              <a:gd name="adj" fmla="val 1553"/>
            </a:avLst>
          </a:prstGeom>
          <a:solidFill>
            <a:srgbClr val="20223A"/>
          </a:solidFill>
          <a:ln w="9525">
            <a:solidFill>
              <a:srgbClr val="33355A"/>
            </a:solidFill>
            <a:prstDash val="solid"/>
          </a:ln>
        </p:spPr>
      </p:sp>
      <p:sp>
        <p:nvSpPr>
          <p:cNvPr id="17" name="Shape 15"/>
          <p:cNvSpPr/>
          <p:nvPr/>
        </p:nvSpPr>
        <p:spPr>
          <a:xfrm>
            <a:off x="6675120" y="1737360"/>
            <a:ext cx="566928" cy="566928"/>
          </a:xfrm>
          <a:prstGeom prst="ellipse">
            <a:avLst/>
          </a:prstGeom>
          <a:solidFill>
            <a:srgbClr val="0D7377"/>
          </a:solidFill>
          <a:ln w="12700">
            <a:solidFill>
              <a:srgbClr val="0D7377"/>
            </a:solidFill>
            <a:prstDash val="solid"/>
          </a:ln>
        </p:spPr>
      </p:sp>
      <p:sp>
        <p:nvSpPr>
          <p:cNvPr id="18" name="Text 16"/>
          <p:cNvSpPr/>
          <p:nvPr/>
        </p:nvSpPr>
        <p:spPr>
          <a:xfrm>
            <a:off x="6675120" y="1737360"/>
            <a:ext cx="566928" cy="566928"/>
          </a:xfrm>
          <a:prstGeom prst="rect">
            <a:avLst/>
          </a:prstGeom>
          <a:noFill/>
          <a:ln/>
        </p:spPr>
        <p:txBody>
          <a:bodyPr wrap="square" rtlCol="0" anchor="ctr"/>
          <a:lstStyle/>
          <a:p>
            <a:pPr algn="ctr" indent="0" marL="0">
              <a:buNone/>
            </a:pPr>
            <a:r>
              <a:rPr lang="en-US" sz="1500" b="1" dirty="0">
                <a:solidFill>
                  <a:srgbClr val="FFFFFF"/>
                </a:solidFill>
                <a:latin typeface="IBM Plex Sans" pitchFamily="34" charset="0"/>
                <a:ea typeface="IBM Plex Sans" pitchFamily="34" charset="-122"/>
                <a:cs typeface="IBM Plex Sans" pitchFamily="34" charset="-120"/>
              </a:rPr>
              <a:t>DW</a:t>
            </a:r>
            <a:endParaRPr lang="en-US" sz="1500" dirty="0"/>
          </a:p>
        </p:txBody>
      </p:sp>
      <p:sp>
        <p:nvSpPr>
          <p:cNvPr id="19" name="Text 17"/>
          <p:cNvSpPr/>
          <p:nvPr/>
        </p:nvSpPr>
        <p:spPr>
          <a:xfrm>
            <a:off x="7406640" y="1755648"/>
            <a:ext cx="3977640" cy="274320"/>
          </a:xfrm>
          <a:prstGeom prst="rect">
            <a:avLst/>
          </a:prstGeom>
          <a:noFill/>
          <a:ln/>
        </p:spPr>
        <p:txBody>
          <a:bodyPr wrap="square" rtlCol="0" anchor="ctr"/>
          <a:lstStyle/>
          <a:p>
            <a:pPr indent="0" marL="0">
              <a:buNone/>
            </a:pPr>
            <a:r>
              <a:rPr lang="en-US" sz="1050" b="1" dirty="0">
                <a:solidFill>
                  <a:srgbClr val="14BDAC"/>
                </a:solidFill>
                <a:latin typeface="IBM Plex Sans" pitchFamily="34" charset="0"/>
                <a:ea typeface="IBM Plex Sans" pitchFamily="34" charset="-122"/>
                <a:cs typeface="IBM Plex Sans" pitchFamily="34" charset="-120"/>
              </a:rPr>
              <a:t>PERSONA 2 — THE NEWCOMER</a:t>
            </a:r>
            <a:endParaRPr lang="en-US" sz="1050" dirty="0"/>
          </a:p>
        </p:txBody>
      </p:sp>
      <p:sp>
        <p:nvSpPr>
          <p:cNvPr id="20" name="Text 18"/>
          <p:cNvSpPr/>
          <p:nvPr/>
        </p:nvSpPr>
        <p:spPr>
          <a:xfrm>
            <a:off x="7406640" y="1965960"/>
            <a:ext cx="3977640" cy="365760"/>
          </a:xfrm>
          <a:prstGeom prst="rect">
            <a:avLst/>
          </a:prstGeom>
          <a:noFill/>
          <a:ln/>
        </p:spPr>
        <p:txBody>
          <a:bodyPr wrap="square" rtlCol="0" anchor="ctr"/>
          <a:lstStyle/>
          <a:p>
            <a:pPr indent="0" marL="0">
              <a:buNone/>
            </a:pPr>
            <a:r>
              <a:rPr lang="en-US" sz="1800" b="1" dirty="0">
                <a:solidFill>
                  <a:srgbClr val="FFFFFF"/>
                </a:solidFill>
                <a:latin typeface="IBM Plex Sans" pitchFamily="34" charset="0"/>
                <a:ea typeface="IBM Plex Sans" pitchFamily="34" charset="-122"/>
                <a:cs typeface="IBM Plex Sans" pitchFamily="34" charset="-120"/>
              </a:rPr>
              <a:t>Devon Whitfield</a:t>
            </a:r>
            <a:endParaRPr lang="en-US" sz="1800" dirty="0"/>
          </a:p>
        </p:txBody>
      </p:sp>
      <p:sp>
        <p:nvSpPr>
          <p:cNvPr id="21" name="Text 19"/>
          <p:cNvSpPr/>
          <p:nvPr/>
        </p:nvSpPr>
        <p:spPr>
          <a:xfrm>
            <a:off x="6675120" y="2468880"/>
            <a:ext cx="4709160" cy="457200"/>
          </a:xfrm>
          <a:prstGeom prst="rect">
            <a:avLst/>
          </a:prstGeom>
          <a:noFill/>
          <a:ln/>
        </p:spPr>
        <p:txBody>
          <a:bodyPr wrap="square" rtlCol="0" anchor="ctr"/>
          <a:lstStyle/>
          <a:p>
            <a:pPr indent="0" marL="0">
              <a:buNone/>
            </a:pPr>
            <a:r>
              <a:rPr lang="en-US" sz="1200" dirty="0">
                <a:solidFill>
                  <a:srgbClr val="9AA7AD"/>
                </a:solidFill>
                <a:latin typeface="IBM Plex Sans" pitchFamily="34" charset="0"/>
                <a:ea typeface="IBM Plex Sans" pitchFamily="34" charset="-122"/>
                <a:cs typeface="IBM Plex Sans" pitchFamily="34" charset="-120"/>
              </a:rPr>
              <a:t>Marketing lead, entering adaptive fashion for the first time</a:t>
            </a:r>
            <a:endParaRPr lang="en-US" sz="1200" dirty="0"/>
          </a:p>
        </p:txBody>
      </p:sp>
      <p:sp>
        <p:nvSpPr>
          <p:cNvPr id="22" name="Shape 20"/>
          <p:cNvSpPr/>
          <p:nvPr/>
        </p:nvSpPr>
        <p:spPr>
          <a:xfrm>
            <a:off x="6675120" y="3035808"/>
            <a:ext cx="4709160" cy="0"/>
          </a:xfrm>
          <a:prstGeom prst="line">
            <a:avLst/>
          </a:prstGeom>
          <a:noFill/>
          <a:ln w="9525">
            <a:solidFill>
              <a:srgbClr val="33355A"/>
            </a:solidFill>
            <a:prstDash val="solid"/>
          </a:ln>
        </p:spPr>
      </p:sp>
      <p:sp>
        <p:nvSpPr>
          <p:cNvPr id="23" name="Text 21"/>
          <p:cNvSpPr/>
          <p:nvPr/>
        </p:nvSpPr>
        <p:spPr>
          <a:xfrm>
            <a:off x="6675120" y="3200400"/>
            <a:ext cx="4709160" cy="274320"/>
          </a:xfrm>
          <a:prstGeom prst="rect">
            <a:avLst/>
          </a:prstGeom>
          <a:noFill/>
          <a:ln/>
        </p:spPr>
        <p:txBody>
          <a:bodyPr wrap="square" rtlCol="0" anchor="ctr"/>
          <a:lstStyle/>
          <a:p>
            <a:pPr indent="0" marL="0">
              <a:buNone/>
            </a:pPr>
            <a:r>
              <a:rPr lang="en-US" sz="1100" b="1" spc="100" kern="0" dirty="0">
                <a:solidFill>
                  <a:srgbClr val="14BDAC"/>
                </a:solidFill>
                <a:latin typeface="IBM Plex Sans" pitchFamily="34" charset="0"/>
                <a:ea typeface="IBM Plex Sans" pitchFamily="34" charset="-122"/>
                <a:cs typeface="IBM Plex Sans" pitchFamily="34" charset="-120"/>
              </a:rPr>
              <a:t>PAIN</a:t>
            </a:r>
            <a:endParaRPr lang="en-US" sz="1100" dirty="0"/>
          </a:p>
        </p:txBody>
      </p:sp>
      <p:sp>
        <p:nvSpPr>
          <p:cNvPr id="24" name="Text 22"/>
          <p:cNvSpPr/>
          <p:nvPr/>
        </p:nvSpPr>
        <p:spPr>
          <a:xfrm>
            <a:off x="6675120" y="3474720"/>
            <a:ext cx="4709160" cy="1005840"/>
          </a:xfrm>
          <a:prstGeom prst="rect">
            <a:avLst/>
          </a:prstGeom>
          <a:noFill/>
          <a:ln/>
        </p:spPr>
        <p:txBody>
          <a:bodyPr wrap="square" rtlCol="0" anchor="ctr"/>
          <a:lstStyle/>
          <a:p>
            <a:pPr algn="l" indent="0" marL="0">
              <a:buNone/>
            </a:pPr>
            <a:r>
              <a:rPr lang="en-US" sz="1250" dirty="0">
                <a:solidFill>
                  <a:srgbClr val="D8E1E3"/>
                </a:solidFill>
                <a:latin typeface="IBM Plex Sans" pitchFamily="34" charset="0"/>
                <a:ea typeface="IBM Plex Sans" pitchFamily="34" charset="-122"/>
                <a:cs typeface="IBM Plex Sans" pitchFamily="34" charset="-120"/>
              </a:rPr>
              <a:t>No internal data or condition-specific expertise, and a leadership ask to build a business case with almost no budget.</a:t>
            </a:r>
            <a:endParaRPr lang="en-US" sz="1250" dirty="0"/>
          </a:p>
        </p:txBody>
      </p:sp>
      <p:sp>
        <p:nvSpPr>
          <p:cNvPr id="25" name="Text 23"/>
          <p:cNvSpPr/>
          <p:nvPr/>
        </p:nvSpPr>
        <p:spPr>
          <a:xfrm>
            <a:off x="6675120" y="4572000"/>
            <a:ext cx="4709160" cy="274320"/>
          </a:xfrm>
          <a:prstGeom prst="rect">
            <a:avLst/>
          </a:prstGeom>
          <a:noFill/>
          <a:ln/>
        </p:spPr>
        <p:txBody>
          <a:bodyPr wrap="square" rtlCol="0" anchor="ctr"/>
          <a:lstStyle/>
          <a:p>
            <a:pPr indent="0" marL="0">
              <a:buNone/>
            </a:pPr>
            <a:r>
              <a:rPr lang="en-US" sz="1100" b="1" spc="100" kern="0" dirty="0">
                <a:solidFill>
                  <a:srgbClr val="14BDAC"/>
                </a:solidFill>
                <a:latin typeface="IBM Plex Sans" pitchFamily="34" charset="0"/>
                <a:ea typeface="IBM Plex Sans" pitchFamily="34" charset="-122"/>
                <a:cs typeface="IBM Plex Sans" pitchFamily="34" charset="-120"/>
              </a:rPr>
              <a:t>WANTS</a:t>
            </a:r>
            <a:endParaRPr lang="en-US" sz="1100" dirty="0"/>
          </a:p>
        </p:txBody>
      </p:sp>
      <p:sp>
        <p:nvSpPr>
          <p:cNvPr id="26" name="Text 24"/>
          <p:cNvSpPr/>
          <p:nvPr/>
        </p:nvSpPr>
        <p:spPr>
          <a:xfrm>
            <a:off x="6675120" y="4846320"/>
            <a:ext cx="4709160" cy="1005840"/>
          </a:xfrm>
          <a:prstGeom prst="rect">
            <a:avLst/>
          </a:prstGeom>
          <a:noFill/>
          <a:ln/>
        </p:spPr>
        <p:txBody>
          <a:bodyPr wrap="square" rtlCol="0" anchor="ctr"/>
          <a:lstStyle/>
          <a:p>
            <a:pPr algn="l" indent="0" marL="0">
              <a:buNone/>
            </a:pPr>
            <a:r>
              <a:rPr lang="en-US" sz="1250" dirty="0">
                <a:solidFill>
                  <a:srgbClr val="D8E1E3"/>
                </a:solidFill>
                <a:latin typeface="IBM Plex Sans" pitchFamily="34" charset="0"/>
                <a:ea typeface="IBM Plex Sans" pitchFamily="34" charset="-122"/>
                <a:cs typeface="IBM Plex Sans" pitchFamily="34" charset="-120"/>
              </a:rPr>
              <a:t>Fast, credible evidence that a real product gap exists — before asking for a larger budget to enter the category.</a:t>
            </a:r>
            <a:endParaRPr lang="en-US" sz="1250" dirty="0"/>
          </a:p>
        </p:txBody>
      </p:sp>
      <p:sp>
        <p:nvSpPr>
          <p:cNvPr id="27" name="Shape 25"/>
          <p:cNvSpPr/>
          <p:nvPr/>
        </p:nvSpPr>
        <p:spPr>
          <a:xfrm>
            <a:off x="9692640" y="6537960"/>
            <a:ext cx="100584" cy="100584"/>
          </a:xfrm>
          <a:prstGeom prst="ellipse">
            <a:avLst/>
          </a:prstGeom>
          <a:noFill/>
          <a:ln w="12700">
            <a:solidFill>
              <a:srgbClr val="33355A"/>
            </a:solidFill>
            <a:prstDash val="solid"/>
          </a:ln>
        </p:spPr>
      </p:sp>
      <p:sp>
        <p:nvSpPr>
          <p:cNvPr id="28" name="Shape 26"/>
          <p:cNvSpPr/>
          <p:nvPr/>
        </p:nvSpPr>
        <p:spPr>
          <a:xfrm>
            <a:off x="9930384" y="6537960"/>
            <a:ext cx="100584" cy="100584"/>
          </a:xfrm>
          <a:prstGeom prst="ellipse">
            <a:avLst/>
          </a:prstGeom>
          <a:solidFill>
            <a:srgbClr val="14BDAC"/>
          </a:solidFill>
          <a:ln w="12700">
            <a:solidFill>
              <a:srgbClr val="14BDAC"/>
            </a:solidFill>
            <a:prstDash val="solid"/>
          </a:ln>
        </p:spPr>
      </p:sp>
      <p:sp>
        <p:nvSpPr>
          <p:cNvPr id="29" name="Shape 27"/>
          <p:cNvSpPr/>
          <p:nvPr/>
        </p:nvSpPr>
        <p:spPr>
          <a:xfrm>
            <a:off x="10168128" y="6537960"/>
            <a:ext cx="100584" cy="100584"/>
          </a:xfrm>
          <a:prstGeom prst="ellipse">
            <a:avLst/>
          </a:prstGeom>
          <a:noFill/>
          <a:ln w="12700">
            <a:solidFill>
              <a:srgbClr val="33355A"/>
            </a:solidFill>
            <a:prstDash val="solid"/>
          </a:ln>
        </p:spPr>
      </p:sp>
      <p:sp>
        <p:nvSpPr>
          <p:cNvPr id="30" name="Shape 28"/>
          <p:cNvSpPr/>
          <p:nvPr/>
        </p:nvSpPr>
        <p:spPr>
          <a:xfrm>
            <a:off x="10405872" y="6537960"/>
            <a:ext cx="100584" cy="100584"/>
          </a:xfrm>
          <a:prstGeom prst="ellipse">
            <a:avLst/>
          </a:prstGeom>
          <a:noFill/>
          <a:ln w="12700">
            <a:solidFill>
              <a:srgbClr val="33355A"/>
            </a:solidFill>
            <a:prstDash val="solid"/>
          </a:ln>
        </p:spPr>
      </p:sp>
      <p:sp>
        <p:nvSpPr>
          <p:cNvPr id="31" name="Shape 29"/>
          <p:cNvSpPr/>
          <p:nvPr/>
        </p:nvSpPr>
        <p:spPr>
          <a:xfrm>
            <a:off x="10643616" y="6537960"/>
            <a:ext cx="100584" cy="100584"/>
          </a:xfrm>
          <a:prstGeom prst="ellipse">
            <a:avLst/>
          </a:prstGeom>
          <a:noFill/>
          <a:ln w="12700">
            <a:solidFill>
              <a:srgbClr val="33355A"/>
            </a:solidFill>
            <a:prstDash val="solid"/>
          </a:ln>
        </p:spPr>
      </p:sp>
      <p:sp>
        <p:nvSpPr>
          <p:cNvPr id="32" name="Text 30"/>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33" name="Text 31"/>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457200" y="384048"/>
            <a:ext cx="109728" cy="109728"/>
          </a:xfrm>
          <a:prstGeom prst="ellipse">
            <a:avLst/>
          </a:prstGeom>
          <a:solidFill>
            <a:srgbClr val="14BDAC"/>
          </a:solidFill>
          <a:ln w="12700">
            <a:solidFill>
              <a:srgbClr val="14BDAC"/>
            </a:solidFill>
            <a:prstDash val="solid"/>
          </a:ln>
        </p:spPr>
      </p:sp>
      <p:sp>
        <p:nvSpPr>
          <p:cNvPr id="3" name="Text 1"/>
          <p:cNvSpPr/>
          <p:nvPr/>
        </p:nvSpPr>
        <p:spPr>
          <a:xfrm>
            <a:off x="658368" y="256032"/>
            <a:ext cx="5486400" cy="320040"/>
          </a:xfrm>
          <a:prstGeom prst="rect">
            <a:avLst/>
          </a:prstGeom>
          <a:noFill/>
          <a:ln/>
        </p:spPr>
        <p:txBody>
          <a:bodyPr wrap="square" rtlCol="0" anchor="ctr"/>
          <a:lstStyle/>
          <a:p>
            <a:pPr algn="l" indent="0" marL="0">
              <a:buNone/>
            </a:pPr>
            <a:r>
              <a:rPr lang="en-US" sz="1100" b="1" spc="150" kern="0" dirty="0">
                <a:solidFill>
                  <a:srgbClr val="14BDAC"/>
                </a:solidFill>
                <a:latin typeface="IBM Plex Sans" pitchFamily="34" charset="0"/>
                <a:ea typeface="IBM Plex Sans" pitchFamily="34" charset="-122"/>
                <a:cs typeface="IBM Plex Sans" pitchFamily="34" charset="-120"/>
              </a:rPr>
              <a:t>BRAND STRATEGY</a:t>
            </a:r>
            <a:endParaRPr lang="en-US" sz="1100" dirty="0"/>
          </a:p>
        </p:txBody>
      </p:sp>
      <p:sp>
        <p:nvSpPr>
          <p:cNvPr id="4" name="Text 2"/>
          <p:cNvSpPr/>
          <p:nvPr/>
        </p:nvSpPr>
        <p:spPr>
          <a:xfrm>
            <a:off x="457200" y="548640"/>
            <a:ext cx="10332720" cy="548640"/>
          </a:xfrm>
          <a:prstGeom prst="rect">
            <a:avLst/>
          </a:prstGeom>
          <a:noFill/>
          <a:ln/>
        </p:spPr>
        <p:txBody>
          <a:bodyPr wrap="square" rtlCol="0" anchor="ctr"/>
          <a:lstStyle/>
          <a:p>
            <a:pPr algn="l" indent="0" marL="0">
              <a:buNone/>
            </a:pPr>
            <a:r>
              <a:rPr lang="en-US" sz="2700" b="1" dirty="0">
                <a:solidFill>
                  <a:srgbClr val="FFFFFF"/>
                </a:solidFill>
                <a:latin typeface="IBM Plex Sans" pitchFamily="34" charset="0"/>
                <a:ea typeface="IBM Plex Sans" pitchFamily="34" charset="-122"/>
                <a:cs typeface="IBM Plex Sans" pitchFamily="34" charset="-120"/>
              </a:rPr>
              <a:t>Why threadline is different</a:t>
            </a:r>
            <a:endParaRPr lang="en-US" sz="2700" dirty="0"/>
          </a:p>
        </p:txBody>
      </p:sp>
      <p:sp>
        <p:nvSpPr>
          <p:cNvPr id="5" name="Shape 3"/>
          <p:cNvSpPr/>
          <p:nvPr/>
        </p:nvSpPr>
        <p:spPr>
          <a:xfrm>
            <a:off x="457200" y="1417320"/>
            <a:ext cx="11247120" cy="2103120"/>
          </a:xfrm>
          <a:prstGeom prst="roundRect">
            <a:avLst>
              <a:gd name="adj" fmla="val 3478"/>
            </a:avLst>
          </a:prstGeom>
          <a:solidFill>
            <a:srgbClr val="20223A"/>
          </a:solidFill>
          <a:ln w="9525">
            <a:solidFill>
              <a:srgbClr val="33355A"/>
            </a:solidFill>
            <a:prstDash val="solid"/>
          </a:ln>
        </p:spPr>
      </p:sp>
      <p:sp>
        <p:nvSpPr>
          <p:cNvPr id="6" name="Shape 4"/>
          <p:cNvSpPr/>
          <p:nvPr/>
        </p:nvSpPr>
        <p:spPr>
          <a:xfrm>
            <a:off x="731520" y="1627632"/>
            <a:ext cx="292608" cy="292608"/>
          </a:xfrm>
          <a:prstGeom prst="ellipse">
            <a:avLst/>
          </a:prstGeom>
          <a:solidFill>
            <a:srgbClr val="0D7377"/>
          </a:solidFill>
          <a:ln w="12700">
            <a:solidFill>
              <a:srgbClr val="0D7377"/>
            </a:solidFill>
            <a:prstDash val="solid"/>
          </a:ln>
        </p:spPr>
      </p:sp>
      <p:sp>
        <p:nvSpPr>
          <p:cNvPr id="7" name="Text 5"/>
          <p:cNvSpPr/>
          <p:nvPr/>
        </p:nvSpPr>
        <p:spPr>
          <a:xfrm>
            <a:off x="731520" y="1627632"/>
            <a:ext cx="292608" cy="292608"/>
          </a:xfrm>
          <a:prstGeom prst="rect">
            <a:avLst/>
          </a:prstGeom>
          <a:noFill/>
          <a:ln/>
        </p:spPr>
        <p:txBody>
          <a:bodyPr wrap="square" rtlCol="0" anchor="ctr"/>
          <a:lstStyle/>
          <a:p>
            <a:pPr algn="ctr" indent="0" marL="0">
              <a:buNone/>
            </a:pPr>
            <a:r>
              <a:rPr lang="en-US" sz="1200" b="1" dirty="0">
                <a:solidFill>
                  <a:srgbClr val="FFFFFF"/>
                </a:solidFill>
                <a:latin typeface="IBM Plex Sans" pitchFamily="34" charset="0"/>
                <a:ea typeface="IBM Plex Sans" pitchFamily="34" charset="-122"/>
                <a:cs typeface="IBM Plex Sans" pitchFamily="34" charset="-120"/>
              </a:rPr>
              <a:t>A</a:t>
            </a:r>
            <a:endParaRPr lang="en-US" sz="1200" dirty="0"/>
          </a:p>
        </p:txBody>
      </p:sp>
      <p:sp>
        <p:nvSpPr>
          <p:cNvPr id="8" name="Text 6"/>
          <p:cNvSpPr/>
          <p:nvPr/>
        </p:nvSpPr>
        <p:spPr>
          <a:xfrm>
            <a:off x="1188720" y="1572768"/>
            <a:ext cx="9144000" cy="320040"/>
          </a:xfrm>
          <a:prstGeom prst="rect">
            <a:avLst/>
          </a:prstGeom>
          <a:noFill/>
          <a:ln/>
        </p:spPr>
        <p:txBody>
          <a:bodyPr wrap="square" rtlCol="0" anchor="ctr"/>
          <a:lstStyle/>
          <a:p>
            <a:pPr indent="0" marL="0">
              <a:buNone/>
            </a:pPr>
            <a:r>
              <a:rPr lang="en-US" sz="1350" b="1" dirty="0">
                <a:solidFill>
                  <a:srgbClr val="14BDAC"/>
                </a:solidFill>
                <a:latin typeface="IBM Plex Sans" pitchFamily="34" charset="0"/>
                <a:ea typeface="IBM Plex Sans" pitchFamily="34" charset="-122"/>
                <a:cs typeface="IBM Plex Sans" pitchFamily="34" charset="-120"/>
              </a:rPr>
              <a:t>vs. adaptive fashion product companies</a:t>
            </a:r>
            <a:endParaRPr lang="en-US" sz="1350" dirty="0"/>
          </a:p>
        </p:txBody>
      </p:sp>
      <p:sp>
        <p:nvSpPr>
          <p:cNvPr id="9" name="Text 7"/>
          <p:cNvSpPr/>
          <p:nvPr/>
        </p:nvSpPr>
        <p:spPr>
          <a:xfrm>
            <a:off x="1188720" y="1901952"/>
            <a:ext cx="9144000" cy="320040"/>
          </a:xfrm>
          <a:prstGeom prst="rect">
            <a:avLst/>
          </a:prstGeom>
          <a:noFill/>
          <a:ln/>
        </p:spPr>
        <p:txBody>
          <a:bodyPr wrap="square" rtlCol="0" anchor="ctr"/>
          <a:lstStyle/>
          <a:p>
            <a:pPr indent="0" marL="0">
              <a:buNone/>
            </a:pPr>
            <a:r>
              <a:rPr lang="en-US" sz="1150" dirty="0">
                <a:solidFill>
                  <a:srgbClr val="9AA7AD"/>
                </a:solidFill>
                <a:latin typeface="IBM Plex Mono" pitchFamily="34" charset="0"/>
                <a:ea typeface="IBM Plex Mono" pitchFamily="34" charset="-122"/>
                <a:cs typeface="IBM Plex Mono" pitchFamily="34" charset="-120"/>
              </a:rPr>
              <a:t>Tommy Hilfiger Adaptive   •   Silverts   •   Reboundwear</a:t>
            </a:r>
            <a:endParaRPr lang="en-US" sz="1150" dirty="0"/>
          </a:p>
        </p:txBody>
      </p:sp>
      <p:sp>
        <p:nvSpPr>
          <p:cNvPr id="10" name="Text 8"/>
          <p:cNvSpPr/>
          <p:nvPr/>
        </p:nvSpPr>
        <p:spPr>
          <a:xfrm>
            <a:off x="731520" y="2286000"/>
            <a:ext cx="10698480" cy="1097280"/>
          </a:xfrm>
          <a:prstGeom prst="rect">
            <a:avLst/>
          </a:prstGeom>
          <a:noFill/>
          <a:ln/>
        </p:spPr>
        <p:txBody>
          <a:bodyPr wrap="square" rtlCol="0" anchor="ctr"/>
          <a:lstStyle/>
          <a:p>
            <a:pPr algn="l" indent="0" marL="0">
              <a:buNone/>
            </a:pPr>
            <a:r>
              <a:rPr lang="en-US" sz="1300" dirty="0">
                <a:solidFill>
                  <a:srgbClr val="D8E1E3"/>
                </a:solidFill>
                <a:latin typeface="IBM Plex Sans" pitchFamily="34" charset="0"/>
                <a:ea typeface="IBM Plex Sans" pitchFamily="34" charset="-122"/>
                <a:cs typeface="IBM Plex Sans" pitchFamily="34" charset="-120"/>
              </a:rPr>
              <a:t>They sell finished garments, built on internal assumptions, for one end consumer. Threadline sells the intelligence that tells any brand, including them, what to build next, grounded in verified community signals.</a:t>
            </a:r>
            <a:endParaRPr lang="en-US" sz="1300" dirty="0"/>
          </a:p>
        </p:txBody>
      </p:sp>
      <p:sp>
        <p:nvSpPr>
          <p:cNvPr id="11" name="Shape 9"/>
          <p:cNvSpPr/>
          <p:nvPr/>
        </p:nvSpPr>
        <p:spPr>
          <a:xfrm>
            <a:off x="457200" y="3749040"/>
            <a:ext cx="11247120" cy="2331720"/>
          </a:xfrm>
          <a:prstGeom prst="roundRect">
            <a:avLst>
              <a:gd name="adj" fmla="val 3137"/>
            </a:avLst>
          </a:prstGeom>
          <a:solidFill>
            <a:srgbClr val="0D7377"/>
          </a:solidFill>
          <a:ln w="12700">
            <a:solidFill>
              <a:srgbClr val="0D7377"/>
            </a:solidFill>
            <a:prstDash val="solid"/>
          </a:ln>
        </p:spPr>
      </p:sp>
      <p:sp>
        <p:nvSpPr>
          <p:cNvPr id="12" name="Shape 10"/>
          <p:cNvSpPr/>
          <p:nvPr/>
        </p:nvSpPr>
        <p:spPr>
          <a:xfrm>
            <a:off x="731520" y="3959352"/>
            <a:ext cx="292608" cy="292608"/>
          </a:xfrm>
          <a:prstGeom prst="ellipse">
            <a:avLst/>
          </a:prstGeom>
          <a:solidFill>
            <a:srgbClr val="1A1A2E"/>
          </a:solidFill>
          <a:ln w="12700">
            <a:solidFill>
              <a:srgbClr val="1A1A2E"/>
            </a:solidFill>
            <a:prstDash val="solid"/>
          </a:ln>
        </p:spPr>
      </p:sp>
      <p:sp>
        <p:nvSpPr>
          <p:cNvPr id="13" name="Text 11"/>
          <p:cNvSpPr/>
          <p:nvPr/>
        </p:nvSpPr>
        <p:spPr>
          <a:xfrm>
            <a:off x="731520" y="3959352"/>
            <a:ext cx="292608" cy="292608"/>
          </a:xfrm>
          <a:prstGeom prst="rect">
            <a:avLst/>
          </a:prstGeom>
          <a:noFill/>
          <a:ln/>
        </p:spPr>
        <p:txBody>
          <a:bodyPr wrap="square" rtlCol="0" anchor="ctr"/>
          <a:lstStyle/>
          <a:p>
            <a:pPr algn="ctr" indent="0" marL="0">
              <a:buNone/>
            </a:pPr>
            <a:r>
              <a:rPr lang="en-US" sz="1200" b="1" dirty="0">
                <a:solidFill>
                  <a:srgbClr val="14BDAC"/>
                </a:solidFill>
                <a:latin typeface="IBM Plex Sans" pitchFamily="34" charset="0"/>
                <a:ea typeface="IBM Plex Sans" pitchFamily="34" charset="-122"/>
                <a:cs typeface="IBM Plex Sans" pitchFamily="34" charset="-120"/>
              </a:rPr>
              <a:t>B</a:t>
            </a:r>
            <a:endParaRPr lang="en-US" sz="1200" dirty="0"/>
          </a:p>
        </p:txBody>
      </p:sp>
      <p:sp>
        <p:nvSpPr>
          <p:cNvPr id="14" name="Text 12"/>
          <p:cNvSpPr/>
          <p:nvPr/>
        </p:nvSpPr>
        <p:spPr>
          <a:xfrm>
            <a:off x="1188720" y="3904488"/>
            <a:ext cx="9144000" cy="320040"/>
          </a:xfrm>
          <a:prstGeom prst="rect">
            <a:avLst/>
          </a:prstGeom>
          <a:noFill/>
          <a:ln/>
        </p:spPr>
        <p:txBody>
          <a:bodyPr wrap="square" rtlCol="0" anchor="ctr"/>
          <a:lstStyle/>
          <a:p>
            <a:pPr indent="0" marL="0">
              <a:buNone/>
            </a:pPr>
            <a:r>
              <a:rPr lang="en-US" sz="1350" b="1" dirty="0">
                <a:solidFill>
                  <a:srgbClr val="FFFFFF"/>
                </a:solidFill>
                <a:latin typeface="IBM Plex Sans" pitchFamily="34" charset="0"/>
                <a:ea typeface="IBM Plex Sans" pitchFamily="34" charset="-122"/>
                <a:cs typeface="IBM Plex Sans" pitchFamily="34" charset="-120"/>
              </a:rPr>
              <a:t>vs. other AI market intelligence tools</a:t>
            </a:r>
            <a:endParaRPr lang="en-US" sz="1350" dirty="0"/>
          </a:p>
        </p:txBody>
      </p:sp>
      <p:sp>
        <p:nvSpPr>
          <p:cNvPr id="15" name="Text 13"/>
          <p:cNvSpPr/>
          <p:nvPr/>
        </p:nvSpPr>
        <p:spPr>
          <a:xfrm>
            <a:off x="1188720" y="4233672"/>
            <a:ext cx="9601200" cy="320040"/>
          </a:xfrm>
          <a:prstGeom prst="rect">
            <a:avLst/>
          </a:prstGeom>
          <a:noFill/>
          <a:ln/>
        </p:spPr>
        <p:txBody>
          <a:bodyPr wrap="square" rtlCol="0" anchor="ctr"/>
          <a:lstStyle/>
          <a:p>
            <a:pPr indent="0" marL="0">
              <a:buNone/>
            </a:pPr>
            <a:r>
              <a:rPr lang="en-US" sz="1150" dirty="0">
                <a:solidFill>
                  <a:srgbClr val="D8E1E3"/>
                </a:solidFill>
                <a:latin typeface="IBM Plex Mono" pitchFamily="34" charset="0"/>
                <a:ea typeface="IBM Plex Mono" pitchFamily="34" charset="-122"/>
                <a:cs typeface="IBM Plex Mono" pitchFamily="34" charset="-120"/>
              </a:rPr>
              <a:t>Brandwatch (sentiment monitoring)   •   Quantilope (automated surveys)</a:t>
            </a:r>
            <a:endParaRPr lang="en-US" sz="1150" dirty="0"/>
          </a:p>
        </p:txBody>
      </p:sp>
      <p:sp>
        <p:nvSpPr>
          <p:cNvPr id="16" name="Text 14"/>
          <p:cNvSpPr/>
          <p:nvPr/>
        </p:nvSpPr>
        <p:spPr>
          <a:xfrm>
            <a:off x="731520" y="4617720"/>
            <a:ext cx="10698480" cy="1371600"/>
          </a:xfrm>
          <a:prstGeom prst="rect">
            <a:avLst/>
          </a:prstGeom>
          <a:noFill/>
          <a:ln/>
        </p:spPr>
        <p:txBody>
          <a:bodyPr wrap="square" rtlCol="0" anchor="ctr"/>
          <a:lstStyle/>
          <a:p>
            <a:pPr algn="l" indent="0" marL="0">
              <a:buNone/>
            </a:pPr>
            <a:r>
              <a:rPr lang="en-US" sz="1300" dirty="0">
                <a:solidFill>
                  <a:srgbClr val="FFFFFF"/>
                </a:solidFill>
                <a:latin typeface="IBM Plex Sans" pitchFamily="34" charset="0"/>
                <a:ea typeface="IBM Plex Sans" pitchFamily="34" charset="-122"/>
                <a:cs typeface="IBM Plex Sans" pitchFamily="34" charset="-120"/>
              </a:rPr>
              <a:t>Monitoring tools track what people are saying. Survey tools automate a study once a team already knows what to ask. Neither tells a brand what to build. Threadline scans condition-specific signal directly and outputs a ranked, evidence-backed product opportunity, already scored.</a:t>
            </a:r>
            <a:endParaRPr lang="en-US" sz="1300" dirty="0"/>
          </a:p>
        </p:txBody>
      </p:sp>
      <p:sp>
        <p:nvSpPr>
          <p:cNvPr id="17" name="Shape 15"/>
          <p:cNvSpPr/>
          <p:nvPr/>
        </p:nvSpPr>
        <p:spPr>
          <a:xfrm>
            <a:off x="9692640" y="6537960"/>
            <a:ext cx="100584" cy="100584"/>
          </a:xfrm>
          <a:prstGeom prst="ellipse">
            <a:avLst/>
          </a:prstGeom>
          <a:noFill/>
          <a:ln w="12700">
            <a:solidFill>
              <a:srgbClr val="33355A"/>
            </a:solidFill>
            <a:prstDash val="solid"/>
          </a:ln>
        </p:spPr>
      </p:sp>
      <p:sp>
        <p:nvSpPr>
          <p:cNvPr id="18" name="Shape 16"/>
          <p:cNvSpPr/>
          <p:nvPr/>
        </p:nvSpPr>
        <p:spPr>
          <a:xfrm>
            <a:off x="9930384" y="6537960"/>
            <a:ext cx="100584" cy="100584"/>
          </a:xfrm>
          <a:prstGeom prst="ellipse">
            <a:avLst/>
          </a:prstGeom>
          <a:solidFill>
            <a:srgbClr val="14BDAC"/>
          </a:solidFill>
          <a:ln w="12700">
            <a:solidFill>
              <a:srgbClr val="14BDAC"/>
            </a:solidFill>
            <a:prstDash val="solid"/>
          </a:ln>
        </p:spPr>
      </p:sp>
      <p:sp>
        <p:nvSpPr>
          <p:cNvPr id="19" name="Shape 17"/>
          <p:cNvSpPr/>
          <p:nvPr/>
        </p:nvSpPr>
        <p:spPr>
          <a:xfrm>
            <a:off x="10168128" y="6537960"/>
            <a:ext cx="100584" cy="100584"/>
          </a:xfrm>
          <a:prstGeom prst="ellipse">
            <a:avLst/>
          </a:prstGeom>
          <a:noFill/>
          <a:ln w="12700">
            <a:solidFill>
              <a:srgbClr val="33355A"/>
            </a:solidFill>
            <a:prstDash val="solid"/>
          </a:ln>
        </p:spPr>
      </p:sp>
      <p:sp>
        <p:nvSpPr>
          <p:cNvPr id="20" name="Shape 18"/>
          <p:cNvSpPr/>
          <p:nvPr/>
        </p:nvSpPr>
        <p:spPr>
          <a:xfrm>
            <a:off x="10405872" y="6537960"/>
            <a:ext cx="100584" cy="100584"/>
          </a:xfrm>
          <a:prstGeom prst="ellipse">
            <a:avLst/>
          </a:prstGeom>
          <a:noFill/>
          <a:ln w="12700">
            <a:solidFill>
              <a:srgbClr val="33355A"/>
            </a:solidFill>
            <a:prstDash val="solid"/>
          </a:ln>
        </p:spPr>
      </p:sp>
      <p:sp>
        <p:nvSpPr>
          <p:cNvPr id="21" name="Shape 19"/>
          <p:cNvSpPr/>
          <p:nvPr/>
        </p:nvSpPr>
        <p:spPr>
          <a:xfrm>
            <a:off x="10643616" y="6537960"/>
            <a:ext cx="100584" cy="100584"/>
          </a:xfrm>
          <a:prstGeom prst="ellipse">
            <a:avLst/>
          </a:prstGeom>
          <a:noFill/>
          <a:ln w="12700">
            <a:solidFill>
              <a:srgbClr val="33355A"/>
            </a:solidFill>
            <a:prstDash val="solid"/>
          </a:ln>
        </p:spPr>
      </p:sp>
      <p:sp>
        <p:nvSpPr>
          <p:cNvPr id="22" name="Text 20"/>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23" name="Text 21"/>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457200" y="384048"/>
            <a:ext cx="109728" cy="109728"/>
          </a:xfrm>
          <a:prstGeom prst="ellipse">
            <a:avLst/>
          </a:prstGeom>
          <a:solidFill>
            <a:srgbClr val="14BDAC"/>
          </a:solidFill>
          <a:ln w="12700">
            <a:solidFill>
              <a:srgbClr val="14BDAC"/>
            </a:solidFill>
            <a:prstDash val="solid"/>
          </a:ln>
        </p:spPr>
      </p:sp>
      <p:sp>
        <p:nvSpPr>
          <p:cNvPr id="3" name="Text 1"/>
          <p:cNvSpPr/>
          <p:nvPr/>
        </p:nvSpPr>
        <p:spPr>
          <a:xfrm>
            <a:off x="658368" y="256032"/>
            <a:ext cx="5486400" cy="320040"/>
          </a:xfrm>
          <a:prstGeom prst="rect">
            <a:avLst/>
          </a:prstGeom>
          <a:noFill/>
          <a:ln/>
        </p:spPr>
        <p:txBody>
          <a:bodyPr wrap="square" rtlCol="0" anchor="ctr"/>
          <a:lstStyle/>
          <a:p>
            <a:pPr algn="l" indent="0" marL="0">
              <a:buNone/>
            </a:pPr>
            <a:r>
              <a:rPr lang="en-US" sz="1100" b="1" spc="150" kern="0" dirty="0">
                <a:solidFill>
                  <a:srgbClr val="14BDAC"/>
                </a:solidFill>
                <a:latin typeface="IBM Plex Sans" pitchFamily="34" charset="0"/>
                <a:ea typeface="IBM Plex Sans" pitchFamily="34" charset="-122"/>
                <a:cs typeface="IBM Plex Sans" pitchFamily="34" charset="-120"/>
              </a:rPr>
              <a:t>VISUAL IDENTITY</a:t>
            </a:r>
            <a:endParaRPr lang="en-US" sz="1100" dirty="0"/>
          </a:p>
        </p:txBody>
      </p:sp>
      <p:sp>
        <p:nvSpPr>
          <p:cNvPr id="4" name="Text 2"/>
          <p:cNvSpPr/>
          <p:nvPr/>
        </p:nvSpPr>
        <p:spPr>
          <a:xfrm>
            <a:off x="457200" y="548640"/>
            <a:ext cx="10332720" cy="548640"/>
          </a:xfrm>
          <a:prstGeom prst="rect">
            <a:avLst/>
          </a:prstGeom>
          <a:noFill/>
          <a:ln/>
        </p:spPr>
        <p:txBody>
          <a:bodyPr wrap="square" rtlCol="0" anchor="ctr"/>
          <a:lstStyle/>
          <a:p>
            <a:pPr algn="l" indent="0" marL="0">
              <a:buNone/>
            </a:pPr>
            <a:r>
              <a:rPr lang="en-US" sz="2700" b="1" dirty="0">
                <a:solidFill>
                  <a:srgbClr val="FFFFFF"/>
                </a:solidFill>
                <a:latin typeface="IBM Plex Sans" pitchFamily="34" charset="0"/>
                <a:ea typeface="IBM Plex Sans" pitchFamily="34" charset="-122"/>
                <a:cs typeface="IBM Plex Sans" pitchFamily="34" charset="-120"/>
              </a:rPr>
              <a:t>Logo, color, and typography</a:t>
            </a:r>
            <a:endParaRPr lang="en-US" sz="2700" dirty="0"/>
          </a:p>
        </p:txBody>
      </p:sp>
      <p:sp>
        <p:nvSpPr>
          <p:cNvPr id="5" name="Shape 3"/>
          <p:cNvSpPr/>
          <p:nvPr/>
        </p:nvSpPr>
        <p:spPr>
          <a:xfrm>
            <a:off x="457200" y="1463040"/>
            <a:ext cx="3291840" cy="1828800"/>
          </a:xfrm>
          <a:prstGeom prst="roundRect">
            <a:avLst>
              <a:gd name="adj" fmla="val 4000"/>
            </a:avLst>
          </a:prstGeom>
          <a:solidFill>
            <a:srgbClr val="20223A"/>
          </a:solidFill>
          <a:ln w="9525">
            <a:solidFill>
              <a:srgbClr val="33355A"/>
            </a:solidFill>
            <a:prstDash val="solid"/>
          </a:ln>
        </p:spPr>
      </p:sp>
      <p:sp>
        <p:nvSpPr>
          <p:cNvPr id="6" name="Shape 4"/>
          <p:cNvSpPr/>
          <p:nvPr/>
        </p:nvSpPr>
        <p:spPr>
          <a:xfrm>
            <a:off x="1234440" y="2377440"/>
            <a:ext cx="822960" cy="0"/>
          </a:xfrm>
          <a:prstGeom prst="line">
            <a:avLst/>
          </a:prstGeom>
          <a:noFill/>
          <a:ln w="19050">
            <a:solidFill>
              <a:srgbClr val="14BDAC"/>
            </a:solidFill>
            <a:prstDash val="dash"/>
          </a:ln>
        </p:spPr>
      </p:sp>
      <p:sp>
        <p:nvSpPr>
          <p:cNvPr id="7" name="Shape 5"/>
          <p:cNvSpPr/>
          <p:nvPr/>
        </p:nvSpPr>
        <p:spPr>
          <a:xfrm>
            <a:off x="2084832" y="2313432"/>
            <a:ext cx="146304" cy="146304"/>
          </a:xfrm>
          <a:prstGeom prst="ellipse">
            <a:avLst/>
          </a:prstGeom>
          <a:solidFill>
            <a:srgbClr val="14BDAC"/>
          </a:solidFill>
          <a:ln w="12700">
            <a:solidFill>
              <a:srgbClr val="14BDAC"/>
            </a:solidFill>
            <a:prstDash val="solid"/>
          </a:ln>
        </p:spPr>
      </p:sp>
      <p:sp>
        <p:nvSpPr>
          <p:cNvPr id="8" name="Text 6"/>
          <p:cNvSpPr/>
          <p:nvPr/>
        </p:nvSpPr>
        <p:spPr>
          <a:xfrm>
            <a:off x="640080" y="2651760"/>
            <a:ext cx="3017520" cy="365760"/>
          </a:xfrm>
          <a:prstGeom prst="rect">
            <a:avLst/>
          </a:prstGeom>
          <a:noFill/>
          <a:ln/>
        </p:spPr>
        <p:txBody>
          <a:bodyPr wrap="square" rtlCol="0" anchor="ctr"/>
          <a:lstStyle/>
          <a:p>
            <a:pPr indent="0" marL="0">
              <a:buNone/>
            </a:pPr>
            <a:r>
              <a:rPr lang="en-US" sz="1600" b="1" dirty="0">
                <a:solidFill>
                  <a:srgbClr val="FFFFFF"/>
                </a:solidFill>
                <a:latin typeface="IBM Plex Sans" pitchFamily="34" charset="0"/>
                <a:ea typeface="IBM Plex Sans" pitchFamily="34" charset="-122"/>
                <a:cs typeface="IBM Plex Sans" pitchFamily="34" charset="-120"/>
              </a:rPr>
              <a:t>threadline</a:t>
            </a:r>
            <a:endParaRPr lang="en-US" sz="1600" dirty="0"/>
          </a:p>
        </p:txBody>
      </p:sp>
      <p:sp>
        <p:nvSpPr>
          <p:cNvPr id="9" name="Text 7"/>
          <p:cNvSpPr/>
          <p:nvPr/>
        </p:nvSpPr>
        <p:spPr>
          <a:xfrm>
            <a:off x="640080" y="3063240"/>
            <a:ext cx="3017520" cy="228600"/>
          </a:xfrm>
          <a:prstGeom prst="rect">
            <a:avLst/>
          </a:prstGeom>
          <a:noFill/>
          <a:ln/>
        </p:spPr>
        <p:txBody>
          <a:bodyPr wrap="square" rtlCol="0" anchor="ctr"/>
          <a:lstStyle/>
          <a:p>
            <a:pPr indent="0" marL="0">
              <a:buNone/>
            </a:pPr>
            <a:r>
              <a:rPr lang="en-US" sz="900" dirty="0">
                <a:solidFill>
                  <a:srgbClr val="9AA7AD"/>
                </a:solidFill>
                <a:latin typeface="IBM Plex Sans" pitchFamily="34" charset="0"/>
                <a:ea typeface="IBM Plex Sans" pitchFamily="34" charset="-122"/>
                <a:cs typeface="IBM Plex Sans" pitchFamily="34" charset="-120"/>
              </a:rPr>
              <a:t>combination mark — primary logo</a:t>
            </a:r>
            <a:endParaRPr lang="en-US" sz="900" dirty="0"/>
          </a:p>
        </p:txBody>
      </p:sp>
      <p:sp>
        <p:nvSpPr>
          <p:cNvPr id="10" name="Shape 8"/>
          <p:cNvSpPr/>
          <p:nvPr/>
        </p:nvSpPr>
        <p:spPr>
          <a:xfrm>
            <a:off x="3886200" y="1463040"/>
            <a:ext cx="1783080" cy="1828800"/>
          </a:xfrm>
          <a:prstGeom prst="roundRect">
            <a:avLst>
              <a:gd name="adj" fmla="val 4103"/>
            </a:avLst>
          </a:prstGeom>
          <a:solidFill>
            <a:srgbClr val="1A1A2E"/>
          </a:solidFill>
          <a:ln w="15875">
            <a:solidFill>
              <a:srgbClr val="14BDAC"/>
            </a:solidFill>
            <a:prstDash val="solid"/>
          </a:ln>
        </p:spPr>
      </p:sp>
      <p:sp>
        <p:nvSpPr>
          <p:cNvPr id="11" name="Text 9"/>
          <p:cNvSpPr/>
          <p:nvPr/>
        </p:nvSpPr>
        <p:spPr>
          <a:xfrm>
            <a:off x="3886200" y="1645920"/>
            <a:ext cx="1783080" cy="914400"/>
          </a:xfrm>
          <a:prstGeom prst="rect">
            <a:avLst/>
          </a:prstGeom>
          <a:noFill/>
          <a:ln/>
        </p:spPr>
        <p:txBody>
          <a:bodyPr wrap="square" rtlCol="0" anchor="ctr"/>
          <a:lstStyle/>
          <a:p>
            <a:pPr algn="ctr" indent="0" marL="0">
              <a:buNone/>
            </a:pPr>
            <a:r>
              <a:rPr lang="en-US" sz="3200" b="1" dirty="0">
                <a:solidFill>
                  <a:srgbClr val="14BDAC"/>
                </a:solidFill>
                <a:latin typeface="IBM Plex Sans" pitchFamily="34" charset="0"/>
                <a:ea typeface="IBM Plex Sans" pitchFamily="34" charset="-122"/>
                <a:cs typeface="IBM Plex Sans" pitchFamily="34" charset="-120"/>
              </a:rPr>
              <a:t>TL</a:t>
            </a:r>
            <a:endParaRPr lang="en-US" sz="3200" dirty="0"/>
          </a:p>
        </p:txBody>
      </p:sp>
      <p:sp>
        <p:nvSpPr>
          <p:cNvPr id="12" name="Text 10"/>
          <p:cNvSpPr/>
          <p:nvPr/>
        </p:nvSpPr>
        <p:spPr>
          <a:xfrm>
            <a:off x="3886200" y="2761488"/>
            <a:ext cx="1783080" cy="201168"/>
          </a:xfrm>
          <a:prstGeom prst="rect">
            <a:avLst/>
          </a:prstGeom>
          <a:noFill/>
          <a:ln/>
        </p:spPr>
        <p:txBody>
          <a:bodyPr wrap="square" rtlCol="0" anchor="ctr"/>
          <a:lstStyle/>
          <a:p>
            <a:pPr algn="ctr" indent="0" marL="0">
              <a:buNone/>
            </a:pPr>
            <a:r>
              <a:rPr lang="en-US" sz="850" dirty="0">
                <a:solidFill>
                  <a:srgbClr val="9AA7AD"/>
                </a:solidFill>
                <a:latin typeface="IBM Plex Sans" pitchFamily="34" charset="0"/>
                <a:ea typeface="IBM Plex Sans" pitchFamily="34" charset="-122"/>
                <a:cs typeface="IBM Plex Sans" pitchFamily="34" charset="-120"/>
              </a:rPr>
              <a:t>monogram —</a:t>
            </a:r>
            <a:endParaRPr lang="en-US" sz="850" dirty="0"/>
          </a:p>
        </p:txBody>
      </p:sp>
      <p:sp>
        <p:nvSpPr>
          <p:cNvPr id="13" name="Text 11"/>
          <p:cNvSpPr/>
          <p:nvPr/>
        </p:nvSpPr>
        <p:spPr>
          <a:xfrm>
            <a:off x="3886200" y="2962656"/>
            <a:ext cx="1783080" cy="201168"/>
          </a:xfrm>
          <a:prstGeom prst="rect">
            <a:avLst/>
          </a:prstGeom>
          <a:noFill/>
          <a:ln/>
        </p:spPr>
        <p:txBody>
          <a:bodyPr wrap="square" rtlCol="0" anchor="ctr"/>
          <a:lstStyle/>
          <a:p>
            <a:pPr algn="ctr" indent="0" marL="0">
              <a:buNone/>
            </a:pPr>
            <a:r>
              <a:rPr lang="en-US" sz="850" dirty="0">
                <a:solidFill>
                  <a:srgbClr val="9AA7AD"/>
                </a:solidFill>
                <a:latin typeface="IBM Plex Sans" pitchFamily="34" charset="0"/>
                <a:ea typeface="IBM Plex Sans" pitchFamily="34" charset="-122"/>
                <a:cs typeface="IBM Plex Sans" pitchFamily="34" charset="-120"/>
              </a:rPr>
              <a:t>favicon / app icon</a:t>
            </a:r>
            <a:endParaRPr lang="en-US" sz="850" dirty="0"/>
          </a:p>
        </p:txBody>
      </p:sp>
      <p:sp>
        <p:nvSpPr>
          <p:cNvPr id="14" name="Shape 12"/>
          <p:cNvSpPr/>
          <p:nvPr/>
        </p:nvSpPr>
        <p:spPr>
          <a:xfrm>
            <a:off x="5989320" y="1463040"/>
            <a:ext cx="1051560" cy="1188720"/>
          </a:xfrm>
          <a:prstGeom prst="roundRect">
            <a:avLst>
              <a:gd name="adj" fmla="val 4348"/>
            </a:avLst>
          </a:prstGeom>
          <a:solidFill>
            <a:srgbClr val="1A1A2E"/>
          </a:solidFill>
          <a:ln w="12700">
            <a:solidFill>
              <a:srgbClr val="33355A"/>
            </a:solidFill>
            <a:prstDash val="solid"/>
          </a:ln>
        </p:spPr>
      </p:sp>
      <p:sp>
        <p:nvSpPr>
          <p:cNvPr id="15" name="Text 13"/>
          <p:cNvSpPr/>
          <p:nvPr/>
        </p:nvSpPr>
        <p:spPr>
          <a:xfrm>
            <a:off x="5989320" y="2706624"/>
            <a:ext cx="1051560" cy="274320"/>
          </a:xfrm>
          <a:prstGeom prst="rect">
            <a:avLst/>
          </a:prstGeom>
          <a:noFill/>
          <a:ln/>
        </p:spPr>
        <p:txBody>
          <a:bodyPr wrap="square" rtlCol="0" anchor="ctr"/>
          <a:lstStyle/>
          <a:p>
            <a:pPr algn="l" indent="0" marL="0">
              <a:buNone/>
            </a:pPr>
            <a:r>
              <a:rPr lang="en-US" sz="950" dirty="0">
                <a:solidFill>
                  <a:srgbClr val="FFFFFF"/>
                </a:solidFill>
                <a:latin typeface="IBM Plex Sans" pitchFamily="34" charset="0"/>
                <a:ea typeface="IBM Plex Sans" pitchFamily="34" charset="-122"/>
                <a:cs typeface="IBM Plex Sans" pitchFamily="34" charset="-120"/>
              </a:rPr>
              <a:t>Navy</a:t>
            </a:r>
            <a:endParaRPr lang="en-US" sz="950" dirty="0"/>
          </a:p>
        </p:txBody>
      </p:sp>
      <p:sp>
        <p:nvSpPr>
          <p:cNvPr id="16" name="Text 14"/>
          <p:cNvSpPr/>
          <p:nvPr/>
        </p:nvSpPr>
        <p:spPr>
          <a:xfrm>
            <a:off x="5989320" y="2944368"/>
            <a:ext cx="1051560" cy="228600"/>
          </a:xfrm>
          <a:prstGeom prst="rect">
            <a:avLst/>
          </a:prstGeom>
          <a:noFill/>
          <a:ln/>
        </p:spPr>
        <p:txBody>
          <a:bodyPr wrap="square" rtlCol="0" anchor="ctr"/>
          <a:lstStyle/>
          <a:p>
            <a:pPr algn="l" indent="0" marL="0">
              <a:buNone/>
            </a:pPr>
            <a:r>
              <a:rPr lang="en-US" sz="850" dirty="0">
                <a:solidFill>
                  <a:srgbClr val="9AA7AD"/>
                </a:solidFill>
                <a:latin typeface="IBM Plex Mono" pitchFamily="34" charset="0"/>
                <a:ea typeface="IBM Plex Mono" pitchFamily="34" charset="-122"/>
                <a:cs typeface="IBM Plex Mono" pitchFamily="34" charset="-120"/>
              </a:rPr>
              <a:t>1A1A2E</a:t>
            </a:r>
            <a:endParaRPr lang="en-US" sz="850" dirty="0"/>
          </a:p>
        </p:txBody>
      </p:sp>
      <p:sp>
        <p:nvSpPr>
          <p:cNvPr id="17" name="Shape 15"/>
          <p:cNvSpPr/>
          <p:nvPr/>
        </p:nvSpPr>
        <p:spPr>
          <a:xfrm>
            <a:off x="7114032" y="1463040"/>
            <a:ext cx="1051560" cy="1188720"/>
          </a:xfrm>
          <a:prstGeom prst="roundRect">
            <a:avLst>
              <a:gd name="adj" fmla="val 4348"/>
            </a:avLst>
          </a:prstGeom>
          <a:solidFill>
            <a:srgbClr val="0D7377"/>
          </a:solidFill>
          <a:ln w="12700">
            <a:solidFill>
              <a:srgbClr val="0D7377"/>
            </a:solidFill>
            <a:prstDash val="solid"/>
          </a:ln>
        </p:spPr>
      </p:sp>
      <p:sp>
        <p:nvSpPr>
          <p:cNvPr id="18" name="Text 16"/>
          <p:cNvSpPr/>
          <p:nvPr/>
        </p:nvSpPr>
        <p:spPr>
          <a:xfrm>
            <a:off x="7114032" y="2706624"/>
            <a:ext cx="1051560" cy="274320"/>
          </a:xfrm>
          <a:prstGeom prst="rect">
            <a:avLst/>
          </a:prstGeom>
          <a:noFill/>
          <a:ln/>
        </p:spPr>
        <p:txBody>
          <a:bodyPr wrap="square" rtlCol="0" anchor="ctr"/>
          <a:lstStyle/>
          <a:p>
            <a:pPr algn="l" indent="0" marL="0">
              <a:buNone/>
            </a:pPr>
            <a:r>
              <a:rPr lang="en-US" sz="950" dirty="0">
                <a:solidFill>
                  <a:srgbClr val="FFFFFF"/>
                </a:solidFill>
                <a:latin typeface="IBM Plex Sans" pitchFamily="34" charset="0"/>
                <a:ea typeface="IBM Plex Sans" pitchFamily="34" charset="-122"/>
                <a:cs typeface="IBM Plex Sans" pitchFamily="34" charset="-120"/>
              </a:rPr>
              <a:t>Deep teal</a:t>
            </a:r>
            <a:endParaRPr lang="en-US" sz="950" dirty="0"/>
          </a:p>
        </p:txBody>
      </p:sp>
      <p:sp>
        <p:nvSpPr>
          <p:cNvPr id="19" name="Text 17"/>
          <p:cNvSpPr/>
          <p:nvPr/>
        </p:nvSpPr>
        <p:spPr>
          <a:xfrm>
            <a:off x="7114032" y="2944368"/>
            <a:ext cx="1051560" cy="228600"/>
          </a:xfrm>
          <a:prstGeom prst="rect">
            <a:avLst/>
          </a:prstGeom>
          <a:noFill/>
          <a:ln/>
        </p:spPr>
        <p:txBody>
          <a:bodyPr wrap="square" rtlCol="0" anchor="ctr"/>
          <a:lstStyle/>
          <a:p>
            <a:pPr algn="l" indent="0" marL="0">
              <a:buNone/>
            </a:pPr>
            <a:r>
              <a:rPr lang="en-US" sz="850" dirty="0">
                <a:solidFill>
                  <a:srgbClr val="9AA7AD"/>
                </a:solidFill>
                <a:latin typeface="IBM Plex Mono" pitchFamily="34" charset="0"/>
                <a:ea typeface="IBM Plex Mono" pitchFamily="34" charset="-122"/>
                <a:cs typeface="IBM Plex Mono" pitchFamily="34" charset="-120"/>
              </a:rPr>
              <a:t>0D7377</a:t>
            </a:r>
            <a:endParaRPr lang="en-US" sz="850" dirty="0"/>
          </a:p>
        </p:txBody>
      </p:sp>
      <p:sp>
        <p:nvSpPr>
          <p:cNvPr id="20" name="Shape 18"/>
          <p:cNvSpPr/>
          <p:nvPr/>
        </p:nvSpPr>
        <p:spPr>
          <a:xfrm>
            <a:off x="8238744" y="1463040"/>
            <a:ext cx="1051560" cy="1188720"/>
          </a:xfrm>
          <a:prstGeom prst="roundRect">
            <a:avLst>
              <a:gd name="adj" fmla="val 4348"/>
            </a:avLst>
          </a:prstGeom>
          <a:solidFill>
            <a:srgbClr val="14BDAC"/>
          </a:solidFill>
          <a:ln w="12700">
            <a:solidFill>
              <a:srgbClr val="14BDAC"/>
            </a:solidFill>
            <a:prstDash val="solid"/>
          </a:ln>
        </p:spPr>
      </p:sp>
      <p:sp>
        <p:nvSpPr>
          <p:cNvPr id="21" name="Text 19"/>
          <p:cNvSpPr/>
          <p:nvPr/>
        </p:nvSpPr>
        <p:spPr>
          <a:xfrm>
            <a:off x="8238744" y="2706624"/>
            <a:ext cx="1051560" cy="274320"/>
          </a:xfrm>
          <a:prstGeom prst="rect">
            <a:avLst/>
          </a:prstGeom>
          <a:noFill/>
          <a:ln/>
        </p:spPr>
        <p:txBody>
          <a:bodyPr wrap="square" rtlCol="0" anchor="ctr"/>
          <a:lstStyle/>
          <a:p>
            <a:pPr algn="l" indent="0" marL="0">
              <a:buNone/>
            </a:pPr>
            <a:r>
              <a:rPr lang="en-US" sz="950" dirty="0">
                <a:solidFill>
                  <a:srgbClr val="FFFFFF"/>
                </a:solidFill>
                <a:latin typeface="IBM Plex Sans" pitchFamily="34" charset="0"/>
                <a:ea typeface="IBM Plex Sans" pitchFamily="34" charset="-122"/>
                <a:cs typeface="IBM Plex Sans" pitchFamily="34" charset="-120"/>
              </a:rPr>
              <a:t>Medium teal</a:t>
            </a:r>
            <a:endParaRPr lang="en-US" sz="950" dirty="0"/>
          </a:p>
        </p:txBody>
      </p:sp>
      <p:sp>
        <p:nvSpPr>
          <p:cNvPr id="22" name="Text 20"/>
          <p:cNvSpPr/>
          <p:nvPr/>
        </p:nvSpPr>
        <p:spPr>
          <a:xfrm>
            <a:off x="8238744" y="2944368"/>
            <a:ext cx="1051560" cy="228600"/>
          </a:xfrm>
          <a:prstGeom prst="rect">
            <a:avLst/>
          </a:prstGeom>
          <a:noFill/>
          <a:ln/>
        </p:spPr>
        <p:txBody>
          <a:bodyPr wrap="square" rtlCol="0" anchor="ctr"/>
          <a:lstStyle/>
          <a:p>
            <a:pPr algn="l" indent="0" marL="0">
              <a:buNone/>
            </a:pPr>
            <a:r>
              <a:rPr lang="en-US" sz="850" dirty="0">
                <a:solidFill>
                  <a:srgbClr val="9AA7AD"/>
                </a:solidFill>
                <a:latin typeface="IBM Plex Mono" pitchFamily="34" charset="0"/>
                <a:ea typeface="IBM Plex Mono" pitchFamily="34" charset="-122"/>
                <a:cs typeface="IBM Plex Mono" pitchFamily="34" charset="-120"/>
              </a:rPr>
              <a:t>14BDAC</a:t>
            </a:r>
            <a:endParaRPr lang="en-US" sz="850" dirty="0"/>
          </a:p>
        </p:txBody>
      </p:sp>
      <p:sp>
        <p:nvSpPr>
          <p:cNvPr id="23" name="Shape 21"/>
          <p:cNvSpPr/>
          <p:nvPr/>
        </p:nvSpPr>
        <p:spPr>
          <a:xfrm>
            <a:off x="9363456" y="1463040"/>
            <a:ext cx="1051560" cy="1188720"/>
          </a:xfrm>
          <a:prstGeom prst="roundRect">
            <a:avLst>
              <a:gd name="adj" fmla="val 4348"/>
            </a:avLst>
          </a:prstGeom>
          <a:solidFill>
            <a:srgbClr val="5C6B73"/>
          </a:solidFill>
          <a:ln w="12700">
            <a:solidFill>
              <a:srgbClr val="5C6B73"/>
            </a:solidFill>
            <a:prstDash val="solid"/>
          </a:ln>
        </p:spPr>
      </p:sp>
      <p:sp>
        <p:nvSpPr>
          <p:cNvPr id="24" name="Text 22"/>
          <p:cNvSpPr/>
          <p:nvPr/>
        </p:nvSpPr>
        <p:spPr>
          <a:xfrm>
            <a:off x="9363456" y="2706624"/>
            <a:ext cx="1051560" cy="274320"/>
          </a:xfrm>
          <a:prstGeom prst="rect">
            <a:avLst/>
          </a:prstGeom>
          <a:noFill/>
          <a:ln/>
        </p:spPr>
        <p:txBody>
          <a:bodyPr wrap="square" rtlCol="0" anchor="ctr"/>
          <a:lstStyle/>
          <a:p>
            <a:pPr algn="l" indent="0" marL="0">
              <a:buNone/>
            </a:pPr>
            <a:r>
              <a:rPr lang="en-US" sz="950" dirty="0">
                <a:solidFill>
                  <a:srgbClr val="FFFFFF"/>
                </a:solidFill>
                <a:latin typeface="IBM Plex Sans" pitchFamily="34" charset="0"/>
                <a:ea typeface="IBM Plex Sans" pitchFamily="34" charset="-122"/>
                <a:cs typeface="IBM Plex Sans" pitchFamily="34" charset="-120"/>
              </a:rPr>
              <a:t>Slate</a:t>
            </a:r>
            <a:endParaRPr lang="en-US" sz="950" dirty="0"/>
          </a:p>
        </p:txBody>
      </p:sp>
      <p:sp>
        <p:nvSpPr>
          <p:cNvPr id="25" name="Text 23"/>
          <p:cNvSpPr/>
          <p:nvPr/>
        </p:nvSpPr>
        <p:spPr>
          <a:xfrm>
            <a:off x="9363456" y="2944368"/>
            <a:ext cx="1051560" cy="228600"/>
          </a:xfrm>
          <a:prstGeom prst="rect">
            <a:avLst/>
          </a:prstGeom>
          <a:noFill/>
          <a:ln/>
        </p:spPr>
        <p:txBody>
          <a:bodyPr wrap="square" rtlCol="0" anchor="ctr"/>
          <a:lstStyle/>
          <a:p>
            <a:pPr algn="l" indent="0" marL="0">
              <a:buNone/>
            </a:pPr>
            <a:r>
              <a:rPr lang="en-US" sz="850" dirty="0">
                <a:solidFill>
                  <a:srgbClr val="9AA7AD"/>
                </a:solidFill>
                <a:latin typeface="IBM Plex Mono" pitchFamily="34" charset="0"/>
                <a:ea typeface="IBM Plex Mono" pitchFamily="34" charset="-122"/>
                <a:cs typeface="IBM Plex Mono" pitchFamily="34" charset="-120"/>
              </a:rPr>
              <a:t>5C6B73</a:t>
            </a:r>
            <a:endParaRPr lang="en-US" sz="850" dirty="0"/>
          </a:p>
        </p:txBody>
      </p:sp>
      <p:sp>
        <p:nvSpPr>
          <p:cNvPr id="26" name="Shape 24"/>
          <p:cNvSpPr/>
          <p:nvPr/>
        </p:nvSpPr>
        <p:spPr>
          <a:xfrm>
            <a:off x="10488168" y="1463040"/>
            <a:ext cx="1051560" cy="1188720"/>
          </a:xfrm>
          <a:prstGeom prst="roundRect">
            <a:avLst>
              <a:gd name="adj" fmla="val 4348"/>
            </a:avLst>
          </a:prstGeom>
          <a:solidFill>
            <a:srgbClr val="D9A441"/>
          </a:solidFill>
          <a:ln w="12700">
            <a:solidFill>
              <a:srgbClr val="D9A441"/>
            </a:solidFill>
            <a:prstDash val="solid"/>
          </a:ln>
        </p:spPr>
      </p:sp>
      <p:sp>
        <p:nvSpPr>
          <p:cNvPr id="27" name="Text 25"/>
          <p:cNvSpPr/>
          <p:nvPr/>
        </p:nvSpPr>
        <p:spPr>
          <a:xfrm>
            <a:off x="10488168" y="2706624"/>
            <a:ext cx="1051560" cy="274320"/>
          </a:xfrm>
          <a:prstGeom prst="rect">
            <a:avLst/>
          </a:prstGeom>
          <a:noFill/>
          <a:ln/>
        </p:spPr>
        <p:txBody>
          <a:bodyPr wrap="square" rtlCol="0" anchor="ctr"/>
          <a:lstStyle/>
          <a:p>
            <a:pPr algn="l" indent="0" marL="0">
              <a:buNone/>
            </a:pPr>
            <a:r>
              <a:rPr lang="en-US" sz="950" dirty="0">
                <a:solidFill>
                  <a:srgbClr val="FFFFFF"/>
                </a:solidFill>
                <a:latin typeface="IBM Plex Sans" pitchFamily="34" charset="0"/>
                <a:ea typeface="IBM Plex Sans" pitchFamily="34" charset="-122"/>
                <a:cs typeface="IBM Plex Sans" pitchFamily="34" charset="-120"/>
              </a:rPr>
              <a:t>Amber (CTA only)</a:t>
            </a:r>
            <a:endParaRPr lang="en-US" sz="950" dirty="0"/>
          </a:p>
        </p:txBody>
      </p:sp>
      <p:sp>
        <p:nvSpPr>
          <p:cNvPr id="28" name="Text 26"/>
          <p:cNvSpPr/>
          <p:nvPr/>
        </p:nvSpPr>
        <p:spPr>
          <a:xfrm>
            <a:off x="10488168" y="2944368"/>
            <a:ext cx="1051560" cy="228600"/>
          </a:xfrm>
          <a:prstGeom prst="rect">
            <a:avLst/>
          </a:prstGeom>
          <a:noFill/>
          <a:ln/>
        </p:spPr>
        <p:txBody>
          <a:bodyPr wrap="square" rtlCol="0" anchor="ctr"/>
          <a:lstStyle/>
          <a:p>
            <a:pPr algn="l" indent="0" marL="0">
              <a:buNone/>
            </a:pPr>
            <a:r>
              <a:rPr lang="en-US" sz="850" dirty="0">
                <a:solidFill>
                  <a:srgbClr val="9AA7AD"/>
                </a:solidFill>
                <a:latin typeface="IBM Plex Mono" pitchFamily="34" charset="0"/>
                <a:ea typeface="IBM Plex Mono" pitchFamily="34" charset="-122"/>
                <a:cs typeface="IBM Plex Mono" pitchFamily="34" charset="-120"/>
              </a:rPr>
              <a:t>D9A441</a:t>
            </a:r>
            <a:endParaRPr lang="en-US" sz="850" dirty="0"/>
          </a:p>
        </p:txBody>
      </p:sp>
      <p:sp>
        <p:nvSpPr>
          <p:cNvPr id="29" name="Shape 27"/>
          <p:cNvSpPr/>
          <p:nvPr/>
        </p:nvSpPr>
        <p:spPr>
          <a:xfrm>
            <a:off x="457200" y="3657600"/>
            <a:ext cx="11247120" cy="2377440"/>
          </a:xfrm>
          <a:prstGeom prst="roundRect">
            <a:avLst>
              <a:gd name="adj" fmla="val 3077"/>
            </a:avLst>
          </a:prstGeom>
          <a:solidFill>
            <a:srgbClr val="20223A"/>
          </a:solidFill>
          <a:ln w="9525">
            <a:solidFill>
              <a:srgbClr val="33355A"/>
            </a:solidFill>
            <a:prstDash val="solid"/>
          </a:ln>
        </p:spPr>
      </p:sp>
      <p:sp>
        <p:nvSpPr>
          <p:cNvPr id="30" name="Text 28"/>
          <p:cNvSpPr/>
          <p:nvPr/>
        </p:nvSpPr>
        <p:spPr>
          <a:xfrm>
            <a:off x="822960" y="3886200"/>
            <a:ext cx="5486400" cy="822960"/>
          </a:xfrm>
          <a:prstGeom prst="rect">
            <a:avLst/>
          </a:prstGeom>
          <a:noFill/>
          <a:ln/>
        </p:spPr>
        <p:txBody>
          <a:bodyPr wrap="square" rtlCol="0" anchor="ctr"/>
          <a:lstStyle/>
          <a:p>
            <a:pPr indent="0" marL="0">
              <a:buNone/>
            </a:pPr>
            <a:r>
              <a:rPr lang="en-US" sz="4000" b="1" dirty="0">
                <a:solidFill>
                  <a:srgbClr val="FFFFFF"/>
                </a:solidFill>
                <a:latin typeface="IBM Plex Sans" pitchFamily="34" charset="0"/>
                <a:ea typeface="IBM Plex Sans" pitchFamily="34" charset="-122"/>
                <a:cs typeface="IBM Plex Sans" pitchFamily="34" charset="-120"/>
              </a:rPr>
              <a:t>Aa Bb Cc</a:t>
            </a:r>
            <a:endParaRPr lang="en-US" sz="4000" dirty="0"/>
          </a:p>
        </p:txBody>
      </p:sp>
      <p:sp>
        <p:nvSpPr>
          <p:cNvPr id="31" name="Text 29"/>
          <p:cNvSpPr/>
          <p:nvPr/>
        </p:nvSpPr>
        <p:spPr>
          <a:xfrm>
            <a:off x="822960" y="4709160"/>
            <a:ext cx="5486400" cy="365760"/>
          </a:xfrm>
          <a:prstGeom prst="rect">
            <a:avLst/>
          </a:prstGeom>
          <a:noFill/>
          <a:ln/>
        </p:spPr>
        <p:txBody>
          <a:bodyPr wrap="square" rtlCol="0" anchor="ctr"/>
          <a:lstStyle/>
          <a:p>
            <a:pPr indent="0" marL="0">
              <a:buNone/>
            </a:pPr>
            <a:r>
              <a:rPr lang="en-US" sz="1300" dirty="0">
                <a:solidFill>
                  <a:srgbClr val="14BDAC"/>
                </a:solidFill>
                <a:latin typeface="IBM Plex Sans" pitchFamily="34" charset="0"/>
                <a:ea typeface="IBM Plex Sans" pitchFamily="34" charset="-122"/>
                <a:cs typeface="IBM Plex Sans" pitchFamily="34" charset="-120"/>
              </a:rPr>
              <a:t>IBM Plex Sans — headings &amp; body</a:t>
            </a:r>
            <a:endParaRPr lang="en-US" sz="1300" dirty="0"/>
          </a:p>
        </p:txBody>
      </p:sp>
      <p:sp>
        <p:nvSpPr>
          <p:cNvPr id="32" name="Text 30"/>
          <p:cNvSpPr/>
          <p:nvPr/>
        </p:nvSpPr>
        <p:spPr>
          <a:xfrm>
            <a:off x="6400800" y="3886200"/>
            <a:ext cx="5029200" cy="822960"/>
          </a:xfrm>
          <a:prstGeom prst="rect">
            <a:avLst/>
          </a:prstGeom>
          <a:noFill/>
          <a:ln/>
        </p:spPr>
        <p:txBody>
          <a:bodyPr wrap="square" rtlCol="0" anchor="ctr"/>
          <a:lstStyle/>
          <a:p>
            <a:pPr indent="0" marL="0">
              <a:buNone/>
            </a:pPr>
            <a:r>
              <a:rPr lang="en-US" sz="4000" b="1" dirty="0">
                <a:solidFill>
                  <a:srgbClr val="FFFFFF"/>
                </a:solidFill>
                <a:latin typeface="IBM Plex Mono" pitchFamily="34" charset="0"/>
                <a:ea typeface="IBM Plex Mono" pitchFamily="34" charset="-122"/>
                <a:cs typeface="IBM Plex Mono" pitchFamily="34" charset="-120"/>
              </a:rPr>
              <a:t>0123456789</a:t>
            </a:r>
            <a:endParaRPr lang="en-US" sz="4000" dirty="0"/>
          </a:p>
        </p:txBody>
      </p:sp>
      <p:sp>
        <p:nvSpPr>
          <p:cNvPr id="33" name="Text 31"/>
          <p:cNvSpPr/>
          <p:nvPr/>
        </p:nvSpPr>
        <p:spPr>
          <a:xfrm>
            <a:off x="6400800" y="4709160"/>
            <a:ext cx="5029200" cy="365760"/>
          </a:xfrm>
          <a:prstGeom prst="rect">
            <a:avLst/>
          </a:prstGeom>
          <a:noFill/>
          <a:ln/>
        </p:spPr>
        <p:txBody>
          <a:bodyPr wrap="square" rtlCol="0" anchor="ctr"/>
          <a:lstStyle/>
          <a:p>
            <a:pPr indent="0" marL="0">
              <a:buNone/>
            </a:pPr>
            <a:r>
              <a:rPr lang="en-US" sz="1300" dirty="0">
                <a:solidFill>
                  <a:srgbClr val="14BDAC"/>
                </a:solidFill>
                <a:latin typeface="IBM Plex Sans" pitchFamily="34" charset="0"/>
                <a:ea typeface="IBM Plex Sans" pitchFamily="34" charset="-122"/>
                <a:cs typeface="IBM Plex Sans" pitchFamily="34" charset="-120"/>
              </a:rPr>
              <a:t>IBM Plex Mono — data points only</a:t>
            </a:r>
            <a:endParaRPr lang="en-US" sz="1300" dirty="0"/>
          </a:p>
        </p:txBody>
      </p:sp>
      <p:sp>
        <p:nvSpPr>
          <p:cNvPr id="34" name="Text 32"/>
          <p:cNvSpPr/>
          <p:nvPr/>
        </p:nvSpPr>
        <p:spPr>
          <a:xfrm>
            <a:off x="822960" y="5212080"/>
            <a:ext cx="10515600" cy="365760"/>
          </a:xfrm>
          <a:prstGeom prst="rect">
            <a:avLst/>
          </a:prstGeom>
          <a:noFill/>
          <a:ln/>
        </p:spPr>
        <p:txBody>
          <a:bodyPr wrap="square" rtlCol="0" anchor="ctr"/>
          <a:lstStyle/>
          <a:p>
            <a:pPr indent="0" marL="0">
              <a:buNone/>
            </a:pPr>
            <a:r>
              <a:rPr lang="en-US" sz="1150" dirty="0">
                <a:solidFill>
                  <a:srgbClr val="9AA7AD"/>
                </a:solidFill>
                <a:latin typeface="IBM Plex Sans" pitchFamily="34" charset="0"/>
                <a:ea typeface="IBM Plex Sans" pitchFamily="34" charset="-122"/>
                <a:cs typeface="IBM Plex Sans" pitchFamily="34" charset="-120"/>
              </a:rPr>
              <a:t>60% deep or light teal, 30% navy, 10% amber reserved for calls-to-action only.</a:t>
            </a:r>
            <a:endParaRPr lang="en-US" sz="1150" dirty="0"/>
          </a:p>
        </p:txBody>
      </p:sp>
      <p:sp>
        <p:nvSpPr>
          <p:cNvPr id="35" name="Shape 33"/>
          <p:cNvSpPr/>
          <p:nvPr/>
        </p:nvSpPr>
        <p:spPr>
          <a:xfrm>
            <a:off x="9692640" y="6537960"/>
            <a:ext cx="100584" cy="100584"/>
          </a:xfrm>
          <a:prstGeom prst="ellipse">
            <a:avLst/>
          </a:prstGeom>
          <a:noFill/>
          <a:ln w="12700">
            <a:solidFill>
              <a:srgbClr val="33355A"/>
            </a:solidFill>
            <a:prstDash val="solid"/>
          </a:ln>
        </p:spPr>
      </p:sp>
      <p:sp>
        <p:nvSpPr>
          <p:cNvPr id="36" name="Shape 34"/>
          <p:cNvSpPr/>
          <p:nvPr/>
        </p:nvSpPr>
        <p:spPr>
          <a:xfrm>
            <a:off x="9930384" y="6537960"/>
            <a:ext cx="100584" cy="100584"/>
          </a:xfrm>
          <a:prstGeom prst="ellipse">
            <a:avLst/>
          </a:prstGeom>
          <a:noFill/>
          <a:ln w="12700">
            <a:solidFill>
              <a:srgbClr val="33355A"/>
            </a:solidFill>
            <a:prstDash val="solid"/>
          </a:ln>
        </p:spPr>
      </p:sp>
      <p:sp>
        <p:nvSpPr>
          <p:cNvPr id="37" name="Shape 35"/>
          <p:cNvSpPr/>
          <p:nvPr/>
        </p:nvSpPr>
        <p:spPr>
          <a:xfrm>
            <a:off x="10168128" y="6537960"/>
            <a:ext cx="100584" cy="100584"/>
          </a:xfrm>
          <a:prstGeom prst="ellipse">
            <a:avLst/>
          </a:prstGeom>
          <a:solidFill>
            <a:srgbClr val="14BDAC"/>
          </a:solidFill>
          <a:ln w="12700">
            <a:solidFill>
              <a:srgbClr val="14BDAC"/>
            </a:solidFill>
            <a:prstDash val="solid"/>
          </a:ln>
        </p:spPr>
      </p:sp>
      <p:sp>
        <p:nvSpPr>
          <p:cNvPr id="38" name="Shape 36"/>
          <p:cNvSpPr/>
          <p:nvPr/>
        </p:nvSpPr>
        <p:spPr>
          <a:xfrm>
            <a:off x="10405872" y="6537960"/>
            <a:ext cx="100584" cy="100584"/>
          </a:xfrm>
          <a:prstGeom prst="ellipse">
            <a:avLst/>
          </a:prstGeom>
          <a:noFill/>
          <a:ln w="12700">
            <a:solidFill>
              <a:srgbClr val="33355A"/>
            </a:solidFill>
            <a:prstDash val="solid"/>
          </a:ln>
        </p:spPr>
      </p:sp>
      <p:sp>
        <p:nvSpPr>
          <p:cNvPr id="39" name="Shape 37"/>
          <p:cNvSpPr/>
          <p:nvPr/>
        </p:nvSpPr>
        <p:spPr>
          <a:xfrm>
            <a:off x="10643616" y="6537960"/>
            <a:ext cx="100584" cy="100584"/>
          </a:xfrm>
          <a:prstGeom prst="ellipse">
            <a:avLst/>
          </a:prstGeom>
          <a:noFill/>
          <a:ln w="12700">
            <a:solidFill>
              <a:srgbClr val="33355A"/>
            </a:solidFill>
            <a:prstDash val="solid"/>
          </a:ln>
        </p:spPr>
      </p:sp>
      <p:sp>
        <p:nvSpPr>
          <p:cNvPr id="40" name="Text 38"/>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41" name="Text 39"/>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457200" y="384048"/>
            <a:ext cx="109728" cy="109728"/>
          </a:xfrm>
          <a:prstGeom prst="ellipse">
            <a:avLst/>
          </a:prstGeom>
          <a:solidFill>
            <a:srgbClr val="14BDAC"/>
          </a:solidFill>
          <a:ln w="12700">
            <a:solidFill>
              <a:srgbClr val="14BDAC"/>
            </a:solidFill>
            <a:prstDash val="solid"/>
          </a:ln>
        </p:spPr>
      </p:sp>
      <p:sp>
        <p:nvSpPr>
          <p:cNvPr id="3" name="Text 1"/>
          <p:cNvSpPr/>
          <p:nvPr/>
        </p:nvSpPr>
        <p:spPr>
          <a:xfrm>
            <a:off x="658368" y="256032"/>
            <a:ext cx="5486400" cy="320040"/>
          </a:xfrm>
          <a:prstGeom prst="rect">
            <a:avLst/>
          </a:prstGeom>
          <a:noFill/>
          <a:ln/>
        </p:spPr>
        <p:txBody>
          <a:bodyPr wrap="square" rtlCol="0" anchor="ctr"/>
          <a:lstStyle/>
          <a:p>
            <a:pPr algn="l" indent="0" marL="0">
              <a:buNone/>
            </a:pPr>
            <a:r>
              <a:rPr lang="en-US" sz="1100" b="1" spc="150" kern="0" dirty="0">
                <a:solidFill>
                  <a:srgbClr val="14BDAC"/>
                </a:solidFill>
                <a:latin typeface="IBM Plex Sans" pitchFamily="34" charset="0"/>
                <a:ea typeface="IBM Plex Sans" pitchFamily="34" charset="-122"/>
                <a:cs typeface="IBM Plex Sans" pitchFamily="34" charset="-120"/>
              </a:rPr>
              <a:t>VISUAL IDENTITY</a:t>
            </a:r>
            <a:endParaRPr lang="en-US" sz="1100" dirty="0"/>
          </a:p>
        </p:txBody>
      </p:sp>
      <p:sp>
        <p:nvSpPr>
          <p:cNvPr id="4" name="Text 2"/>
          <p:cNvSpPr/>
          <p:nvPr/>
        </p:nvSpPr>
        <p:spPr>
          <a:xfrm>
            <a:off x="457200" y="548640"/>
            <a:ext cx="10332720" cy="548640"/>
          </a:xfrm>
          <a:prstGeom prst="rect">
            <a:avLst/>
          </a:prstGeom>
          <a:noFill/>
          <a:ln/>
        </p:spPr>
        <p:txBody>
          <a:bodyPr wrap="square" rtlCol="0" anchor="ctr"/>
          <a:lstStyle/>
          <a:p>
            <a:pPr algn="l" indent="0" marL="0">
              <a:buNone/>
            </a:pPr>
            <a:r>
              <a:rPr lang="en-US" sz="2700" b="1" dirty="0">
                <a:solidFill>
                  <a:srgbClr val="FFFFFF"/>
                </a:solidFill>
                <a:latin typeface="IBM Plex Sans" pitchFamily="34" charset="0"/>
                <a:ea typeface="IBM Plex Sans" pitchFamily="34" charset="-122"/>
                <a:cs typeface="IBM Plex Sans" pitchFamily="34" charset="-120"/>
              </a:rPr>
              <a:t>The identity carries across every surface</a:t>
            </a:r>
            <a:endParaRPr lang="en-US" sz="2700" dirty="0"/>
          </a:p>
        </p:txBody>
      </p:sp>
      <p:sp>
        <p:nvSpPr>
          <p:cNvPr id="5" name="Shape 3"/>
          <p:cNvSpPr/>
          <p:nvPr/>
        </p:nvSpPr>
        <p:spPr>
          <a:xfrm>
            <a:off x="457200" y="1554480"/>
            <a:ext cx="3611880" cy="4114800"/>
          </a:xfrm>
          <a:prstGeom prst="roundRect">
            <a:avLst>
              <a:gd name="adj" fmla="val 2025"/>
            </a:avLst>
          </a:prstGeom>
          <a:solidFill>
            <a:srgbClr val="20223A"/>
          </a:solidFill>
          <a:ln w="9525">
            <a:solidFill>
              <a:srgbClr val="33355A"/>
            </a:solidFill>
            <a:prstDash val="solid"/>
          </a:ln>
        </p:spPr>
      </p:sp>
      <p:sp>
        <p:nvSpPr>
          <p:cNvPr id="6" name="Shape 4"/>
          <p:cNvSpPr/>
          <p:nvPr/>
        </p:nvSpPr>
        <p:spPr>
          <a:xfrm>
            <a:off x="731520" y="1828800"/>
            <a:ext cx="128016" cy="128016"/>
          </a:xfrm>
          <a:prstGeom prst="ellipse">
            <a:avLst/>
          </a:prstGeom>
          <a:solidFill>
            <a:srgbClr val="14BDAC"/>
          </a:solidFill>
          <a:ln w="12700">
            <a:solidFill>
              <a:srgbClr val="14BDAC"/>
            </a:solidFill>
            <a:prstDash val="solid"/>
          </a:ln>
        </p:spPr>
      </p:sp>
      <p:sp>
        <p:nvSpPr>
          <p:cNvPr id="7" name="Text 5">
            <a:hlinkClick r:id="rId1" tooltip=""/>
          </p:cNvPr>
          <p:cNvSpPr/>
          <p:nvPr/>
        </p:nvSpPr>
        <p:spPr>
          <a:xfrm>
            <a:off x="731520" y="2103120"/>
            <a:ext cx="3063240" cy="457200"/>
          </a:xfrm>
          <a:prstGeom prst="rect">
            <a:avLst/>
          </a:prstGeom>
          <a:noFill/>
          <a:ln/>
        </p:spPr>
        <p:txBody>
          <a:bodyPr wrap="square" rtlCol="0" anchor="ctr"/>
          <a:lstStyle/>
          <a:p>
            <a:pPr indent="0" marL="0">
              <a:buNone/>
            </a:pPr>
            <a:r>
              <a:rPr lang="en-US" sz="1600" b="1" u="sng" dirty="0">
                <a:solidFill>
                  <a:srgbClr val="FFFFFF"/>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Live website</a:t>
            </a:r>
            <a:endParaRPr lang="en-US" sz="1600" dirty="0"/>
          </a:p>
        </p:txBody>
      </p:sp>
      <p:sp>
        <p:nvSpPr>
          <p:cNvPr id="8" name="Text 6"/>
          <p:cNvSpPr/>
          <p:nvPr/>
        </p:nvSpPr>
        <p:spPr>
          <a:xfrm>
            <a:off x="731520" y="2651760"/>
            <a:ext cx="3063240" cy="2651760"/>
          </a:xfrm>
          <a:prstGeom prst="rect">
            <a:avLst/>
          </a:prstGeom>
          <a:noFill/>
          <a:ln/>
        </p:spPr>
        <p:txBody>
          <a:bodyPr wrap="square" rtlCol="0" anchor="ctr"/>
          <a:lstStyle/>
          <a:p>
            <a:pPr algn="l" indent="0" marL="0">
              <a:buNone/>
            </a:pPr>
            <a:r>
              <a:rPr lang="en-US" sz="1250" dirty="0">
                <a:solidFill>
                  <a:srgbClr val="D8E1E3"/>
                </a:solidFill>
                <a:latin typeface="IBM Plex Sans" pitchFamily="34" charset="0"/>
                <a:ea typeface="IBM Plex Sans" pitchFamily="34" charset="-122"/>
                <a:cs typeface="IBM Plex Sans" pitchFamily="34" charset="-120"/>
              </a:rPr>
              <a:t>Navy background, teal accents, IBM Plex type — landing page and live product share one system.</a:t>
            </a:r>
            <a:endParaRPr lang="en-US" sz="1250" dirty="0"/>
          </a:p>
        </p:txBody>
      </p:sp>
      <p:sp>
        <p:nvSpPr>
          <p:cNvPr id="9" name="Shape 7"/>
          <p:cNvSpPr/>
          <p:nvPr/>
        </p:nvSpPr>
        <p:spPr>
          <a:xfrm>
            <a:off x="4251960" y="1554480"/>
            <a:ext cx="3611880" cy="4114800"/>
          </a:xfrm>
          <a:prstGeom prst="roundRect">
            <a:avLst>
              <a:gd name="adj" fmla="val 2025"/>
            </a:avLst>
          </a:prstGeom>
          <a:solidFill>
            <a:srgbClr val="20223A"/>
          </a:solidFill>
          <a:ln w="9525">
            <a:solidFill>
              <a:srgbClr val="33355A"/>
            </a:solidFill>
            <a:prstDash val="solid"/>
          </a:ln>
        </p:spPr>
      </p:sp>
      <p:sp>
        <p:nvSpPr>
          <p:cNvPr id="10" name="Shape 8"/>
          <p:cNvSpPr/>
          <p:nvPr/>
        </p:nvSpPr>
        <p:spPr>
          <a:xfrm>
            <a:off x="4526280" y="1828800"/>
            <a:ext cx="128016" cy="128016"/>
          </a:xfrm>
          <a:prstGeom prst="ellipse">
            <a:avLst/>
          </a:prstGeom>
          <a:solidFill>
            <a:srgbClr val="14BDAC"/>
          </a:solidFill>
          <a:ln w="12700">
            <a:solidFill>
              <a:srgbClr val="14BDAC"/>
            </a:solidFill>
            <a:prstDash val="solid"/>
          </a:ln>
        </p:spPr>
      </p:sp>
      <p:sp>
        <p:nvSpPr>
          <p:cNvPr id="11" name="Text 9">
            <a:hlinkClick r:id="rId2" tooltip=""/>
          </p:cNvPr>
          <p:cNvSpPr/>
          <p:nvPr/>
        </p:nvSpPr>
        <p:spPr>
          <a:xfrm>
            <a:off x="4526280" y="2103120"/>
            <a:ext cx="3063240" cy="457200"/>
          </a:xfrm>
          <a:prstGeom prst="rect">
            <a:avLst/>
          </a:prstGeom>
          <a:noFill/>
          <a:ln/>
        </p:spPr>
        <p:txBody>
          <a:bodyPr wrap="square" rtlCol="0" anchor="ctr"/>
          <a:lstStyle/>
          <a:p>
            <a:pPr indent="0" marL="0">
              <a:buNone/>
            </a:pPr>
            <a:r>
              <a:rPr lang="en-US" sz="1600" b="1" u="sng" dirty="0">
                <a:solidFill>
                  <a:srgbClr val="FFFFFF"/>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a:t>
            </a:r>
            <a:endParaRPr lang="en-US" sz="1600" dirty="0"/>
          </a:p>
        </p:txBody>
      </p:sp>
      <p:sp>
        <p:nvSpPr>
          <p:cNvPr id="12" name="Shape 10"/>
          <p:cNvSpPr/>
          <p:nvPr/>
        </p:nvSpPr>
        <p:spPr>
          <a:xfrm>
            <a:off x="4526280" y="2651760"/>
            <a:ext cx="3063240" cy="2194560"/>
          </a:xfrm>
          <a:prstGeom prst="roundRect">
            <a:avLst>
              <a:gd name="adj" fmla="val 3333"/>
            </a:avLst>
          </a:prstGeom>
          <a:solidFill>
            <a:srgbClr val="1A1A2E"/>
          </a:solidFill>
          <a:ln w="9525">
            <a:solidFill>
              <a:srgbClr val="33355A"/>
            </a:solidFill>
            <a:prstDash val="solid"/>
          </a:ln>
        </p:spPr>
      </p:sp>
      <p:sp>
        <p:nvSpPr>
          <p:cNvPr id="13" name="Shape 11"/>
          <p:cNvSpPr/>
          <p:nvPr/>
        </p:nvSpPr>
        <p:spPr>
          <a:xfrm>
            <a:off x="4727448" y="2834640"/>
            <a:ext cx="365760" cy="365760"/>
          </a:xfrm>
          <a:prstGeom prst="ellipse">
            <a:avLst/>
          </a:prstGeom>
          <a:solidFill>
            <a:srgbClr val="0D7377"/>
          </a:solidFill>
          <a:ln w="12700">
            <a:solidFill>
              <a:srgbClr val="0D7377"/>
            </a:solidFill>
            <a:prstDash val="solid"/>
          </a:ln>
        </p:spPr>
      </p:sp>
      <p:sp>
        <p:nvSpPr>
          <p:cNvPr id="14" name="Text 12"/>
          <p:cNvSpPr/>
          <p:nvPr/>
        </p:nvSpPr>
        <p:spPr>
          <a:xfrm>
            <a:off x="4727448" y="28346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BM Plex Sans" pitchFamily="34" charset="0"/>
                <a:ea typeface="IBM Plex Sans" pitchFamily="34" charset="-122"/>
                <a:cs typeface="IBM Plex Sans" pitchFamily="34" charset="-120"/>
              </a:rPr>
              <a:t>RM</a:t>
            </a:r>
            <a:endParaRPr lang="en-US" sz="1100" dirty="0"/>
          </a:p>
        </p:txBody>
      </p:sp>
      <p:sp>
        <p:nvSpPr>
          <p:cNvPr id="15" name="Text 13"/>
          <p:cNvSpPr/>
          <p:nvPr/>
        </p:nvSpPr>
        <p:spPr>
          <a:xfrm>
            <a:off x="5184648" y="2834640"/>
            <a:ext cx="2148840" cy="228600"/>
          </a:xfrm>
          <a:prstGeom prst="rect">
            <a:avLst/>
          </a:prstGeom>
          <a:noFill/>
          <a:ln/>
        </p:spPr>
        <p:txBody>
          <a:bodyPr wrap="square" rtlCol="0" anchor="ctr"/>
          <a:lstStyle/>
          <a:p>
            <a:pPr indent="0" marL="0">
              <a:buNone/>
            </a:pPr>
            <a:r>
              <a:rPr lang="en-US" sz="1050" b="1" dirty="0">
                <a:solidFill>
                  <a:srgbClr val="FFFFFF"/>
                </a:solidFill>
                <a:latin typeface="IBM Plex Sans" pitchFamily="34" charset="0"/>
                <a:ea typeface="IBM Plex Sans" pitchFamily="34" charset="-122"/>
                <a:cs typeface="IBM Plex Sans" pitchFamily="34" charset="-120"/>
              </a:rPr>
              <a:t>Raksha K Moorthy</a:t>
            </a:r>
            <a:endParaRPr lang="en-US" sz="1050" dirty="0"/>
          </a:p>
        </p:txBody>
      </p:sp>
      <p:sp>
        <p:nvSpPr>
          <p:cNvPr id="16" name="Text 14"/>
          <p:cNvSpPr/>
          <p:nvPr/>
        </p:nvSpPr>
        <p:spPr>
          <a:xfrm>
            <a:off x="5184648" y="3054096"/>
            <a:ext cx="2148840" cy="228600"/>
          </a:xfrm>
          <a:prstGeom prst="rect">
            <a:avLst/>
          </a:prstGeom>
          <a:noFill/>
          <a:ln/>
        </p:spPr>
        <p:txBody>
          <a:bodyPr wrap="square" rtlCol="0" anchor="ctr"/>
          <a:lstStyle/>
          <a:p>
            <a:pPr indent="0" marL="0">
              <a:buNone/>
            </a:pPr>
            <a:r>
              <a:rPr lang="en-US" sz="850" dirty="0">
                <a:solidFill>
                  <a:srgbClr val="9AA7AD"/>
                </a:solidFill>
                <a:latin typeface="IBM Plex Sans" pitchFamily="34" charset="0"/>
                <a:ea typeface="IBM Plex Sans" pitchFamily="34" charset="-122"/>
                <a:cs typeface="IBM Plex Sans" pitchFamily="34" charset="-120"/>
              </a:rPr>
              <a:t>Product Manager · Northeastern University</a:t>
            </a:r>
            <a:endParaRPr lang="en-US" sz="850" dirty="0"/>
          </a:p>
        </p:txBody>
      </p:sp>
      <p:sp>
        <p:nvSpPr>
          <p:cNvPr id="17" name="Text 15"/>
          <p:cNvSpPr/>
          <p:nvPr/>
        </p:nvSpPr>
        <p:spPr>
          <a:xfrm>
            <a:off x="4754880" y="3364992"/>
            <a:ext cx="2606040" cy="822960"/>
          </a:xfrm>
          <a:prstGeom prst="rect">
            <a:avLst/>
          </a:prstGeom>
          <a:noFill/>
          <a:ln/>
        </p:spPr>
        <p:txBody>
          <a:bodyPr wrap="square" rtlCol="0" anchor="ctr"/>
          <a:lstStyle/>
          <a:p>
            <a:pPr algn="l" indent="0" marL="0">
              <a:buNone/>
            </a:pPr>
            <a:r>
              <a:rPr lang="en-US" sz="1050" dirty="0">
                <a:solidFill>
                  <a:srgbClr val="D8E1E3"/>
                </a:solidFill>
                <a:latin typeface="IBM Plex Sans" pitchFamily="34" charset="0"/>
                <a:ea typeface="IBM Plex Sans" pitchFamily="34" charset="-122"/>
                <a:cs typeface="IBM Plex Sans" pitchFamily="34" charset="-120"/>
              </a:rPr>
              <a:t>Most adaptive fashion brands are still designing for a customer who only exists in a slide deck from six months ago.</a:t>
            </a:r>
            <a:endParaRPr lang="en-US" sz="1050" dirty="0"/>
          </a:p>
        </p:txBody>
      </p:sp>
      <p:sp>
        <p:nvSpPr>
          <p:cNvPr id="18" name="Shape 16"/>
          <p:cNvSpPr/>
          <p:nvPr/>
        </p:nvSpPr>
        <p:spPr>
          <a:xfrm>
            <a:off x="4754880" y="4480560"/>
            <a:ext cx="2606040" cy="0"/>
          </a:xfrm>
          <a:prstGeom prst="line">
            <a:avLst/>
          </a:prstGeom>
          <a:noFill/>
          <a:ln w="6350">
            <a:solidFill>
              <a:srgbClr val="33355A"/>
            </a:solidFill>
            <a:prstDash val="solid"/>
          </a:ln>
        </p:spPr>
      </p:sp>
      <p:sp>
        <p:nvSpPr>
          <p:cNvPr id="19" name="Text 17"/>
          <p:cNvSpPr/>
          <p:nvPr/>
        </p:nvSpPr>
        <p:spPr>
          <a:xfrm>
            <a:off x="4754880" y="4553712"/>
            <a:ext cx="2606040" cy="228600"/>
          </a:xfrm>
          <a:prstGeom prst="rect">
            <a:avLst/>
          </a:prstGeom>
          <a:noFill/>
          <a:ln/>
        </p:spPr>
        <p:txBody>
          <a:bodyPr wrap="square" rtlCol="0" anchor="ctr"/>
          <a:lstStyle/>
          <a:p>
            <a:pPr indent="0" marL="0">
              <a:buNone/>
            </a:pPr>
            <a:r>
              <a:rPr lang="en-US" sz="800" dirty="0">
                <a:solidFill>
                  <a:srgbClr val="14BDAC"/>
                </a:solidFill>
                <a:latin typeface="IBM Plex Sans" pitchFamily="34" charset="0"/>
                <a:ea typeface="IBM Plex Sans" pitchFamily="34" charset="-122"/>
                <a:cs typeface="IBM Plex Sans" pitchFamily="34" charset="-120"/>
              </a:rPr>
              <a:t>#INFO7375   #BrandingAndAI   #AdaptiveFashion</a:t>
            </a:r>
            <a:endParaRPr lang="en-US" sz="800" dirty="0"/>
          </a:p>
        </p:txBody>
      </p:sp>
      <p:sp>
        <p:nvSpPr>
          <p:cNvPr id="20" name="Text 18"/>
          <p:cNvSpPr/>
          <p:nvPr/>
        </p:nvSpPr>
        <p:spPr>
          <a:xfrm>
            <a:off x="4526280" y="4983480"/>
            <a:ext cx="3063240" cy="274320"/>
          </a:xfrm>
          <a:prstGeom prst="rect">
            <a:avLst/>
          </a:prstGeom>
          <a:noFill/>
          <a:ln/>
        </p:spPr>
        <p:txBody>
          <a:bodyPr wrap="square" rtlCol="0" anchor="ctr"/>
          <a:lstStyle/>
          <a:p>
            <a:pPr indent="0" marL="0">
              <a:buNone/>
            </a:pPr>
            <a:r>
              <a:rPr lang="en-US" sz="950" i="1" dirty="0">
                <a:solidFill>
                  <a:srgbClr val="9AA7AD"/>
                </a:solidFill>
                <a:latin typeface="IBM Plex Sans" pitchFamily="34" charset="0"/>
                <a:ea typeface="IBM Plex Sans" pitchFamily="34" charset="-122"/>
                <a:cs typeface="IBM Plex Sans" pitchFamily="34" charset="-120"/>
              </a:rPr>
              <a:t>Live post, A10</a:t>
            </a:r>
            <a:endParaRPr lang="en-US" sz="950" dirty="0"/>
          </a:p>
        </p:txBody>
      </p:sp>
      <p:sp>
        <p:nvSpPr>
          <p:cNvPr id="21" name="Shape 19"/>
          <p:cNvSpPr/>
          <p:nvPr/>
        </p:nvSpPr>
        <p:spPr>
          <a:xfrm>
            <a:off x="8046720" y="1554480"/>
            <a:ext cx="3611880" cy="4114800"/>
          </a:xfrm>
          <a:prstGeom prst="roundRect">
            <a:avLst>
              <a:gd name="adj" fmla="val 2025"/>
            </a:avLst>
          </a:prstGeom>
          <a:solidFill>
            <a:srgbClr val="20223A"/>
          </a:solidFill>
          <a:ln w="9525">
            <a:solidFill>
              <a:srgbClr val="33355A"/>
            </a:solidFill>
            <a:prstDash val="solid"/>
          </a:ln>
        </p:spPr>
      </p:sp>
      <p:sp>
        <p:nvSpPr>
          <p:cNvPr id="22" name="Shape 20"/>
          <p:cNvSpPr/>
          <p:nvPr/>
        </p:nvSpPr>
        <p:spPr>
          <a:xfrm>
            <a:off x="8321040" y="1828800"/>
            <a:ext cx="128016" cy="128016"/>
          </a:xfrm>
          <a:prstGeom prst="ellipse">
            <a:avLst/>
          </a:prstGeom>
          <a:solidFill>
            <a:srgbClr val="14BDAC"/>
          </a:solidFill>
          <a:ln w="12700">
            <a:solidFill>
              <a:srgbClr val="14BDAC"/>
            </a:solidFill>
            <a:prstDash val="solid"/>
          </a:ln>
        </p:spPr>
      </p:sp>
      <p:sp>
        <p:nvSpPr>
          <p:cNvPr id="23" name="Text 21">
            <a:hlinkClick r:id="rId3" tooltip=""/>
          </p:cNvPr>
          <p:cNvSpPr/>
          <p:nvPr/>
        </p:nvSpPr>
        <p:spPr>
          <a:xfrm>
            <a:off x="8321040" y="2103120"/>
            <a:ext cx="3063240" cy="457200"/>
          </a:xfrm>
          <a:prstGeom prst="rect">
            <a:avLst/>
          </a:prstGeom>
          <a:noFill/>
          <a:ln/>
        </p:spPr>
        <p:txBody>
          <a:bodyPr wrap="square" rtlCol="0" anchor="ctr"/>
          <a:lstStyle/>
          <a:p>
            <a:pPr indent="0" marL="0">
              <a:buNone/>
            </a:pPr>
            <a:r>
              <a:rPr lang="en-US" sz="1600" b="1" u="sng" dirty="0">
                <a:solidFill>
                  <a:srgbClr val="FFFFFF"/>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Product interface</a:t>
            </a:r>
            <a:endParaRPr lang="en-US" sz="1600" dirty="0"/>
          </a:p>
        </p:txBody>
      </p:sp>
      <p:sp>
        <p:nvSpPr>
          <p:cNvPr id="24" name="Text 22"/>
          <p:cNvSpPr/>
          <p:nvPr/>
        </p:nvSpPr>
        <p:spPr>
          <a:xfrm>
            <a:off x="8321040" y="2651760"/>
            <a:ext cx="3063240" cy="2651760"/>
          </a:xfrm>
          <a:prstGeom prst="rect">
            <a:avLst/>
          </a:prstGeom>
          <a:noFill/>
          <a:ln/>
        </p:spPr>
        <p:txBody>
          <a:bodyPr wrap="square" rtlCol="0" anchor="ctr"/>
          <a:lstStyle/>
          <a:p>
            <a:pPr algn="l" indent="0" marL="0">
              <a:buNone/>
            </a:pPr>
            <a:r>
              <a:rPr lang="en-US" sz="1250" dirty="0">
                <a:solidFill>
                  <a:srgbClr val="D8E1E3"/>
                </a:solidFill>
                <a:latin typeface="IBM Plex Sans" pitchFamily="34" charset="0"/>
                <a:ea typeface="IBM Plex Sans" pitchFamily="34" charset="-122"/>
                <a:cs typeface="IBM Plex Sans" pitchFamily="34" charset="-120"/>
              </a:rPr>
              <a:t>Condition selector, ranked opportunity cards, and scores use the identical color and type system live.</a:t>
            </a:r>
            <a:endParaRPr lang="en-US" sz="1250" dirty="0"/>
          </a:p>
        </p:txBody>
      </p:sp>
      <p:sp>
        <p:nvSpPr>
          <p:cNvPr id="25" name="Shape 23"/>
          <p:cNvSpPr/>
          <p:nvPr/>
        </p:nvSpPr>
        <p:spPr>
          <a:xfrm>
            <a:off x="9692640" y="6537960"/>
            <a:ext cx="100584" cy="100584"/>
          </a:xfrm>
          <a:prstGeom prst="ellipse">
            <a:avLst/>
          </a:prstGeom>
          <a:noFill/>
          <a:ln w="12700">
            <a:solidFill>
              <a:srgbClr val="33355A"/>
            </a:solidFill>
            <a:prstDash val="solid"/>
          </a:ln>
        </p:spPr>
      </p:sp>
      <p:sp>
        <p:nvSpPr>
          <p:cNvPr id="26" name="Shape 24"/>
          <p:cNvSpPr/>
          <p:nvPr/>
        </p:nvSpPr>
        <p:spPr>
          <a:xfrm>
            <a:off x="9930384" y="6537960"/>
            <a:ext cx="100584" cy="100584"/>
          </a:xfrm>
          <a:prstGeom prst="ellipse">
            <a:avLst/>
          </a:prstGeom>
          <a:noFill/>
          <a:ln w="12700">
            <a:solidFill>
              <a:srgbClr val="33355A"/>
            </a:solidFill>
            <a:prstDash val="solid"/>
          </a:ln>
        </p:spPr>
      </p:sp>
      <p:sp>
        <p:nvSpPr>
          <p:cNvPr id="27" name="Shape 25"/>
          <p:cNvSpPr/>
          <p:nvPr/>
        </p:nvSpPr>
        <p:spPr>
          <a:xfrm>
            <a:off x="10168128" y="6537960"/>
            <a:ext cx="100584" cy="100584"/>
          </a:xfrm>
          <a:prstGeom prst="ellipse">
            <a:avLst/>
          </a:prstGeom>
          <a:solidFill>
            <a:srgbClr val="14BDAC"/>
          </a:solidFill>
          <a:ln w="12700">
            <a:solidFill>
              <a:srgbClr val="14BDAC"/>
            </a:solidFill>
            <a:prstDash val="solid"/>
          </a:ln>
        </p:spPr>
      </p:sp>
      <p:sp>
        <p:nvSpPr>
          <p:cNvPr id="28" name="Shape 26"/>
          <p:cNvSpPr/>
          <p:nvPr/>
        </p:nvSpPr>
        <p:spPr>
          <a:xfrm>
            <a:off x="10405872" y="6537960"/>
            <a:ext cx="100584" cy="100584"/>
          </a:xfrm>
          <a:prstGeom prst="ellipse">
            <a:avLst/>
          </a:prstGeom>
          <a:noFill/>
          <a:ln w="12700">
            <a:solidFill>
              <a:srgbClr val="33355A"/>
            </a:solidFill>
            <a:prstDash val="solid"/>
          </a:ln>
        </p:spPr>
      </p:sp>
      <p:sp>
        <p:nvSpPr>
          <p:cNvPr id="29" name="Shape 27"/>
          <p:cNvSpPr/>
          <p:nvPr/>
        </p:nvSpPr>
        <p:spPr>
          <a:xfrm>
            <a:off x="10643616" y="6537960"/>
            <a:ext cx="100584" cy="100584"/>
          </a:xfrm>
          <a:prstGeom prst="ellipse">
            <a:avLst/>
          </a:prstGeom>
          <a:noFill/>
          <a:ln w="12700">
            <a:solidFill>
              <a:srgbClr val="33355A"/>
            </a:solidFill>
            <a:prstDash val="solid"/>
          </a:ln>
        </p:spPr>
      </p:sp>
      <p:sp>
        <p:nvSpPr>
          <p:cNvPr id="30" name="Text 28"/>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31" name="Text 29"/>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457200" y="384048"/>
            <a:ext cx="109728" cy="109728"/>
          </a:xfrm>
          <a:prstGeom prst="ellipse">
            <a:avLst/>
          </a:prstGeom>
          <a:solidFill>
            <a:srgbClr val="14BDAC"/>
          </a:solidFill>
          <a:ln w="12700">
            <a:solidFill>
              <a:srgbClr val="14BDAC"/>
            </a:solidFill>
            <a:prstDash val="solid"/>
          </a:ln>
        </p:spPr>
      </p:sp>
      <p:sp>
        <p:nvSpPr>
          <p:cNvPr id="3" name="Text 1"/>
          <p:cNvSpPr/>
          <p:nvPr/>
        </p:nvSpPr>
        <p:spPr>
          <a:xfrm>
            <a:off x="658368" y="256032"/>
            <a:ext cx="5486400" cy="320040"/>
          </a:xfrm>
          <a:prstGeom prst="rect">
            <a:avLst/>
          </a:prstGeom>
          <a:noFill/>
          <a:ln/>
        </p:spPr>
        <p:txBody>
          <a:bodyPr wrap="square" rtlCol="0" anchor="ctr"/>
          <a:lstStyle/>
          <a:p>
            <a:pPr algn="l" indent="0" marL="0">
              <a:buNone/>
            </a:pPr>
            <a:r>
              <a:rPr lang="en-US" sz="1100" b="1" spc="150" kern="0" dirty="0">
                <a:solidFill>
                  <a:srgbClr val="14BDAC"/>
                </a:solidFill>
                <a:latin typeface="IBM Plex Sans" pitchFamily="34" charset="0"/>
                <a:ea typeface="IBM Plex Sans" pitchFamily="34" charset="-122"/>
                <a:cs typeface="IBM Plex Sans" pitchFamily="34" charset="-120"/>
              </a:rPr>
              <a:t>BRAND STORYTELLING</a:t>
            </a:r>
            <a:endParaRPr lang="en-US" sz="1100" dirty="0"/>
          </a:p>
        </p:txBody>
      </p:sp>
      <p:sp>
        <p:nvSpPr>
          <p:cNvPr id="4" name="Text 2"/>
          <p:cNvSpPr/>
          <p:nvPr/>
        </p:nvSpPr>
        <p:spPr>
          <a:xfrm>
            <a:off x="457200" y="548640"/>
            <a:ext cx="10332720" cy="548640"/>
          </a:xfrm>
          <a:prstGeom prst="rect">
            <a:avLst/>
          </a:prstGeom>
          <a:noFill/>
          <a:ln/>
        </p:spPr>
        <p:txBody>
          <a:bodyPr wrap="square" rtlCol="0" anchor="ctr"/>
          <a:lstStyle/>
          <a:p>
            <a:pPr algn="l" indent="0" marL="0">
              <a:buNone/>
            </a:pPr>
            <a:r>
              <a:rPr lang="en-US" sz="2700" b="1" dirty="0">
                <a:solidFill>
                  <a:srgbClr val="FFFFFF"/>
                </a:solidFill>
                <a:latin typeface="IBM Plex Sans" pitchFamily="34" charset="0"/>
                <a:ea typeface="IBM Plex Sans" pitchFamily="34" charset="-122"/>
                <a:cs typeface="IBM Plex Sans" pitchFamily="34" charset="-120"/>
              </a:rPr>
              <a:t>Framework: the quest</a:t>
            </a:r>
            <a:endParaRPr lang="en-US" sz="2700" dirty="0"/>
          </a:p>
        </p:txBody>
      </p:sp>
      <p:sp>
        <p:nvSpPr>
          <p:cNvPr id="5" name="Text 3"/>
          <p:cNvSpPr/>
          <p:nvPr/>
        </p:nvSpPr>
        <p:spPr>
          <a:xfrm>
            <a:off x="457200" y="1207008"/>
            <a:ext cx="10789920" cy="320040"/>
          </a:xfrm>
          <a:prstGeom prst="rect">
            <a:avLst/>
          </a:prstGeom>
          <a:noFill/>
          <a:ln/>
        </p:spPr>
        <p:txBody>
          <a:bodyPr wrap="square" rtlCol="0" anchor="ctr"/>
          <a:lstStyle/>
          <a:p>
            <a:pPr algn="l" indent="0" marL="0">
              <a:buNone/>
            </a:pPr>
            <a:r>
              <a:rPr lang="en-US" sz="1300" i="1" dirty="0">
                <a:solidFill>
                  <a:srgbClr val="9AA7AD"/>
                </a:solidFill>
                <a:latin typeface="IBM Plex Sans" pitchFamily="34" charset="0"/>
                <a:ea typeface="IBM Plex Sans" pitchFamily="34" charset="-122"/>
                <a:cs typeface="IBM Plex Sans" pitchFamily="34" charset="-120"/>
              </a:rPr>
              <a:t>One decision, two outcomes — presented in full, live.</a:t>
            </a:r>
            <a:endParaRPr lang="en-US" sz="1300" dirty="0"/>
          </a:p>
        </p:txBody>
      </p:sp>
      <p:sp>
        <p:nvSpPr>
          <p:cNvPr id="6" name="Shape 4"/>
          <p:cNvSpPr/>
          <p:nvPr/>
        </p:nvSpPr>
        <p:spPr>
          <a:xfrm>
            <a:off x="457200" y="2148840"/>
            <a:ext cx="2514600" cy="3520440"/>
          </a:xfrm>
          <a:prstGeom prst="roundRect">
            <a:avLst>
              <a:gd name="adj" fmla="val 2909"/>
            </a:avLst>
          </a:prstGeom>
          <a:solidFill>
            <a:srgbClr val="20223A"/>
          </a:solidFill>
          <a:ln w="9525">
            <a:solidFill>
              <a:srgbClr val="33355A"/>
            </a:solidFill>
            <a:prstDash val="solid"/>
          </a:ln>
        </p:spPr>
      </p:sp>
      <p:sp>
        <p:nvSpPr>
          <p:cNvPr id="7" name="Shape 5"/>
          <p:cNvSpPr/>
          <p:nvPr/>
        </p:nvSpPr>
        <p:spPr>
          <a:xfrm>
            <a:off x="640080" y="2331720"/>
            <a:ext cx="365760" cy="365760"/>
          </a:xfrm>
          <a:prstGeom prst="ellipse">
            <a:avLst/>
          </a:prstGeom>
          <a:solidFill>
            <a:srgbClr val="0D7377"/>
          </a:solidFill>
          <a:ln w="12700">
            <a:solidFill>
              <a:srgbClr val="0D7377"/>
            </a:solidFill>
            <a:prstDash val="solid"/>
          </a:ln>
        </p:spPr>
      </p:sp>
      <p:sp>
        <p:nvSpPr>
          <p:cNvPr id="8" name="Text 6"/>
          <p:cNvSpPr/>
          <p:nvPr/>
        </p:nvSpPr>
        <p:spPr>
          <a:xfrm>
            <a:off x="640080" y="2331720"/>
            <a:ext cx="365760" cy="365760"/>
          </a:xfrm>
          <a:prstGeom prst="rect">
            <a:avLst/>
          </a:prstGeom>
          <a:noFill/>
          <a:ln/>
        </p:spPr>
        <p:txBody>
          <a:bodyPr wrap="square" rtlCol="0" anchor="ctr"/>
          <a:lstStyle/>
          <a:p>
            <a:pPr algn="ctr" indent="0" marL="0">
              <a:buNone/>
            </a:pPr>
            <a:r>
              <a:rPr lang="en-US" sz="1400" b="1" dirty="0">
                <a:solidFill>
                  <a:srgbClr val="FFFFFF"/>
                </a:solidFill>
                <a:latin typeface="IBM Plex Mono" pitchFamily="34" charset="0"/>
                <a:ea typeface="IBM Plex Mono" pitchFamily="34" charset="-122"/>
                <a:cs typeface="IBM Plex Mono" pitchFamily="34" charset="-120"/>
              </a:rPr>
              <a:t>1</a:t>
            </a:r>
            <a:endParaRPr lang="en-US" sz="1400" dirty="0"/>
          </a:p>
        </p:txBody>
      </p:sp>
      <p:sp>
        <p:nvSpPr>
          <p:cNvPr id="9" name="Text 7"/>
          <p:cNvSpPr/>
          <p:nvPr/>
        </p:nvSpPr>
        <p:spPr>
          <a:xfrm>
            <a:off x="640080" y="2834640"/>
            <a:ext cx="2148840" cy="365760"/>
          </a:xfrm>
          <a:prstGeom prst="rect">
            <a:avLst/>
          </a:prstGeom>
          <a:noFill/>
          <a:ln/>
        </p:spPr>
        <p:txBody>
          <a:bodyPr wrap="square" rtlCol="0" anchor="ctr"/>
          <a:lstStyle/>
          <a:p>
            <a:pPr indent="0" marL="0">
              <a:buNone/>
            </a:pPr>
            <a:r>
              <a:rPr lang="en-US" sz="1500" b="1" dirty="0">
                <a:solidFill>
                  <a:srgbClr val="14BDAC"/>
                </a:solidFill>
                <a:latin typeface="IBM Plex Sans" pitchFamily="34" charset="0"/>
                <a:ea typeface="IBM Plex Sans" pitchFamily="34" charset="-122"/>
                <a:cs typeface="IBM Plex Sans" pitchFamily="34" charset="-120"/>
              </a:rPr>
              <a:t>Goal</a:t>
            </a:r>
            <a:endParaRPr lang="en-US" sz="1500" dirty="0"/>
          </a:p>
        </p:txBody>
      </p:sp>
      <p:sp>
        <p:nvSpPr>
          <p:cNvPr id="10" name="Text 8"/>
          <p:cNvSpPr/>
          <p:nvPr/>
        </p:nvSpPr>
        <p:spPr>
          <a:xfrm>
            <a:off x="640080" y="3291840"/>
            <a:ext cx="2148840" cy="2194560"/>
          </a:xfrm>
          <a:prstGeom prst="rect">
            <a:avLst/>
          </a:prstGeom>
          <a:noFill/>
          <a:ln/>
        </p:spPr>
        <p:txBody>
          <a:bodyPr wrap="square" rtlCol="0" anchor="ctr"/>
          <a:lstStyle/>
          <a:p>
            <a:pPr algn="l" indent="0" marL="0">
              <a:buNone/>
            </a:pPr>
            <a:r>
              <a:rPr lang="en-US" sz="1150" dirty="0">
                <a:solidFill>
                  <a:srgbClr val="D8E1E3"/>
                </a:solidFill>
                <a:latin typeface="IBM Plex Sans" pitchFamily="34" charset="0"/>
                <a:ea typeface="IBM Plex Sans" pitchFamily="34" charset="-122"/>
                <a:cs typeface="IBM Plex Sans" pitchFamily="34" charset="-120"/>
              </a:rPr>
              <a:t>Sana needs a defensible product decision for the next roadmap lock, with no research budget.</a:t>
            </a:r>
            <a:endParaRPr lang="en-US" sz="1150" dirty="0"/>
          </a:p>
        </p:txBody>
      </p:sp>
      <p:sp>
        <p:nvSpPr>
          <p:cNvPr id="11" name="Shape 9"/>
          <p:cNvSpPr/>
          <p:nvPr/>
        </p:nvSpPr>
        <p:spPr>
          <a:xfrm>
            <a:off x="2999232" y="3909060"/>
            <a:ext cx="201168" cy="0"/>
          </a:xfrm>
          <a:prstGeom prst="line">
            <a:avLst/>
          </a:prstGeom>
          <a:noFill/>
          <a:ln w="19050">
            <a:solidFill>
              <a:srgbClr val="14BDAC"/>
            </a:solidFill>
            <a:prstDash val="solid"/>
            <a:tailEnd type="triangle"/>
          </a:ln>
        </p:spPr>
      </p:sp>
      <p:sp>
        <p:nvSpPr>
          <p:cNvPr id="12" name="Shape 10"/>
          <p:cNvSpPr/>
          <p:nvPr/>
        </p:nvSpPr>
        <p:spPr>
          <a:xfrm>
            <a:off x="3227832" y="2148840"/>
            <a:ext cx="2514600" cy="3520440"/>
          </a:xfrm>
          <a:prstGeom prst="roundRect">
            <a:avLst>
              <a:gd name="adj" fmla="val 2909"/>
            </a:avLst>
          </a:prstGeom>
          <a:solidFill>
            <a:srgbClr val="20223A"/>
          </a:solidFill>
          <a:ln w="9525">
            <a:solidFill>
              <a:srgbClr val="33355A"/>
            </a:solidFill>
            <a:prstDash val="solid"/>
          </a:ln>
        </p:spPr>
      </p:sp>
      <p:sp>
        <p:nvSpPr>
          <p:cNvPr id="13" name="Shape 11"/>
          <p:cNvSpPr/>
          <p:nvPr/>
        </p:nvSpPr>
        <p:spPr>
          <a:xfrm>
            <a:off x="3410712" y="2331720"/>
            <a:ext cx="365760" cy="365760"/>
          </a:xfrm>
          <a:prstGeom prst="ellipse">
            <a:avLst/>
          </a:prstGeom>
          <a:solidFill>
            <a:srgbClr val="0D7377"/>
          </a:solidFill>
          <a:ln w="12700">
            <a:solidFill>
              <a:srgbClr val="0D7377"/>
            </a:solidFill>
            <a:prstDash val="solid"/>
          </a:ln>
        </p:spPr>
      </p:sp>
      <p:sp>
        <p:nvSpPr>
          <p:cNvPr id="14" name="Text 12"/>
          <p:cNvSpPr/>
          <p:nvPr/>
        </p:nvSpPr>
        <p:spPr>
          <a:xfrm>
            <a:off x="3410712" y="2331720"/>
            <a:ext cx="365760" cy="365760"/>
          </a:xfrm>
          <a:prstGeom prst="rect">
            <a:avLst/>
          </a:prstGeom>
          <a:noFill/>
          <a:ln/>
        </p:spPr>
        <p:txBody>
          <a:bodyPr wrap="square" rtlCol="0" anchor="ctr"/>
          <a:lstStyle/>
          <a:p>
            <a:pPr algn="ctr" indent="0" marL="0">
              <a:buNone/>
            </a:pPr>
            <a:r>
              <a:rPr lang="en-US" sz="1400" b="1" dirty="0">
                <a:solidFill>
                  <a:srgbClr val="FFFFFF"/>
                </a:solidFill>
                <a:latin typeface="IBM Plex Mono" pitchFamily="34" charset="0"/>
                <a:ea typeface="IBM Plex Mono" pitchFamily="34" charset="-122"/>
                <a:cs typeface="IBM Plex Mono" pitchFamily="34" charset="-120"/>
              </a:rPr>
              <a:t>2</a:t>
            </a:r>
            <a:endParaRPr lang="en-US" sz="1400" dirty="0"/>
          </a:p>
        </p:txBody>
      </p:sp>
      <p:sp>
        <p:nvSpPr>
          <p:cNvPr id="15" name="Text 13"/>
          <p:cNvSpPr/>
          <p:nvPr/>
        </p:nvSpPr>
        <p:spPr>
          <a:xfrm>
            <a:off x="3410712" y="2834640"/>
            <a:ext cx="2148840" cy="365760"/>
          </a:xfrm>
          <a:prstGeom prst="rect">
            <a:avLst/>
          </a:prstGeom>
          <a:noFill/>
          <a:ln/>
        </p:spPr>
        <p:txBody>
          <a:bodyPr wrap="square" rtlCol="0" anchor="ctr"/>
          <a:lstStyle/>
          <a:p>
            <a:pPr indent="0" marL="0">
              <a:buNone/>
            </a:pPr>
            <a:r>
              <a:rPr lang="en-US" sz="1500" b="1" dirty="0">
                <a:solidFill>
                  <a:srgbClr val="14BDAC"/>
                </a:solidFill>
                <a:latin typeface="IBM Plex Sans" pitchFamily="34" charset="0"/>
                <a:ea typeface="IBM Plex Sans" pitchFamily="34" charset="-122"/>
                <a:cs typeface="IBM Plex Sans" pitchFamily="34" charset="-120"/>
              </a:rPr>
              <a:t>Obstacle</a:t>
            </a:r>
            <a:endParaRPr lang="en-US" sz="1500" dirty="0"/>
          </a:p>
        </p:txBody>
      </p:sp>
      <p:sp>
        <p:nvSpPr>
          <p:cNvPr id="16" name="Text 14"/>
          <p:cNvSpPr/>
          <p:nvPr/>
        </p:nvSpPr>
        <p:spPr>
          <a:xfrm>
            <a:off x="3410712" y="3291840"/>
            <a:ext cx="2148840" cy="2194560"/>
          </a:xfrm>
          <a:prstGeom prst="rect">
            <a:avLst/>
          </a:prstGeom>
          <a:noFill/>
          <a:ln/>
        </p:spPr>
        <p:txBody>
          <a:bodyPr wrap="square" rtlCol="0" anchor="ctr"/>
          <a:lstStyle/>
          <a:p>
            <a:pPr algn="l" indent="0" marL="0">
              <a:buNone/>
            </a:pPr>
            <a:r>
              <a:rPr lang="en-US" sz="1150" dirty="0">
                <a:solidFill>
                  <a:srgbClr val="D8E1E3"/>
                </a:solidFill>
                <a:latin typeface="IBM Plex Sans" pitchFamily="34" charset="0"/>
                <a:ea typeface="IBM Plex Sans" pitchFamily="34" charset="-122"/>
                <a:cs typeface="IBM Plex Sans" pitchFamily="34" charset="-120"/>
              </a:rPr>
              <a:t>Two past product misses. The real complaint only surfaced after launch, every time.</a:t>
            </a:r>
            <a:endParaRPr lang="en-US" sz="1150" dirty="0"/>
          </a:p>
        </p:txBody>
      </p:sp>
      <p:sp>
        <p:nvSpPr>
          <p:cNvPr id="17" name="Shape 15"/>
          <p:cNvSpPr/>
          <p:nvPr/>
        </p:nvSpPr>
        <p:spPr>
          <a:xfrm>
            <a:off x="5769864" y="3909060"/>
            <a:ext cx="201168" cy="0"/>
          </a:xfrm>
          <a:prstGeom prst="line">
            <a:avLst/>
          </a:prstGeom>
          <a:noFill/>
          <a:ln w="19050">
            <a:solidFill>
              <a:srgbClr val="14BDAC"/>
            </a:solidFill>
            <a:prstDash val="solid"/>
            <a:tailEnd type="triangle"/>
          </a:ln>
        </p:spPr>
      </p:sp>
      <p:sp>
        <p:nvSpPr>
          <p:cNvPr id="18" name="Shape 16"/>
          <p:cNvSpPr/>
          <p:nvPr/>
        </p:nvSpPr>
        <p:spPr>
          <a:xfrm>
            <a:off x="5998464" y="2148840"/>
            <a:ext cx="2514600" cy="3520440"/>
          </a:xfrm>
          <a:prstGeom prst="roundRect">
            <a:avLst>
              <a:gd name="adj" fmla="val 2909"/>
            </a:avLst>
          </a:prstGeom>
          <a:solidFill>
            <a:srgbClr val="20223A"/>
          </a:solidFill>
          <a:ln w="9525">
            <a:solidFill>
              <a:srgbClr val="33355A"/>
            </a:solidFill>
            <a:prstDash val="solid"/>
          </a:ln>
        </p:spPr>
      </p:sp>
      <p:sp>
        <p:nvSpPr>
          <p:cNvPr id="19" name="Shape 17"/>
          <p:cNvSpPr/>
          <p:nvPr/>
        </p:nvSpPr>
        <p:spPr>
          <a:xfrm>
            <a:off x="6181344" y="2331720"/>
            <a:ext cx="365760" cy="365760"/>
          </a:xfrm>
          <a:prstGeom prst="ellipse">
            <a:avLst/>
          </a:prstGeom>
          <a:solidFill>
            <a:srgbClr val="0D7377"/>
          </a:solidFill>
          <a:ln w="12700">
            <a:solidFill>
              <a:srgbClr val="0D7377"/>
            </a:solidFill>
            <a:prstDash val="solid"/>
          </a:ln>
        </p:spPr>
      </p:sp>
      <p:sp>
        <p:nvSpPr>
          <p:cNvPr id="20" name="Text 18"/>
          <p:cNvSpPr/>
          <p:nvPr/>
        </p:nvSpPr>
        <p:spPr>
          <a:xfrm>
            <a:off x="6181344" y="2331720"/>
            <a:ext cx="365760" cy="365760"/>
          </a:xfrm>
          <a:prstGeom prst="rect">
            <a:avLst/>
          </a:prstGeom>
          <a:noFill/>
          <a:ln/>
        </p:spPr>
        <p:txBody>
          <a:bodyPr wrap="square" rtlCol="0" anchor="ctr"/>
          <a:lstStyle/>
          <a:p>
            <a:pPr algn="ctr" indent="0" marL="0">
              <a:buNone/>
            </a:pPr>
            <a:r>
              <a:rPr lang="en-US" sz="1400" b="1" dirty="0">
                <a:solidFill>
                  <a:srgbClr val="FFFFFF"/>
                </a:solidFill>
                <a:latin typeface="IBM Plex Mono" pitchFamily="34" charset="0"/>
                <a:ea typeface="IBM Plex Mono" pitchFamily="34" charset="-122"/>
                <a:cs typeface="IBM Plex Mono" pitchFamily="34" charset="-120"/>
              </a:rPr>
              <a:t>3</a:t>
            </a:r>
            <a:endParaRPr lang="en-US" sz="1400" dirty="0"/>
          </a:p>
        </p:txBody>
      </p:sp>
      <p:sp>
        <p:nvSpPr>
          <p:cNvPr id="21" name="Text 19"/>
          <p:cNvSpPr/>
          <p:nvPr/>
        </p:nvSpPr>
        <p:spPr>
          <a:xfrm>
            <a:off x="6181344" y="2834640"/>
            <a:ext cx="2148840" cy="365760"/>
          </a:xfrm>
          <a:prstGeom prst="rect">
            <a:avLst/>
          </a:prstGeom>
          <a:noFill/>
          <a:ln/>
        </p:spPr>
        <p:txBody>
          <a:bodyPr wrap="square" rtlCol="0" anchor="ctr"/>
          <a:lstStyle/>
          <a:p>
            <a:pPr indent="0" marL="0">
              <a:buNone/>
            </a:pPr>
            <a:r>
              <a:rPr lang="en-US" sz="1500" b="1" dirty="0">
                <a:solidFill>
                  <a:srgbClr val="14BDAC"/>
                </a:solidFill>
                <a:latin typeface="IBM Plex Sans" pitchFamily="34" charset="0"/>
                <a:ea typeface="IBM Plex Sans" pitchFamily="34" charset="-122"/>
                <a:cs typeface="IBM Plex Sans" pitchFamily="34" charset="-120"/>
              </a:rPr>
              <a:t>Journey</a:t>
            </a:r>
            <a:endParaRPr lang="en-US" sz="1500" dirty="0"/>
          </a:p>
        </p:txBody>
      </p:sp>
      <p:sp>
        <p:nvSpPr>
          <p:cNvPr id="22" name="Text 20"/>
          <p:cNvSpPr/>
          <p:nvPr/>
        </p:nvSpPr>
        <p:spPr>
          <a:xfrm>
            <a:off x="6181344" y="3291840"/>
            <a:ext cx="2148840" cy="2194560"/>
          </a:xfrm>
          <a:prstGeom prst="rect">
            <a:avLst/>
          </a:prstGeom>
          <a:noFill/>
          <a:ln/>
        </p:spPr>
        <p:txBody>
          <a:bodyPr wrap="square" rtlCol="0" anchor="ctr"/>
          <a:lstStyle/>
          <a:p>
            <a:pPr algn="l" indent="0" marL="0">
              <a:buNone/>
            </a:pPr>
            <a:r>
              <a:rPr lang="en-US" sz="1150" dirty="0">
                <a:solidFill>
                  <a:srgbClr val="D8E1E3"/>
                </a:solidFill>
                <a:latin typeface="IBM Plex Sans" pitchFamily="34" charset="0"/>
                <a:ea typeface="IBM Plex Sans" pitchFamily="34" charset="-122"/>
                <a:cs typeface="IBM Plex Sans" pitchFamily="34" charset="-120"/>
              </a:rPr>
              <a:t>She filters Threadline to her conditions and finds a specific, scored opportunity, not a guess.</a:t>
            </a:r>
            <a:endParaRPr lang="en-US" sz="1150" dirty="0"/>
          </a:p>
        </p:txBody>
      </p:sp>
      <p:sp>
        <p:nvSpPr>
          <p:cNvPr id="23" name="Shape 21"/>
          <p:cNvSpPr/>
          <p:nvPr/>
        </p:nvSpPr>
        <p:spPr>
          <a:xfrm>
            <a:off x="8540496" y="3909060"/>
            <a:ext cx="201168" cy="0"/>
          </a:xfrm>
          <a:prstGeom prst="line">
            <a:avLst/>
          </a:prstGeom>
          <a:noFill/>
          <a:ln w="19050">
            <a:solidFill>
              <a:srgbClr val="14BDAC"/>
            </a:solidFill>
            <a:prstDash val="solid"/>
            <a:tailEnd type="triangle"/>
          </a:ln>
        </p:spPr>
      </p:sp>
      <p:sp>
        <p:nvSpPr>
          <p:cNvPr id="24" name="Shape 22"/>
          <p:cNvSpPr/>
          <p:nvPr/>
        </p:nvSpPr>
        <p:spPr>
          <a:xfrm>
            <a:off x="8769096" y="2148840"/>
            <a:ext cx="2514600" cy="3520440"/>
          </a:xfrm>
          <a:prstGeom prst="roundRect">
            <a:avLst>
              <a:gd name="adj" fmla="val 2909"/>
            </a:avLst>
          </a:prstGeom>
          <a:solidFill>
            <a:srgbClr val="20223A"/>
          </a:solidFill>
          <a:ln w="9525">
            <a:solidFill>
              <a:srgbClr val="33355A"/>
            </a:solidFill>
            <a:prstDash val="solid"/>
          </a:ln>
        </p:spPr>
      </p:sp>
      <p:sp>
        <p:nvSpPr>
          <p:cNvPr id="25" name="Shape 23"/>
          <p:cNvSpPr/>
          <p:nvPr/>
        </p:nvSpPr>
        <p:spPr>
          <a:xfrm>
            <a:off x="8951976" y="2331720"/>
            <a:ext cx="365760" cy="365760"/>
          </a:xfrm>
          <a:prstGeom prst="ellipse">
            <a:avLst/>
          </a:prstGeom>
          <a:solidFill>
            <a:srgbClr val="0D7377"/>
          </a:solidFill>
          <a:ln w="12700">
            <a:solidFill>
              <a:srgbClr val="0D7377"/>
            </a:solidFill>
            <a:prstDash val="solid"/>
          </a:ln>
        </p:spPr>
      </p:sp>
      <p:sp>
        <p:nvSpPr>
          <p:cNvPr id="26" name="Text 24"/>
          <p:cNvSpPr/>
          <p:nvPr/>
        </p:nvSpPr>
        <p:spPr>
          <a:xfrm>
            <a:off x="8951976" y="2331720"/>
            <a:ext cx="365760" cy="365760"/>
          </a:xfrm>
          <a:prstGeom prst="rect">
            <a:avLst/>
          </a:prstGeom>
          <a:noFill/>
          <a:ln/>
        </p:spPr>
        <p:txBody>
          <a:bodyPr wrap="square" rtlCol="0" anchor="ctr"/>
          <a:lstStyle/>
          <a:p>
            <a:pPr algn="ctr" indent="0" marL="0">
              <a:buNone/>
            </a:pPr>
            <a:r>
              <a:rPr lang="en-US" sz="1400" b="1" dirty="0">
                <a:solidFill>
                  <a:srgbClr val="FFFFFF"/>
                </a:solidFill>
                <a:latin typeface="IBM Plex Mono" pitchFamily="34" charset="0"/>
                <a:ea typeface="IBM Plex Mono" pitchFamily="34" charset="-122"/>
                <a:cs typeface="IBM Plex Mono" pitchFamily="34" charset="-120"/>
              </a:rPr>
              <a:t>4</a:t>
            </a:r>
            <a:endParaRPr lang="en-US" sz="1400" dirty="0"/>
          </a:p>
        </p:txBody>
      </p:sp>
      <p:sp>
        <p:nvSpPr>
          <p:cNvPr id="27" name="Text 25"/>
          <p:cNvSpPr/>
          <p:nvPr/>
        </p:nvSpPr>
        <p:spPr>
          <a:xfrm>
            <a:off x="8951976" y="2834640"/>
            <a:ext cx="2148840" cy="365760"/>
          </a:xfrm>
          <a:prstGeom prst="rect">
            <a:avLst/>
          </a:prstGeom>
          <a:noFill/>
          <a:ln/>
        </p:spPr>
        <p:txBody>
          <a:bodyPr wrap="square" rtlCol="0" anchor="ctr"/>
          <a:lstStyle/>
          <a:p>
            <a:pPr indent="0" marL="0">
              <a:buNone/>
            </a:pPr>
            <a:r>
              <a:rPr lang="en-US" sz="1500" b="1" dirty="0">
                <a:solidFill>
                  <a:srgbClr val="14BDAC"/>
                </a:solidFill>
                <a:latin typeface="IBM Plex Sans" pitchFamily="34" charset="0"/>
                <a:ea typeface="IBM Plex Sans" pitchFamily="34" charset="-122"/>
                <a:cs typeface="IBM Plex Sans" pitchFamily="34" charset="-120"/>
              </a:rPr>
              <a:t>Resolution</a:t>
            </a:r>
            <a:endParaRPr lang="en-US" sz="1500" dirty="0"/>
          </a:p>
        </p:txBody>
      </p:sp>
      <p:sp>
        <p:nvSpPr>
          <p:cNvPr id="28" name="Text 26"/>
          <p:cNvSpPr/>
          <p:nvPr/>
        </p:nvSpPr>
        <p:spPr>
          <a:xfrm>
            <a:off x="8951976" y="3291840"/>
            <a:ext cx="2148840" cy="2194560"/>
          </a:xfrm>
          <a:prstGeom prst="rect">
            <a:avLst/>
          </a:prstGeom>
          <a:noFill/>
          <a:ln/>
        </p:spPr>
        <p:txBody>
          <a:bodyPr wrap="square" rtlCol="0" anchor="ctr"/>
          <a:lstStyle/>
          <a:p>
            <a:pPr algn="l" indent="0" marL="0">
              <a:buNone/>
            </a:pPr>
            <a:r>
              <a:rPr lang="en-US" sz="1150" dirty="0">
                <a:solidFill>
                  <a:srgbClr val="D8E1E3"/>
                </a:solidFill>
                <a:latin typeface="IBM Plex Sans" pitchFamily="34" charset="0"/>
                <a:ea typeface="IBM Plex Sans" pitchFamily="34" charset="-122"/>
                <a:cs typeface="IBM Plex Sans" pitchFamily="34" charset="-120"/>
              </a:rPr>
              <a:t>She brings evidence into the room. Nobody asks how she knows. The answer is on the slide.</a:t>
            </a:r>
            <a:endParaRPr lang="en-US" sz="1150" dirty="0"/>
          </a:p>
        </p:txBody>
      </p:sp>
      <p:sp>
        <p:nvSpPr>
          <p:cNvPr id="29" name="Shape 27"/>
          <p:cNvSpPr/>
          <p:nvPr/>
        </p:nvSpPr>
        <p:spPr>
          <a:xfrm>
            <a:off x="457200" y="5897880"/>
            <a:ext cx="82296" cy="82296"/>
          </a:xfrm>
          <a:prstGeom prst="ellipse">
            <a:avLst/>
          </a:prstGeom>
          <a:solidFill>
            <a:srgbClr val="14BDAC"/>
          </a:solidFill>
          <a:ln w="12700">
            <a:solidFill>
              <a:srgbClr val="14BDAC"/>
            </a:solidFill>
            <a:prstDash val="solid"/>
          </a:ln>
        </p:spPr>
      </p:sp>
      <p:sp>
        <p:nvSpPr>
          <p:cNvPr id="30" name="Text 28"/>
          <p:cNvSpPr/>
          <p:nvPr/>
        </p:nvSpPr>
        <p:spPr>
          <a:xfrm>
            <a:off x="658368" y="5806440"/>
            <a:ext cx="10789920" cy="320040"/>
          </a:xfrm>
          <a:prstGeom prst="rect">
            <a:avLst/>
          </a:prstGeom>
          <a:noFill/>
          <a:ln/>
        </p:spPr>
        <p:txBody>
          <a:bodyPr wrap="square" rtlCol="0" anchor="ctr"/>
          <a:lstStyle/>
          <a:p>
            <a:pPr indent="0" marL="0">
              <a:buNone/>
            </a:pPr>
            <a:r>
              <a:rPr lang="en-US" sz="1200" i="1" dirty="0">
                <a:solidFill>
                  <a:srgbClr val="9AA7AD"/>
                </a:solidFill>
                <a:latin typeface="IBM Plex Sans" pitchFamily="34" charset="0"/>
                <a:ea typeface="IBM Plex Sans" pitchFamily="34" charset="-122"/>
                <a:cs typeface="IBM Plex Sans" pitchFamily="34" charset="-120"/>
              </a:rPr>
              <a:t>Connects to our brand values: Promise and Experience — evidence over assumption, confidence over guesswork.</a:t>
            </a:r>
            <a:endParaRPr lang="en-US" sz="1200" dirty="0"/>
          </a:p>
        </p:txBody>
      </p:sp>
      <p:sp>
        <p:nvSpPr>
          <p:cNvPr id="31" name="Shape 29"/>
          <p:cNvSpPr/>
          <p:nvPr/>
        </p:nvSpPr>
        <p:spPr>
          <a:xfrm>
            <a:off x="9692640" y="6537960"/>
            <a:ext cx="100584" cy="100584"/>
          </a:xfrm>
          <a:prstGeom prst="ellipse">
            <a:avLst/>
          </a:prstGeom>
          <a:noFill/>
          <a:ln w="12700">
            <a:solidFill>
              <a:srgbClr val="33355A"/>
            </a:solidFill>
            <a:prstDash val="solid"/>
          </a:ln>
        </p:spPr>
      </p:sp>
      <p:sp>
        <p:nvSpPr>
          <p:cNvPr id="32" name="Shape 30"/>
          <p:cNvSpPr/>
          <p:nvPr/>
        </p:nvSpPr>
        <p:spPr>
          <a:xfrm>
            <a:off x="9930384" y="6537960"/>
            <a:ext cx="100584" cy="100584"/>
          </a:xfrm>
          <a:prstGeom prst="ellipse">
            <a:avLst/>
          </a:prstGeom>
          <a:noFill/>
          <a:ln w="12700">
            <a:solidFill>
              <a:srgbClr val="33355A"/>
            </a:solidFill>
            <a:prstDash val="solid"/>
          </a:ln>
        </p:spPr>
      </p:sp>
      <p:sp>
        <p:nvSpPr>
          <p:cNvPr id="33" name="Shape 31"/>
          <p:cNvSpPr/>
          <p:nvPr/>
        </p:nvSpPr>
        <p:spPr>
          <a:xfrm>
            <a:off x="10168128" y="6537960"/>
            <a:ext cx="100584" cy="100584"/>
          </a:xfrm>
          <a:prstGeom prst="ellipse">
            <a:avLst/>
          </a:prstGeom>
          <a:noFill/>
          <a:ln w="12700">
            <a:solidFill>
              <a:srgbClr val="33355A"/>
            </a:solidFill>
            <a:prstDash val="solid"/>
          </a:ln>
        </p:spPr>
      </p:sp>
      <p:sp>
        <p:nvSpPr>
          <p:cNvPr id="34" name="Shape 32"/>
          <p:cNvSpPr/>
          <p:nvPr/>
        </p:nvSpPr>
        <p:spPr>
          <a:xfrm>
            <a:off x="10405872" y="6537960"/>
            <a:ext cx="100584" cy="100584"/>
          </a:xfrm>
          <a:prstGeom prst="ellipse">
            <a:avLst/>
          </a:prstGeom>
          <a:solidFill>
            <a:srgbClr val="14BDAC"/>
          </a:solidFill>
          <a:ln w="12700">
            <a:solidFill>
              <a:srgbClr val="14BDAC"/>
            </a:solidFill>
            <a:prstDash val="solid"/>
          </a:ln>
        </p:spPr>
      </p:sp>
      <p:sp>
        <p:nvSpPr>
          <p:cNvPr id="35" name="Shape 33"/>
          <p:cNvSpPr/>
          <p:nvPr/>
        </p:nvSpPr>
        <p:spPr>
          <a:xfrm>
            <a:off x="10643616" y="6537960"/>
            <a:ext cx="100584" cy="100584"/>
          </a:xfrm>
          <a:prstGeom prst="ellipse">
            <a:avLst/>
          </a:prstGeom>
          <a:noFill/>
          <a:ln w="12700">
            <a:solidFill>
              <a:srgbClr val="33355A"/>
            </a:solidFill>
            <a:prstDash val="solid"/>
          </a:ln>
        </p:spPr>
      </p:sp>
      <p:sp>
        <p:nvSpPr>
          <p:cNvPr id="36" name="Text 34"/>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37" name="Text 35"/>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9875520" y="4480560"/>
            <a:ext cx="2926080" cy="2926080"/>
          </a:xfrm>
          <a:prstGeom prst="ellipse">
            <a:avLst/>
          </a:prstGeom>
          <a:noFill/>
          <a:ln w="15875">
            <a:solidFill>
              <a:srgbClr val="26284A"/>
            </a:solidFill>
            <a:prstDash val="solid"/>
          </a:ln>
        </p:spPr>
      </p:sp>
      <p:sp>
        <p:nvSpPr>
          <p:cNvPr id="3" name="Shape 1"/>
          <p:cNvSpPr/>
          <p:nvPr/>
        </p:nvSpPr>
        <p:spPr>
          <a:xfrm>
            <a:off x="10378440" y="4983480"/>
            <a:ext cx="1920240" cy="1920240"/>
          </a:xfrm>
          <a:prstGeom prst="ellipse">
            <a:avLst/>
          </a:prstGeom>
          <a:noFill/>
          <a:ln w="12700">
            <a:solidFill>
              <a:srgbClr val="26284A"/>
            </a:solidFill>
            <a:prstDash val="solid"/>
          </a:ln>
        </p:spPr>
      </p:sp>
      <p:sp>
        <p:nvSpPr>
          <p:cNvPr id="4" name="Shape 2"/>
          <p:cNvSpPr/>
          <p:nvPr/>
        </p:nvSpPr>
        <p:spPr>
          <a:xfrm>
            <a:off x="457200" y="384048"/>
            <a:ext cx="109728" cy="109728"/>
          </a:xfrm>
          <a:prstGeom prst="ellipse">
            <a:avLst/>
          </a:prstGeom>
          <a:solidFill>
            <a:srgbClr val="14BDAC"/>
          </a:solidFill>
          <a:ln w="12700">
            <a:solidFill>
              <a:srgbClr val="14BDAC"/>
            </a:solidFill>
            <a:prstDash val="solid"/>
          </a:ln>
        </p:spPr>
      </p:sp>
      <p:sp>
        <p:nvSpPr>
          <p:cNvPr id="5" name="Text 3"/>
          <p:cNvSpPr/>
          <p:nvPr/>
        </p:nvSpPr>
        <p:spPr>
          <a:xfrm>
            <a:off x="658368" y="256032"/>
            <a:ext cx="5486400" cy="320040"/>
          </a:xfrm>
          <a:prstGeom prst="rect">
            <a:avLst/>
          </a:prstGeom>
          <a:noFill/>
          <a:ln/>
        </p:spPr>
        <p:txBody>
          <a:bodyPr wrap="square" rtlCol="0" anchor="ctr"/>
          <a:lstStyle/>
          <a:p>
            <a:pPr algn="l" indent="0" marL="0">
              <a:buNone/>
            </a:pPr>
            <a:r>
              <a:rPr lang="en-US" sz="1100" b="1" spc="150" kern="0" dirty="0">
                <a:solidFill>
                  <a:srgbClr val="14BDAC"/>
                </a:solidFill>
                <a:latin typeface="IBM Plex Sans" pitchFamily="34" charset="0"/>
                <a:ea typeface="IBM Plex Sans" pitchFamily="34" charset="-122"/>
                <a:cs typeface="IBM Plex Sans" pitchFamily="34" charset="-120"/>
              </a:rPr>
              <a:t>LIVE DEMO</a:t>
            </a:r>
            <a:endParaRPr lang="en-US" sz="1100" dirty="0"/>
          </a:p>
        </p:txBody>
      </p:sp>
      <p:sp>
        <p:nvSpPr>
          <p:cNvPr id="6" name="Text 4"/>
          <p:cNvSpPr/>
          <p:nvPr/>
        </p:nvSpPr>
        <p:spPr>
          <a:xfrm>
            <a:off x="457200" y="548640"/>
            <a:ext cx="10332720" cy="548640"/>
          </a:xfrm>
          <a:prstGeom prst="rect">
            <a:avLst/>
          </a:prstGeom>
          <a:noFill/>
          <a:ln/>
        </p:spPr>
        <p:txBody>
          <a:bodyPr wrap="square" rtlCol="0" anchor="ctr"/>
          <a:lstStyle/>
          <a:p>
            <a:pPr algn="l" indent="0" marL="0">
              <a:buNone/>
            </a:pPr>
            <a:r>
              <a:rPr lang="en-US" sz="2700" b="1" dirty="0">
                <a:solidFill>
                  <a:srgbClr val="FFFFFF"/>
                </a:solidFill>
                <a:latin typeface="IBM Plex Sans" pitchFamily="34" charset="0"/>
                <a:ea typeface="IBM Plex Sans" pitchFamily="34" charset="-122"/>
                <a:cs typeface="IBM Plex Sans" pitchFamily="34" charset="-120"/>
              </a:rPr>
              <a:t>Scattered signal, ranked opportunity</a:t>
            </a:r>
            <a:endParaRPr lang="en-US" sz="2700" dirty="0"/>
          </a:p>
        </p:txBody>
      </p:sp>
      <p:sp>
        <p:nvSpPr>
          <p:cNvPr id="7" name="Text 5"/>
          <p:cNvSpPr/>
          <p:nvPr/>
        </p:nvSpPr>
        <p:spPr>
          <a:xfrm>
            <a:off x="457200" y="1207008"/>
            <a:ext cx="10789920" cy="320040"/>
          </a:xfrm>
          <a:prstGeom prst="rect">
            <a:avLst/>
          </a:prstGeom>
          <a:noFill/>
          <a:ln/>
        </p:spPr>
        <p:txBody>
          <a:bodyPr wrap="square" rtlCol="0" anchor="ctr"/>
          <a:lstStyle/>
          <a:p>
            <a:pPr algn="l" indent="0" marL="0">
              <a:buNone/>
            </a:pPr>
            <a:r>
              <a:rPr lang="en-US" sz="1300" i="1" dirty="0">
                <a:solidFill>
                  <a:srgbClr val="9AA7AD"/>
                </a:solidFill>
                <a:latin typeface="IBM Plex Sans" pitchFamily="34" charset="0"/>
                <a:ea typeface="IBM Plex Sans" pitchFamily="34" charset="-122"/>
                <a:cs typeface="IBM Plex Sans" pitchFamily="34" charset="-120"/>
              </a:rPr>
              <a:t>The same visual language from our brand system — now explaining how the pipeline works.</a:t>
            </a:r>
            <a:endParaRPr lang="en-US" sz="1300" dirty="0"/>
          </a:p>
        </p:txBody>
      </p:sp>
      <p:sp>
        <p:nvSpPr>
          <p:cNvPr id="8" name="Shape 6"/>
          <p:cNvSpPr/>
          <p:nvPr/>
        </p:nvSpPr>
        <p:spPr>
          <a:xfrm>
            <a:off x="457200" y="2057400"/>
            <a:ext cx="6492240" cy="2834640"/>
          </a:xfrm>
          <a:prstGeom prst="roundRect">
            <a:avLst>
              <a:gd name="adj" fmla="val 2581"/>
            </a:avLst>
          </a:prstGeom>
          <a:solidFill>
            <a:srgbClr val="20223A"/>
          </a:solidFill>
          <a:ln w="9525">
            <a:solidFill>
              <a:srgbClr val="33355A"/>
            </a:solidFill>
            <a:prstDash val="solid"/>
          </a:ln>
        </p:spPr>
      </p:sp>
      <p:sp>
        <p:nvSpPr>
          <p:cNvPr id="9" name="Text 7"/>
          <p:cNvSpPr/>
          <p:nvPr/>
        </p:nvSpPr>
        <p:spPr>
          <a:xfrm>
            <a:off x="731520" y="2240280"/>
            <a:ext cx="4572000" cy="320040"/>
          </a:xfrm>
          <a:prstGeom prst="rect">
            <a:avLst/>
          </a:prstGeom>
          <a:noFill/>
          <a:ln/>
        </p:spPr>
        <p:txBody>
          <a:bodyPr wrap="square" rtlCol="0" anchor="ctr"/>
          <a:lstStyle/>
          <a:p>
            <a:pPr indent="0" marL="0">
              <a:buNone/>
            </a:pPr>
            <a:r>
              <a:rPr lang="en-US" sz="1300" b="1" dirty="0">
                <a:solidFill>
                  <a:srgbClr val="14BDAC"/>
                </a:solidFill>
                <a:latin typeface="IBM Plex Sans" pitchFamily="34" charset="0"/>
                <a:ea typeface="IBM Plex Sans" pitchFamily="34" charset="-122"/>
                <a:cs typeface="IBM Plex Sans" pitchFamily="34" charset="-120"/>
              </a:rPr>
              <a:t>Signal resolution</a:t>
            </a:r>
            <a:endParaRPr lang="en-US" sz="1300" dirty="0"/>
          </a:p>
        </p:txBody>
      </p:sp>
      <p:sp>
        <p:nvSpPr>
          <p:cNvPr id="10" name="Shape 8"/>
          <p:cNvSpPr/>
          <p:nvPr/>
        </p:nvSpPr>
        <p:spPr>
          <a:xfrm>
            <a:off x="1033272" y="3351276"/>
            <a:ext cx="54864" cy="54864"/>
          </a:xfrm>
          <a:prstGeom prst="ellipse">
            <a:avLst/>
          </a:prstGeom>
          <a:solidFill>
            <a:srgbClr val="14BDAC"/>
          </a:solidFill>
          <a:ln w="12700">
            <a:solidFill>
              <a:srgbClr val="14BDAC"/>
            </a:solidFill>
            <a:prstDash val="solid"/>
          </a:ln>
        </p:spPr>
      </p:sp>
      <p:sp>
        <p:nvSpPr>
          <p:cNvPr id="11" name="Shape 9"/>
          <p:cNvSpPr/>
          <p:nvPr/>
        </p:nvSpPr>
        <p:spPr>
          <a:xfrm>
            <a:off x="1494130" y="3030322"/>
            <a:ext cx="54864" cy="54864"/>
          </a:xfrm>
          <a:prstGeom prst="ellipse">
            <a:avLst/>
          </a:prstGeom>
          <a:solidFill>
            <a:srgbClr val="14BDAC"/>
          </a:solidFill>
          <a:ln w="12700">
            <a:solidFill>
              <a:srgbClr val="14BDAC"/>
            </a:solidFill>
            <a:prstDash val="solid"/>
          </a:ln>
        </p:spPr>
      </p:sp>
      <p:sp>
        <p:nvSpPr>
          <p:cNvPr id="12" name="Shape 10"/>
          <p:cNvSpPr/>
          <p:nvPr/>
        </p:nvSpPr>
        <p:spPr>
          <a:xfrm>
            <a:off x="1801368" y="3553358"/>
            <a:ext cx="54864" cy="54864"/>
          </a:xfrm>
          <a:prstGeom prst="ellipse">
            <a:avLst/>
          </a:prstGeom>
          <a:solidFill>
            <a:srgbClr val="14BDAC"/>
          </a:solidFill>
          <a:ln w="12700">
            <a:solidFill>
              <a:srgbClr val="14BDAC"/>
            </a:solidFill>
            <a:prstDash val="solid"/>
          </a:ln>
        </p:spPr>
      </p:sp>
      <p:sp>
        <p:nvSpPr>
          <p:cNvPr id="13" name="Shape 11"/>
          <p:cNvSpPr/>
          <p:nvPr/>
        </p:nvSpPr>
        <p:spPr>
          <a:xfrm>
            <a:off x="2108606" y="3196742"/>
            <a:ext cx="54864" cy="54864"/>
          </a:xfrm>
          <a:prstGeom prst="ellipse">
            <a:avLst/>
          </a:prstGeom>
          <a:solidFill>
            <a:srgbClr val="14BDAC"/>
          </a:solidFill>
          <a:ln w="12700">
            <a:solidFill>
              <a:srgbClr val="14BDAC"/>
            </a:solidFill>
            <a:prstDash val="solid"/>
          </a:ln>
        </p:spPr>
      </p:sp>
      <p:sp>
        <p:nvSpPr>
          <p:cNvPr id="14" name="Shape 12"/>
          <p:cNvSpPr/>
          <p:nvPr/>
        </p:nvSpPr>
        <p:spPr>
          <a:xfrm>
            <a:off x="2415845" y="2911450"/>
            <a:ext cx="54864" cy="54864"/>
          </a:xfrm>
          <a:prstGeom prst="ellipse">
            <a:avLst/>
          </a:prstGeom>
          <a:solidFill>
            <a:srgbClr val="14BDAC"/>
          </a:solidFill>
          <a:ln w="12700">
            <a:solidFill>
              <a:srgbClr val="14BDAC"/>
            </a:solidFill>
            <a:prstDash val="solid"/>
          </a:ln>
        </p:spPr>
      </p:sp>
      <p:sp>
        <p:nvSpPr>
          <p:cNvPr id="15" name="Shape 13"/>
          <p:cNvSpPr/>
          <p:nvPr/>
        </p:nvSpPr>
        <p:spPr>
          <a:xfrm>
            <a:off x="2518258" y="3410712"/>
            <a:ext cx="54864" cy="54864"/>
          </a:xfrm>
          <a:prstGeom prst="ellipse">
            <a:avLst/>
          </a:prstGeom>
          <a:solidFill>
            <a:srgbClr val="14BDAC"/>
          </a:solidFill>
          <a:ln w="12700">
            <a:solidFill>
              <a:srgbClr val="14BDAC"/>
            </a:solidFill>
            <a:prstDash val="solid"/>
          </a:ln>
        </p:spPr>
      </p:sp>
      <p:sp>
        <p:nvSpPr>
          <p:cNvPr id="16" name="Shape 14"/>
          <p:cNvSpPr/>
          <p:nvPr/>
        </p:nvSpPr>
        <p:spPr>
          <a:xfrm>
            <a:off x="2825496" y="3113532"/>
            <a:ext cx="54864" cy="54864"/>
          </a:xfrm>
          <a:prstGeom prst="ellipse">
            <a:avLst/>
          </a:prstGeom>
          <a:solidFill>
            <a:srgbClr val="14BDAC"/>
          </a:solidFill>
          <a:ln w="12700">
            <a:solidFill>
              <a:srgbClr val="14BDAC"/>
            </a:solidFill>
            <a:prstDash val="solid"/>
          </a:ln>
        </p:spPr>
      </p:sp>
      <p:sp>
        <p:nvSpPr>
          <p:cNvPr id="17" name="Shape 15"/>
          <p:cNvSpPr/>
          <p:nvPr/>
        </p:nvSpPr>
        <p:spPr>
          <a:xfrm>
            <a:off x="3030322" y="3505810"/>
            <a:ext cx="54864" cy="54864"/>
          </a:xfrm>
          <a:prstGeom prst="ellipse">
            <a:avLst/>
          </a:prstGeom>
          <a:solidFill>
            <a:srgbClr val="14BDAC"/>
          </a:solidFill>
          <a:ln w="12700">
            <a:solidFill>
              <a:srgbClr val="14BDAC"/>
            </a:solidFill>
            <a:prstDash val="solid"/>
          </a:ln>
        </p:spPr>
      </p:sp>
      <p:sp>
        <p:nvSpPr>
          <p:cNvPr id="18" name="Shape 16"/>
          <p:cNvSpPr/>
          <p:nvPr/>
        </p:nvSpPr>
        <p:spPr>
          <a:xfrm>
            <a:off x="3337560" y="2958998"/>
            <a:ext cx="54864" cy="54864"/>
          </a:xfrm>
          <a:prstGeom prst="ellipse">
            <a:avLst/>
          </a:prstGeom>
          <a:solidFill>
            <a:srgbClr val="14BDAC"/>
          </a:solidFill>
          <a:ln w="12700">
            <a:solidFill>
              <a:srgbClr val="14BDAC"/>
            </a:solidFill>
            <a:prstDash val="solid"/>
          </a:ln>
        </p:spPr>
      </p:sp>
      <p:sp>
        <p:nvSpPr>
          <p:cNvPr id="19" name="Shape 17"/>
          <p:cNvSpPr/>
          <p:nvPr/>
        </p:nvSpPr>
        <p:spPr>
          <a:xfrm>
            <a:off x="1545336" y="3707892"/>
            <a:ext cx="54864" cy="54864"/>
          </a:xfrm>
          <a:prstGeom prst="ellipse">
            <a:avLst/>
          </a:prstGeom>
          <a:solidFill>
            <a:srgbClr val="14BDAC"/>
          </a:solidFill>
          <a:ln w="12700">
            <a:solidFill>
              <a:srgbClr val="14BDAC"/>
            </a:solidFill>
            <a:prstDash val="solid"/>
          </a:ln>
        </p:spPr>
      </p:sp>
      <p:sp>
        <p:nvSpPr>
          <p:cNvPr id="20" name="Shape 18"/>
          <p:cNvSpPr/>
          <p:nvPr/>
        </p:nvSpPr>
        <p:spPr>
          <a:xfrm>
            <a:off x="1186891" y="2816352"/>
            <a:ext cx="54864" cy="54864"/>
          </a:xfrm>
          <a:prstGeom prst="ellipse">
            <a:avLst/>
          </a:prstGeom>
          <a:solidFill>
            <a:srgbClr val="14BDAC"/>
          </a:solidFill>
          <a:ln w="12700">
            <a:solidFill>
              <a:srgbClr val="14BDAC"/>
            </a:solidFill>
            <a:prstDash val="solid"/>
          </a:ln>
        </p:spPr>
      </p:sp>
      <p:sp>
        <p:nvSpPr>
          <p:cNvPr id="21" name="Shape 19"/>
          <p:cNvSpPr/>
          <p:nvPr/>
        </p:nvSpPr>
        <p:spPr>
          <a:xfrm>
            <a:off x="3132734" y="3268066"/>
            <a:ext cx="54864" cy="54864"/>
          </a:xfrm>
          <a:prstGeom prst="ellipse">
            <a:avLst/>
          </a:prstGeom>
          <a:solidFill>
            <a:srgbClr val="14BDAC"/>
          </a:solidFill>
          <a:ln w="12700">
            <a:solidFill>
              <a:srgbClr val="14BDAC"/>
            </a:solidFill>
            <a:prstDash val="solid"/>
          </a:ln>
        </p:spPr>
      </p:sp>
      <p:sp>
        <p:nvSpPr>
          <p:cNvPr id="22" name="Shape 20"/>
          <p:cNvSpPr/>
          <p:nvPr/>
        </p:nvSpPr>
        <p:spPr>
          <a:xfrm>
            <a:off x="3337560" y="3108960"/>
            <a:ext cx="1433779" cy="0"/>
          </a:xfrm>
          <a:prstGeom prst="line">
            <a:avLst/>
          </a:prstGeom>
          <a:noFill/>
          <a:ln w="12700">
            <a:solidFill>
              <a:srgbClr val="14BDAC"/>
            </a:solidFill>
            <a:prstDash val="dash"/>
          </a:ln>
        </p:spPr>
      </p:sp>
      <p:sp>
        <p:nvSpPr>
          <p:cNvPr id="23" name="Shape 21"/>
          <p:cNvSpPr/>
          <p:nvPr/>
        </p:nvSpPr>
        <p:spPr>
          <a:xfrm>
            <a:off x="4689043" y="3072384"/>
            <a:ext cx="164592" cy="164592"/>
          </a:xfrm>
          <a:prstGeom prst="ellipse">
            <a:avLst/>
          </a:prstGeom>
          <a:solidFill>
            <a:srgbClr val="14BDAC"/>
          </a:solidFill>
          <a:ln w="12700">
            <a:solidFill>
              <a:srgbClr val="14BDAC"/>
            </a:solidFill>
            <a:prstDash val="solid"/>
          </a:ln>
        </p:spPr>
      </p:sp>
      <p:sp>
        <p:nvSpPr>
          <p:cNvPr id="24" name="Text 22"/>
          <p:cNvSpPr/>
          <p:nvPr/>
        </p:nvSpPr>
        <p:spPr>
          <a:xfrm>
            <a:off x="777240" y="3977640"/>
            <a:ext cx="3072384" cy="274320"/>
          </a:xfrm>
          <a:prstGeom prst="rect">
            <a:avLst/>
          </a:prstGeom>
          <a:noFill/>
          <a:ln/>
        </p:spPr>
        <p:txBody>
          <a:bodyPr wrap="square" rtlCol="0" anchor="ctr"/>
          <a:lstStyle/>
          <a:p>
            <a:pPr algn="l" indent="0" marL="0">
              <a:buNone/>
            </a:pPr>
            <a:r>
              <a:rPr lang="en-US" sz="1050" dirty="0">
                <a:solidFill>
                  <a:srgbClr val="9AA7AD"/>
                </a:solidFill>
                <a:latin typeface="IBM Plex Sans" pitchFamily="34" charset="0"/>
                <a:ea typeface="IBM Plex Sans" pitchFamily="34" charset="-122"/>
                <a:cs typeface="IBM Plex Sans" pitchFamily="34" charset="-120"/>
              </a:rPr>
              <a:t>scattered signal</a:t>
            </a:r>
            <a:endParaRPr lang="en-US" sz="1050" dirty="0"/>
          </a:p>
        </p:txBody>
      </p:sp>
      <p:sp>
        <p:nvSpPr>
          <p:cNvPr id="25" name="Text 23"/>
          <p:cNvSpPr/>
          <p:nvPr/>
        </p:nvSpPr>
        <p:spPr>
          <a:xfrm>
            <a:off x="3765499" y="3977640"/>
            <a:ext cx="1188720" cy="274320"/>
          </a:xfrm>
          <a:prstGeom prst="rect">
            <a:avLst/>
          </a:prstGeom>
          <a:noFill/>
          <a:ln/>
        </p:spPr>
        <p:txBody>
          <a:bodyPr wrap="square" rtlCol="0" anchor="ctr"/>
          <a:lstStyle/>
          <a:p>
            <a:pPr algn="l" indent="0" marL="0">
              <a:buNone/>
            </a:pPr>
            <a:r>
              <a:rPr lang="en-US" sz="1050" dirty="0">
                <a:solidFill>
                  <a:srgbClr val="14BDAC"/>
                </a:solidFill>
                <a:latin typeface="IBM Plex Sans" pitchFamily="34" charset="0"/>
                <a:ea typeface="IBM Plex Sans" pitchFamily="34" charset="-122"/>
                <a:cs typeface="IBM Plex Sans" pitchFamily="34" charset="-120"/>
              </a:rPr>
              <a:t>one ranked opportunity</a:t>
            </a:r>
            <a:endParaRPr lang="en-US" sz="1050" dirty="0"/>
          </a:p>
        </p:txBody>
      </p:sp>
      <p:sp>
        <p:nvSpPr>
          <p:cNvPr id="26" name="Shape 24"/>
          <p:cNvSpPr/>
          <p:nvPr/>
        </p:nvSpPr>
        <p:spPr>
          <a:xfrm>
            <a:off x="7178040" y="2057400"/>
            <a:ext cx="4526280" cy="2834640"/>
          </a:xfrm>
          <a:prstGeom prst="roundRect">
            <a:avLst>
              <a:gd name="adj" fmla="val 2581"/>
            </a:avLst>
          </a:prstGeom>
          <a:solidFill>
            <a:srgbClr val="20223A"/>
          </a:solidFill>
          <a:ln w="9525">
            <a:solidFill>
              <a:srgbClr val="33355A"/>
            </a:solidFill>
            <a:prstDash val="solid"/>
          </a:ln>
        </p:spPr>
      </p:sp>
      <p:sp>
        <p:nvSpPr>
          <p:cNvPr id="27" name="Text 25"/>
          <p:cNvSpPr/>
          <p:nvPr/>
        </p:nvSpPr>
        <p:spPr>
          <a:xfrm>
            <a:off x="7452360" y="2240280"/>
            <a:ext cx="4023360" cy="320040"/>
          </a:xfrm>
          <a:prstGeom prst="rect">
            <a:avLst/>
          </a:prstGeom>
          <a:noFill/>
          <a:ln/>
        </p:spPr>
        <p:txBody>
          <a:bodyPr wrap="square" rtlCol="0" anchor="ctr"/>
          <a:lstStyle/>
          <a:p>
            <a:pPr indent="0" marL="0">
              <a:buNone/>
            </a:pPr>
            <a:r>
              <a:rPr lang="en-US" sz="1300" b="1" dirty="0">
                <a:solidFill>
                  <a:srgbClr val="14BDAC"/>
                </a:solidFill>
                <a:latin typeface="IBM Plex Sans" pitchFamily="34" charset="0"/>
                <a:ea typeface="IBM Plex Sans" pitchFamily="34" charset="-122"/>
                <a:cs typeface="IBM Plex Sans" pitchFamily="34" charset="-120"/>
              </a:rPr>
              <a:t>Ranked by evidence</a:t>
            </a:r>
            <a:endParaRPr lang="en-US" sz="1300" dirty="0"/>
          </a:p>
        </p:txBody>
      </p:sp>
      <p:sp>
        <p:nvSpPr>
          <p:cNvPr id="28" name="Shape 26"/>
          <p:cNvSpPr/>
          <p:nvPr/>
        </p:nvSpPr>
        <p:spPr>
          <a:xfrm>
            <a:off x="7452360" y="2724912"/>
            <a:ext cx="201168" cy="201168"/>
          </a:xfrm>
          <a:prstGeom prst="ellipse">
            <a:avLst/>
          </a:prstGeom>
          <a:noFill/>
          <a:ln w="12700">
            <a:solidFill>
              <a:srgbClr val="33355A"/>
            </a:solidFill>
            <a:prstDash val="solid"/>
          </a:ln>
        </p:spPr>
      </p:sp>
      <p:sp>
        <p:nvSpPr>
          <p:cNvPr id="29" name="Text 27"/>
          <p:cNvSpPr/>
          <p:nvPr/>
        </p:nvSpPr>
        <p:spPr>
          <a:xfrm>
            <a:off x="7452360" y="2724912"/>
            <a:ext cx="201168" cy="201168"/>
          </a:xfrm>
          <a:prstGeom prst="rect">
            <a:avLst/>
          </a:prstGeom>
          <a:noFill/>
          <a:ln/>
        </p:spPr>
        <p:txBody>
          <a:bodyPr wrap="square" rtlCol="0" anchor="ctr"/>
          <a:lstStyle/>
          <a:p>
            <a:pPr algn="ctr" indent="0" marL="0">
              <a:buNone/>
            </a:pPr>
            <a:r>
              <a:rPr lang="en-US" sz="900" dirty="0">
                <a:solidFill>
                  <a:srgbClr val="9AA7AD"/>
                </a:solidFill>
                <a:latin typeface="IBM Plex Mono" pitchFamily="34" charset="0"/>
                <a:ea typeface="IBM Plex Mono" pitchFamily="34" charset="-122"/>
                <a:cs typeface="IBM Plex Mono" pitchFamily="34" charset="-120"/>
              </a:rPr>
              <a:t>1</a:t>
            </a:r>
            <a:endParaRPr lang="en-US" sz="900" dirty="0"/>
          </a:p>
        </p:txBody>
      </p:sp>
      <p:sp>
        <p:nvSpPr>
          <p:cNvPr id="30" name="Shape 28"/>
          <p:cNvSpPr/>
          <p:nvPr/>
        </p:nvSpPr>
        <p:spPr>
          <a:xfrm>
            <a:off x="7744968" y="2697480"/>
            <a:ext cx="3566160" cy="237744"/>
          </a:xfrm>
          <a:prstGeom prst="roundRect">
            <a:avLst>
              <a:gd name="adj" fmla="val 23077"/>
            </a:avLst>
          </a:prstGeom>
          <a:solidFill>
            <a:srgbClr val="14BDAC"/>
          </a:solidFill>
          <a:ln w="12700">
            <a:solidFill>
              <a:srgbClr val="14BDAC"/>
            </a:solidFill>
            <a:prstDash val="solid"/>
          </a:ln>
        </p:spPr>
      </p:sp>
      <p:sp>
        <p:nvSpPr>
          <p:cNvPr id="31" name="Shape 29"/>
          <p:cNvSpPr/>
          <p:nvPr/>
        </p:nvSpPr>
        <p:spPr>
          <a:xfrm>
            <a:off x="7452360" y="3108960"/>
            <a:ext cx="201168" cy="201168"/>
          </a:xfrm>
          <a:prstGeom prst="ellipse">
            <a:avLst/>
          </a:prstGeom>
          <a:noFill/>
          <a:ln w="12700">
            <a:solidFill>
              <a:srgbClr val="33355A"/>
            </a:solidFill>
            <a:prstDash val="solid"/>
          </a:ln>
        </p:spPr>
      </p:sp>
      <p:sp>
        <p:nvSpPr>
          <p:cNvPr id="32" name="Text 30"/>
          <p:cNvSpPr/>
          <p:nvPr/>
        </p:nvSpPr>
        <p:spPr>
          <a:xfrm>
            <a:off x="7452360" y="3108960"/>
            <a:ext cx="201168" cy="201168"/>
          </a:xfrm>
          <a:prstGeom prst="rect">
            <a:avLst/>
          </a:prstGeom>
          <a:noFill/>
          <a:ln/>
        </p:spPr>
        <p:txBody>
          <a:bodyPr wrap="square" rtlCol="0" anchor="ctr"/>
          <a:lstStyle/>
          <a:p>
            <a:pPr algn="ctr" indent="0" marL="0">
              <a:buNone/>
            </a:pPr>
            <a:r>
              <a:rPr lang="en-US" sz="900" dirty="0">
                <a:solidFill>
                  <a:srgbClr val="9AA7AD"/>
                </a:solidFill>
                <a:latin typeface="IBM Plex Mono" pitchFamily="34" charset="0"/>
                <a:ea typeface="IBM Plex Mono" pitchFamily="34" charset="-122"/>
                <a:cs typeface="IBM Plex Mono" pitchFamily="34" charset="-120"/>
              </a:rPr>
              <a:t>2</a:t>
            </a:r>
            <a:endParaRPr lang="en-US" sz="900" dirty="0"/>
          </a:p>
        </p:txBody>
      </p:sp>
      <p:sp>
        <p:nvSpPr>
          <p:cNvPr id="33" name="Shape 31"/>
          <p:cNvSpPr/>
          <p:nvPr/>
        </p:nvSpPr>
        <p:spPr>
          <a:xfrm>
            <a:off x="7744968" y="3081528"/>
            <a:ext cx="3066898" cy="237744"/>
          </a:xfrm>
          <a:prstGeom prst="roundRect">
            <a:avLst>
              <a:gd name="adj" fmla="val 23077"/>
            </a:avLst>
          </a:prstGeom>
          <a:solidFill>
            <a:srgbClr val="14BDAC"/>
          </a:solidFill>
          <a:ln w="12700">
            <a:solidFill>
              <a:srgbClr val="14BDAC"/>
            </a:solidFill>
            <a:prstDash val="solid"/>
          </a:ln>
        </p:spPr>
      </p:sp>
      <p:sp>
        <p:nvSpPr>
          <p:cNvPr id="34" name="Shape 32"/>
          <p:cNvSpPr/>
          <p:nvPr/>
        </p:nvSpPr>
        <p:spPr>
          <a:xfrm>
            <a:off x="7452360" y="3493008"/>
            <a:ext cx="201168" cy="201168"/>
          </a:xfrm>
          <a:prstGeom prst="ellipse">
            <a:avLst/>
          </a:prstGeom>
          <a:noFill/>
          <a:ln w="12700">
            <a:solidFill>
              <a:srgbClr val="33355A"/>
            </a:solidFill>
            <a:prstDash val="solid"/>
          </a:ln>
        </p:spPr>
      </p:sp>
      <p:sp>
        <p:nvSpPr>
          <p:cNvPr id="35" name="Text 33"/>
          <p:cNvSpPr/>
          <p:nvPr/>
        </p:nvSpPr>
        <p:spPr>
          <a:xfrm>
            <a:off x="7452360" y="3493008"/>
            <a:ext cx="201168" cy="201168"/>
          </a:xfrm>
          <a:prstGeom prst="rect">
            <a:avLst/>
          </a:prstGeom>
          <a:noFill/>
          <a:ln/>
        </p:spPr>
        <p:txBody>
          <a:bodyPr wrap="square" rtlCol="0" anchor="ctr"/>
          <a:lstStyle/>
          <a:p>
            <a:pPr algn="ctr" indent="0" marL="0">
              <a:buNone/>
            </a:pPr>
            <a:r>
              <a:rPr lang="en-US" sz="900" dirty="0">
                <a:solidFill>
                  <a:srgbClr val="9AA7AD"/>
                </a:solidFill>
                <a:latin typeface="IBM Plex Mono" pitchFamily="34" charset="0"/>
                <a:ea typeface="IBM Plex Mono" pitchFamily="34" charset="-122"/>
                <a:cs typeface="IBM Plex Mono" pitchFamily="34" charset="-120"/>
              </a:rPr>
              <a:t>3</a:t>
            </a:r>
            <a:endParaRPr lang="en-US" sz="900" dirty="0"/>
          </a:p>
        </p:txBody>
      </p:sp>
      <p:sp>
        <p:nvSpPr>
          <p:cNvPr id="36" name="Shape 34"/>
          <p:cNvSpPr/>
          <p:nvPr/>
        </p:nvSpPr>
        <p:spPr>
          <a:xfrm>
            <a:off x="7744968" y="3465576"/>
            <a:ext cx="2638958" cy="237744"/>
          </a:xfrm>
          <a:prstGeom prst="roundRect">
            <a:avLst>
              <a:gd name="adj" fmla="val 23077"/>
            </a:avLst>
          </a:prstGeom>
          <a:solidFill>
            <a:srgbClr val="14BDAC"/>
          </a:solidFill>
          <a:ln w="12700">
            <a:solidFill>
              <a:srgbClr val="14BDAC"/>
            </a:solidFill>
            <a:prstDash val="solid"/>
          </a:ln>
        </p:spPr>
      </p:sp>
      <p:sp>
        <p:nvSpPr>
          <p:cNvPr id="37" name="Shape 35"/>
          <p:cNvSpPr/>
          <p:nvPr/>
        </p:nvSpPr>
        <p:spPr>
          <a:xfrm>
            <a:off x="7452360" y="3877056"/>
            <a:ext cx="201168" cy="201168"/>
          </a:xfrm>
          <a:prstGeom prst="ellipse">
            <a:avLst/>
          </a:prstGeom>
          <a:noFill/>
          <a:ln w="12700">
            <a:solidFill>
              <a:srgbClr val="33355A"/>
            </a:solidFill>
            <a:prstDash val="solid"/>
          </a:ln>
        </p:spPr>
      </p:sp>
      <p:sp>
        <p:nvSpPr>
          <p:cNvPr id="38" name="Text 36"/>
          <p:cNvSpPr/>
          <p:nvPr/>
        </p:nvSpPr>
        <p:spPr>
          <a:xfrm>
            <a:off x="7452360" y="3877056"/>
            <a:ext cx="201168" cy="201168"/>
          </a:xfrm>
          <a:prstGeom prst="rect">
            <a:avLst/>
          </a:prstGeom>
          <a:noFill/>
          <a:ln/>
        </p:spPr>
        <p:txBody>
          <a:bodyPr wrap="square" rtlCol="0" anchor="ctr"/>
          <a:lstStyle/>
          <a:p>
            <a:pPr algn="ctr" indent="0" marL="0">
              <a:buNone/>
            </a:pPr>
            <a:r>
              <a:rPr lang="en-US" sz="900" dirty="0">
                <a:solidFill>
                  <a:srgbClr val="9AA7AD"/>
                </a:solidFill>
                <a:latin typeface="IBM Plex Mono" pitchFamily="34" charset="0"/>
                <a:ea typeface="IBM Plex Mono" pitchFamily="34" charset="-122"/>
                <a:cs typeface="IBM Plex Mono" pitchFamily="34" charset="-120"/>
              </a:rPr>
              <a:t>4</a:t>
            </a:r>
            <a:endParaRPr lang="en-US" sz="900" dirty="0"/>
          </a:p>
        </p:txBody>
      </p:sp>
      <p:sp>
        <p:nvSpPr>
          <p:cNvPr id="39" name="Shape 37"/>
          <p:cNvSpPr/>
          <p:nvPr/>
        </p:nvSpPr>
        <p:spPr>
          <a:xfrm>
            <a:off x="7744968" y="3849624"/>
            <a:ext cx="2211019" cy="237744"/>
          </a:xfrm>
          <a:prstGeom prst="roundRect">
            <a:avLst>
              <a:gd name="adj" fmla="val 23077"/>
            </a:avLst>
          </a:prstGeom>
          <a:solidFill>
            <a:srgbClr val="14BDAC"/>
          </a:solidFill>
          <a:ln w="12700">
            <a:solidFill>
              <a:srgbClr val="14BDAC"/>
            </a:solidFill>
            <a:prstDash val="solid"/>
          </a:ln>
        </p:spPr>
      </p:sp>
      <p:sp>
        <p:nvSpPr>
          <p:cNvPr id="40" name="Shape 38"/>
          <p:cNvSpPr/>
          <p:nvPr/>
        </p:nvSpPr>
        <p:spPr>
          <a:xfrm>
            <a:off x="7452360" y="4261104"/>
            <a:ext cx="201168" cy="201168"/>
          </a:xfrm>
          <a:prstGeom prst="ellipse">
            <a:avLst/>
          </a:prstGeom>
          <a:noFill/>
          <a:ln w="12700">
            <a:solidFill>
              <a:srgbClr val="33355A"/>
            </a:solidFill>
            <a:prstDash val="solid"/>
          </a:ln>
        </p:spPr>
      </p:sp>
      <p:sp>
        <p:nvSpPr>
          <p:cNvPr id="41" name="Text 39"/>
          <p:cNvSpPr/>
          <p:nvPr/>
        </p:nvSpPr>
        <p:spPr>
          <a:xfrm>
            <a:off x="7452360" y="4261104"/>
            <a:ext cx="201168" cy="201168"/>
          </a:xfrm>
          <a:prstGeom prst="rect">
            <a:avLst/>
          </a:prstGeom>
          <a:noFill/>
          <a:ln/>
        </p:spPr>
        <p:txBody>
          <a:bodyPr wrap="square" rtlCol="0" anchor="ctr"/>
          <a:lstStyle/>
          <a:p>
            <a:pPr algn="ctr" indent="0" marL="0">
              <a:buNone/>
            </a:pPr>
            <a:r>
              <a:rPr lang="en-US" sz="900" dirty="0">
                <a:solidFill>
                  <a:srgbClr val="9AA7AD"/>
                </a:solidFill>
                <a:latin typeface="IBM Plex Mono" pitchFamily="34" charset="0"/>
                <a:ea typeface="IBM Plex Mono" pitchFamily="34" charset="-122"/>
                <a:cs typeface="IBM Plex Mono" pitchFamily="34" charset="-120"/>
              </a:rPr>
              <a:t>5</a:t>
            </a:r>
            <a:endParaRPr lang="en-US" sz="900" dirty="0"/>
          </a:p>
        </p:txBody>
      </p:sp>
      <p:sp>
        <p:nvSpPr>
          <p:cNvPr id="42" name="Shape 40"/>
          <p:cNvSpPr/>
          <p:nvPr/>
        </p:nvSpPr>
        <p:spPr>
          <a:xfrm>
            <a:off x="7744968" y="4233672"/>
            <a:ext cx="1783080" cy="237744"/>
          </a:xfrm>
          <a:prstGeom prst="roundRect">
            <a:avLst>
              <a:gd name="adj" fmla="val 23077"/>
            </a:avLst>
          </a:prstGeom>
          <a:solidFill>
            <a:srgbClr val="14BDAC"/>
          </a:solidFill>
          <a:ln w="12700">
            <a:solidFill>
              <a:srgbClr val="14BDAC"/>
            </a:solidFill>
            <a:prstDash val="solid"/>
          </a:ln>
        </p:spPr>
      </p:sp>
      <p:sp>
        <p:nvSpPr>
          <p:cNvPr id="43" name="Text 41"/>
          <p:cNvSpPr/>
          <p:nvPr/>
        </p:nvSpPr>
        <p:spPr>
          <a:xfrm>
            <a:off x="457200" y="5166360"/>
            <a:ext cx="11247120" cy="457200"/>
          </a:xfrm>
          <a:prstGeom prst="rect">
            <a:avLst/>
          </a:prstGeom>
          <a:noFill/>
          <a:ln/>
        </p:spPr>
        <p:txBody>
          <a:bodyPr wrap="square" rtlCol="0" anchor="ctr"/>
          <a:lstStyle/>
          <a:p>
            <a:pPr algn="l" indent="0" marL="0">
              <a:buNone/>
            </a:pPr>
            <a:r>
              <a:rPr lang="en-US" sz="1250" dirty="0">
                <a:solidFill>
                  <a:srgbClr val="9AA7AD"/>
                </a:solidFill>
                <a:latin typeface="IBM Plex Sans" pitchFamily="34" charset="0"/>
                <a:ea typeface="IBM Plex Sans" pitchFamily="34" charset="-122"/>
                <a:cs typeface="IBM Plex Sans" pitchFamily="34" charset="-120"/>
              </a:rPr>
              <a:t>Thousands of scattered consumer posts get resolved into one ranked, evidence-backed opportunity — the same mechanism shown in our own visual identity system.</a:t>
            </a:r>
            <a:endParaRPr lang="en-US" sz="1250" dirty="0"/>
          </a:p>
        </p:txBody>
      </p:sp>
      <p:sp>
        <p:nvSpPr>
          <p:cNvPr id="44" name="Shape 42"/>
          <p:cNvSpPr/>
          <p:nvPr/>
        </p:nvSpPr>
        <p:spPr>
          <a:xfrm>
            <a:off x="9692640" y="6537960"/>
            <a:ext cx="100584" cy="100584"/>
          </a:xfrm>
          <a:prstGeom prst="ellipse">
            <a:avLst/>
          </a:prstGeom>
          <a:noFill/>
          <a:ln w="12700">
            <a:solidFill>
              <a:srgbClr val="33355A"/>
            </a:solidFill>
            <a:prstDash val="solid"/>
          </a:ln>
        </p:spPr>
      </p:sp>
      <p:sp>
        <p:nvSpPr>
          <p:cNvPr id="45" name="Shape 43"/>
          <p:cNvSpPr/>
          <p:nvPr/>
        </p:nvSpPr>
        <p:spPr>
          <a:xfrm>
            <a:off x="9930384" y="6537960"/>
            <a:ext cx="100584" cy="100584"/>
          </a:xfrm>
          <a:prstGeom prst="ellipse">
            <a:avLst/>
          </a:prstGeom>
          <a:noFill/>
          <a:ln w="12700">
            <a:solidFill>
              <a:srgbClr val="33355A"/>
            </a:solidFill>
            <a:prstDash val="solid"/>
          </a:ln>
        </p:spPr>
      </p:sp>
      <p:sp>
        <p:nvSpPr>
          <p:cNvPr id="46" name="Shape 44"/>
          <p:cNvSpPr/>
          <p:nvPr/>
        </p:nvSpPr>
        <p:spPr>
          <a:xfrm>
            <a:off x="10168128" y="6537960"/>
            <a:ext cx="100584" cy="100584"/>
          </a:xfrm>
          <a:prstGeom prst="ellipse">
            <a:avLst/>
          </a:prstGeom>
          <a:noFill/>
          <a:ln w="12700">
            <a:solidFill>
              <a:srgbClr val="33355A"/>
            </a:solidFill>
            <a:prstDash val="solid"/>
          </a:ln>
        </p:spPr>
      </p:sp>
      <p:sp>
        <p:nvSpPr>
          <p:cNvPr id="47" name="Shape 45"/>
          <p:cNvSpPr/>
          <p:nvPr/>
        </p:nvSpPr>
        <p:spPr>
          <a:xfrm>
            <a:off x="10405872" y="6537960"/>
            <a:ext cx="100584" cy="100584"/>
          </a:xfrm>
          <a:prstGeom prst="ellipse">
            <a:avLst/>
          </a:prstGeom>
          <a:noFill/>
          <a:ln w="12700">
            <a:solidFill>
              <a:srgbClr val="33355A"/>
            </a:solidFill>
            <a:prstDash val="solid"/>
          </a:ln>
        </p:spPr>
      </p:sp>
      <p:sp>
        <p:nvSpPr>
          <p:cNvPr id="48" name="Shape 46"/>
          <p:cNvSpPr/>
          <p:nvPr/>
        </p:nvSpPr>
        <p:spPr>
          <a:xfrm>
            <a:off x="10643616" y="6537960"/>
            <a:ext cx="100584" cy="100584"/>
          </a:xfrm>
          <a:prstGeom prst="ellipse">
            <a:avLst/>
          </a:prstGeom>
          <a:solidFill>
            <a:srgbClr val="14BDAC"/>
          </a:solidFill>
          <a:ln w="12700">
            <a:solidFill>
              <a:srgbClr val="14BDAC"/>
            </a:solidFill>
            <a:prstDash val="solid"/>
          </a:ln>
        </p:spPr>
      </p:sp>
      <p:sp>
        <p:nvSpPr>
          <p:cNvPr id="49" name="Text 47"/>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50" name="Text 48"/>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9692640" y="4206240"/>
            <a:ext cx="2926080" cy="2926080"/>
          </a:xfrm>
          <a:prstGeom prst="ellipse">
            <a:avLst/>
          </a:prstGeom>
          <a:noFill/>
          <a:ln w="15875">
            <a:solidFill>
              <a:srgbClr val="26284A"/>
            </a:solidFill>
            <a:prstDash val="solid"/>
          </a:ln>
        </p:spPr>
      </p:sp>
      <p:sp>
        <p:nvSpPr>
          <p:cNvPr id="3" name="Shape 1"/>
          <p:cNvSpPr/>
          <p:nvPr/>
        </p:nvSpPr>
        <p:spPr>
          <a:xfrm>
            <a:off x="10195560" y="4709160"/>
            <a:ext cx="1920240" cy="1920240"/>
          </a:xfrm>
          <a:prstGeom prst="ellipse">
            <a:avLst/>
          </a:prstGeom>
          <a:noFill/>
          <a:ln w="12700">
            <a:solidFill>
              <a:srgbClr val="26284A"/>
            </a:solidFill>
            <a:prstDash val="solid"/>
          </a:ln>
        </p:spPr>
      </p:sp>
      <p:sp>
        <p:nvSpPr>
          <p:cNvPr id="4" name="Shape 2"/>
          <p:cNvSpPr/>
          <p:nvPr/>
        </p:nvSpPr>
        <p:spPr>
          <a:xfrm>
            <a:off x="457200" y="384048"/>
            <a:ext cx="109728" cy="109728"/>
          </a:xfrm>
          <a:prstGeom prst="ellipse">
            <a:avLst/>
          </a:prstGeom>
          <a:solidFill>
            <a:srgbClr val="14BDAC"/>
          </a:solidFill>
          <a:ln w="12700">
            <a:solidFill>
              <a:srgbClr val="14BDAC"/>
            </a:solidFill>
            <a:prstDash val="solid"/>
          </a:ln>
        </p:spPr>
      </p:sp>
      <p:sp>
        <p:nvSpPr>
          <p:cNvPr id="5" name="Text 3"/>
          <p:cNvSpPr/>
          <p:nvPr/>
        </p:nvSpPr>
        <p:spPr>
          <a:xfrm>
            <a:off x="658368" y="256032"/>
            <a:ext cx="3657600" cy="320040"/>
          </a:xfrm>
          <a:prstGeom prst="rect">
            <a:avLst/>
          </a:prstGeom>
          <a:noFill/>
          <a:ln/>
        </p:spPr>
        <p:txBody>
          <a:bodyPr wrap="square" rtlCol="0" anchor="ctr"/>
          <a:lstStyle/>
          <a:p>
            <a:pPr indent="0" marL="0">
              <a:buNone/>
            </a:pPr>
            <a:r>
              <a:rPr lang="en-US" sz="1100" b="1" spc="150" kern="0" dirty="0">
                <a:solidFill>
                  <a:srgbClr val="14BDAC"/>
                </a:solidFill>
                <a:latin typeface="IBM Plex Sans" pitchFamily="34" charset="0"/>
                <a:ea typeface="IBM Plex Sans" pitchFamily="34" charset="-122"/>
                <a:cs typeface="IBM Plex Sans" pitchFamily="34" charset="-120"/>
              </a:rPr>
              <a:t>LIVE DEMO</a:t>
            </a:r>
            <a:endParaRPr lang="en-US" sz="1100" dirty="0"/>
          </a:p>
        </p:txBody>
      </p:sp>
      <p:sp>
        <p:nvSpPr>
          <p:cNvPr id="6" name="Text 4"/>
          <p:cNvSpPr/>
          <p:nvPr/>
        </p:nvSpPr>
        <p:spPr>
          <a:xfrm>
            <a:off x="457200" y="548640"/>
            <a:ext cx="11247120" cy="640080"/>
          </a:xfrm>
          <a:prstGeom prst="rect">
            <a:avLst/>
          </a:prstGeom>
          <a:noFill/>
          <a:ln/>
        </p:spPr>
        <p:txBody>
          <a:bodyPr wrap="square" rtlCol="0" anchor="ctr"/>
          <a:lstStyle/>
          <a:p>
            <a:pPr indent="0" marL="0">
              <a:buNone/>
            </a:pPr>
            <a:r>
              <a:rPr lang="en-US" sz="2900" b="1" dirty="0">
                <a:solidFill>
                  <a:srgbClr val="FFFFFF"/>
                </a:solidFill>
                <a:latin typeface="IBM Plex Sans" pitchFamily="34" charset="0"/>
                <a:ea typeface="IBM Plex Sans" pitchFamily="34" charset="-122"/>
                <a:cs typeface="IBM Plex Sans" pitchFamily="34" charset="-120"/>
              </a:rPr>
              <a:t>Making the value proposition tangible</a:t>
            </a:r>
            <a:endParaRPr lang="en-US" sz="2900" dirty="0"/>
          </a:p>
        </p:txBody>
      </p:sp>
      <p:sp>
        <p:nvSpPr>
          <p:cNvPr id="7" name="Shape 5"/>
          <p:cNvSpPr/>
          <p:nvPr/>
        </p:nvSpPr>
        <p:spPr>
          <a:xfrm>
            <a:off x="457200" y="1417320"/>
            <a:ext cx="3383280" cy="2331720"/>
          </a:xfrm>
          <a:prstGeom prst="roundRect">
            <a:avLst>
              <a:gd name="adj" fmla="val 3137"/>
            </a:avLst>
          </a:prstGeom>
          <a:solidFill>
            <a:srgbClr val="0D7377"/>
          </a:solidFill>
          <a:ln w="12700">
            <a:solidFill>
              <a:srgbClr val="0D7377"/>
            </a:solidFill>
            <a:prstDash val="solid"/>
          </a:ln>
        </p:spPr>
      </p:sp>
      <p:sp>
        <p:nvSpPr>
          <p:cNvPr id="8" name="Text 6"/>
          <p:cNvSpPr/>
          <p:nvPr/>
        </p:nvSpPr>
        <p:spPr>
          <a:xfrm>
            <a:off x="685800" y="1581912"/>
            <a:ext cx="548640" cy="457200"/>
          </a:xfrm>
          <a:prstGeom prst="rect">
            <a:avLst/>
          </a:prstGeom>
          <a:noFill/>
          <a:ln/>
        </p:spPr>
        <p:txBody>
          <a:bodyPr wrap="square" rtlCol="0" anchor="ctr"/>
          <a:lstStyle/>
          <a:p>
            <a:pPr indent="0" marL="0">
              <a:buNone/>
            </a:pPr>
            <a:r>
              <a:rPr lang="en-US" sz="2200" b="1" dirty="0">
                <a:solidFill>
                  <a:srgbClr val="14BDAC"/>
                </a:solidFill>
                <a:latin typeface="IBM Plex Mono" pitchFamily="34" charset="0"/>
                <a:ea typeface="IBM Plex Mono" pitchFamily="34" charset="-122"/>
                <a:cs typeface="IBM Plex Mono" pitchFamily="34" charset="-120"/>
              </a:rPr>
              <a:t>1</a:t>
            </a:r>
            <a:endParaRPr lang="en-US" sz="2200" dirty="0"/>
          </a:p>
        </p:txBody>
      </p:sp>
      <p:sp>
        <p:nvSpPr>
          <p:cNvPr id="9" name="Text 7"/>
          <p:cNvSpPr/>
          <p:nvPr/>
        </p:nvSpPr>
        <p:spPr>
          <a:xfrm>
            <a:off x="685800" y="2075688"/>
            <a:ext cx="2926080" cy="45720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Select condition</a:t>
            </a:r>
            <a:endParaRPr lang="en-US" sz="1450" dirty="0"/>
          </a:p>
        </p:txBody>
      </p:sp>
      <p:sp>
        <p:nvSpPr>
          <p:cNvPr id="10" name="Text 8"/>
          <p:cNvSpPr/>
          <p:nvPr/>
        </p:nvSpPr>
        <p:spPr>
          <a:xfrm>
            <a:off x="685800" y="2551176"/>
            <a:ext cx="2926080" cy="1097280"/>
          </a:xfrm>
          <a:prstGeom prst="rect">
            <a:avLst/>
          </a:prstGeom>
          <a:noFill/>
          <a:ln/>
        </p:spPr>
        <p:txBody>
          <a:bodyPr wrap="square" rtlCol="0" anchor="ctr"/>
          <a:lstStyle/>
          <a:p>
            <a:pPr algn="l" indent="0" marL="0">
              <a:buNone/>
            </a:pPr>
            <a:r>
              <a:rPr lang="en-US" sz="1150" dirty="0">
                <a:solidFill>
                  <a:srgbClr val="D8E1E3"/>
                </a:solidFill>
                <a:latin typeface="IBM Plex Sans" pitchFamily="34" charset="0"/>
                <a:ea typeface="IBM Plex Sans" pitchFamily="34" charset="-122"/>
                <a:cs typeface="IBM Plex Sans" pitchFamily="34" charset="-120"/>
              </a:rPr>
              <a:t>Post-mastectomy, ostomy, rheumatoid arthritis, or post-surgical recovery.</a:t>
            </a:r>
            <a:endParaRPr lang="en-US" sz="1150" dirty="0"/>
          </a:p>
        </p:txBody>
      </p:sp>
      <p:sp>
        <p:nvSpPr>
          <p:cNvPr id="11" name="Shape 9"/>
          <p:cNvSpPr/>
          <p:nvPr/>
        </p:nvSpPr>
        <p:spPr>
          <a:xfrm>
            <a:off x="3886200" y="2583180"/>
            <a:ext cx="182880" cy="0"/>
          </a:xfrm>
          <a:prstGeom prst="line">
            <a:avLst/>
          </a:prstGeom>
          <a:noFill/>
          <a:ln w="19050">
            <a:solidFill>
              <a:srgbClr val="14BDAC"/>
            </a:solidFill>
            <a:prstDash val="solid"/>
            <a:tailEnd type="triangle"/>
          </a:ln>
        </p:spPr>
      </p:sp>
      <p:sp>
        <p:nvSpPr>
          <p:cNvPr id="12" name="Shape 10"/>
          <p:cNvSpPr/>
          <p:nvPr/>
        </p:nvSpPr>
        <p:spPr>
          <a:xfrm>
            <a:off x="4114800" y="1417320"/>
            <a:ext cx="3383280" cy="2331720"/>
          </a:xfrm>
          <a:prstGeom prst="roundRect">
            <a:avLst>
              <a:gd name="adj" fmla="val 3137"/>
            </a:avLst>
          </a:prstGeom>
          <a:solidFill>
            <a:srgbClr val="0D7377"/>
          </a:solidFill>
          <a:ln w="12700">
            <a:solidFill>
              <a:srgbClr val="0D7377"/>
            </a:solidFill>
            <a:prstDash val="solid"/>
          </a:ln>
        </p:spPr>
      </p:sp>
      <p:sp>
        <p:nvSpPr>
          <p:cNvPr id="13" name="Text 11"/>
          <p:cNvSpPr/>
          <p:nvPr/>
        </p:nvSpPr>
        <p:spPr>
          <a:xfrm>
            <a:off x="4343400" y="1581912"/>
            <a:ext cx="548640" cy="457200"/>
          </a:xfrm>
          <a:prstGeom prst="rect">
            <a:avLst/>
          </a:prstGeom>
          <a:noFill/>
          <a:ln/>
        </p:spPr>
        <p:txBody>
          <a:bodyPr wrap="square" rtlCol="0" anchor="ctr"/>
          <a:lstStyle/>
          <a:p>
            <a:pPr indent="0" marL="0">
              <a:buNone/>
            </a:pPr>
            <a:r>
              <a:rPr lang="en-US" sz="2200" b="1" dirty="0">
                <a:solidFill>
                  <a:srgbClr val="14BDAC"/>
                </a:solidFill>
                <a:latin typeface="IBM Plex Mono" pitchFamily="34" charset="0"/>
                <a:ea typeface="IBM Plex Mono" pitchFamily="34" charset="-122"/>
                <a:cs typeface="IBM Plex Mono" pitchFamily="34" charset="-120"/>
              </a:rPr>
              <a:t>2</a:t>
            </a:r>
            <a:endParaRPr lang="en-US" sz="2200" dirty="0"/>
          </a:p>
        </p:txBody>
      </p:sp>
      <p:sp>
        <p:nvSpPr>
          <p:cNvPr id="14" name="Text 12"/>
          <p:cNvSpPr/>
          <p:nvPr/>
        </p:nvSpPr>
        <p:spPr>
          <a:xfrm>
            <a:off x="4343400" y="2075688"/>
            <a:ext cx="2926080" cy="45720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View ranked opportunities</a:t>
            </a:r>
            <a:endParaRPr lang="en-US" sz="1450" dirty="0"/>
          </a:p>
        </p:txBody>
      </p:sp>
      <p:sp>
        <p:nvSpPr>
          <p:cNvPr id="15" name="Text 13"/>
          <p:cNvSpPr/>
          <p:nvPr/>
        </p:nvSpPr>
        <p:spPr>
          <a:xfrm>
            <a:off x="4343400" y="2551176"/>
            <a:ext cx="2926080" cy="1097280"/>
          </a:xfrm>
          <a:prstGeom prst="rect">
            <a:avLst/>
          </a:prstGeom>
          <a:noFill/>
          <a:ln/>
        </p:spPr>
        <p:txBody>
          <a:bodyPr wrap="square" rtlCol="0" anchor="ctr"/>
          <a:lstStyle/>
          <a:p>
            <a:pPr algn="l" indent="0" marL="0">
              <a:buNone/>
            </a:pPr>
            <a:r>
              <a:rPr lang="en-US" sz="1150" dirty="0">
                <a:solidFill>
                  <a:srgbClr val="D8E1E3"/>
                </a:solidFill>
                <a:latin typeface="IBM Plex Sans" pitchFamily="34" charset="0"/>
                <a:ea typeface="IBM Plex Sans" pitchFamily="34" charset="-122"/>
                <a:cs typeface="IBM Plex Sans" pitchFamily="34" charset="-120"/>
              </a:rPr>
              <a:t>Product opportunities sorted by signal strength, refreshed weekly.</a:t>
            </a:r>
            <a:endParaRPr lang="en-US" sz="1150" dirty="0"/>
          </a:p>
        </p:txBody>
      </p:sp>
      <p:sp>
        <p:nvSpPr>
          <p:cNvPr id="16" name="Shape 14"/>
          <p:cNvSpPr/>
          <p:nvPr/>
        </p:nvSpPr>
        <p:spPr>
          <a:xfrm>
            <a:off x="7543800" y="2583180"/>
            <a:ext cx="182880" cy="0"/>
          </a:xfrm>
          <a:prstGeom prst="line">
            <a:avLst/>
          </a:prstGeom>
          <a:noFill/>
          <a:ln w="19050">
            <a:solidFill>
              <a:srgbClr val="14BDAC"/>
            </a:solidFill>
            <a:prstDash val="solid"/>
            <a:tailEnd type="triangle"/>
          </a:ln>
        </p:spPr>
      </p:sp>
      <p:sp>
        <p:nvSpPr>
          <p:cNvPr id="17" name="Shape 15"/>
          <p:cNvSpPr/>
          <p:nvPr/>
        </p:nvSpPr>
        <p:spPr>
          <a:xfrm>
            <a:off x="7772400" y="1417320"/>
            <a:ext cx="3383280" cy="2331720"/>
          </a:xfrm>
          <a:prstGeom prst="roundRect">
            <a:avLst>
              <a:gd name="adj" fmla="val 3137"/>
            </a:avLst>
          </a:prstGeom>
          <a:solidFill>
            <a:srgbClr val="0D7377"/>
          </a:solidFill>
          <a:ln w="12700">
            <a:solidFill>
              <a:srgbClr val="0D7377"/>
            </a:solidFill>
            <a:prstDash val="solid"/>
          </a:ln>
        </p:spPr>
      </p:sp>
      <p:sp>
        <p:nvSpPr>
          <p:cNvPr id="18" name="Text 16"/>
          <p:cNvSpPr/>
          <p:nvPr/>
        </p:nvSpPr>
        <p:spPr>
          <a:xfrm>
            <a:off x="8001000" y="1581912"/>
            <a:ext cx="548640" cy="457200"/>
          </a:xfrm>
          <a:prstGeom prst="rect">
            <a:avLst/>
          </a:prstGeom>
          <a:noFill/>
          <a:ln/>
        </p:spPr>
        <p:txBody>
          <a:bodyPr wrap="square" rtlCol="0" anchor="ctr"/>
          <a:lstStyle/>
          <a:p>
            <a:pPr indent="0" marL="0">
              <a:buNone/>
            </a:pPr>
            <a:r>
              <a:rPr lang="en-US" sz="2200" b="1" dirty="0">
                <a:solidFill>
                  <a:srgbClr val="14BDAC"/>
                </a:solidFill>
                <a:latin typeface="IBM Plex Mono" pitchFamily="34" charset="0"/>
                <a:ea typeface="IBM Plex Mono" pitchFamily="34" charset="-122"/>
                <a:cs typeface="IBM Plex Mono" pitchFamily="34" charset="-120"/>
              </a:rPr>
              <a:t>3</a:t>
            </a:r>
            <a:endParaRPr lang="en-US" sz="2200" dirty="0"/>
          </a:p>
        </p:txBody>
      </p:sp>
      <p:sp>
        <p:nvSpPr>
          <p:cNvPr id="19" name="Text 17"/>
          <p:cNvSpPr/>
          <p:nvPr/>
        </p:nvSpPr>
        <p:spPr>
          <a:xfrm>
            <a:off x="8001000" y="2075688"/>
            <a:ext cx="2926080" cy="457200"/>
          </a:xfrm>
          <a:prstGeom prst="rect">
            <a:avLst/>
          </a:prstGeom>
          <a:noFill/>
          <a:ln/>
        </p:spPr>
        <p:txBody>
          <a:bodyPr wrap="square" rtlCol="0" anchor="ctr"/>
          <a:lstStyle/>
          <a:p>
            <a:pPr indent="0" marL="0">
              <a:buNone/>
            </a:pPr>
            <a:r>
              <a:rPr lang="en-US" sz="1450" b="1" dirty="0">
                <a:solidFill>
                  <a:srgbClr val="FFFFFF"/>
                </a:solidFill>
                <a:latin typeface="IBM Plex Sans" pitchFamily="34" charset="0"/>
                <a:ea typeface="IBM Plex Sans" pitchFamily="34" charset="-122"/>
                <a:cs typeface="IBM Plex Sans" pitchFamily="34" charset="-120"/>
              </a:rPr>
              <a:t>Read the evidence</a:t>
            </a:r>
            <a:endParaRPr lang="en-US" sz="1450" dirty="0"/>
          </a:p>
        </p:txBody>
      </p:sp>
      <p:sp>
        <p:nvSpPr>
          <p:cNvPr id="20" name="Text 18"/>
          <p:cNvSpPr/>
          <p:nvPr/>
        </p:nvSpPr>
        <p:spPr>
          <a:xfrm>
            <a:off x="8001000" y="2551176"/>
            <a:ext cx="2926080" cy="1097280"/>
          </a:xfrm>
          <a:prstGeom prst="rect">
            <a:avLst/>
          </a:prstGeom>
          <a:noFill/>
          <a:ln/>
        </p:spPr>
        <p:txBody>
          <a:bodyPr wrap="square" rtlCol="0" anchor="ctr"/>
          <a:lstStyle/>
          <a:p>
            <a:pPr algn="l" indent="0" marL="0">
              <a:buNone/>
            </a:pPr>
            <a:r>
              <a:rPr lang="en-US" sz="1150" dirty="0">
                <a:solidFill>
                  <a:srgbClr val="D8E1E3"/>
                </a:solidFill>
                <a:latin typeface="IBM Plex Sans" pitchFamily="34" charset="0"/>
                <a:ea typeface="IBM Plex Sans" pitchFamily="34" charset="-122"/>
                <a:cs typeface="IBM Plex Sans" pitchFamily="34" charset="-120"/>
              </a:rPr>
              <a:t>Each card shows a score, a confidence tag, and the real consumer complaint behind it.</a:t>
            </a:r>
            <a:endParaRPr lang="en-US" sz="1150" dirty="0"/>
          </a:p>
        </p:txBody>
      </p:sp>
      <p:sp>
        <p:nvSpPr>
          <p:cNvPr id="21" name="Text 19"/>
          <p:cNvSpPr/>
          <p:nvPr/>
        </p:nvSpPr>
        <p:spPr>
          <a:xfrm>
            <a:off x="457200" y="3977640"/>
            <a:ext cx="6035040" cy="640080"/>
          </a:xfrm>
          <a:prstGeom prst="rect">
            <a:avLst/>
          </a:prstGeom>
          <a:noFill/>
          <a:ln/>
        </p:spPr>
        <p:txBody>
          <a:bodyPr wrap="square" rtlCol="0" anchor="ctr"/>
          <a:lstStyle/>
          <a:p>
            <a:pPr algn="l" indent="0" marL="0">
              <a:buNone/>
            </a:pPr>
            <a:r>
              <a:rPr lang="en-US" sz="1250" dirty="0">
                <a:solidFill>
                  <a:srgbClr val="D8E1E3"/>
                </a:solidFill>
                <a:latin typeface="IBM Plex Sans" pitchFamily="34" charset="0"/>
                <a:ea typeface="IBM Plex Sans" pitchFamily="34" charset="-122"/>
                <a:cs typeface="IBM Plex Sans" pitchFamily="34" charset="-120"/>
              </a:rPr>
              <a:t>Methodology:  scrape  →  clean  →  extract  →  embed  →  synthesize  —  refreshed automatically every week.</a:t>
            </a:r>
            <a:endParaRPr lang="en-US" sz="1250" dirty="0"/>
          </a:p>
        </p:txBody>
      </p:sp>
      <p:sp>
        <p:nvSpPr>
          <p:cNvPr id="22" name="Shape 20"/>
          <p:cNvSpPr/>
          <p:nvPr/>
        </p:nvSpPr>
        <p:spPr>
          <a:xfrm>
            <a:off x="6675120" y="3886200"/>
            <a:ext cx="5029200" cy="1417320"/>
          </a:xfrm>
          <a:prstGeom prst="roundRect">
            <a:avLst>
              <a:gd name="adj" fmla="val 5161"/>
            </a:avLst>
          </a:prstGeom>
          <a:solidFill>
            <a:srgbClr val="1A1A2E"/>
          </a:solidFill>
          <a:ln w="9525">
            <a:solidFill>
              <a:srgbClr val="33355A"/>
            </a:solidFill>
            <a:prstDash val="solid"/>
          </a:ln>
        </p:spPr>
      </p:sp>
      <p:sp>
        <p:nvSpPr>
          <p:cNvPr id="23" name="Text 21"/>
          <p:cNvSpPr/>
          <p:nvPr/>
        </p:nvSpPr>
        <p:spPr>
          <a:xfrm>
            <a:off x="6903720" y="4050792"/>
            <a:ext cx="4023360" cy="457200"/>
          </a:xfrm>
          <a:prstGeom prst="rect">
            <a:avLst/>
          </a:prstGeom>
          <a:noFill/>
          <a:ln/>
        </p:spPr>
        <p:txBody>
          <a:bodyPr wrap="square" rtlCol="0" anchor="ctr"/>
          <a:lstStyle/>
          <a:p>
            <a:pPr indent="0" marL="0">
              <a:buNone/>
            </a:pPr>
            <a:r>
              <a:rPr lang="en-US" sz="1250" b="1" dirty="0">
                <a:solidFill>
                  <a:srgbClr val="FFFFFF"/>
                </a:solidFill>
                <a:latin typeface="IBM Plex Sans" pitchFamily="34" charset="0"/>
                <a:ea typeface="IBM Plex Sans" pitchFamily="34" charset="-122"/>
                <a:cs typeface="IBM Plex Sans" pitchFamily="34" charset="-120"/>
              </a:rPr>
              <a:t>Front-closure wireless post-mastectomy bra</a:t>
            </a:r>
            <a:endParaRPr lang="en-US" sz="1250" dirty="0"/>
          </a:p>
        </p:txBody>
      </p:sp>
      <p:sp>
        <p:nvSpPr>
          <p:cNvPr id="24" name="Shape 22"/>
          <p:cNvSpPr/>
          <p:nvPr/>
        </p:nvSpPr>
        <p:spPr>
          <a:xfrm>
            <a:off x="10927080" y="4050792"/>
            <a:ext cx="548640" cy="365760"/>
          </a:xfrm>
          <a:prstGeom prst="roundRect">
            <a:avLst>
              <a:gd name="adj" fmla="val 50000"/>
            </a:avLst>
          </a:prstGeom>
          <a:solidFill>
            <a:srgbClr val="14BDAC"/>
          </a:solidFill>
          <a:ln w="12700">
            <a:solidFill>
              <a:srgbClr val="14BDAC"/>
            </a:solidFill>
            <a:prstDash val="solid"/>
          </a:ln>
        </p:spPr>
      </p:sp>
      <p:sp>
        <p:nvSpPr>
          <p:cNvPr id="25" name="Text 23"/>
          <p:cNvSpPr/>
          <p:nvPr/>
        </p:nvSpPr>
        <p:spPr>
          <a:xfrm>
            <a:off x="10927080" y="4050792"/>
            <a:ext cx="548640" cy="365760"/>
          </a:xfrm>
          <a:prstGeom prst="rect">
            <a:avLst/>
          </a:prstGeom>
          <a:noFill/>
          <a:ln/>
        </p:spPr>
        <p:txBody>
          <a:bodyPr wrap="square" rtlCol="0" anchor="ctr"/>
          <a:lstStyle/>
          <a:p>
            <a:pPr algn="ctr" indent="0" marL="0">
              <a:buNone/>
            </a:pPr>
            <a:r>
              <a:rPr lang="en-US" sz="1400" b="1" dirty="0">
                <a:solidFill>
                  <a:srgbClr val="1A1A2E"/>
                </a:solidFill>
                <a:latin typeface="IBM Plex Mono" pitchFamily="34" charset="0"/>
                <a:ea typeface="IBM Plex Mono" pitchFamily="34" charset="-122"/>
                <a:cs typeface="IBM Plex Mono" pitchFamily="34" charset="-120"/>
              </a:rPr>
              <a:t>72</a:t>
            </a:r>
            <a:endParaRPr lang="en-US" sz="1400" dirty="0"/>
          </a:p>
        </p:txBody>
      </p:sp>
      <p:sp>
        <p:nvSpPr>
          <p:cNvPr id="26" name="Text 24"/>
          <p:cNvSpPr/>
          <p:nvPr/>
        </p:nvSpPr>
        <p:spPr>
          <a:xfrm>
            <a:off x="6903720" y="4507992"/>
            <a:ext cx="4572000" cy="457200"/>
          </a:xfrm>
          <a:prstGeom prst="rect">
            <a:avLst/>
          </a:prstGeom>
          <a:noFill/>
          <a:ln/>
        </p:spPr>
        <p:txBody>
          <a:bodyPr wrap="square" rtlCol="0" anchor="ctr"/>
          <a:lstStyle/>
          <a:p>
            <a:pPr algn="l" indent="0" marL="0">
              <a:buNone/>
            </a:pPr>
            <a:r>
              <a:rPr lang="en-US" sz="1050" dirty="0">
                <a:solidFill>
                  <a:srgbClr val="9AA7AD"/>
                </a:solidFill>
                <a:latin typeface="IBM Plex Sans" pitchFamily="34" charset="0"/>
                <a:ea typeface="IBM Plex Sans" pitchFamily="34" charset="-122"/>
                <a:cs typeface="IBM Plex Sans" pitchFamily="34" charset="-120"/>
              </a:rPr>
              <a:t>Patients can't reach behind their back post-surgery; existing closures are painful.</a:t>
            </a:r>
            <a:endParaRPr lang="en-US" sz="1050" dirty="0"/>
          </a:p>
        </p:txBody>
      </p:sp>
      <p:sp>
        <p:nvSpPr>
          <p:cNvPr id="27" name="Shape 25"/>
          <p:cNvSpPr/>
          <p:nvPr/>
        </p:nvSpPr>
        <p:spPr>
          <a:xfrm>
            <a:off x="6903720" y="4956048"/>
            <a:ext cx="1371600" cy="256032"/>
          </a:xfrm>
          <a:prstGeom prst="roundRect">
            <a:avLst>
              <a:gd name="adj" fmla="val 50000"/>
            </a:avLst>
          </a:prstGeom>
          <a:solidFill>
            <a:srgbClr val="20223A"/>
          </a:solidFill>
          <a:ln w="9525">
            <a:solidFill>
              <a:srgbClr val="0D7377"/>
            </a:solidFill>
            <a:prstDash val="solid"/>
          </a:ln>
        </p:spPr>
      </p:sp>
      <p:sp>
        <p:nvSpPr>
          <p:cNvPr id="28" name="Text 26"/>
          <p:cNvSpPr/>
          <p:nvPr/>
        </p:nvSpPr>
        <p:spPr>
          <a:xfrm>
            <a:off x="6903720" y="4956048"/>
            <a:ext cx="1371600" cy="256032"/>
          </a:xfrm>
          <a:prstGeom prst="rect">
            <a:avLst/>
          </a:prstGeom>
          <a:noFill/>
          <a:ln/>
        </p:spPr>
        <p:txBody>
          <a:bodyPr wrap="square" rtlCol="0" anchor="ctr"/>
          <a:lstStyle/>
          <a:p>
            <a:pPr algn="ctr" indent="0" marL="0">
              <a:buNone/>
            </a:pPr>
            <a:r>
              <a:rPr lang="en-US" sz="800" dirty="0">
                <a:solidFill>
                  <a:srgbClr val="14BDAC"/>
                </a:solidFill>
                <a:latin typeface="IBM Plex Sans" pitchFamily="34" charset="0"/>
                <a:ea typeface="IBM Plex Sans" pitchFamily="34" charset="-122"/>
                <a:cs typeface="IBM Plex Sans" pitchFamily="34" charset="-120"/>
              </a:rPr>
              <a:t>post mastectomy</a:t>
            </a:r>
            <a:endParaRPr lang="en-US" sz="800" dirty="0"/>
          </a:p>
        </p:txBody>
      </p:sp>
      <p:sp>
        <p:nvSpPr>
          <p:cNvPr id="29" name="Shape 27"/>
          <p:cNvSpPr/>
          <p:nvPr/>
        </p:nvSpPr>
        <p:spPr>
          <a:xfrm>
            <a:off x="8366760" y="4956048"/>
            <a:ext cx="1234440" cy="256032"/>
          </a:xfrm>
          <a:prstGeom prst="roundRect">
            <a:avLst>
              <a:gd name="adj" fmla="val 50000"/>
            </a:avLst>
          </a:prstGeom>
          <a:solidFill>
            <a:srgbClr val="20223A"/>
          </a:solidFill>
          <a:ln w="9525">
            <a:solidFill>
              <a:srgbClr val="0D7377"/>
            </a:solidFill>
            <a:prstDash val="solid"/>
          </a:ln>
        </p:spPr>
      </p:sp>
      <p:sp>
        <p:nvSpPr>
          <p:cNvPr id="30" name="Text 28"/>
          <p:cNvSpPr/>
          <p:nvPr/>
        </p:nvSpPr>
        <p:spPr>
          <a:xfrm>
            <a:off x="8366760" y="4956048"/>
            <a:ext cx="1234440" cy="256032"/>
          </a:xfrm>
          <a:prstGeom prst="rect">
            <a:avLst/>
          </a:prstGeom>
          <a:noFill/>
          <a:ln/>
        </p:spPr>
        <p:txBody>
          <a:bodyPr wrap="square" rtlCol="0" anchor="ctr"/>
          <a:lstStyle/>
          <a:p>
            <a:pPr algn="ctr" indent="0" marL="0">
              <a:buNone/>
            </a:pPr>
            <a:r>
              <a:rPr lang="en-US" sz="800" dirty="0">
                <a:solidFill>
                  <a:srgbClr val="14BDAC"/>
                </a:solidFill>
                <a:latin typeface="IBM Plex Sans" pitchFamily="34" charset="0"/>
                <a:ea typeface="IBM Plex Sans" pitchFamily="34" charset="-122"/>
                <a:cs typeface="IBM Plex Sans" pitchFamily="34" charset="-120"/>
              </a:rPr>
              <a:t>high confidence</a:t>
            </a:r>
            <a:endParaRPr lang="en-US" sz="800" dirty="0"/>
          </a:p>
        </p:txBody>
      </p:sp>
      <p:sp>
        <p:nvSpPr>
          <p:cNvPr id="31" name="Text 29"/>
          <p:cNvSpPr/>
          <p:nvPr/>
        </p:nvSpPr>
        <p:spPr>
          <a:xfrm>
            <a:off x="457200" y="4800600"/>
            <a:ext cx="5486400" cy="274320"/>
          </a:xfrm>
          <a:prstGeom prst="rect">
            <a:avLst/>
          </a:prstGeom>
          <a:noFill/>
          <a:ln/>
        </p:spPr>
        <p:txBody>
          <a:bodyPr wrap="square" rtlCol="0" anchor="ctr"/>
          <a:lstStyle/>
          <a:p>
            <a:pPr indent="0" marL="0">
              <a:buNone/>
            </a:pPr>
            <a:r>
              <a:rPr lang="en-US" sz="1100" b="1" dirty="0">
                <a:solidFill>
                  <a:srgbClr val="14BDAC"/>
                </a:solidFill>
                <a:latin typeface="IBM Plex Sans" pitchFamily="34" charset="0"/>
                <a:ea typeface="IBM Plex Sans" pitchFamily="34" charset="-122"/>
                <a:cs typeface="IBM Plex Sans" pitchFamily="34" charset="-120"/>
              </a:rPr>
              <a:t>How it becomes a business</a:t>
            </a:r>
            <a:endParaRPr lang="en-US" sz="1100" dirty="0"/>
          </a:p>
        </p:txBody>
      </p:sp>
      <p:sp>
        <p:nvSpPr>
          <p:cNvPr id="32" name="Shape 30"/>
          <p:cNvSpPr/>
          <p:nvPr/>
        </p:nvSpPr>
        <p:spPr>
          <a:xfrm>
            <a:off x="457200" y="5120640"/>
            <a:ext cx="1783080" cy="685800"/>
          </a:xfrm>
          <a:prstGeom prst="roundRect">
            <a:avLst>
              <a:gd name="adj" fmla="val 18667"/>
            </a:avLst>
          </a:prstGeom>
          <a:solidFill>
            <a:srgbClr val="20223A"/>
          </a:solidFill>
          <a:ln w="9525">
            <a:solidFill>
              <a:srgbClr val="33355A"/>
            </a:solidFill>
            <a:prstDash val="solid"/>
          </a:ln>
        </p:spPr>
      </p:sp>
      <p:sp>
        <p:nvSpPr>
          <p:cNvPr id="33" name="Text 31"/>
          <p:cNvSpPr/>
          <p:nvPr/>
        </p:nvSpPr>
        <p:spPr>
          <a:xfrm>
            <a:off x="457200" y="5193792"/>
            <a:ext cx="1783080" cy="292608"/>
          </a:xfrm>
          <a:prstGeom prst="rect">
            <a:avLst/>
          </a:prstGeom>
          <a:noFill/>
          <a:ln/>
        </p:spPr>
        <p:txBody>
          <a:bodyPr wrap="square" rtlCol="0" anchor="ctr"/>
          <a:lstStyle/>
          <a:p>
            <a:pPr algn="ctr" indent="0" marL="0">
              <a:buNone/>
            </a:pPr>
            <a:r>
              <a:rPr lang="en-US" sz="1150" b="1" dirty="0">
                <a:solidFill>
                  <a:srgbClr val="FFFFFF"/>
                </a:solidFill>
                <a:latin typeface="IBM Plex Sans" pitchFamily="34" charset="0"/>
                <a:ea typeface="IBM Plex Sans" pitchFamily="34" charset="-122"/>
                <a:cs typeface="IBM Plex Sans" pitchFamily="34" charset="-120"/>
              </a:rPr>
              <a:t>Free pilot</a:t>
            </a:r>
            <a:endParaRPr lang="en-US" sz="1150" dirty="0"/>
          </a:p>
        </p:txBody>
      </p:sp>
      <p:sp>
        <p:nvSpPr>
          <p:cNvPr id="34" name="Text 32"/>
          <p:cNvSpPr/>
          <p:nvPr/>
        </p:nvSpPr>
        <p:spPr>
          <a:xfrm>
            <a:off x="457200" y="5486400"/>
            <a:ext cx="1783080" cy="274320"/>
          </a:xfrm>
          <a:prstGeom prst="rect">
            <a:avLst/>
          </a:prstGeom>
          <a:noFill/>
          <a:ln/>
        </p:spPr>
        <p:txBody>
          <a:bodyPr wrap="square" rtlCol="0" anchor="ctr"/>
          <a:lstStyle/>
          <a:p>
            <a:pPr algn="ctr" indent="0" marL="0">
              <a:buNone/>
            </a:pPr>
            <a:r>
              <a:rPr lang="en-US" sz="850" dirty="0">
                <a:solidFill>
                  <a:srgbClr val="9AA7AD"/>
                </a:solidFill>
                <a:latin typeface="IBM Plex Sans" pitchFamily="34" charset="0"/>
                <a:ea typeface="IBM Plex Sans" pitchFamily="34" charset="-122"/>
                <a:cs typeface="IBM Plex Sans" pitchFamily="34" charset="-120"/>
              </a:rPr>
              <a:t>First look, no cost</a:t>
            </a:r>
            <a:endParaRPr lang="en-US" sz="850" dirty="0"/>
          </a:p>
        </p:txBody>
      </p:sp>
      <p:sp>
        <p:nvSpPr>
          <p:cNvPr id="35" name="Shape 33"/>
          <p:cNvSpPr/>
          <p:nvPr/>
        </p:nvSpPr>
        <p:spPr>
          <a:xfrm>
            <a:off x="2267712" y="5463540"/>
            <a:ext cx="173736" cy="0"/>
          </a:xfrm>
          <a:prstGeom prst="line">
            <a:avLst/>
          </a:prstGeom>
          <a:noFill/>
          <a:ln w="15875">
            <a:solidFill>
              <a:srgbClr val="14BDAC"/>
            </a:solidFill>
            <a:prstDash val="solid"/>
            <a:tailEnd type="triangle"/>
          </a:ln>
        </p:spPr>
      </p:sp>
      <p:sp>
        <p:nvSpPr>
          <p:cNvPr id="36" name="Shape 34"/>
          <p:cNvSpPr/>
          <p:nvPr/>
        </p:nvSpPr>
        <p:spPr>
          <a:xfrm>
            <a:off x="2468880" y="5120640"/>
            <a:ext cx="1783080" cy="685800"/>
          </a:xfrm>
          <a:prstGeom prst="roundRect">
            <a:avLst>
              <a:gd name="adj" fmla="val 18667"/>
            </a:avLst>
          </a:prstGeom>
          <a:solidFill>
            <a:srgbClr val="20223A"/>
          </a:solidFill>
          <a:ln w="9525">
            <a:solidFill>
              <a:srgbClr val="33355A"/>
            </a:solidFill>
            <a:prstDash val="solid"/>
          </a:ln>
        </p:spPr>
      </p:sp>
      <p:sp>
        <p:nvSpPr>
          <p:cNvPr id="37" name="Text 35"/>
          <p:cNvSpPr/>
          <p:nvPr/>
        </p:nvSpPr>
        <p:spPr>
          <a:xfrm>
            <a:off x="2468880" y="5193792"/>
            <a:ext cx="1783080" cy="292608"/>
          </a:xfrm>
          <a:prstGeom prst="rect">
            <a:avLst/>
          </a:prstGeom>
          <a:noFill/>
          <a:ln/>
        </p:spPr>
        <p:txBody>
          <a:bodyPr wrap="square" rtlCol="0" anchor="ctr"/>
          <a:lstStyle/>
          <a:p>
            <a:pPr algn="ctr" indent="0" marL="0">
              <a:buNone/>
            </a:pPr>
            <a:r>
              <a:rPr lang="en-US" sz="1150" b="1" dirty="0">
                <a:solidFill>
                  <a:srgbClr val="FFFFFF"/>
                </a:solidFill>
                <a:latin typeface="IBM Plex Sans" pitchFamily="34" charset="0"/>
                <a:ea typeface="IBM Plex Sans" pitchFamily="34" charset="-122"/>
                <a:cs typeface="IBM Plex Sans" pitchFamily="34" charset="-120"/>
              </a:rPr>
              <a:t>$500–$1K</a:t>
            </a:r>
            <a:endParaRPr lang="en-US" sz="1150" dirty="0"/>
          </a:p>
        </p:txBody>
      </p:sp>
      <p:sp>
        <p:nvSpPr>
          <p:cNvPr id="38" name="Text 36"/>
          <p:cNvSpPr/>
          <p:nvPr/>
        </p:nvSpPr>
        <p:spPr>
          <a:xfrm>
            <a:off x="2468880" y="5486400"/>
            <a:ext cx="1783080" cy="274320"/>
          </a:xfrm>
          <a:prstGeom prst="rect">
            <a:avLst/>
          </a:prstGeom>
          <a:noFill/>
          <a:ln/>
        </p:spPr>
        <p:txBody>
          <a:bodyPr wrap="square" rtlCol="0" anchor="ctr"/>
          <a:lstStyle/>
          <a:p>
            <a:pPr algn="ctr" indent="0" marL="0">
              <a:buNone/>
            </a:pPr>
            <a:r>
              <a:rPr lang="en-US" sz="850" dirty="0">
                <a:solidFill>
                  <a:srgbClr val="9AA7AD"/>
                </a:solidFill>
                <a:latin typeface="IBM Plex Sans" pitchFamily="34" charset="0"/>
                <a:ea typeface="IBM Plex Sans" pitchFamily="34" charset="-122"/>
                <a:cs typeface="IBM Plex Sans" pitchFamily="34" charset="-120"/>
              </a:rPr>
              <a:t>per insight</a:t>
            </a:r>
            <a:endParaRPr lang="en-US" sz="850" dirty="0"/>
          </a:p>
        </p:txBody>
      </p:sp>
      <p:sp>
        <p:nvSpPr>
          <p:cNvPr id="39" name="Shape 37"/>
          <p:cNvSpPr/>
          <p:nvPr/>
        </p:nvSpPr>
        <p:spPr>
          <a:xfrm>
            <a:off x="4279392" y="5463540"/>
            <a:ext cx="173736" cy="0"/>
          </a:xfrm>
          <a:prstGeom prst="line">
            <a:avLst/>
          </a:prstGeom>
          <a:noFill/>
          <a:ln w="15875">
            <a:solidFill>
              <a:srgbClr val="14BDAC"/>
            </a:solidFill>
            <a:prstDash val="solid"/>
            <a:tailEnd type="triangle"/>
          </a:ln>
        </p:spPr>
      </p:sp>
      <p:sp>
        <p:nvSpPr>
          <p:cNvPr id="40" name="Shape 38"/>
          <p:cNvSpPr/>
          <p:nvPr/>
        </p:nvSpPr>
        <p:spPr>
          <a:xfrm>
            <a:off x="4480560" y="5120640"/>
            <a:ext cx="1783080" cy="685800"/>
          </a:xfrm>
          <a:prstGeom prst="roundRect">
            <a:avLst>
              <a:gd name="adj" fmla="val 18667"/>
            </a:avLst>
          </a:prstGeom>
          <a:solidFill>
            <a:srgbClr val="20223A"/>
          </a:solidFill>
          <a:ln w="9525">
            <a:solidFill>
              <a:srgbClr val="33355A"/>
            </a:solidFill>
            <a:prstDash val="solid"/>
          </a:ln>
        </p:spPr>
      </p:sp>
      <p:sp>
        <p:nvSpPr>
          <p:cNvPr id="41" name="Text 39"/>
          <p:cNvSpPr/>
          <p:nvPr/>
        </p:nvSpPr>
        <p:spPr>
          <a:xfrm>
            <a:off x="4480560" y="5193792"/>
            <a:ext cx="1783080" cy="292608"/>
          </a:xfrm>
          <a:prstGeom prst="rect">
            <a:avLst/>
          </a:prstGeom>
          <a:noFill/>
          <a:ln/>
        </p:spPr>
        <p:txBody>
          <a:bodyPr wrap="square" rtlCol="0" anchor="ctr"/>
          <a:lstStyle/>
          <a:p>
            <a:pPr algn="ctr" indent="0" marL="0">
              <a:buNone/>
            </a:pPr>
            <a:r>
              <a:rPr lang="en-US" sz="1150" b="1" dirty="0">
                <a:solidFill>
                  <a:srgbClr val="FFFFFF"/>
                </a:solidFill>
                <a:latin typeface="IBM Plex Sans" pitchFamily="34" charset="0"/>
                <a:ea typeface="IBM Plex Sans" pitchFamily="34" charset="-122"/>
                <a:cs typeface="IBM Plex Sans" pitchFamily="34" charset="-120"/>
              </a:rPr>
              <a:t>$1,500+/mo</a:t>
            </a:r>
            <a:endParaRPr lang="en-US" sz="1150" dirty="0"/>
          </a:p>
        </p:txBody>
      </p:sp>
      <p:sp>
        <p:nvSpPr>
          <p:cNvPr id="42" name="Text 40"/>
          <p:cNvSpPr/>
          <p:nvPr/>
        </p:nvSpPr>
        <p:spPr>
          <a:xfrm>
            <a:off x="4480560" y="5486400"/>
            <a:ext cx="1783080" cy="274320"/>
          </a:xfrm>
          <a:prstGeom prst="rect">
            <a:avLst/>
          </a:prstGeom>
          <a:noFill/>
          <a:ln/>
        </p:spPr>
        <p:txBody>
          <a:bodyPr wrap="square" rtlCol="0" anchor="ctr"/>
          <a:lstStyle/>
          <a:p>
            <a:pPr algn="ctr" indent="0" marL="0">
              <a:buNone/>
            </a:pPr>
            <a:r>
              <a:rPr lang="en-US" sz="850" dirty="0">
                <a:solidFill>
                  <a:srgbClr val="9AA7AD"/>
                </a:solidFill>
                <a:latin typeface="IBM Plex Sans" pitchFamily="34" charset="0"/>
                <a:ea typeface="IBM Plex Sans" pitchFamily="34" charset="-122"/>
                <a:cs typeface="IBM Plex Sans" pitchFamily="34" charset="-120"/>
              </a:rPr>
              <a:t>subscription</a:t>
            </a:r>
            <a:endParaRPr lang="en-US" sz="850" dirty="0"/>
          </a:p>
        </p:txBody>
      </p:sp>
      <p:sp>
        <p:nvSpPr>
          <p:cNvPr id="43" name="Text 41">
            <a:hlinkClick r:id="rId1" tooltip=""/>
          </p:cNvPr>
          <p:cNvSpPr/>
          <p:nvPr/>
        </p:nvSpPr>
        <p:spPr>
          <a:xfrm>
            <a:off x="457200" y="6080760"/>
            <a:ext cx="5486400" cy="365760"/>
          </a:xfrm>
          <a:prstGeom prst="rect">
            <a:avLst/>
          </a:prstGeom>
          <a:noFill/>
          <a:ln/>
        </p:spPr>
        <p:txBody>
          <a:bodyPr wrap="square" rtlCol="0" anchor="ctr"/>
          <a:lstStyle/>
          <a:p>
            <a:pPr algn="l" indent="0" marL="0">
              <a:buNone/>
            </a:pPr>
            <a:r>
              <a:rPr lang="en-US" sz="1400" u="sng" dirty="0">
                <a:solidFill>
                  <a:srgbClr val="14BDAC"/>
                </a:solidFill>
                <a:latin typeface="IBM Plex Mono" pitchFamily="34" charset="0"/>
                <a:ea typeface="IBM Plex Mono" pitchFamily="34" charset="-122"/>
                <a:cs typeface="IBM Plex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threadline-app-szob.onrender.com</a:t>
            </a:r>
            <a:endParaRPr lang="en-US" sz="1400" dirty="0"/>
          </a:p>
        </p:txBody>
      </p:sp>
      <p:sp>
        <p:nvSpPr>
          <p:cNvPr id="44" name="Shape 42"/>
          <p:cNvSpPr/>
          <p:nvPr/>
        </p:nvSpPr>
        <p:spPr>
          <a:xfrm>
            <a:off x="9692640" y="6537960"/>
            <a:ext cx="100584" cy="100584"/>
          </a:xfrm>
          <a:prstGeom prst="ellipse">
            <a:avLst/>
          </a:prstGeom>
          <a:noFill/>
          <a:ln w="12700">
            <a:solidFill>
              <a:srgbClr val="33355A"/>
            </a:solidFill>
            <a:prstDash val="solid"/>
          </a:ln>
        </p:spPr>
      </p:sp>
      <p:sp>
        <p:nvSpPr>
          <p:cNvPr id="45" name="Shape 43"/>
          <p:cNvSpPr/>
          <p:nvPr/>
        </p:nvSpPr>
        <p:spPr>
          <a:xfrm>
            <a:off x="9930384" y="6537960"/>
            <a:ext cx="100584" cy="100584"/>
          </a:xfrm>
          <a:prstGeom prst="ellipse">
            <a:avLst/>
          </a:prstGeom>
          <a:noFill/>
          <a:ln w="12700">
            <a:solidFill>
              <a:srgbClr val="33355A"/>
            </a:solidFill>
            <a:prstDash val="solid"/>
          </a:ln>
        </p:spPr>
      </p:sp>
      <p:sp>
        <p:nvSpPr>
          <p:cNvPr id="46" name="Shape 44"/>
          <p:cNvSpPr/>
          <p:nvPr/>
        </p:nvSpPr>
        <p:spPr>
          <a:xfrm>
            <a:off x="10168128" y="6537960"/>
            <a:ext cx="100584" cy="100584"/>
          </a:xfrm>
          <a:prstGeom prst="ellipse">
            <a:avLst/>
          </a:prstGeom>
          <a:noFill/>
          <a:ln w="12700">
            <a:solidFill>
              <a:srgbClr val="33355A"/>
            </a:solidFill>
            <a:prstDash val="solid"/>
          </a:ln>
        </p:spPr>
      </p:sp>
      <p:sp>
        <p:nvSpPr>
          <p:cNvPr id="47" name="Shape 45"/>
          <p:cNvSpPr/>
          <p:nvPr/>
        </p:nvSpPr>
        <p:spPr>
          <a:xfrm>
            <a:off x="10405872" y="6537960"/>
            <a:ext cx="100584" cy="100584"/>
          </a:xfrm>
          <a:prstGeom prst="ellipse">
            <a:avLst/>
          </a:prstGeom>
          <a:noFill/>
          <a:ln w="12700">
            <a:solidFill>
              <a:srgbClr val="33355A"/>
            </a:solidFill>
            <a:prstDash val="solid"/>
          </a:ln>
        </p:spPr>
      </p:sp>
      <p:sp>
        <p:nvSpPr>
          <p:cNvPr id="48" name="Shape 46"/>
          <p:cNvSpPr/>
          <p:nvPr/>
        </p:nvSpPr>
        <p:spPr>
          <a:xfrm>
            <a:off x="10643616" y="6537960"/>
            <a:ext cx="100584" cy="100584"/>
          </a:xfrm>
          <a:prstGeom prst="ellipse">
            <a:avLst/>
          </a:prstGeom>
          <a:solidFill>
            <a:srgbClr val="14BDAC"/>
          </a:solidFill>
          <a:ln w="12700">
            <a:solidFill>
              <a:srgbClr val="14BDAC"/>
            </a:solidFill>
            <a:prstDash val="solid"/>
          </a:ln>
        </p:spPr>
      </p:sp>
      <p:sp>
        <p:nvSpPr>
          <p:cNvPr id="49" name="Text 47"/>
          <p:cNvSpPr/>
          <p:nvPr/>
        </p:nvSpPr>
        <p:spPr>
          <a:xfrm>
            <a:off x="457200" y="6510528"/>
            <a:ext cx="2743200" cy="274320"/>
          </a:xfrm>
          <a:prstGeom prst="rect">
            <a:avLst/>
          </a:prstGeom>
          <a:noFill/>
          <a:ln/>
        </p:spPr>
        <p:txBody>
          <a:bodyPr wrap="square" rtlCol="0" anchor="ctr"/>
          <a:lstStyle/>
          <a:p>
            <a:pPr algn="l" indent="0" marL="0">
              <a:buNone/>
            </a:pPr>
            <a:r>
              <a:rPr lang="en-US" sz="1000" dirty="0">
                <a:solidFill>
                  <a:srgbClr val="9AA7AD"/>
                </a:solidFill>
                <a:latin typeface="IBM Plex Sans" pitchFamily="34" charset="0"/>
                <a:ea typeface="IBM Plex Sans" pitchFamily="34" charset="-122"/>
                <a:cs typeface="IBM Plex Sans" pitchFamily="34" charset="-120"/>
              </a:rPr>
              <a:t>threadline</a:t>
            </a:r>
            <a:endParaRPr lang="en-US" sz="1000" dirty="0"/>
          </a:p>
        </p:txBody>
      </p:sp>
      <p:sp>
        <p:nvSpPr>
          <p:cNvPr id="50" name="Text 48"/>
          <p:cNvSpPr/>
          <p:nvPr/>
        </p:nvSpPr>
        <p:spPr>
          <a:xfrm>
            <a:off x="11658600" y="6510528"/>
            <a:ext cx="365760" cy="274320"/>
          </a:xfrm>
          <a:prstGeom prst="rect">
            <a:avLst/>
          </a:prstGeom>
          <a:noFill/>
          <a:ln/>
        </p:spPr>
        <p:txBody>
          <a:bodyPr wrap="square" rtlCol="0" anchor="ctr"/>
          <a:lstStyle/>
          <a:p>
            <a:pPr algn="r" indent="0" marL="0">
              <a:buNone/>
            </a:pPr>
            <a:r>
              <a:rPr lang="en-US" sz="1000" dirty="0">
                <a:solidFill>
                  <a:srgbClr val="9AA7AD"/>
                </a:solidFill>
                <a:latin typeface="IBM Plex Mono" pitchFamily="34" charset="0"/>
                <a:ea typeface="IBM Plex Mono" pitchFamily="34" charset="-122"/>
                <a:cs typeface="IBM Plex Mon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9509760" y="-1097280"/>
            <a:ext cx="2926080" cy="2926080"/>
          </a:xfrm>
          <a:prstGeom prst="ellipse">
            <a:avLst/>
          </a:prstGeom>
          <a:noFill/>
          <a:ln w="15875">
            <a:solidFill>
              <a:srgbClr val="26284A"/>
            </a:solidFill>
            <a:prstDash val="solid"/>
          </a:ln>
        </p:spPr>
      </p:sp>
      <p:sp>
        <p:nvSpPr>
          <p:cNvPr id="3" name="Shape 1"/>
          <p:cNvSpPr/>
          <p:nvPr/>
        </p:nvSpPr>
        <p:spPr>
          <a:xfrm>
            <a:off x="10012680" y="-594360"/>
            <a:ext cx="1920240" cy="1920240"/>
          </a:xfrm>
          <a:prstGeom prst="ellipse">
            <a:avLst/>
          </a:prstGeom>
          <a:noFill/>
          <a:ln w="12700">
            <a:solidFill>
              <a:srgbClr val="26284A"/>
            </a:solidFill>
            <a:prstDash val="solid"/>
          </a:ln>
        </p:spPr>
      </p:sp>
      <p:sp>
        <p:nvSpPr>
          <p:cNvPr id="4" name="Shape 2"/>
          <p:cNvSpPr/>
          <p:nvPr/>
        </p:nvSpPr>
        <p:spPr>
          <a:xfrm>
            <a:off x="5212080" y="2331720"/>
            <a:ext cx="502920" cy="0"/>
          </a:xfrm>
          <a:prstGeom prst="line">
            <a:avLst/>
          </a:prstGeom>
          <a:noFill/>
          <a:ln w="15875">
            <a:solidFill>
              <a:srgbClr val="14BDAC"/>
            </a:solidFill>
            <a:prstDash val="dash"/>
          </a:ln>
        </p:spPr>
      </p:sp>
      <p:sp>
        <p:nvSpPr>
          <p:cNvPr id="5" name="Shape 3"/>
          <p:cNvSpPr/>
          <p:nvPr/>
        </p:nvSpPr>
        <p:spPr>
          <a:xfrm>
            <a:off x="5742432" y="2267712"/>
            <a:ext cx="128016" cy="128016"/>
          </a:xfrm>
          <a:prstGeom prst="ellipse">
            <a:avLst/>
          </a:prstGeom>
          <a:solidFill>
            <a:srgbClr val="14BDAC"/>
          </a:solidFill>
          <a:ln w="12700">
            <a:solidFill>
              <a:srgbClr val="14BDAC"/>
            </a:solidFill>
            <a:prstDash val="solid"/>
          </a:ln>
        </p:spPr>
      </p:sp>
      <p:sp>
        <p:nvSpPr>
          <p:cNvPr id="6" name="Text 4"/>
          <p:cNvSpPr/>
          <p:nvPr/>
        </p:nvSpPr>
        <p:spPr>
          <a:xfrm>
            <a:off x="457200" y="2514600"/>
            <a:ext cx="11247120" cy="822960"/>
          </a:xfrm>
          <a:prstGeom prst="rect">
            <a:avLst/>
          </a:prstGeom>
          <a:noFill/>
          <a:ln/>
        </p:spPr>
        <p:txBody>
          <a:bodyPr wrap="square" rtlCol="0" anchor="ctr"/>
          <a:lstStyle/>
          <a:p>
            <a:pPr algn="ctr" indent="0" marL="0">
              <a:buNone/>
            </a:pPr>
            <a:r>
              <a:rPr lang="en-US" sz="4000" b="1" dirty="0">
                <a:solidFill>
                  <a:srgbClr val="FFFFFF"/>
                </a:solidFill>
                <a:latin typeface="IBM Plex Sans" pitchFamily="34" charset="0"/>
                <a:ea typeface="IBM Plex Sans" pitchFamily="34" charset="-122"/>
                <a:cs typeface="IBM Plex Sans" pitchFamily="34" charset="-120"/>
              </a:rPr>
              <a:t>Thank you.</a:t>
            </a:r>
            <a:endParaRPr lang="en-US" sz="4000" dirty="0"/>
          </a:p>
        </p:txBody>
      </p:sp>
      <p:sp>
        <p:nvSpPr>
          <p:cNvPr id="7" name="Text 5"/>
          <p:cNvSpPr/>
          <p:nvPr/>
        </p:nvSpPr>
        <p:spPr>
          <a:xfrm>
            <a:off x="1371600" y="3291840"/>
            <a:ext cx="9418320" cy="457200"/>
          </a:xfrm>
          <a:prstGeom prst="rect">
            <a:avLst/>
          </a:prstGeom>
          <a:noFill/>
          <a:ln/>
        </p:spPr>
        <p:txBody>
          <a:bodyPr wrap="square" rtlCol="0" anchor="ctr"/>
          <a:lstStyle/>
          <a:p>
            <a:pPr algn="ctr" indent="0" marL="0">
              <a:buNone/>
            </a:pPr>
            <a:r>
              <a:rPr lang="en-US" sz="1500" dirty="0">
                <a:solidFill>
                  <a:srgbClr val="14BDAC"/>
                </a:solidFill>
                <a:latin typeface="IBM Plex Sans" pitchFamily="34" charset="0"/>
                <a:ea typeface="IBM Plex Sans" pitchFamily="34" charset="-122"/>
                <a:cs typeface="IBM Plex Sans" pitchFamily="34" charset="-120"/>
              </a:rPr>
              <a:t>Turning consumer frustration into product opportunities.</a:t>
            </a:r>
            <a:endParaRPr lang="en-US" sz="1500" dirty="0"/>
          </a:p>
        </p:txBody>
      </p:sp>
      <p:sp>
        <p:nvSpPr>
          <p:cNvPr id="8" name="Text 6">
            <a:hlinkClick r:id="rId1" tooltip=""/>
          </p:cNvPr>
          <p:cNvSpPr/>
          <p:nvPr/>
        </p:nvSpPr>
        <p:spPr>
          <a:xfrm>
            <a:off x="1280160" y="5989320"/>
            <a:ext cx="2834640" cy="320040"/>
          </a:xfrm>
          <a:prstGeom prst="rect">
            <a:avLst/>
          </a:prstGeom>
          <a:noFill/>
          <a:ln/>
        </p:spPr>
        <p:txBody>
          <a:bodyPr wrap="square" rtlCol="0" anchor="ctr"/>
          <a:lstStyle/>
          <a:p>
            <a:pPr algn="ctr" indent="0" marL="0">
              <a:buNone/>
            </a:pPr>
            <a:r>
              <a:rPr lang="en-US" sz="1150" u="sng" dirty="0">
                <a:solidFill>
                  <a:srgbClr val="D8E1E3"/>
                </a:solidFill>
                <a:latin typeface="IBM Plex Mono" pitchFamily="34" charset="0"/>
                <a:ea typeface="IBM Plex Mono" pitchFamily="34" charset="-122"/>
                <a:cs typeface="IBM Plex Mono"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threadline-lovat.vercel.app</a:t>
            </a:r>
            <a:endParaRPr lang="en-US" sz="1150" dirty="0"/>
          </a:p>
        </p:txBody>
      </p:sp>
      <p:sp>
        <p:nvSpPr>
          <p:cNvPr id="9" name="Text 7"/>
          <p:cNvSpPr/>
          <p:nvPr/>
        </p:nvSpPr>
        <p:spPr>
          <a:xfrm>
            <a:off x="4114800" y="5989320"/>
            <a:ext cx="228600" cy="320040"/>
          </a:xfrm>
          <a:prstGeom prst="rect">
            <a:avLst/>
          </a:prstGeom>
          <a:noFill/>
          <a:ln/>
        </p:spPr>
        <p:txBody>
          <a:bodyPr wrap="square" rtlCol="0" anchor="ctr"/>
          <a:lstStyle/>
          <a:p>
            <a:pPr algn="ctr" indent="0" marL="0">
              <a:buNone/>
            </a:pPr>
            <a:r>
              <a:rPr lang="en-US" sz="1200" dirty="0">
                <a:solidFill>
                  <a:srgbClr val="9AA7AD"/>
                </a:solidFill>
                <a:latin typeface="IBM Plex Sans" pitchFamily="34" charset="0"/>
                <a:ea typeface="IBM Plex Sans" pitchFamily="34" charset="-122"/>
                <a:cs typeface="IBM Plex Sans" pitchFamily="34" charset="-120"/>
              </a:rPr>
              <a:t>•</a:t>
            </a:r>
            <a:endParaRPr lang="en-US" sz="1200" dirty="0"/>
          </a:p>
        </p:txBody>
      </p:sp>
      <p:sp>
        <p:nvSpPr>
          <p:cNvPr id="10" name="Text 8">
            <a:hlinkClick r:id="rId2" tooltip=""/>
          </p:cNvPr>
          <p:cNvSpPr/>
          <p:nvPr/>
        </p:nvSpPr>
        <p:spPr>
          <a:xfrm>
            <a:off x="4343400" y="5989320"/>
            <a:ext cx="3246120" cy="320040"/>
          </a:xfrm>
          <a:prstGeom prst="rect">
            <a:avLst/>
          </a:prstGeom>
          <a:noFill/>
          <a:ln/>
        </p:spPr>
        <p:txBody>
          <a:bodyPr wrap="square" rtlCol="0" anchor="ctr"/>
          <a:lstStyle/>
          <a:p>
            <a:pPr algn="ctr" indent="0" marL="0">
              <a:buNone/>
            </a:pPr>
            <a:r>
              <a:rPr lang="en-US" sz="1150" u="sng" dirty="0">
                <a:solidFill>
                  <a:srgbClr val="D8E1E3"/>
                </a:solidFill>
                <a:latin typeface="IBM Plex Mono" pitchFamily="34" charset="0"/>
                <a:ea typeface="IBM Plex Mono" pitchFamily="34" charset="-122"/>
                <a:cs typeface="IBM Plex Mono"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threadline-app-szob.onrender.com</a:t>
            </a:r>
            <a:endParaRPr lang="en-US" sz="1150" dirty="0"/>
          </a:p>
        </p:txBody>
      </p:sp>
      <p:sp>
        <p:nvSpPr>
          <p:cNvPr id="11" name="Text 9"/>
          <p:cNvSpPr/>
          <p:nvPr/>
        </p:nvSpPr>
        <p:spPr>
          <a:xfrm>
            <a:off x="7589520" y="5989320"/>
            <a:ext cx="228600" cy="320040"/>
          </a:xfrm>
          <a:prstGeom prst="rect">
            <a:avLst/>
          </a:prstGeom>
          <a:noFill/>
          <a:ln/>
        </p:spPr>
        <p:txBody>
          <a:bodyPr wrap="square" rtlCol="0" anchor="ctr"/>
          <a:lstStyle/>
          <a:p>
            <a:pPr algn="ctr" indent="0" marL="0">
              <a:buNone/>
            </a:pPr>
            <a:r>
              <a:rPr lang="en-US" sz="1200" dirty="0">
                <a:solidFill>
                  <a:srgbClr val="9AA7AD"/>
                </a:solidFill>
                <a:latin typeface="IBM Plex Sans" pitchFamily="34" charset="0"/>
                <a:ea typeface="IBM Plex Sans" pitchFamily="34" charset="-122"/>
                <a:cs typeface="IBM Plex Sans" pitchFamily="34" charset="-120"/>
              </a:rPr>
              <a:t>•</a:t>
            </a:r>
            <a:endParaRPr lang="en-US" sz="1200" dirty="0"/>
          </a:p>
        </p:txBody>
      </p:sp>
      <p:sp>
        <p:nvSpPr>
          <p:cNvPr id="12" name="Text 10">
            <a:hlinkClick r:id="rId3" tooltip=""/>
          </p:cNvPr>
          <p:cNvSpPr/>
          <p:nvPr/>
        </p:nvSpPr>
        <p:spPr>
          <a:xfrm>
            <a:off x="7818120" y="5989320"/>
            <a:ext cx="3566160" cy="320040"/>
          </a:xfrm>
          <a:prstGeom prst="rect">
            <a:avLst/>
          </a:prstGeom>
          <a:noFill/>
          <a:ln/>
        </p:spPr>
        <p:txBody>
          <a:bodyPr wrap="square" rtlCol="0" anchor="ctr"/>
          <a:lstStyle/>
          <a:p>
            <a:pPr algn="ctr" indent="0" marL="0">
              <a:buNone/>
            </a:pPr>
            <a:r>
              <a:rPr lang="en-US" sz="1150" u="sng" dirty="0">
                <a:solidFill>
                  <a:srgbClr val="D8E1E3"/>
                </a:solidFill>
                <a:latin typeface="IBM Plex Mono" pitchFamily="34" charset="0"/>
                <a:ea typeface="IBM Plex Mono" pitchFamily="34" charset="-122"/>
                <a:cs typeface="IBM Plex Mono"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github.com/rakshakmoorthy/threadline-app</a:t>
            </a:r>
            <a:endParaRPr lang="en-US" sz="1150" dirty="0"/>
          </a:p>
        </p:txBody>
      </p:sp>
      <p:sp>
        <p:nvSpPr>
          <p:cNvPr id="13" name="Text 11"/>
          <p:cNvSpPr/>
          <p:nvPr/>
        </p:nvSpPr>
        <p:spPr>
          <a:xfrm>
            <a:off x="457200" y="6382512"/>
            <a:ext cx="11247120" cy="320040"/>
          </a:xfrm>
          <a:prstGeom prst="rect">
            <a:avLst/>
          </a:prstGeom>
          <a:noFill/>
          <a:ln/>
        </p:spPr>
        <p:txBody>
          <a:bodyPr wrap="square" rtlCol="0" anchor="ctr"/>
          <a:lstStyle/>
          <a:p>
            <a:pPr algn="ctr" indent="0" marL="0">
              <a:buNone/>
            </a:pPr>
            <a:r>
              <a:rPr lang="en-US" sz="1100" dirty="0">
                <a:solidFill>
                  <a:srgbClr val="9AA7AD"/>
                </a:solidFill>
                <a:latin typeface="IBM Plex Sans" pitchFamily="34" charset="0"/>
                <a:ea typeface="IBM Plex Sans" pitchFamily="34" charset="-122"/>
                <a:cs typeface="IBM Plex Sans" pitchFamily="34" charset="-120"/>
              </a:rPr>
              <a:t>Raksha Krishna Moorthy   •   INFO 7375 Branding &amp; AI   •   Northeastern University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2026-08-14T00:18:28Z</dcterms:created>
  <dcterms:modified xsi:type="dcterms:W3CDTF">2026-08-14T00:18:28Z</dcterms:modified>
</cp:coreProperties>
</file>