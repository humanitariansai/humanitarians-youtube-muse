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 — target 0:56]</a:t>
            </a:r>
          </a:p>
          <a:p/>
          <a:p>
            <a:r>
              <a:t>Good morning/afternoon. I'm Hammad Rana. My brand is built around one idea: bridging IT operations and GRC. For eleven years I was the person organizations called when something broke — now I'm bringing that operational depth into governance, risk, and compliance. My positioning statement is on screen: I help security-conscious organizations bridge the gap between IT operations and GRC, using eleven years of hands-on infrastructure experience and my graduate coursework to build compliance programs that hold up beyond the audit. Everything you'll see today — my website, my tool, my stories — all point back to that one 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Strategy — target 0:35]</a:t>
            </a:r>
          </a:p>
          <a:p/>
          <a:p>
            <a:r>
              <a:t>Before I get into strategy, let me show you how I got to that line — it didn't start there. My first draft was generic: 'I help companies with cybersecurity and compliance.' That could be anyone. Five iterations later, I landed on 'bridge the gap' — because that's the real differentiator. Most GRC candidates come from pure audit backgrounds. I come from the infrastructure side.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Strategy — target 0:30]</a:t>
            </a:r>
          </a:p>
          <a:p/>
          <a:p>
            <a:r>
              <a:t>That positioning is backed by five brand pillars — operational honesty, rigor without rigidity, continuity of trust, lifelong learning under pressure, and cross-cultural competence. These aren't abstract values — pillar four is literally why I'm standing here today, pivoting from eleven years of IT ops into graduate study.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Strategy — target 0:35]</a:t>
            </a:r>
          </a:p>
          <a:p/>
          <a:p>
            <a:r>
              <a:t>I built this brand for two specific people: the GRC hiring manager, choosing between an auditor with no ops depth and a grad with no seat time — and the SOC team lead, who needs someone who understands how systems actually behave, not just what the framework says. Both get the same thing from me: proof, not promises.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Strategy — target 0:35]</a:t>
            </a:r>
          </a:p>
          <a:p/>
          <a:p>
            <a:r>
              <a:t>To prove that, I benchmarked myself against five real GRC and SOC candidate portfolios I researched. Across GRC depth, IT ops foundation, AI automation, and audit-ready output — I'm the only one with eleven years of live infrastructure experience and a working AI pipeline. Everyone else has one or the other, not both.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Strategy — target 0:33]</a:t>
            </a:r>
          </a:p>
          <a:p/>
          <a:p>
            <a:r>
              <a:t>Plotting that out, it's a clear sweet spot — high GRC depth, high operational depth, and nobody else sits in that quadrant. That's not a claim — that's five competitors' worth of research plotted on two axes.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[Visual Identity — target 0:50]</a:t>
            </a:r>
          </a:p>
          <a:p/>
          <a:p>
            <a:r>
              <a:t>That strategy needed a visual system to carry it: deep navy, slate teal, and muted gold, paired with Georgia for headings and Arial for body copy. The 'HR' mark you've seen in the corner of every slide today is the same mark on my website, my resume, and my LinkedIn — one identity, every touchpoint.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[Visual Identity — target 1:00]</a:t>
            </a:r>
          </a:p>
          <a:p/>
          <a:p>
            <a:r>
              <a:t>That identity is live right now at hammad-rana dot vercel dot app. [Switch to browser tab if presenting live] Same positioning statement, same colors, and three case studies — SentinelGRC Ops, a cloud migration risk assessment, and an IT consulting project. This isn't a mockup for today — it's been live since my earlier assignments.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[Visual Identity — target 0:58]</a:t>
            </a:r>
          </a:p>
          <a:p/>
          <a:p>
            <a:r>
              <a:t>That voice carries onto social too. Two LinkedIn posts — one promoting my Substack essay, one announcing SentinelGRC Ops shipping — plus the essay itself on The GRC Signal, my newsletter. Same voice everywhere: direct, specific, numbers over adjectives.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Storytelling — target 1:40]</a:t>
            </a:r>
          </a:p>
          <a:p/>
          <a:p>
            <a:r>
              <a:t>Now let me tell you why I'm actually doing this. [pause] Eleven years ago I started in IT support in Kuwait — keeping over 1,200 devices and campus infrastructure running. That became a decade of being the person called when something broke. But there was no next rung on the ladder. So I came to Northeastern — not as a career change, but to go deeper into the same infrastructure, at the compliance layer. This is a Voyage and Return story: I left what I knew, and came back transformed, understanding both sides of the wall now. [Read the closing quote on screen]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[Brand Storytelling — target 1:08]</a:t>
            </a:r>
          </a:p>
          <a:p/>
          <a:p>
            <a:r>
              <a:t>There's a second story behind this brand, using a different framework — Overcoming the Monster. The monster wasn't a bad boss or an outage. It was my own comfort zone. Eleven years of solid, invisible work taught me that competence alone doesn't open doors — you have to show it. That's why I write, why I publish, why I put my name on SentinelGRC Ops instead of letting it stay in a ticket queue.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[Madison AI Tool Demo — target 1:05]</a:t>
            </a:r>
          </a:p>
          <a:p/>
          <a:p>
            <a:r>
              <a:t>Which brings me to the tool itself. This is SentinelGRC Ops, live right now on HuggingFace Spaces. [Switch to browser] It ingests live CISA cybersecurity advisories, uses Groq's Llama 3.1 to map them to ISO 27001, SOC 2, and GDPR controls, and routes findings by sensitivity — all in under 600 milliseconds. Let's watch it run. [Click Run Analysis, narrate while it processes]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[Madison AI Tool Demo — target 0:55]</a:t>
            </a:r>
          </a:p>
          <a:p/>
          <a:p>
            <a:r>
              <a:t>Here's the problem it solves: GRC analysts spend two to three hours a week manually doing what you just watched happen in under a second. Three data sources, a 99.6% pass rate, and it costs me nothing to run on the free tier.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[Madison AI Tool Demo — target 1:00]</a:t>
            </a:r>
          </a:p>
          <a:p/>
          <a:p>
            <a:r>
              <a:t>Under the hood, it's three agents coordinated by n8n — intake intelligence normalizes the data, control mapping does the AI reasoning, and memo and ticket content writes the actual Jira ticket. Every handoff between agents is a strict JSON contract — if something's malformed, it fails loudly instead of silently passing bad data downstream.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[Madison AI Tool Demo — target 1:00]</a:t>
            </a:r>
          </a:p>
          <a:p/>
          <a:p>
            <a:r>
              <a:t>Here's exactly what that kind of run produces — real CVEs, mapped to real controls, with a specific recommended action for each. Siemens, high severity, mapped to ISO 27001 and SOC 2, with a concrete patch recommendation. Not a summary — an actual, audit-ready finding.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[Madison AI Tool Demo — target 0:45]</a:t>
            </a:r>
          </a:p>
          <a:p/>
          <a:p>
            <a:r>
              <a:t>The bottom line: what used to take two to three hours of manual review now takes under a minute. At scale, that's four to six hundred dollars a month in saved analyst time, for a tool that costs seven cents a month to run.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 target 0:15]</a:t>
            </a:r>
          </a:p>
          <a:p/>
          <a:p>
            <a:r>
              <a:t>That's SentinelGRC Ops, and that's my brand — built on eleven years of infrastructure experience, proven with a working tool. Thank you —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40080" y="640080"/>
            <a:ext cx="594360" cy="594360"/>
          </a:xfrm>
          <a:prstGeom prst="roundRect">
            <a:avLst>
              <a:gd name="adj" fmla="val 18462"/>
            </a:avLst>
          </a:prstGeom>
          <a:solidFill>
            <a:srgbClr val="24365C"/>
          </a:solidFill>
          <a:ln w="12700">
            <a:solidFill>
              <a:srgbClr val="24365C"/>
            </a:solidFill>
            <a:prstDash val="solid"/>
          </a:ln>
        </p:spPr>
      </p:sp>
      <p:sp>
        <p:nvSpPr>
          <p:cNvPr id="3" name="Text 1"/>
          <p:cNvSpPr/>
          <p:nvPr/>
        </p:nvSpPr>
        <p:spPr>
          <a:xfrm>
            <a:off x="640080" y="640080"/>
            <a:ext cx="594360" cy="594360"/>
          </a:xfrm>
          <a:prstGeom prst="rect">
            <a:avLst/>
          </a:prstGeom>
          <a:noFill/>
          <a:ln/>
        </p:spPr>
        <p:txBody>
          <a:bodyPr wrap="square" lIns="0" tIns="0" rIns="0" bIns="0" rtlCol="0" anchor="ctr"/>
          <a:lstStyle/>
          <a:p>
            <a:pPr algn="ctr" indent="0" marL="0">
              <a:buNone/>
            </a:pPr>
            <a:r>
              <a:rPr lang="en-US" sz="2000" b="1" dirty="0">
                <a:solidFill>
                  <a:srgbClr val="C9A24B"/>
                </a:solidFill>
                <a:latin typeface="Georgia" pitchFamily="34" charset="0"/>
                <a:ea typeface="Georgia" pitchFamily="34" charset="-122"/>
                <a:cs typeface="Georgia" pitchFamily="34" charset="-120"/>
              </a:rPr>
              <a:t>HR</a:t>
            </a:r>
            <a:endParaRPr lang="en-US" sz="2000" dirty="0"/>
          </a:p>
        </p:txBody>
      </p:sp>
      <p:sp>
        <p:nvSpPr>
          <p:cNvPr id="4" name="Text 2"/>
          <p:cNvSpPr/>
          <p:nvPr/>
        </p:nvSpPr>
        <p:spPr>
          <a:xfrm>
            <a:off x="640080" y="2148840"/>
            <a:ext cx="10881360" cy="1097280"/>
          </a:xfrm>
          <a:prstGeom prst="rect">
            <a:avLst/>
          </a:prstGeom>
          <a:noFill/>
          <a:ln/>
        </p:spPr>
        <p:txBody>
          <a:bodyPr wrap="square" lIns="0" tIns="0" rIns="0" bIns="0" rtlCol="0" anchor="ctr"/>
          <a:lstStyle/>
          <a:p>
            <a:pPr indent="0" marL="0">
              <a:buNone/>
            </a:pPr>
            <a:r>
              <a:rPr lang="en-US" sz="5200" b="1" dirty="0">
                <a:solidFill>
                  <a:srgbClr val="F5F3EE"/>
                </a:solidFill>
                <a:latin typeface="Georgia" pitchFamily="34" charset="0"/>
                <a:ea typeface="Georgia" pitchFamily="34" charset="-122"/>
                <a:cs typeface="Georgia" pitchFamily="34" charset="-120"/>
              </a:rPr>
              <a:t>Hammad Rana</a:t>
            </a:r>
            <a:endParaRPr lang="en-US" sz="5200" dirty="0"/>
          </a:p>
        </p:txBody>
      </p:sp>
      <p:sp>
        <p:nvSpPr>
          <p:cNvPr id="5" name="Text 3"/>
          <p:cNvSpPr/>
          <p:nvPr/>
        </p:nvSpPr>
        <p:spPr>
          <a:xfrm>
            <a:off x="685800" y="3246120"/>
            <a:ext cx="10058400" cy="457200"/>
          </a:xfrm>
          <a:prstGeom prst="rect">
            <a:avLst/>
          </a:prstGeom>
          <a:noFill/>
          <a:ln/>
        </p:spPr>
        <p:txBody>
          <a:bodyPr wrap="square" rtlCol="0" anchor="ctr"/>
          <a:lstStyle/>
          <a:p>
            <a:pPr indent="0" marL="0">
              <a:buNone/>
            </a:pPr>
            <a:r>
              <a:rPr lang="en-US" sz="1800" dirty="0">
                <a:solidFill>
                  <a:srgbClr val="E3EEEE"/>
                </a:solidFill>
                <a:latin typeface="Arial" pitchFamily="34" charset="0"/>
                <a:ea typeface="Arial" pitchFamily="34" charset="-122"/>
                <a:cs typeface="Arial" pitchFamily="34" charset="-120"/>
              </a:rPr>
              <a:t>Governance, Risk &amp; Compliance  |  MSIS</a:t>
            </a:r>
            <a:endParaRPr lang="en-US" sz="1800" dirty="0"/>
          </a:p>
        </p:txBody>
      </p:sp>
      <p:sp>
        <p:nvSpPr>
          <p:cNvPr id="6" name="Shape 4"/>
          <p:cNvSpPr/>
          <p:nvPr/>
        </p:nvSpPr>
        <p:spPr>
          <a:xfrm>
            <a:off x="685800" y="3794760"/>
            <a:ext cx="2926080" cy="0"/>
          </a:xfrm>
          <a:prstGeom prst="line">
            <a:avLst/>
          </a:prstGeom>
          <a:noFill/>
          <a:ln w="25400">
            <a:solidFill>
              <a:srgbClr val="C9A24B"/>
            </a:solidFill>
            <a:prstDash val="solid"/>
          </a:ln>
        </p:spPr>
      </p:sp>
      <p:sp>
        <p:nvSpPr>
          <p:cNvPr id="7" name="Text 5"/>
          <p:cNvSpPr/>
          <p:nvPr/>
        </p:nvSpPr>
        <p:spPr>
          <a:xfrm>
            <a:off x="685800" y="4069080"/>
            <a:ext cx="8595360" cy="1371600"/>
          </a:xfrm>
          <a:prstGeom prst="rect">
            <a:avLst/>
          </a:prstGeom>
          <a:noFill/>
          <a:ln/>
        </p:spPr>
        <p:txBody>
          <a:bodyPr wrap="square" rtlCol="0" anchor="ctr"/>
          <a:lstStyle/>
          <a:p>
            <a:pPr indent="0" marL="0">
              <a:lnSpc>
                <a:spcPct val="125000"/>
              </a:lnSpc>
              <a:buNone/>
            </a:pPr>
            <a:r>
              <a:rPr lang="en-US" sz="1600" i="1" dirty="0">
                <a:solidFill>
                  <a:srgbClr val="F5F3EE"/>
                </a:solidFill>
                <a:latin typeface="Georgia" pitchFamily="34" charset="0"/>
                <a:ea typeface="Georgia" pitchFamily="34" charset="-122"/>
                <a:cs typeface="Georgia" pitchFamily="34" charset="-120"/>
              </a:rPr>
              <a:t>I help security-conscious organizations bridge the gap between IT operations and GRC — bringing 11 years of hands-on infrastructure experience and a graduate background in Information Systems to build compliance programs that hold up beyond the audit.</a:t>
            </a:r>
            <a:endParaRPr lang="en-US" sz="1600" dirty="0"/>
          </a:p>
        </p:txBody>
      </p:sp>
      <p:sp>
        <p:nvSpPr>
          <p:cNvPr id="8" name="Text 6"/>
          <p:cNvSpPr/>
          <p:nvPr/>
        </p:nvSpPr>
        <p:spPr>
          <a:xfrm>
            <a:off x="685800" y="5715000"/>
            <a:ext cx="7315200" cy="320040"/>
          </a:xfrm>
          <a:prstGeom prst="rect">
            <a:avLst/>
          </a:prstGeom>
          <a:noFill/>
          <a:ln/>
        </p:spPr>
        <p:txBody>
          <a:bodyPr wrap="square" rtlCol="0" anchor="ctr"/>
          <a:lstStyle/>
          <a:p>
            <a:pPr indent="0" marL="0">
              <a:buNone/>
            </a:pPr>
            <a:r>
              <a:rPr lang="en-US" sz="1100" dirty="0">
                <a:solidFill>
                  <a:srgbClr val="8598BE"/>
                </a:solidFill>
                <a:latin typeface="Arial" pitchFamily="34" charset="0"/>
                <a:ea typeface="Arial" pitchFamily="34" charset="-122"/>
                <a:cs typeface="Arial" pitchFamily="34" charset="-120"/>
              </a:rPr>
              <a:t>Hammad Rana  ·  INFO 7375 — Branding &amp; AI  ·  Northeastern University  ·  August 2026</a:t>
            </a:r>
            <a:endParaRPr lang="en-US" sz="1100" dirty="0"/>
          </a:p>
        </p:txBody>
      </p:sp>
      <p:sp>
        <p:nvSpPr>
          <p:cNvPr id="9" name="Text 7"/>
          <p:cNvSpPr/>
          <p:nvPr/>
        </p:nvSpPr>
        <p:spPr>
          <a:xfrm>
            <a:off x="8805672" y="5715000"/>
            <a:ext cx="2743200" cy="320040"/>
          </a:xfrm>
          <a:prstGeom prst="rect">
            <a:avLst/>
          </a:prstGeom>
          <a:noFill/>
          <a:ln/>
        </p:spPr>
        <p:txBody>
          <a:bodyPr wrap="square" rtlCol="0" anchor="ctr"/>
          <a:lstStyle/>
          <a:p>
            <a:pPr algn="r" indent="0" marL="0">
              <a:buNone/>
            </a:pPr>
            <a:r>
              <a:rPr lang="en-US" sz="1100" dirty="0">
                <a:solidFill>
                  <a:srgbClr val="C9A24B"/>
                </a:solidFill>
                <a:latin typeface="Arial" pitchFamily="34" charset="0"/>
                <a:ea typeface="Arial" pitchFamily="34" charset="-122"/>
                <a:cs typeface="Arial" pitchFamily="34" charset="-120"/>
              </a:rPr>
              <a:t>hammad-rana.vercel.app</a:t>
            </a:r>
            <a:endParaRPr lang="en-US" sz="1100" dirty="0"/>
          </a:p>
        </p:txBody>
      </p:sp>
      <p:sp>
        <p:nvSpPr>
          <p:cNvPr id="10" name="Text 8"/>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598BE"/>
                </a:solidFill>
                <a:latin typeface="Arial" pitchFamily="34" charset="0"/>
                <a:ea typeface="Arial" pitchFamily="34" charset="-122"/>
                <a:cs typeface="Arial" pitchFamily="34" charset="-120"/>
              </a:rPr>
              <a:t>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1B2A4A"/>
          </a:solidFill>
          <a:ln w="12700">
            <a:solidFill>
              <a:srgbClr val="1B2A4A"/>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1B2A4A"/>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3C6E71"/>
                </a:solidFill>
                <a:latin typeface="Arial" pitchFamily="34" charset="0"/>
                <a:ea typeface="Arial" pitchFamily="34" charset="-122"/>
                <a:cs typeface="Arial" pitchFamily="34" charset="-120"/>
              </a:rPr>
              <a:t>BRAND STRATEGY</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1B2A4A"/>
                </a:solidFill>
                <a:latin typeface="Georgia" pitchFamily="34" charset="0"/>
                <a:ea typeface="Georgia" pitchFamily="34" charset="-122"/>
                <a:cs typeface="Georgia" pitchFamily="34" charset="-120"/>
              </a:rPr>
              <a:t>From generic to defensible: the UVP evolution</a:t>
            </a:r>
            <a:endParaRPr lang="en-US" sz="2900" dirty="0"/>
          </a:p>
        </p:txBody>
      </p:sp>
      <p:sp>
        <p:nvSpPr>
          <p:cNvPr id="7" name="Shape 5"/>
          <p:cNvSpPr/>
          <p:nvPr/>
        </p:nvSpPr>
        <p:spPr>
          <a:xfrm>
            <a:off x="640080" y="1965960"/>
            <a:ext cx="5120640" cy="3749040"/>
          </a:xfrm>
          <a:prstGeom prst="roundRect">
            <a:avLst>
              <a:gd name="adj" fmla="val 2927"/>
            </a:avLst>
          </a:prstGeom>
          <a:solidFill>
            <a:srgbClr val="FFFFFF"/>
          </a:solidFill>
          <a:ln w="12700">
            <a:solidFill>
              <a:srgbClr val="D8D3C6"/>
            </a:solidFill>
            <a:prstDash val="solid"/>
          </a:ln>
        </p:spPr>
      </p:sp>
      <p:sp>
        <p:nvSpPr>
          <p:cNvPr id="8" name="Text 6"/>
          <p:cNvSpPr/>
          <p:nvPr/>
        </p:nvSpPr>
        <p:spPr>
          <a:xfrm>
            <a:off x="914400" y="2194560"/>
            <a:ext cx="4572000" cy="320040"/>
          </a:xfrm>
          <a:prstGeom prst="rect">
            <a:avLst/>
          </a:prstGeom>
          <a:noFill/>
          <a:ln/>
        </p:spPr>
        <p:txBody>
          <a:bodyPr wrap="square" rtlCol="0" anchor="ctr"/>
          <a:lstStyle/>
          <a:p>
            <a:pPr indent="0" marL="0">
              <a:buNone/>
            </a:pPr>
            <a:r>
              <a:rPr lang="en-US" sz="1200" b="1" dirty="0">
                <a:solidFill>
                  <a:srgbClr val="3C6E71"/>
                </a:solidFill>
                <a:latin typeface="Arial" pitchFamily="34" charset="0"/>
                <a:ea typeface="Arial" pitchFamily="34" charset="-122"/>
                <a:cs typeface="Arial" pitchFamily="34" charset="-120"/>
              </a:rPr>
              <a:t>ITERATION 1 — RAW FIRST PASS</a:t>
            </a:r>
            <a:endParaRPr lang="en-US" sz="1200" dirty="0"/>
          </a:p>
        </p:txBody>
      </p:sp>
      <p:sp>
        <p:nvSpPr>
          <p:cNvPr id="9" name="Text 7"/>
          <p:cNvSpPr/>
          <p:nvPr/>
        </p:nvSpPr>
        <p:spPr>
          <a:xfrm>
            <a:off x="914400" y="2606040"/>
            <a:ext cx="4572000" cy="1371600"/>
          </a:xfrm>
          <a:prstGeom prst="rect">
            <a:avLst/>
          </a:prstGeom>
          <a:noFill/>
          <a:ln/>
        </p:spPr>
        <p:txBody>
          <a:bodyPr wrap="square" rtlCol="0" anchor="ctr"/>
          <a:lstStyle/>
          <a:p>
            <a:pPr indent="0" marL="0">
              <a:buNone/>
            </a:pPr>
            <a:r>
              <a:rPr lang="en-US" sz="1600" i="1" dirty="0">
                <a:solidFill>
                  <a:srgbClr val="1B2A4A"/>
                </a:solidFill>
                <a:latin typeface="Georgia" pitchFamily="34" charset="0"/>
                <a:ea typeface="Georgia" pitchFamily="34" charset="-122"/>
                <a:cs typeface="Georgia" pitchFamily="34" charset="-120"/>
              </a:rPr>
              <a:t>“I help companies with their cybersecurity and compliance needs using my IT and GRC experience.”</a:t>
            </a:r>
            <a:endParaRPr lang="en-US" sz="1600" dirty="0"/>
          </a:p>
        </p:txBody>
      </p:sp>
      <p:sp>
        <p:nvSpPr>
          <p:cNvPr id="10" name="Text 8"/>
          <p:cNvSpPr/>
          <p:nvPr/>
        </p:nvSpPr>
        <p:spPr>
          <a:xfrm>
            <a:off x="914400" y="4023360"/>
            <a:ext cx="4572000" cy="731520"/>
          </a:xfrm>
          <a:prstGeom prst="rect">
            <a:avLst/>
          </a:prstGeom>
          <a:noFill/>
          <a:ln/>
        </p:spPr>
        <p:txBody>
          <a:bodyPr wrap="square" rtlCol="0" anchor="ctr"/>
          <a:lstStyle/>
          <a:p>
            <a:pPr indent="0" marL="0">
              <a:buNone/>
            </a:pPr>
            <a:r>
              <a:rPr lang="en-US" sz="1200" dirty="0">
                <a:solidFill>
                  <a:srgbClr val="6B7280"/>
                </a:solidFill>
                <a:latin typeface="Arial" pitchFamily="34" charset="0"/>
                <a:ea typeface="Arial" pitchFamily="34" charset="-122"/>
                <a:cs typeface="Arial" pitchFamily="34" charset="-120"/>
              </a:rPr>
              <a:t>Too broad, no differentiation — could describe anyone in the field.</a:t>
            </a:r>
            <a:endParaRPr lang="en-US" sz="1200" dirty="0"/>
          </a:p>
        </p:txBody>
      </p:sp>
      <p:sp>
        <p:nvSpPr>
          <p:cNvPr id="11" name="Shape 9"/>
          <p:cNvSpPr/>
          <p:nvPr/>
        </p:nvSpPr>
        <p:spPr>
          <a:xfrm>
            <a:off x="6035040" y="1965960"/>
            <a:ext cx="5486400" cy="3749040"/>
          </a:xfrm>
          <a:prstGeom prst="roundRect">
            <a:avLst>
              <a:gd name="adj" fmla="val 2927"/>
            </a:avLst>
          </a:prstGeom>
          <a:solidFill>
            <a:srgbClr val="1B2A4A"/>
          </a:solidFill>
          <a:ln w="12700">
            <a:solidFill>
              <a:srgbClr val="1B2A4A"/>
            </a:solidFill>
            <a:prstDash val="solid"/>
          </a:ln>
        </p:spPr>
      </p:sp>
      <p:sp>
        <p:nvSpPr>
          <p:cNvPr id="12" name="Text 10"/>
          <p:cNvSpPr/>
          <p:nvPr/>
        </p:nvSpPr>
        <p:spPr>
          <a:xfrm>
            <a:off x="6309360" y="2194560"/>
            <a:ext cx="4937760" cy="320040"/>
          </a:xfrm>
          <a:prstGeom prst="rect">
            <a:avLst/>
          </a:prstGeom>
          <a:noFill/>
          <a:ln/>
        </p:spPr>
        <p:txBody>
          <a:bodyPr wrap="square" rtlCol="0" anchor="ctr"/>
          <a:lstStyle/>
          <a:p>
            <a:pPr indent="0" marL="0">
              <a:buNone/>
            </a:pPr>
            <a:r>
              <a:rPr lang="en-US" sz="1200" b="1" dirty="0">
                <a:solidFill>
                  <a:srgbClr val="C9A24B"/>
                </a:solidFill>
                <a:latin typeface="Arial" pitchFamily="34" charset="0"/>
                <a:ea typeface="Arial" pitchFamily="34" charset="-122"/>
                <a:cs typeface="Arial" pitchFamily="34" charset="-120"/>
              </a:rPr>
              <a:t>ITERATION 5 — FINAL (GUT-CHECK READY)</a:t>
            </a:r>
            <a:endParaRPr lang="en-US" sz="1200" dirty="0"/>
          </a:p>
        </p:txBody>
      </p:sp>
      <p:sp>
        <p:nvSpPr>
          <p:cNvPr id="13" name="Text 11"/>
          <p:cNvSpPr/>
          <p:nvPr/>
        </p:nvSpPr>
        <p:spPr>
          <a:xfrm>
            <a:off x="6309360" y="2606040"/>
            <a:ext cx="4937760" cy="2103120"/>
          </a:xfrm>
          <a:prstGeom prst="rect">
            <a:avLst/>
          </a:prstGeom>
          <a:noFill/>
          <a:ln/>
        </p:spPr>
        <p:txBody>
          <a:bodyPr wrap="square" rtlCol="0" anchor="ctr"/>
          <a:lstStyle/>
          <a:p>
            <a:pPr indent="0" marL="0">
              <a:lnSpc>
                <a:spcPct val="120000"/>
              </a:lnSpc>
              <a:buNone/>
            </a:pPr>
            <a:r>
              <a:rPr lang="en-US" sz="1500" i="1" dirty="0">
                <a:solidFill>
                  <a:srgbClr val="F5F3EE"/>
                </a:solidFill>
                <a:latin typeface="Georgia" pitchFamily="34" charset="0"/>
                <a:ea typeface="Georgia" pitchFamily="34" charset="-122"/>
                <a:cs typeface="Georgia" pitchFamily="34" charset="-120"/>
              </a:rPr>
              <a:t>“I help security-conscious organizations bridge the gap between IT operations and GRC — bringing 11 years of hands-on infrastructure experience and a graduate background in Information Systems to build compliance programs that hold up beyond the audit.”</a:t>
            </a:r>
            <a:endParaRPr lang="en-US" sz="1500" dirty="0"/>
          </a:p>
        </p:txBody>
      </p:sp>
      <p:sp>
        <p:nvSpPr>
          <p:cNvPr id="14" name="Text 12"/>
          <p:cNvSpPr/>
          <p:nvPr/>
        </p:nvSpPr>
        <p:spPr>
          <a:xfrm>
            <a:off x="6309360" y="4846320"/>
            <a:ext cx="4937760" cy="777240"/>
          </a:xfrm>
          <a:prstGeom prst="rect">
            <a:avLst/>
          </a:prstGeom>
          <a:noFill/>
          <a:ln/>
        </p:spPr>
        <p:txBody>
          <a:bodyPr wrap="square" rtlCol="0" anchor="ctr"/>
          <a:lstStyle/>
          <a:p>
            <a:pPr indent="0" marL="0">
              <a:buNone/>
            </a:pPr>
            <a:r>
              <a:rPr lang="en-US" sz="1200" dirty="0">
                <a:solidFill>
                  <a:srgbClr val="C7CFE0"/>
                </a:solidFill>
                <a:latin typeface="Arial" pitchFamily="34" charset="0"/>
                <a:ea typeface="Arial" pitchFamily="34" charset="-122"/>
                <a:cs typeface="Arial" pitchFamily="34" charset="-120"/>
              </a:rPr>
              <a:t>“Bridge the gap” is the real differentiator — most GRC candidates come from pure audit backgrounds, not live infrastructure.</a:t>
            </a:r>
            <a:endParaRPr lang="en-US" sz="1200" dirty="0"/>
          </a:p>
        </p:txBody>
      </p:sp>
      <p:sp>
        <p:nvSpPr>
          <p:cNvPr id="15" name="Text 13"/>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9AA0A0"/>
                </a:solidFill>
                <a:latin typeface="Arial" pitchFamily="34" charset="0"/>
                <a:ea typeface="Arial" pitchFamily="34" charset="-122"/>
                <a:cs typeface="Arial" pitchFamily="34" charset="-120"/>
              </a:rPr>
              <a:t>Hammad Rana</a:t>
            </a:r>
            <a:endParaRPr lang="en-US" sz="900" dirty="0"/>
          </a:p>
        </p:txBody>
      </p:sp>
      <p:sp>
        <p:nvSpPr>
          <p:cNvPr id="16" name="Text 14"/>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9AA0A0"/>
                </a:solidFill>
                <a:latin typeface="Arial" pitchFamily="34" charset="0"/>
                <a:ea typeface="Arial" pitchFamily="34" charset="-122"/>
                <a:cs typeface="Arial"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1B2A4A"/>
          </a:solidFill>
          <a:ln w="12700">
            <a:solidFill>
              <a:srgbClr val="1B2A4A"/>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1B2A4A"/>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3C6E71"/>
                </a:solidFill>
                <a:latin typeface="Arial" pitchFamily="34" charset="0"/>
                <a:ea typeface="Arial" pitchFamily="34" charset="-122"/>
                <a:cs typeface="Arial" pitchFamily="34" charset="-120"/>
              </a:rPr>
              <a:t>BRAND STRATEGY</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1B2A4A"/>
                </a:solidFill>
                <a:latin typeface="Georgia" pitchFamily="34" charset="0"/>
                <a:ea typeface="Georgia" pitchFamily="34" charset="-122"/>
                <a:cs typeface="Georgia" pitchFamily="34" charset="-120"/>
              </a:rPr>
              <a:t>Five brand pillars</a:t>
            </a:r>
            <a:endParaRPr lang="en-US" sz="2900" dirty="0"/>
          </a:p>
        </p:txBody>
      </p:sp>
      <p:sp>
        <p:nvSpPr>
          <p:cNvPr id="7" name="Shape 5"/>
          <p:cNvSpPr/>
          <p:nvPr/>
        </p:nvSpPr>
        <p:spPr>
          <a:xfrm>
            <a:off x="685800" y="1993392"/>
            <a:ext cx="420624" cy="420624"/>
          </a:xfrm>
          <a:prstGeom prst="ellipse">
            <a:avLst/>
          </a:prstGeom>
          <a:solidFill>
            <a:srgbClr val="C9A24B"/>
          </a:solidFill>
          <a:ln w="12700">
            <a:solidFill>
              <a:srgbClr val="C9A24B"/>
            </a:solidFill>
            <a:prstDash val="solid"/>
          </a:ln>
        </p:spPr>
      </p:sp>
      <p:sp>
        <p:nvSpPr>
          <p:cNvPr id="8" name="Text 6"/>
          <p:cNvSpPr/>
          <p:nvPr/>
        </p:nvSpPr>
        <p:spPr>
          <a:xfrm>
            <a:off x="685800" y="1993392"/>
            <a:ext cx="420624" cy="420624"/>
          </a:xfrm>
          <a:prstGeom prst="rect">
            <a:avLst/>
          </a:prstGeom>
          <a:noFill/>
          <a:ln/>
        </p:spPr>
        <p:txBody>
          <a:bodyPr wrap="square" rtlCol="0" anchor="ctr"/>
          <a:lstStyle/>
          <a:p>
            <a:pPr algn="ctr" indent="0" marL="0">
              <a:buNone/>
            </a:pPr>
            <a:r>
              <a:rPr lang="en-US" sz="1600" b="1" dirty="0">
                <a:solidFill>
                  <a:srgbClr val="1B2A4A"/>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1325880" y="1965960"/>
            <a:ext cx="3383280" cy="786384"/>
          </a:xfrm>
          <a:prstGeom prst="rect">
            <a:avLst/>
          </a:prstGeom>
          <a:noFill/>
          <a:ln/>
        </p:spPr>
        <p:txBody>
          <a:bodyPr wrap="square" rtlCol="0" anchor="t"/>
          <a:lstStyle/>
          <a:p>
            <a:pPr indent="0" marL="0">
              <a:buNone/>
            </a:pPr>
            <a:r>
              <a:rPr lang="en-US" sz="1450" b="1" dirty="0">
                <a:solidFill>
                  <a:srgbClr val="1B2A4A"/>
                </a:solidFill>
                <a:latin typeface="Georgia" pitchFamily="34" charset="0"/>
                <a:ea typeface="Georgia" pitchFamily="34" charset="-122"/>
                <a:cs typeface="Georgia" pitchFamily="34" charset="-120"/>
              </a:rPr>
              <a:t>Operational honesty</a:t>
            </a:r>
            <a:endParaRPr lang="en-US" sz="1450" dirty="0"/>
          </a:p>
        </p:txBody>
      </p:sp>
      <p:sp>
        <p:nvSpPr>
          <p:cNvPr id="10" name="Text 8"/>
          <p:cNvSpPr/>
          <p:nvPr/>
        </p:nvSpPr>
        <p:spPr>
          <a:xfrm>
            <a:off x="4846320" y="1965960"/>
            <a:ext cx="6675120" cy="786384"/>
          </a:xfrm>
          <a:prstGeom prst="rect">
            <a:avLst/>
          </a:prstGeom>
          <a:noFill/>
          <a:ln/>
        </p:spPr>
        <p:txBody>
          <a:bodyPr wrap="square" rtlCol="0" anchor="t"/>
          <a:lstStyle/>
          <a:p>
            <a:pPr indent="0" marL="0">
              <a:lnSpc>
                <a:spcPct val="115000"/>
              </a:lnSpc>
              <a:buNone/>
            </a:pPr>
            <a:r>
              <a:rPr lang="en-US" sz="1250" dirty="0">
                <a:solidFill>
                  <a:srgbClr val="3D4657"/>
                </a:solidFill>
                <a:latin typeface="Arial" pitchFamily="34" charset="0"/>
                <a:ea typeface="Arial" pitchFamily="34" charset="-122"/>
                <a:cs typeface="Arial" pitchFamily="34" charset="-120"/>
              </a:rPr>
              <a:t>Clear-eyed assessment of systems and risks over comfortable reassurance.</a:t>
            </a:r>
            <a:endParaRPr lang="en-US" sz="1250" dirty="0"/>
          </a:p>
        </p:txBody>
      </p:sp>
      <p:sp>
        <p:nvSpPr>
          <p:cNvPr id="11" name="Shape 9"/>
          <p:cNvSpPr/>
          <p:nvPr/>
        </p:nvSpPr>
        <p:spPr>
          <a:xfrm>
            <a:off x="685800" y="2679192"/>
            <a:ext cx="10835640" cy="0"/>
          </a:xfrm>
          <a:prstGeom prst="line">
            <a:avLst/>
          </a:prstGeom>
          <a:noFill/>
          <a:ln w="9525">
            <a:solidFill>
              <a:srgbClr val="DAD5C8"/>
            </a:solidFill>
            <a:prstDash val="solid"/>
          </a:ln>
        </p:spPr>
      </p:sp>
      <p:sp>
        <p:nvSpPr>
          <p:cNvPr id="12" name="Shape 10"/>
          <p:cNvSpPr/>
          <p:nvPr/>
        </p:nvSpPr>
        <p:spPr>
          <a:xfrm>
            <a:off x="685800" y="2779776"/>
            <a:ext cx="420624" cy="420624"/>
          </a:xfrm>
          <a:prstGeom prst="ellipse">
            <a:avLst/>
          </a:prstGeom>
          <a:solidFill>
            <a:srgbClr val="C9A24B"/>
          </a:solidFill>
          <a:ln w="12700">
            <a:solidFill>
              <a:srgbClr val="C9A24B"/>
            </a:solidFill>
            <a:prstDash val="solid"/>
          </a:ln>
        </p:spPr>
      </p:sp>
      <p:sp>
        <p:nvSpPr>
          <p:cNvPr id="13" name="Text 11"/>
          <p:cNvSpPr/>
          <p:nvPr/>
        </p:nvSpPr>
        <p:spPr>
          <a:xfrm>
            <a:off x="685800" y="2779776"/>
            <a:ext cx="420624" cy="420624"/>
          </a:xfrm>
          <a:prstGeom prst="rect">
            <a:avLst/>
          </a:prstGeom>
          <a:noFill/>
          <a:ln/>
        </p:spPr>
        <p:txBody>
          <a:bodyPr wrap="square" rtlCol="0" anchor="ctr"/>
          <a:lstStyle/>
          <a:p>
            <a:pPr algn="ctr" indent="0" marL="0">
              <a:buNone/>
            </a:pPr>
            <a:r>
              <a:rPr lang="en-US" sz="1600" b="1" dirty="0">
                <a:solidFill>
                  <a:srgbClr val="1B2A4A"/>
                </a:solidFill>
                <a:latin typeface="Arial" pitchFamily="34" charset="0"/>
                <a:ea typeface="Arial" pitchFamily="34" charset="-122"/>
                <a:cs typeface="Arial" pitchFamily="34" charset="-120"/>
              </a:rPr>
              <a:t>2</a:t>
            </a:r>
            <a:endParaRPr lang="en-US" sz="1600" dirty="0"/>
          </a:p>
        </p:txBody>
      </p:sp>
      <p:sp>
        <p:nvSpPr>
          <p:cNvPr id="14" name="Text 12"/>
          <p:cNvSpPr/>
          <p:nvPr/>
        </p:nvSpPr>
        <p:spPr>
          <a:xfrm>
            <a:off x="1325880" y="2752344"/>
            <a:ext cx="3383280" cy="786384"/>
          </a:xfrm>
          <a:prstGeom prst="rect">
            <a:avLst/>
          </a:prstGeom>
          <a:noFill/>
          <a:ln/>
        </p:spPr>
        <p:txBody>
          <a:bodyPr wrap="square" rtlCol="0" anchor="t"/>
          <a:lstStyle/>
          <a:p>
            <a:pPr indent="0" marL="0">
              <a:buNone/>
            </a:pPr>
            <a:r>
              <a:rPr lang="en-US" sz="1450" b="1" dirty="0">
                <a:solidFill>
                  <a:srgbClr val="1B2A4A"/>
                </a:solidFill>
                <a:latin typeface="Georgia" pitchFamily="34" charset="0"/>
                <a:ea typeface="Georgia" pitchFamily="34" charset="-122"/>
                <a:cs typeface="Georgia" pitchFamily="34" charset="-120"/>
              </a:rPr>
              <a:t>Rigor without rigidity</a:t>
            </a:r>
            <a:endParaRPr lang="en-US" sz="1450" dirty="0"/>
          </a:p>
        </p:txBody>
      </p:sp>
      <p:sp>
        <p:nvSpPr>
          <p:cNvPr id="15" name="Text 13"/>
          <p:cNvSpPr/>
          <p:nvPr/>
        </p:nvSpPr>
        <p:spPr>
          <a:xfrm>
            <a:off x="4846320" y="2752344"/>
            <a:ext cx="6675120" cy="786384"/>
          </a:xfrm>
          <a:prstGeom prst="rect">
            <a:avLst/>
          </a:prstGeom>
          <a:noFill/>
          <a:ln/>
        </p:spPr>
        <p:txBody>
          <a:bodyPr wrap="square" rtlCol="0" anchor="t"/>
          <a:lstStyle/>
          <a:p>
            <a:pPr indent="0" marL="0">
              <a:lnSpc>
                <a:spcPct val="115000"/>
              </a:lnSpc>
              <a:buNone/>
            </a:pPr>
            <a:r>
              <a:rPr lang="en-US" sz="1250" dirty="0">
                <a:solidFill>
                  <a:srgbClr val="3D4657"/>
                </a:solidFill>
                <a:latin typeface="Arial" pitchFamily="34" charset="0"/>
                <a:ea typeface="Arial" pitchFamily="34" charset="-122"/>
                <a:cs typeface="Arial" pitchFamily="34" charset="-120"/>
              </a:rPr>
              <a:t>Frameworks are tools, not religion — controls fit the organization.</a:t>
            </a:r>
            <a:endParaRPr lang="en-US" sz="1250" dirty="0"/>
          </a:p>
        </p:txBody>
      </p:sp>
      <p:sp>
        <p:nvSpPr>
          <p:cNvPr id="16" name="Shape 14"/>
          <p:cNvSpPr/>
          <p:nvPr/>
        </p:nvSpPr>
        <p:spPr>
          <a:xfrm>
            <a:off x="685800" y="3465576"/>
            <a:ext cx="10835640" cy="0"/>
          </a:xfrm>
          <a:prstGeom prst="line">
            <a:avLst/>
          </a:prstGeom>
          <a:noFill/>
          <a:ln w="9525">
            <a:solidFill>
              <a:srgbClr val="DAD5C8"/>
            </a:solidFill>
            <a:prstDash val="solid"/>
          </a:ln>
        </p:spPr>
      </p:sp>
      <p:sp>
        <p:nvSpPr>
          <p:cNvPr id="17" name="Shape 15"/>
          <p:cNvSpPr/>
          <p:nvPr/>
        </p:nvSpPr>
        <p:spPr>
          <a:xfrm>
            <a:off x="685800" y="3566160"/>
            <a:ext cx="420624" cy="420624"/>
          </a:xfrm>
          <a:prstGeom prst="ellipse">
            <a:avLst/>
          </a:prstGeom>
          <a:solidFill>
            <a:srgbClr val="C9A24B"/>
          </a:solidFill>
          <a:ln w="12700">
            <a:solidFill>
              <a:srgbClr val="C9A24B"/>
            </a:solidFill>
            <a:prstDash val="solid"/>
          </a:ln>
        </p:spPr>
      </p:sp>
      <p:sp>
        <p:nvSpPr>
          <p:cNvPr id="18" name="Text 16"/>
          <p:cNvSpPr/>
          <p:nvPr/>
        </p:nvSpPr>
        <p:spPr>
          <a:xfrm>
            <a:off x="685800" y="3566160"/>
            <a:ext cx="420624" cy="420624"/>
          </a:xfrm>
          <a:prstGeom prst="rect">
            <a:avLst/>
          </a:prstGeom>
          <a:noFill/>
          <a:ln/>
        </p:spPr>
        <p:txBody>
          <a:bodyPr wrap="square" rtlCol="0" anchor="ctr"/>
          <a:lstStyle/>
          <a:p>
            <a:pPr algn="ctr" indent="0" marL="0">
              <a:buNone/>
            </a:pPr>
            <a:r>
              <a:rPr lang="en-US" sz="1600" b="1" dirty="0">
                <a:solidFill>
                  <a:srgbClr val="1B2A4A"/>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1325880" y="3538728"/>
            <a:ext cx="3383280" cy="786384"/>
          </a:xfrm>
          <a:prstGeom prst="rect">
            <a:avLst/>
          </a:prstGeom>
          <a:noFill/>
          <a:ln/>
        </p:spPr>
        <p:txBody>
          <a:bodyPr wrap="square" rtlCol="0" anchor="t"/>
          <a:lstStyle/>
          <a:p>
            <a:pPr indent="0" marL="0">
              <a:buNone/>
            </a:pPr>
            <a:r>
              <a:rPr lang="en-US" sz="1450" b="1" dirty="0">
                <a:solidFill>
                  <a:srgbClr val="1B2A4A"/>
                </a:solidFill>
                <a:latin typeface="Georgia" pitchFamily="34" charset="0"/>
                <a:ea typeface="Georgia" pitchFamily="34" charset="-122"/>
                <a:cs typeface="Georgia" pitchFamily="34" charset="-120"/>
              </a:rPr>
              <a:t>Continuity of trust</a:t>
            </a:r>
            <a:endParaRPr lang="en-US" sz="1450" dirty="0"/>
          </a:p>
        </p:txBody>
      </p:sp>
      <p:sp>
        <p:nvSpPr>
          <p:cNvPr id="20" name="Text 18"/>
          <p:cNvSpPr/>
          <p:nvPr/>
        </p:nvSpPr>
        <p:spPr>
          <a:xfrm>
            <a:off x="4846320" y="3538728"/>
            <a:ext cx="6675120" cy="786384"/>
          </a:xfrm>
          <a:prstGeom prst="rect">
            <a:avLst/>
          </a:prstGeom>
          <a:noFill/>
          <a:ln/>
        </p:spPr>
        <p:txBody>
          <a:bodyPr wrap="square" rtlCol="0" anchor="t"/>
          <a:lstStyle/>
          <a:p>
            <a:pPr indent="0" marL="0">
              <a:lnSpc>
                <a:spcPct val="115000"/>
              </a:lnSpc>
              <a:buNone/>
            </a:pPr>
            <a:r>
              <a:rPr lang="en-US" sz="1250" dirty="0">
                <a:solidFill>
                  <a:srgbClr val="3D4657"/>
                </a:solidFill>
                <a:latin typeface="Arial" pitchFamily="34" charset="0"/>
                <a:ea typeface="Arial" pitchFamily="34" charset="-122"/>
                <a:cs typeface="Arial" pitchFamily="34" charset="-120"/>
              </a:rPr>
              <a:t>Reliability as a professional signature across every engagement.</a:t>
            </a:r>
            <a:endParaRPr lang="en-US" sz="1250" dirty="0"/>
          </a:p>
        </p:txBody>
      </p:sp>
      <p:sp>
        <p:nvSpPr>
          <p:cNvPr id="21" name="Shape 19"/>
          <p:cNvSpPr/>
          <p:nvPr/>
        </p:nvSpPr>
        <p:spPr>
          <a:xfrm>
            <a:off x="685800" y="4251960"/>
            <a:ext cx="10835640" cy="0"/>
          </a:xfrm>
          <a:prstGeom prst="line">
            <a:avLst/>
          </a:prstGeom>
          <a:noFill/>
          <a:ln w="9525">
            <a:solidFill>
              <a:srgbClr val="DAD5C8"/>
            </a:solidFill>
            <a:prstDash val="solid"/>
          </a:ln>
        </p:spPr>
      </p:sp>
      <p:sp>
        <p:nvSpPr>
          <p:cNvPr id="22" name="Shape 20"/>
          <p:cNvSpPr/>
          <p:nvPr/>
        </p:nvSpPr>
        <p:spPr>
          <a:xfrm>
            <a:off x="685800" y="4352544"/>
            <a:ext cx="420624" cy="420624"/>
          </a:xfrm>
          <a:prstGeom prst="ellipse">
            <a:avLst/>
          </a:prstGeom>
          <a:solidFill>
            <a:srgbClr val="C9A24B"/>
          </a:solidFill>
          <a:ln w="12700">
            <a:solidFill>
              <a:srgbClr val="C9A24B"/>
            </a:solidFill>
            <a:prstDash val="solid"/>
          </a:ln>
        </p:spPr>
      </p:sp>
      <p:sp>
        <p:nvSpPr>
          <p:cNvPr id="23" name="Text 21"/>
          <p:cNvSpPr/>
          <p:nvPr/>
        </p:nvSpPr>
        <p:spPr>
          <a:xfrm>
            <a:off x="685800" y="4352544"/>
            <a:ext cx="420624" cy="420624"/>
          </a:xfrm>
          <a:prstGeom prst="rect">
            <a:avLst/>
          </a:prstGeom>
          <a:noFill/>
          <a:ln/>
        </p:spPr>
        <p:txBody>
          <a:bodyPr wrap="square" rtlCol="0" anchor="ctr"/>
          <a:lstStyle/>
          <a:p>
            <a:pPr algn="ctr" indent="0" marL="0">
              <a:buNone/>
            </a:pPr>
            <a:r>
              <a:rPr lang="en-US" sz="1600" b="1" dirty="0">
                <a:solidFill>
                  <a:srgbClr val="1B2A4A"/>
                </a:solidFill>
                <a:latin typeface="Arial" pitchFamily="34" charset="0"/>
                <a:ea typeface="Arial" pitchFamily="34" charset="-122"/>
                <a:cs typeface="Arial" pitchFamily="34" charset="-120"/>
              </a:rPr>
              <a:t>4</a:t>
            </a:r>
            <a:endParaRPr lang="en-US" sz="1600" dirty="0"/>
          </a:p>
        </p:txBody>
      </p:sp>
      <p:sp>
        <p:nvSpPr>
          <p:cNvPr id="24" name="Text 22"/>
          <p:cNvSpPr/>
          <p:nvPr/>
        </p:nvSpPr>
        <p:spPr>
          <a:xfrm>
            <a:off x="1325880" y="4325112"/>
            <a:ext cx="3383280" cy="786384"/>
          </a:xfrm>
          <a:prstGeom prst="rect">
            <a:avLst/>
          </a:prstGeom>
          <a:noFill/>
          <a:ln/>
        </p:spPr>
        <p:txBody>
          <a:bodyPr wrap="square" rtlCol="0" anchor="t"/>
          <a:lstStyle/>
          <a:p>
            <a:pPr indent="0" marL="0">
              <a:buNone/>
            </a:pPr>
            <a:r>
              <a:rPr lang="en-US" sz="1450" b="1" dirty="0">
                <a:solidFill>
                  <a:srgbClr val="1B2A4A"/>
                </a:solidFill>
                <a:latin typeface="Georgia" pitchFamily="34" charset="0"/>
                <a:ea typeface="Georgia" pitchFamily="34" charset="-122"/>
                <a:cs typeface="Georgia" pitchFamily="34" charset="-120"/>
              </a:rPr>
              <a:t>Lifelong learning under pressure</a:t>
            </a:r>
            <a:endParaRPr lang="en-US" sz="1450" dirty="0"/>
          </a:p>
        </p:txBody>
      </p:sp>
      <p:sp>
        <p:nvSpPr>
          <p:cNvPr id="25" name="Text 23"/>
          <p:cNvSpPr/>
          <p:nvPr/>
        </p:nvSpPr>
        <p:spPr>
          <a:xfrm>
            <a:off x="4846320" y="4325112"/>
            <a:ext cx="6675120" cy="786384"/>
          </a:xfrm>
          <a:prstGeom prst="rect">
            <a:avLst/>
          </a:prstGeom>
          <a:noFill/>
          <a:ln/>
        </p:spPr>
        <p:txBody>
          <a:bodyPr wrap="square" rtlCol="0" anchor="t"/>
          <a:lstStyle/>
          <a:p>
            <a:pPr indent="0" marL="0">
              <a:lnSpc>
                <a:spcPct val="115000"/>
              </a:lnSpc>
              <a:buNone/>
            </a:pPr>
            <a:r>
              <a:rPr lang="en-US" sz="1250" dirty="0">
                <a:solidFill>
                  <a:srgbClr val="3D4657"/>
                </a:solidFill>
                <a:latin typeface="Arial" pitchFamily="34" charset="0"/>
                <a:ea typeface="Arial" pitchFamily="34" charset="-122"/>
                <a:cs typeface="Arial" pitchFamily="34" charset="-120"/>
              </a:rPr>
              <a:t>Pivoted from 11 years of IT ops into a graduate degree in Information Systems while building GRC pipelines.</a:t>
            </a:r>
            <a:endParaRPr lang="en-US" sz="1250" dirty="0"/>
          </a:p>
        </p:txBody>
      </p:sp>
      <p:sp>
        <p:nvSpPr>
          <p:cNvPr id="26" name="Shape 24"/>
          <p:cNvSpPr/>
          <p:nvPr/>
        </p:nvSpPr>
        <p:spPr>
          <a:xfrm>
            <a:off x="685800" y="5038344"/>
            <a:ext cx="10835640" cy="0"/>
          </a:xfrm>
          <a:prstGeom prst="line">
            <a:avLst/>
          </a:prstGeom>
          <a:noFill/>
          <a:ln w="9525">
            <a:solidFill>
              <a:srgbClr val="DAD5C8"/>
            </a:solidFill>
            <a:prstDash val="solid"/>
          </a:ln>
        </p:spPr>
      </p:sp>
      <p:sp>
        <p:nvSpPr>
          <p:cNvPr id="27" name="Shape 25"/>
          <p:cNvSpPr/>
          <p:nvPr/>
        </p:nvSpPr>
        <p:spPr>
          <a:xfrm>
            <a:off x="685800" y="5138928"/>
            <a:ext cx="420624" cy="420624"/>
          </a:xfrm>
          <a:prstGeom prst="ellipse">
            <a:avLst/>
          </a:prstGeom>
          <a:solidFill>
            <a:srgbClr val="C9A24B"/>
          </a:solidFill>
          <a:ln w="12700">
            <a:solidFill>
              <a:srgbClr val="C9A24B"/>
            </a:solidFill>
            <a:prstDash val="solid"/>
          </a:ln>
        </p:spPr>
      </p:sp>
      <p:sp>
        <p:nvSpPr>
          <p:cNvPr id="28" name="Text 26"/>
          <p:cNvSpPr/>
          <p:nvPr/>
        </p:nvSpPr>
        <p:spPr>
          <a:xfrm>
            <a:off x="685800" y="5138928"/>
            <a:ext cx="420624" cy="420624"/>
          </a:xfrm>
          <a:prstGeom prst="rect">
            <a:avLst/>
          </a:prstGeom>
          <a:noFill/>
          <a:ln/>
        </p:spPr>
        <p:txBody>
          <a:bodyPr wrap="square" rtlCol="0" anchor="ctr"/>
          <a:lstStyle/>
          <a:p>
            <a:pPr algn="ctr" indent="0" marL="0">
              <a:buNone/>
            </a:pPr>
            <a:r>
              <a:rPr lang="en-US" sz="1600" b="1" dirty="0">
                <a:solidFill>
                  <a:srgbClr val="1B2A4A"/>
                </a:solidFill>
                <a:latin typeface="Arial" pitchFamily="34" charset="0"/>
                <a:ea typeface="Arial" pitchFamily="34" charset="-122"/>
                <a:cs typeface="Arial" pitchFamily="34" charset="-120"/>
              </a:rPr>
              <a:t>5</a:t>
            </a:r>
            <a:endParaRPr lang="en-US" sz="1600" dirty="0"/>
          </a:p>
        </p:txBody>
      </p:sp>
      <p:sp>
        <p:nvSpPr>
          <p:cNvPr id="29" name="Text 27"/>
          <p:cNvSpPr/>
          <p:nvPr/>
        </p:nvSpPr>
        <p:spPr>
          <a:xfrm>
            <a:off x="1325880" y="5111496"/>
            <a:ext cx="3383280" cy="786384"/>
          </a:xfrm>
          <a:prstGeom prst="rect">
            <a:avLst/>
          </a:prstGeom>
          <a:noFill/>
          <a:ln/>
        </p:spPr>
        <p:txBody>
          <a:bodyPr wrap="square" rtlCol="0" anchor="t"/>
          <a:lstStyle/>
          <a:p>
            <a:pPr indent="0" marL="0">
              <a:buNone/>
            </a:pPr>
            <a:r>
              <a:rPr lang="en-US" sz="1450" b="1" dirty="0">
                <a:solidFill>
                  <a:srgbClr val="1B2A4A"/>
                </a:solidFill>
                <a:latin typeface="Georgia" pitchFamily="34" charset="0"/>
                <a:ea typeface="Georgia" pitchFamily="34" charset="-122"/>
                <a:cs typeface="Georgia" pitchFamily="34" charset="-120"/>
              </a:rPr>
              <a:t>Cross-cultural competence</a:t>
            </a:r>
            <a:endParaRPr lang="en-US" sz="1450" dirty="0"/>
          </a:p>
        </p:txBody>
      </p:sp>
      <p:sp>
        <p:nvSpPr>
          <p:cNvPr id="30" name="Text 28"/>
          <p:cNvSpPr/>
          <p:nvPr/>
        </p:nvSpPr>
        <p:spPr>
          <a:xfrm>
            <a:off x="4846320" y="5111496"/>
            <a:ext cx="6675120" cy="786384"/>
          </a:xfrm>
          <a:prstGeom prst="rect">
            <a:avLst/>
          </a:prstGeom>
          <a:noFill/>
          <a:ln/>
        </p:spPr>
        <p:txBody>
          <a:bodyPr wrap="square" rtlCol="0" anchor="t"/>
          <a:lstStyle/>
          <a:p>
            <a:pPr indent="0" marL="0">
              <a:lnSpc>
                <a:spcPct val="115000"/>
              </a:lnSpc>
              <a:buNone/>
            </a:pPr>
            <a:r>
              <a:rPr lang="en-US" sz="1250" dirty="0">
                <a:solidFill>
                  <a:srgbClr val="3D4657"/>
                </a:solidFill>
                <a:latin typeface="Arial" pitchFamily="34" charset="0"/>
                <a:ea typeface="Arial" pitchFamily="34" charset="-122"/>
                <a:cs typeface="Arial" pitchFamily="34" charset="-120"/>
              </a:rPr>
              <a:t>Security and risk look different depending on where you're standing.</a:t>
            </a:r>
            <a:endParaRPr lang="en-US" sz="1250" dirty="0"/>
          </a:p>
        </p:txBody>
      </p:sp>
      <p:sp>
        <p:nvSpPr>
          <p:cNvPr id="31" name="Text 29"/>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9AA0A0"/>
                </a:solidFill>
                <a:latin typeface="Arial" pitchFamily="34" charset="0"/>
                <a:ea typeface="Arial" pitchFamily="34" charset="-122"/>
                <a:cs typeface="Arial" pitchFamily="34" charset="-120"/>
              </a:rPr>
              <a:t>Hammad Rana</a:t>
            </a:r>
            <a:endParaRPr lang="en-US" sz="900" dirty="0"/>
          </a:p>
        </p:txBody>
      </p:sp>
      <p:sp>
        <p:nvSpPr>
          <p:cNvPr id="32" name="Text 30"/>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9AA0A0"/>
                </a:solidFill>
                <a:latin typeface="Arial" pitchFamily="34" charset="0"/>
                <a:ea typeface="Arial" pitchFamily="34" charset="-122"/>
                <a:cs typeface="Arial"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1B2A4A"/>
          </a:solidFill>
          <a:ln w="12700">
            <a:solidFill>
              <a:srgbClr val="1B2A4A"/>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1B2A4A"/>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3C6E71"/>
                </a:solidFill>
                <a:latin typeface="Arial" pitchFamily="34" charset="0"/>
                <a:ea typeface="Arial" pitchFamily="34" charset="-122"/>
                <a:cs typeface="Arial" pitchFamily="34" charset="-120"/>
              </a:rPr>
              <a:t>BRAND STRATEGY</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1B2A4A"/>
                </a:solidFill>
                <a:latin typeface="Georgia" pitchFamily="34" charset="0"/>
                <a:ea typeface="Georgia" pitchFamily="34" charset="-122"/>
                <a:cs typeface="Georgia" pitchFamily="34" charset="-120"/>
              </a:rPr>
              <a:t>Who I'm built for</a:t>
            </a:r>
            <a:endParaRPr lang="en-US" sz="2900" dirty="0"/>
          </a:p>
        </p:txBody>
      </p:sp>
      <p:sp>
        <p:nvSpPr>
          <p:cNvPr id="7" name="Text 5"/>
          <p:cNvSpPr/>
          <p:nvPr/>
        </p:nvSpPr>
        <p:spPr>
          <a:xfrm>
            <a:off x="640080" y="1783080"/>
            <a:ext cx="10515600" cy="365760"/>
          </a:xfrm>
          <a:prstGeom prst="rect">
            <a:avLst/>
          </a:prstGeom>
          <a:noFill/>
          <a:ln/>
        </p:spPr>
        <p:txBody>
          <a:bodyPr wrap="square" rtlCol="0" anchor="ctr"/>
          <a:lstStyle/>
          <a:p>
            <a:pPr indent="0" marL="0">
              <a:buNone/>
            </a:pPr>
            <a:r>
              <a:rPr lang="en-US" sz="1250" i="1" dirty="0">
                <a:solidFill>
                  <a:srgbClr val="6B7280"/>
                </a:solidFill>
                <a:latin typeface="Arial" pitchFamily="34" charset="0"/>
                <a:ea typeface="Arial" pitchFamily="34" charset="-122"/>
                <a:cs typeface="Arial" pitchFamily="34" charset="-120"/>
              </a:rPr>
              <a:t>Every hiring manager is choosing between a candidate who talks about GRC and one who's shipped it.</a:t>
            </a:r>
            <a:endParaRPr lang="en-US" sz="1250" dirty="0"/>
          </a:p>
        </p:txBody>
      </p:sp>
      <p:sp>
        <p:nvSpPr>
          <p:cNvPr id="8" name="Shape 6"/>
          <p:cNvSpPr/>
          <p:nvPr/>
        </p:nvSpPr>
        <p:spPr>
          <a:xfrm>
            <a:off x="640080" y="2103120"/>
            <a:ext cx="5257800" cy="4434840"/>
          </a:xfrm>
          <a:prstGeom prst="roundRect">
            <a:avLst>
              <a:gd name="adj" fmla="val 2474"/>
            </a:avLst>
          </a:prstGeom>
          <a:solidFill>
            <a:srgbClr val="FFFFFF"/>
          </a:solidFill>
          <a:ln w="12700">
            <a:solidFill>
              <a:srgbClr val="D8D3C6"/>
            </a:solidFill>
            <a:prstDash val="solid"/>
          </a:ln>
        </p:spPr>
      </p:sp>
      <p:sp>
        <p:nvSpPr>
          <p:cNvPr id="9" name="Shape 7"/>
          <p:cNvSpPr/>
          <p:nvPr/>
        </p:nvSpPr>
        <p:spPr>
          <a:xfrm>
            <a:off x="914400" y="2340864"/>
            <a:ext cx="457200" cy="457200"/>
          </a:xfrm>
          <a:prstGeom prst="ellipse">
            <a:avLst/>
          </a:prstGeom>
          <a:solidFill>
            <a:srgbClr val="3C6E71"/>
          </a:solidFill>
          <a:ln w="12700">
            <a:solidFill>
              <a:srgbClr val="3C6E71"/>
            </a:solidFill>
            <a:prstDash val="solid"/>
          </a:ln>
        </p:spPr>
      </p:sp>
      <p:sp>
        <p:nvSpPr>
          <p:cNvPr id="10" name="Text 8"/>
          <p:cNvSpPr/>
          <p:nvPr/>
        </p:nvSpPr>
        <p:spPr>
          <a:xfrm>
            <a:off x="914400" y="2340864"/>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a:t>
            </a:r>
            <a:endParaRPr lang="en-US" sz="1600" dirty="0"/>
          </a:p>
        </p:txBody>
      </p:sp>
      <p:sp>
        <p:nvSpPr>
          <p:cNvPr id="11" name="Text 9"/>
          <p:cNvSpPr/>
          <p:nvPr/>
        </p:nvSpPr>
        <p:spPr>
          <a:xfrm>
            <a:off x="1554480" y="2304288"/>
            <a:ext cx="4069080" cy="365760"/>
          </a:xfrm>
          <a:prstGeom prst="rect">
            <a:avLst/>
          </a:prstGeom>
          <a:noFill/>
          <a:ln/>
        </p:spPr>
        <p:txBody>
          <a:bodyPr wrap="square" rtlCol="0" anchor="ctr"/>
          <a:lstStyle/>
          <a:p>
            <a:pPr indent="0" marL="0">
              <a:buNone/>
            </a:pPr>
            <a:r>
              <a:rPr lang="en-US" sz="1550" b="1" dirty="0">
                <a:solidFill>
                  <a:srgbClr val="1B2A4A"/>
                </a:solidFill>
                <a:latin typeface="Georgia" pitchFamily="34" charset="0"/>
                <a:ea typeface="Georgia" pitchFamily="34" charset="-122"/>
                <a:cs typeface="Georgia" pitchFamily="34" charset="-120"/>
              </a:rPr>
              <a:t>The GRC Hiring Manager</a:t>
            </a:r>
            <a:endParaRPr lang="en-US" sz="1550" dirty="0"/>
          </a:p>
        </p:txBody>
      </p:sp>
      <p:sp>
        <p:nvSpPr>
          <p:cNvPr id="12" name="Text 10"/>
          <p:cNvSpPr/>
          <p:nvPr/>
        </p:nvSpPr>
        <p:spPr>
          <a:xfrm>
            <a:off x="1554480" y="2670048"/>
            <a:ext cx="4069080" cy="274320"/>
          </a:xfrm>
          <a:prstGeom prst="rect">
            <a:avLst/>
          </a:prstGeom>
          <a:noFill/>
          <a:ln/>
        </p:spPr>
        <p:txBody>
          <a:bodyPr wrap="square" rtlCol="0" anchor="ctr"/>
          <a:lstStyle/>
          <a:p>
            <a:pPr indent="0" marL="0">
              <a:buNone/>
            </a:pPr>
            <a:r>
              <a:rPr lang="en-US" sz="1050" i="1" dirty="0">
                <a:solidFill>
                  <a:srgbClr val="3C6E71"/>
                </a:solidFill>
                <a:latin typeface="Arial" pitchFamily="34" charset="0"/>
                <a:ea typeface="Arial" pitchFamily="34" charset="-122"/>
                <a:cs typeface="Arial" pitchFamily="34" charset="-120"/>
              </a:rPr>
              <a:t>Mid-size org, 1–3 person GRC function</a:t>
            </a:r>
            <a:endParaRPr lang="en-US" sz="1050" dirty="0"/>
          </a:p>
        </p:txBody>
      </p:sp>
      <p:sp>
        <p:nvSpPr>
          <p:cNvPr id="13" name="Text 11"/>
          <p:cNvSpPr/>
          <p:nvPr/>
        </p:nvSpPr>
        <p:spPr>
          <a:xfrm>
            <a:off x="914400" y="3035808"/>
            <a:ext cx="1828800" cy="256032"/>
          </a:xfrm>
          <a:prstGeom prst="rect">
            <a:avLst/>
          </a:prstGeom>
          <a:noFill/>
          <a:ln/>
        </p:spPr>
        <p:txBody>
          <a:bodyPr wrap="square" rtlCol="0" anchor="ctr"/>
          <a:lstStyle/>
          <a:p>
            <a:pPr indent="0" marL="0">
              <a:buNone/>
            </a:pPr>
            <a:r>
              <a:rPr lang="en-US" sz="1000" b="1" dirty="0">
                <a:solidFill>
                  <a:srgbClr val="9A5A3B"/>
                </a:solidFill>
                <a:latin typeface="Arial" pitchFamily="34" charset="0"/>
                <a:ea typeface="Arial" pitchFamily="34" charset="-122"/>
                <a:cs typeface="Arial" pitchFamily="34" charset="-120"/>
              </a:rPr>
              <a:t>BEFORE</a:t>
            </a:r>
            <a:endParaRPr lang="en-US" sz="1000" dirty="0"/>
          </a:p>
        </p:txBody>
      </p:sp>
      <p:sp>
        <p:nvSpPr>
          <p:cNvPr id="14" name="Text 12"/>
          <p:cNvSpPr/>
          <p:nvPr/>
        </p:nvSpPr>
        <p:spPr>
          <a:xfrm>
            <a:off x="914400" y="3310128"/>
            <a:ext cx="274320" cy="420624"/>
          </a:xfrm>
          <a:prstGeom prst="rect">
            <a:avLst/>
          </a:prstGeom>
          <a:noFill/>
          <a:ln/>
        </p:spPr>
        <p:txBody>
          <a:bodyPr wrap="square" rtlCol="0" anchor="ctr"/>
          <a:lstStyle/>
          <a:p>
            <a:pPr indent="0" marL="0">
              <a:buNone/>
            </a:pPr>
            <a:r>
              <a:rPr lang="en-US" sz="1100" b="1" dirty="0">
                <a:solidFill>
                  <a:srgbClr val="B3644A"/>
                </a:solidFill>
                <a:latin typeface="Arial" pitchFamily="34" charset="0"/>
                <a:ea typeface="Arial" pitchFamily="34" charset="-122"/>
                <a:cs typeface="Arial" pitchFamily="34" charset="-120"/>
              </a:rPr>
              <a:t>✕</a:t>
            </a:r>
            <a:endParaRPr lang="en-US" sz="1100" dirty="0"/>
          </a:p>
        </p:txBody>
      </p:sp>
      <p:sp>
        <p:nvSpPr>
          <p:cNvPr id="15" name="Text 13"/>
          <p:cNvSpPr/>
          <p:nvPr/>
        </p:nvSpPr>
        <p:spPr>
          <a:xfrm>
            <a:off x="1207008" y="3310128"/>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Candidates are auditors with no ops depth, or grads with only textbook knowledge</a:t>
            </a:r>
            <a:endParaRPr lang="en-US" sz="1020" dirty="0"/>
          </a:p>
        </p:txBody>
      </p:sp>
      <p:sp>
        <p:nvSpPr>
          <p:cNvPr id="16" name="Text 14"/>
          <p:cNvSpPr/>
          <p:nvPr/>
        </p:nvSpPr>
        <p:spPr>
          <a:xfrm>
            <a:off x="914400" y="3739896"/>
            <a:ext cx="274320" cy="420624"/>
          </a:xfrm>
          <a:prstGeom prst="rect">
            <a:avLst/>
          </a:prstGeom>
          <a:noFill/>
          <a:ln/>
        </p:spPr>
        <p:txBody>
          <a:bodyPr wrap="square" rtlCol="0" anchor="ctr"/>
          <a:lstStyle/>
          <a:p>
            <a:pPr indent="0" marL="0">
              <a:buNone/>
            </a:pPr>
            <a:r>
              <a:rPr lang="en-US" sz="1100" b="1" dirty="0">
                <a:solidFill>
                  <a:srgbClr val="B3644A"/>
                </a:solidFill>
                <a:latin typeface="Arial" pitchFamily="34" charset="0"/>
                <a:ea typeface="Arial" pitchFamily="34" charset="-122"/>
                <a:cs typeface="Arial" pitchFamily="34" charset="-120"/>
              </a:rPr>
              <a:t>✕</a:t>
            </a:r>
            <a:endParaRPr lang="en-US" sz="1100" dirty="0"/>
          </a:p>
        </p:txBody>
      </p:sp>
      <p:sp>
        <p:nvSpPr>
          <p:cNvPr id="17" name="Text 15"/>
          <p:cNvSpPr/>
          <p:nvPr/>
        </p:nvSpPr>
        <p:spPr>
          <a:xfrm>
            <a:off x="1207008" y="3739896"/>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Vendor-review backlog, 2 cycles behind</a:t>
            </a:r>
            <a:endParaRPr lang="en-US" sz="1020" dirty="0"/>
          </a:p>
        </p:txBody>
      </p:sp>
      <p:sp>
        <p:nvSpPr>
          <p:cNvPr id="18" name="Text 16"/>
          <p:cNvSpPr/>
          <p:nvPr/>
        </p:nvSpPr>
        <p:spPr>
          <a:xfrm>
            <a:off x="914400" y="4169664"/>
            <a:ext cx="274320" cy="420624"/>
          </a:xfrm>
          <a:prstGeom prst="rect">
            <a:avLst/>
          </a:prstGeom>
          <a:noFill/>
          <a:ln/>
        </p:spPr>
        <p:txBody>
          <a:bodyPr wrap="square" rtlCol="0" anchor="ctr"/>
          <a:lstStyle/>
          <a:p>
            <a:pPr indent="0" marL="0">
              <a:buNone/>
            </a:pPr>
            <a:r>
              <a:rPr lang="en-US" sz="1100" b="1" dirty="0">
                <a:solidFill>
                  <a:srgbClr val="B3644A"/>
                </a:solidFill>
                <a:latin typeface="Arial" pitchFamily="34" charset="0"/>
                <a:ea typeface="Arial" pitchFamily="34" charset="-122"/>
                <a:cs typeface="Arial" pitchFamily="34" charset="-120"/>
              </a:rPr>
              <a:t>✕</a:t>
            </a:r>
            <a:endParaRPr lang="en-US" sz="1100" dirty="0"/>
          </a:p>
        </p:txBody>
      </p:sp>
      <p:sp>
        <p:nvSpPr>
          <p:cNvPr id="19" name="Text 17"/>
          <p:cNvSpPr/>
          <p:nvPr/>
        </p:nvSpPr>
        <p:spPr>
          <a:xfrm>
            <a:off x="1207008" y="4169664"/>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“Can you use AI to scale this?” gets a vague answer</a:t>
            </a:r>
            <a:endParaRPr lang="en-US" sz="1020" dirty="0"/>
          </a:p>
        </p:txBody>
      </p:sp>
      <p:sp>
        <p:nvSpPr>
          <p:cNvPr id="20" name="Shape 18"/>
          <p:cNvSpPr/>
          <p:nvPr/>
        </p:nvSpPr>
        <p:spPr>
          <a:xfrm>
            <a:off x="914400" y="4617720"/>
            <a:ext cx="4709160" cy="0"/>
          </a:xfrm>
          <a:prstGeom prst="line">
            <a:avLst/>
          </a:prstGeom>
          <a:noFill/>
          <a:ln w="9525">
            <a:solidFill>
              <a:srgbClr val="E5E1D6"/>
            </a:solidFill>
            <a:prstDash val="solid"/>
          </a:ln>
        </p:spPr>
      </p:sp>
      <p:sp>
        <p:nvSpPr>
          <p:cNvPr id="21" name="Text 19"/>
          <p:cNvSpPr/>
          <p:nvPr/>
        </p:nvSpPr>
        <p:spPr>
          <a:xfrm>
            <a:off x="914400" y="4718304"/>
            <a:ext cx="2286000" cy="256032"/>
          </a:xfrm>
          <a:prstGeom prst="rect">
            <a:avLst/>
          </a:prstGeom>
          <a:noFill/>
          <a:ln/>
        </p:spPr>
        <p:txBody>
          <a:bodyPr wrap="square" rtlCol="0" anchor="ctr"/>
          <a:lstStyle/>
          <a:p>
            <a:pPr indent="0" marL="0">
              <a:buNone/>
            </a:pPr>
            <a:r>
              <a:rPr lang="en-US" sz="1000" b="1" dirty="0">
                <a:solidFill>
                  <a:srgbClr val="1F5654"/>
                </a:solidFill>
                <a:latin typeface="Arial" pitchFamily="34" charset="0"/>
                <a:ea typeface="Arial" pitchFamily="34" charset="-122"/>
                <a:cs typeface="Arial" pitchFamily="34" charset="-120"/>
              </a:rPr>
              <a:t>WITH HAMMAD</a:t>
            </a:r>
            <a:endParaRPr lang="en-US" sz="1000" dirty="0"/>
          </a:p>
        </p:txBody>
      </p:sp>
      <p:sp>
        <p:nvSpPr>
          <p:cNvPr id="22" name="Text 20"/>
          <p:cNvSpPr/>
          <p:nvPr/>
        </p:nvSpPr>
        <p:spPr>
          <a:xfrm>
            <a:off x="914400" y="5001768"/>
            <a:ext cx="274320" cy="420624"/>
          </a:xfrm>
          <a:prstGeom prst="rect">
            <a:avLst/>
          </a:prstGeom>
          <a:noFill/>
          <a:ln/>
        </p:spPr>
        <p:txBody>
          <a:bodyPr wrap="square" rtlCol="0" anchor="ctr"/>
          <a:lstStyle/>
          <a:p>
            <a:pPr indent="0" marL="0">
              <a:buNone/>
            </a:pPr>
            <a:r>
              <a:rPr lang="en-US" sz="1100" b="1" dirty="0">
                <a:solidFill>
                  <a:srgbClr val="3C6E71"/>
                </a:solidFill>
                <a:latin typeface="Arial" pitchFamily="34" charset="0"/>
                <a:ea typeface="Arial" pitchFamily="34" charset="-122"/>
                <a:cs typeface="Arial" pitchFamily="34" charset="-120"/>
              </a:rPr>
              <a:t>✓</a:t>
            </a:r>
            <a:endParaRPr lang="en-US" sz="1100" dirty="0"/>
          </a:p>
        </p:txBody>
      </p:sp>
      <p:sp>
        <p:nvSpPr>
          <p:cNvPr id="23" name="Text 21"/>
          <p:cNvSpPr/>
          <p:nvPr/>
        </p:nvSpPr>
        <p:spPr>
          <a:xfrm>
            <a:off x="1207008" y="5001768"/>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11 years of live infrastructure + graduate GRC training, in one candidate</a:t>
            </a:r>
            <a:endParaRPr lang="en-US" sz="1020" dirty="0"/>
          </a:p>
        </p:txBody>
      </p:sp>
      <p:sp>
        <p:nvSpPr>
          <p:cNvPr id="24" name="Text 22"/>
          <p:cNvSpPr/>
          <p:nvPr/>
        </p:nvSpPr>
        <p:spPr>
          <a:xfrm>
            <a:off x="914400" y="5431536"/>
            <a:ext cx="274320" cy="420624"/>
          </a:xfrm>
          <a:prstGeom prst="rect">
            <a:avLst/>
          </a:prstGeom>
          <a:noFill/>
          <a:ln/>
        </p:spPr>
        <p:txBody>
          <a:bodyPr wrap="square" rtlCol="0" anchor="ctr"/>
          <a:lstStyle/>
          <a:p>
            <a:pPr indent="0" marL="0">
              <a:buNone/>
            </a:pPr>
            <a:r>
              <a:rPr lang="en-US" sz="1100" b="1" dirty="0">
                <a:solidFill>
                  <a:srgbClr val="3C6E71"/>
                </a:solidFill>
                <a:latin typeface="Arial" pitchFamily="34" charset="0"/>
                <a:ea typeface="Arial" pitchFamily="34" charset="-122"/>
                <a:cs typeface="Arial" pitchFamily="34" charset="-120"/>
              </a:rPr>
              <a:t>✓</a:t>
            </a:r>
            <a:endParaRPr lang="en-US" sz="1100" dirty="0"/>
          </a:p>
        </p:txBody>
      </p:sp>
      <p:sp>
        <p:nvSpPr>
          <p:cNvPr id="25" name="Text 23"/>
          <p:cNvSpPr/>
          <p:nvPr/>
        </p:nvSpPr>
        <p:spPr>
          <a:xfrm>
            <a:off x="1207008" y="5431536"/>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A working AI pipeline already deployed — SentinelGRC Ops</a:t>
            </a:r>
            <a:endParaRPr lang="en-US" sz="1020" dirty="0"/>
          </a:p>
        </p:txBody>
      </p:sp>
      <p:sp>
        <p:nvSpPr>
          <p:cNvPr id="26" name="Text 24"/>
          <p:cNvSpPr/>
          <p:nvPr/>
        </p:nvSpPr>
        <p:spPr>
          <a:xfrm>
            <a:off x="914400" y="5861304"/>
            <a:ext cx="274320" cy="420624"/>
          </a:xfrm>
          <a:prstGeom prst="rect">
            <a:avLst/>
          </a:prstGeom>
          <a:noFill/>
          <a:ln/>
        </p:spPr>
        <p:txBody>
          <a:bodyPr wrap="square" rtlCol="0" anchor="ctr"/>
          <a:lstStyle/>
          <a:p>
            <a:pPr indent="0" marL="0">
              <a:buNone/>
            </a:pPr>
            <a:r>
              <a:rPr lang="en-US" sz="1100" b="1" dirty="0">
                <a:solidFill>
                  <a:srgbClr val="3C6E71"/>
                </a:solidFill>
                <a:latin typeface="Arial" pitchFamily="34" charset="0"/>
                <a:ea typeface="Arial" pitchFamily="34" charset="-122"/>
                <a:cs typeface="Arial" pitchFamily="34" charset="-120"/>
              </a:rPr>
              <a:t>✓</a:t>
            </a:r>
            <a:endParaRPr lang="en-US" sz="1100" dirty="0"/>
          </a:p>
        </p:txBody>
      </p:sp>
      <p:sp>
        <p:nvSpPr>
          <p:cNvPr id="27" name="Text 25"/>
          <p:cNvSpPr/>
          <p:nvPr/>
        </p:nvSpPr>
        <p:spPr>
          <a:xfrm>
            <a:off x="1207008" y="5861304"/>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Concrete automation for intake, control mapping, and ticket routing</a:t>
            </a:r>
            <a:endParaRPr lang="en-US" sz="1020" dirty="0"/>
          </a:p>
        </p:txBody>
      </p:sp>
      <p:sp>
        <p:nvSpPr>
          <p:cNvPr id="28" name="Shape 26"/>
          <p:cNvSpPr/>
          <p:nvPr/>
        </p:nvSpPr>
        <p:spPr>
          <a:xfrm>
            <a:off x="6217920" y="2103120"/>
            <a:ext cx="5257800" cy="4434840"/>
          </a:xfrm>
          <a:prstGeom prst="roundRect">
            <a:avLst>
              <a:gd name="adj" fmla="val 2474"/>
            </a:avLst>
          </a:prstGeom>
          <a:solidFill>
            <a:srgbClr val="FFFFFF"/>
          </a:solidFill>
          <a:ln w="12700">
            <a:solidFill>
              <a:srgbClr val="D8D3C6"/>
            </a:solidFill>
            <a:prstDash val="solid"/>
          </a:ln>
        </p:spPr>
      </p:sp>
      <p:sp>
        <p:nvSpPr>
          <p:cNvPr id="29" name="Shape 27"/>
          <p:cNvSpPr/>
          <p:nvPr/>
        </p:nvSpPr>
        <p:spPr>
          <a:xfrm>
            <a:off x="6492240" y="2340864"/>
            <a:ext cx="457200" cy="457200"/>
          </a:xfrm>
          <a:prstGeom prst="ellipse">
            <a:avLst/>
          </a:prstGeom>
          <a:solidFill>
            <a:srgbClr val="3C6E71"/>
          </a:solidFill>
          <a:ln w="12700">
            <a:solidFill>
              <a:srgbClr val="3C6E71"/>
            </a:solidFill>
            <a:prstDash val="solid"/>
          </a:ln>
        </p:spPr>
      </p:sp>
      <p:sp>
        <p:nvSpPr>
          <p:cNvPr id="30" name="Text 28"/>
          <p:cNvSpPr/>
          <p:nvPr/>
        </p:nvSpPr>
        <p:spPr>
          <a:xfrm>
            <a:off x="6492240" y="2340864"/>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a:t>
            </a:r>
            <a:endParaRPr lang="en-US" sz="1600" dirty="0"/>
          </a:p>
        </p:txBody>
      </p:sp>
      <p:sp>
        <p:nvSpPr>
          <p:cNvPr id="31" name="Text 29"/>
          <p:cNvSpPr/>
          <p:nvPr/>
        </p:nvSpPr>
        <p:spPr>
          <a:xfrm>
            <a:off x="7132320" y="2304288"/>
            <a:ext cx="4069080" cy="365760"/>
          </a:xfrm>
          <a:prstGeom prst="rect">
            <a:avLst/>
          </a:prstGeom>
          <a:noFill/>
          <a:ln/>
        </p:spPr>
        <p:txBody>
          <a:bodyPr wrap="square" rtlCol="0" anchor="ctr"/>
          <a:lstStyle/>
          <a:p>
            <a:pPr indent="0" marL="0">
              <a:buNone/>
            </a:pPr>
            <a:r>
              <a:rPr lang="en-US" sz="1550" b="1" dirty="0">
                <a:solidFill>
                  <a:srgbClr val="1B2A4A"/>
                </a:solidFill>
                <a:latin typeface="Georgia" pitchFamily="34" charset="0"/>
                <a:ea typeface="Georgia" pitchFamily="34" charset="-122"/>
                <a:cs typeface="Georgia" pitchFamily="34" charset="-120"/>
              </a:rPr>
              <a:t>The SOC / Security Team Lead</a:t>
            </a:r>
            <a:endParaRPr lang="en-US" sz="1550" dirty="0"/>
          </a:p>
        </p:txBody>
      </p:sp>
      <p:sp>
        <p:nvSpPr>
          <p:cNvPr id="32" name="Text 30"/>
          <p:cNvSpPr/>
          <p:nvPr/>
        </p:nvSpPr>
        <p:spPr>
          <a:xfrm>
            <a:off x="7132320" y="2670048"/>
            <a:ext cx="4069080" cy="274320"/>
          </a:xfrm>
          <a:prstGeom prst="rect">
            <a:avLst/>
          </a:prstGeom>
          <a:noFill/>
          <a:ln/>
        </p:spPr>
        <p:txBody>
          <a:bodyPr wrap="square" rtlCol="0" anchor="ctr"/>
          <a:lstStyle/>
          <a:p>
            <a:pPr indent="0" marL="0">
              <a:buNone/>
            </a:pPr>
            <a:r>
              <a:rPr lang="en-US" sz="1050" i="1" dirty="0">
                <a:solidFill>
                  <a:srgbClr val="3C6E71"/>
                </a:solidFill>
                <a:latin typeface="Arial" pitchFamily="34" charset="0"/>
                <a:ea typeface="Arial" pitchFamily="34" charset="-122"/>
                <a:cs typeface="Arial" pitchFamily="34" charset="-120"/>
              </a:rPr>
              <a:t>Needs a bridge, not another pure analyst</a:t>
            </a:r>
            <a:endParaRPr lang="en-US" sz="1050" dirty="0"/>
          </a:p>
        </p:txBody>
      </p:sp>
      <p:sp>
        <p:nvSpPr>
          <p:cNvPr id="33" name="Text 31"/>
          <p:cNvSpPr/>
          <p:nvPr/>
        </p:nvSpPr>
        <p:spPr>
          <a:xfrm>
            <a:off x="6492240" y="3035808"/>
            <a:ext cx="1828800" cy="256032"/>
          </a:xfrm>
          <a:prstGeom prst="rect">
            <a:avLst/>
          </a:prstGeom>
          <a:noFill/>
          <a:ln/>
        </p:spPr>
        <p:txBody>
          <a:bodyPr wrap="square" rtlCol="0" anchor="ctr"/>
          <a:lstStyle/>
          <a:p>
            <a:pPr indent="0" marL="0">
              <a:buNone/>
            </a:pPr>
            <a:r>
              <a:rPr lang="en-US" sz="1000" b="1" dirty="0">
                <a:solidFill>
                  <a:srgbClr val="9A5A3B"/>
                </a:solidFill>
                <a:latin typeface="Arial" pitchFamily="34" charset="0"/>
                <a:ea typeface="Arial" pitchFamily="34" charset="-122"/>
                <a:cs typeface="Arial" pitchFamily="34" charset="-120"/>
              </a:rPr>
              <a:t>BEFORE</a:t>
            </a:r>
            <a:endParaRPr lang="en-US" sz="1000" dirty="0"/>
          </a:p>
        </p:txBody>
      </p:sp>
      <p:sp>
        <p:nvSpPr>
          <p:cNvPr id="34" name="Text 32"/>
          <p:cNvSpPr/>
          <p:nvPr/>
        </p:nvSpPr>
        <p:spPr>
          <a:xfrm>
            <a:off x="6492240" y="3310128"/>
            <a:ext cx="274320" cy="420624"/>
          </a:xfrm>
          <a:prstGeom prst="rect">
            <a:avLst/>
          </a:prstGeom>
          <a:noFill/>
          <a:ln/>
        </p:spPr>
        <p:txBody>
          <a:bodyPr wrap="square" rtlCol="0" anchor="ctr"/>
          <a:lstStyle/>
          <a:p>
            <a:pPr indent="0" marL="0">
              <a:buNone/>
            </a:pPr>
            <a:r>
              <a:rPr lang="en-US" sz="1100" b="1" dirty="0">
                <a:solidFill>
                  <a:srgbClr val="B3644A"/>
                </a:solidFill>
                <a:latin typeface="Arial" pitchFamily="34" charset="0"/>
                <a:ea typeface="Arial" pitchFamily="34" charset="-122"/>
                <a:cs typeface="Arial" pitchFamily="34" charset="-120"/>
              </a:rPr>
              <a:t>✕</a:t>
            </a:r>
            <a:endParaRPr lang="en-US" sz="1100" dirty="0"/>
          </a:p>
        </p:txBody>
      </p:sp>
      <p:sp>
        <p:nvSpPr>
          <p:cNvPr id="35" name="Text 33"/>
          <p:cNvSpPr/>
          <p:nvPr/>
        </p:nvSpPr>
        <p:spPr>
          <a:xfrm>
            <a:off x="6784848" y="3310128"/>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Policies exist on paper but don't reflect how systems actually run</a:t>
            </a:r>
            <a:endParaRPr lang="en-US" sz="1020" dirty="0"/>
          </a:p>
        </p:txBody>
      </p:sp>
      <p:sp>
        <p:nvSpPr>
          <p:cNvPr id="36" name="Text 34"/>
          <p:cNvSpPr/>
          <p:nvPr/>
        </p:nvSpPr>
        <p:spPr>
          <a:xfrm>
            <a:off x="6492240" y="3739896"/>
            <a:ext cx="274320" cy="420624"/>
          </a:xfrm>
          <a:prstGeom prst="rect">
            <a:avLst/>
          </a:prstGeom>
          <a:noFill/>
          <a:ln/>
        </p:spPr>
        <p:txBody>
          <a:bodyPr wrap="square" rtlCol="0" anchor="ctr"/>
          <a:lstStyle/>
          <a:p>
            <a:pPr indent="0" marL="0">
              <a:buNone/>
            </a:pPr>
            <a:r>
              <a:rPr lang="en-US" sz="1100" b="1" dirty="0">
                <a:solidFill>
                  <a:srgbClr val="B3644A"/>
                </a:solidFill>
                <a:latin typeface="Arial" pitchFamily="34" charset="0"/>
                <a:ea typeface="Arial" pitchFamily="34" charset="-122"/>
                <a:cs typeface="Arial" pitchFamily="34" charset="-120"/>
              </a:rPr>
              <a:t>✕</a:t>
            </a:r>
            <a:endParaRPr lang="en-US" sz="1100" dirty="0"/>
          </a:p>
        </p:txBody>
      </p:sp>
      <p:sp>
        <p:nvSpPr>
          <p:cNvPr id="37" name="Text 35"/>
          <p:cNvSpPr/>
          <p:nvPr/>
        </p:nvSpPr>
        <p:spPr>
          <a:xfrm>
            <a:off x="6784848" y="3739896"/>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Documentation looks good until a real auditor tests it</a:t>
            </a:r>
            <a:endParaRPr lang="en-US" sz="1020" dirty="0"/>
          </a:p>
        </p:txBody>
      </p:sp>
      <p:sp>
        <p:nvSpPr>
          <p:cNvPr id="38" name="Text 36"/>
          <p:cNvSpPr/>
          <p:nvPr/>
        </p:nvSpPr>
        <p:spPr>
          <a:xfrm>
            <a:off x="6492240" y="4169664"/>
            <a:ext cx="274320" cy="420624"/>
          </a:xfrm>
          <a:prstGeom prst="rect">
            <a:avLst/>
          </a:prstGeom>
          <a:noFill/>
          <a:ln/>
        </p:spPr>
        <p:txBody>
          <a:bodyPr wrap="square" rtlCol="0" anchor="ctr"/>
          <a:lstStyle/>
          <a:p>
            <a:pPr indent="0" marL="0">
              <a:buNone/>
            </a:pPr>
            <a:r>
              <a:rPr lang="en-US" sz="1100" b="1" dirty="0">
                <a:solidFill>
                  <a:srgbClr val="B3644A"/>
                </a:solidFill>
                <a:latin typeface="Arial" pitchFamily="34" charset="0"/>
                <a:ea typeface="Arial" pitchFamily="34" charset="-122"/>
                <a:cs typeface="Arial" pitchFamily="34" charset="-120"/>
              </a:rPr>
              <a:t>✕</a:t>
            </a:r>
            <a:endParaRPr lang="en-US" sz="1100" dirty="0"/>
          </a:p>
        </p:txBody>
      </p:sp>
      <p:sp>
        <p:nvSpPr>
          <p:cNvPr id="39" name="Text 37"/>
          <p:cNvSpPr/>
          <p:nvPr/>
        </p:nvSpPr>
        <p:spPr>
          <a:xfrm>
            <a:off x="6784848" y="4169664"/>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AI-adoption talk with nothing shipped to show for it</a:t>
            </a:r>
            <a:endParaRPr lang="en-US" sz="1020" dirty="0"/>
          </a:p>
        </p:txBody>
      </p:sp>
      <p:sp>
        <p:nvSpPr>
          <p:cNvPr id="40" name="Shape 38"/>
          <p:cNvSpPr/>
          <p:nvPr/>
        </p:nvSpPr>
        <p:spPr>
          <a:xfrm>
            <a:off x="6492240" y="4617720"/>
            <a:ext cx="4709160" cy="0"/>
          </a:xfrm>
          <a:prstGeom prst="line">
            <a:avLst/>
          </a:prstGeom>
          <a:noFill/>
          <a:ln w="9525">
            <a:solidFill>
              <a:srgbClr val="E5E1D6"/>
            </a:solidFill>
            <a:prstDash val="solid"/>
          </a:ln>
        </p:spPr>
      </p:sp>
      <p:sp>
        <p:nvSpPr>
          <p:cNvPr id="41" name="Text 39"/>
          <p:cNvSpPr/>
          <p:nvPr/>
        </p:nvSpPr>
        <p:spPr>
          <a:xfrm>
            <a:off x="6492240" y="4718304"/>
            <a:ext cx="2286000" cy="256032"/>
          </a:xfrm>
          <a:prstGeom prst="rect">
            <a:avLst/>
          </a:prstGeom>
          <a:noFill/>
          <a:ln/>
        </p:spPr>
        <p:txBody>
          <a:bodyPr wrap="square" rtlCol="0" anchor="ctr"/>
          <a:lstStyle/>
          <a:p>
            <a:pPr indent="0" marL="0">
              <a:buNone/>
            </a:pPr>
            <a:r>
              <a:rPr lang="en-US" sz="1000" b="1" dirty="0">
                <a:solidFill>
                  <a:srgbClr val="1F5654"/>
                </a:solidFill>
                <a:latin typeface="Arial" pitchFamily="34" charset="0"/>
                <a:ea typeface="Arial" pitchFamily="34" charset="-122"/>
                <a:cs typeface="Arial" pitchFamily="34" charset="-120"/>
              </a:rPr>
              <a:t>WITH HAMMAD</a:t>
            </a:r>
            <a:endParaRPr lang="en-US" sz="1000" dirty="0"/>
          </a:p>
        </p:txBody>
      </p:sp>
      <p:sp>
        <p:nvSpPr>
          <p:cNvPr id="42" name="Text 40"/>
          <p:cNvSpPr/>
          <p:nvPr/>
        </p:nvSpPr>
        <p:spPr>
          <a:xfrm>
            <a:off x="6492240" y="5001768"/>
            <a:ext cx="274320" cy="420624"/>
          </a:xfrm>
          <a:prstGeom prst="rect">
            <a:avLst/>
          </a:prstGeom>
          <a:noFill/>
          <a:ln/>
        </p:spPr>
        <p:txBody>
          <a:bodyPr wrap="square" rtlCol="0" anchor="ctr"/>
          <a:lstStyle/>
          <a:p>
            <a:pPr indent="0" marL="0">
              <a:buNone/>
            </a:pPr>
            <a:r>
              <a:rPr lang="en-US" sz="1100" b="1" dirty="0">
                <a:solidFill>
                  <a:srgbClr val="3C6E71"/>
                </a:solidFill>
                <a:latin typeface="Arial" pitchFamily="34" charset="0"/>
                <a:ea typeface="Arial" pitchFamily="34" charset="-122"/>
                <a:cs typeface="Arial" pitchFamily="34" charset="-120"/>
              </a:rPr>
              <a:t>✓</a:t>
            </a:r>
            <a:endParaRPr lang="en-US" sz="1100" dirty="0"/>
          </a:p>
        </p:txBody>
      </p:sp>
      <p:sp>
        <p:nvSpPr>
          <p:cNvPr id="43" name="Text 41"/>
          <p:cNvSpPr/>
          <p:nvPr/>
        </p:nvSpPr>
        <p:spPr>
          <a:xfrm>
            <a:off x="6784848" y="5001768"/>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Controls grounded in how the network actually behaves</a:t>
            </a:r>
            <a:endParaRPr lang="en-US" sz="1020" dirty="0"/>
          </a:p>
        </p:txBody>
      </p:sp>
      <p:sp>
        <p:nvSpPr>
          <p:cNvPr id="44" name="Text 42"/>
          <p:cNvSpPr/>
          <p:nvPr/>
        </p:nvSpPr>
        <p:spPr>
          <a:xfrm>
            <a:off x="6492240" y="5431536"/>
            <a:ext cx="274320" cy="420624"/>
          </a:xfrm>
          <a:prstGeom prst="rect">
            <a:avLst/>
          </a:prstGeom>
          <a:noFill/>
          <a:ln/>
        </p:spPr>
        <p:txBody>
          <a:bodyPr wrap="square" rtlCol="0" anchor="ctr"/>
          <a:lstStyle/>
          <a:p>
            <a:pPr indent="0" marL="0">
              <a:buNone/>
            </a:pPr>
            <a:r>
              <a:rPr lang="en-US" sz="1100" b="1" dirty="0">
                <a:solidFill>
                  <a:srgbClr val="3C6E71"/>
                </a:solidFill>
                <a:latin typeface="Arial" pitchFamily="34" charset="0"/>
                <a:ea typeface="Arial" pitchFamily="34" charset="-122"/>
                <a:cs typeface="Arial" pitchFamily="34" charset="-120"/>
              </a:rPr>
              <a:t>✓</a:t>
            </a:r>
            <a:endParaRPr lang="en-US" sz="1100" dirty="0"/>
          </a:p>
        </p:txBody>
      </p:sp>
      <p:sp>
        <p:nvSpPr>
          <p:cNvPr id="45" name="Text 43"/>
          <p:cNvSpPr/>
          <p:nvPr/>
        </p:nvSpPr>
        <p:spPr>
          <a:xfrm>
            <a:off x="6784848" y="5431536"/>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Audit-ready documentation across NIST, ISO 27001, SOC 2, HIPAA</a:t>
            </a:r>
            <a:endParaRPr lang="en-US" sz="1020" dirty="0"/>
          </a:p>
        </p:txBody>
      </p:sp>
      <p:sp>
        <p:nvSpPr>
          <p:cNvPr id="46" name="Text 44"/>
          <p:cNvSpPr/>
          <p:nvPr/>
        </p:nvSpPr>
        <p:spPr>
          <a:xfrm>
            <a:off x="6492240" y="5861304"/>
            <a:ext cx="274320" cy="420624"/>
          </a:xfrm>
          <a:prstGeom prst="rect">
            <a:avLst/>
          </a:prstGeom>
          <a:noFill/>
          <a:ln/>
        </p:spPr>
        <p:txBody>
          <a:bodyPr wrap="square" rtlCol="0" anchor="ctr"/>
          <a:lstStyle/>
          <a:p>
            <a:pPr indent="0" marL="0">
              <a:buNone/>
            </a:pPr>
            <a:r>
              <a:rPr lang="en-US" sz="1100" b="1" dirty="0">
                <a:solidFill>
                  <a:srgbClr val="3C6E71"/>
                </a:solidFill>
                <a:latin typeface="Arial" pitchFamily="34" charset="0"/>
                <a:ea typeface="Arial" pitchFamily="34" charset="-122"/>
                <a:cs typeface="Arial" pitchFamily="34" charset="-120"/>
              </a:rPr>
              <a:t>✓</a:t>
            </a:r>
            <a:endParaRPr lang="en-US" sz="1100" dirty="0"/>
          </a:p>
        </p:txBody>
      </p:sp>
      <p:sp>
        <p:nvSpPr>
          <p:cNvPr id="47" name="Text 45"/>
          <p:cNvSpPr/>
          <p:nvPr/>
        </p:nvSpPr>
        <p:spPr>
          <a:xfrm>
            <a:off x="6784848" y="5861304"/>
            <a:ext cx="4389120" cy="420624"/>
          </a:xfrm>
          <a:prstGeom prst="rect">
            <a:avLst/>
          </a:prstGeom>
          <a:noFill/>
          <a:ln/>
        </p:spPr>
        <p:txBody>
          <a:bodyPr wrap="square" rtlCol="0" anchor="t"/>
          <a:lstStyle/>
          <a:p>
            <a:pPr indent="0" marL="0">
              <a:lnSpc>
                <a:spcPct val="102000"/>
              </a:lnSpc>
              <a:buNone/>
            </a:pPr>
            <a:r>
              <a:rPr lang="en-US" sz="1020" dirty="0">
                <a:solidFill>
                  <a:srgbClr val="3D4657"/>
                </a:solidFill>
                <a:latin typeface="Arial" pitchFamily="34" charset="0"/>
                <a:ea typeface="Arial" pitchFamily="34" charset="-122"/>
                <a:cs typeface="Arial" pitchFamily="34" charset="-120"/>
              </a:rPr>
              <a:t>A live, working AI pipeline as proof — not a slide</a:t>
            </a:r>
            <a:endParaRPr lang="en-US" sz="1020" dirty="0"/>
          </a:p>
        </p:txBody>
      </p:sp>
      <p:sp>
        <p:nvSpPr>
          <p:cNvPr id="48" name="Text 46"/>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9AA0A0"/>
                </a:solidFill>
                <a:latin typeface="Arial" pitchFamily="34" charset="0"/>
                <a:ea typeface="Arial" pitchFamily="34" charset="-122"/>
                <a:cs typeface="Arial" pitchFamily="34" charset="-120"/>
              </a:rPr>
              <a:t>Hammad Rana</a:t>
            </a:r>
            <a:endParaRPr lang="en-US" sz="900" dirty="0"/>
          </a:p>
        </p:txBody>
      </p:sp>
      <p:sp>
        <p:nvSpPr>
          <p:cNvPr id="49" name="Text 47"/>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9AA0A0"/>
                </a:solidFill>
                <a:latin typeface="Arial" pitchFamily="34" charset="0"/>
                <a:ea typeface="Arial" pitchFamily="34" charset="-122"/>
                <a:cs typeface="Arial"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24365C"/>
          </a:solidFill>
          <a:ln w="12700">
            <a:solidFill>
              <a:srgbClr val="24365C"/>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F5F3EE"/>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C9A24B"/>
                </a:solidFill>
                <a:latin typeface="Arial" pitchFamily="34" charset="0"/>
                <a:ea typeface="Arial" pitchFamily="34" charset="-122"/>
                <a:cs typeface="Arial" pitchFamily="34" charset="-120"/>
              </a:rPr>
              <a:t>BRAND STRATEGY</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F5F3EE"/>
                </a:solidFill>
                <a:latin typeface="Georgia" pitchFamily="34" charset="0"/>
                <a:ea typeface="Georgia" pitchFamily="34" charset="-122"/>
                <a:cs typeface="Georgia" pitchFamily="34" charset="-120"/>
              </a:rPr>
              <a:t>Where I sit in the field</a:t>
            </a:r>
            <a:endParaRPr lang="en-US" sz="2900" dirty="0"/>
          </a:p>
        </p:txBody>
      </p:sp>
      <p:sp>
        <p:nvSpPr>
          <p:cNvPr id="7" name="Text 5"/>
          <p:cNvSpPr/>
          <p:nvPr/>
        </p:nvSpPr>
        <p:spPr>
          <a:xfrm>
            <a:off x="640080" y="1783080"/>
            <a:ext cx="10515600" cy="365760"/>
          </a:xfrm>
          <a:prstGeom prst="rect">
            <a:avLst/>
          </a:prstGeom>
          <a:noFill/>
          <a:ln/>
        </p:spPr>
        <p:txBody>
          <a:bodyPr wrap="square" rtlCol="0" anchor="ctr"/>
          <a:lstStyle/>
          <a:p>
            <a:pPr indent="0" marL="0">
              <a:buNone/>
            </a:pPr>
            <a:r>
              <a:rPr lang="en-US" sz="1250" i="1" dirty="0">
                <a:solidFill>
                  <a:srgbClr val="C7CFE0"/>
                </a:solidFill>
                <a:latin typeface="Arial" pitchFamily="34" charset="0"/>
                <a:ea typeface="Arial" pitchFamily="34" charset="-122"/>
                <a:cs typeface="Arial" pitchFamily="34" charset="-120"/>
              </a:rPr>
              <a:t>Five GRC / SOC candidate portfolios, benchmarked against SentinelGRC Ops.</a:t>
            </a:r>
            <a:endParaRPr lang="en-US" sz="1250" dirty="0"/>
          </a:p>
        </p:txBody>
      </p:sp>
      <p:sp>
        <p:nvSpPr>
          <p:cNvPr id="8" name="Shape 6"/>
          <p:cNvSpPr/>
          <p:nvPr/>
        </p:nvSpPr>
        <p:spPr>
          <a:xfrm>
            <a:off x="640080" y="2331720"/>
            <a:ext cx="10908792" cy="512064"/>
          </a:xfrm>
          <a:prstGeom prst="roundRect">
            <a:avLst>
              <a:gd name="adj" fmla="val 10714"/>
            </a:avLst>
          </a:prstGeom>
          <a:solidFill>
            <a:srgbClr val="132038"/>
          </a:solidFill>
          <a:ln w="12700">
            <a:solidFill>
              <a:srgbClr val="132038"/>
            </a:solidFill>
            <a:prstDash val="solid"/>
          </a:ln>
        </p:spPr>
      </p:sp>
      <p:sp>
        <p:nvSpPr>
          <p:cNvPr id="9" name="Text 7"/>
          <p:cNvSpPr/>
          <p:nvPr/>
        </p:nvSpPr>
        <p:spPr>
          <a:xfrm>
            <a:off x="640080" y="2331720"/>
            <a:ext cx="2532888" cy="512064"/>
          </a:xfrm>
          <a:prstGeom prst="rect">
            <a:avLst/>
          </a:prstGeom>
          <a:noFill/>
          <a:ln/>
        </p:spPr>
        <p:txBody>
          <a:bodyPr wrap="square" rtlCol="0" anchor="ctr"/>
          <a:lstStyle/>
          <a:p>
            <a:pPr algn="l" indent="0" marL="0">
              <a:buNone/>
            </a:pPr>
            <a:r>
              <a:rPr lang="en-US" sz="1050" b="1" dirty="0">
                <a:solidFill>
                  <a:srgbClr val="C7CFE0"/>
                </a:solidFill>
                <a:latin typeface="Arial" pitchFamily="34" charset="0"/>
                <a:ea typeface="Arial" pitchFamily="34" charset="-122"/>
                <a:cs typeface="Arial" pitchFamily="34" charset="-120"/>
              </a:rPr>
              <a:t>Dimension</a:t>
            </a:r>
            <a:endParaRPr lang="en-US" sz="1050" dirty="0"/>
          </a:p>
        </p:txBody>
      </p:sp>
      <p:sp>
        <p:nvSpPr>
          <p:cNvPr id="10" name="Text 8"/>
          <p:cNvSpPr/>
          <p:nvPr/>
        </p:nvSpPr>
        <p:spPr>
          <a:xfrm>
            <a:off x="3246120" y="2331720"/>
            <a:ext cx="1389888" cy="512064"/>
          </a:xfrm>
          <a:prstGeom prst="rect">
            <a:avLst/>
          </a:prstGeom>
          <a:noFill/>
          <a:ln/>
        </p:spPr>
        <p:txBody>
          <a:bodyPr wrap="square" rtlCol="0" anchor="ctr"/>
          <a:lstStyle/>
          <a:p>
            <a:pPr algn="ctr" indent="0" marL="0">
              <a:buNone/>
            </a:pPr>
            <a:r>
              <a:rPr lang="en-US" sz="1050" b="1" dirty="0">
                <a:solidFill>
                  <a:srgbClr val="C7CFE0"/>
                </a:solidFill>
                <a:latin typeface="Arial" pitchFamily="34" charset="0"/>
                <a:ea typeface="Arial" pitchFamily="34" charset="-122"/>
                <a:cs typeface="Arial" pitchFamily="34" charset="-120"/>
              </a:rPr>
              <a:t>Ledy Florez</a:t>
            </a:r>
            <a:endParaRPr lang="en-US" sz="1050" dirty="0"/>
          </a:p>
        </p:txBody>
      </p:sp>
      <p:sp>
        <p:nvSpPr>
          <p:cNvPr id="11" name="Text 9"/>
          <p:cNvSpPr/>
          <p:nvPr/>
        </p:nvSpPr>
        <p:spPr>
          <a:xfrm>
            <a:off x="4709160" y="2331720"/>
            <a:ext cx="1389888" cy="512064"/>
          </a:xfrm>
          <a:prstGeom prst="rect">
            <a:avLst/>
          </a:prstGeom>
          <a:noFill/>
          <a:ln/>
        </p:spPr>
        <p:txBody>
          <a:bodyPr wrap="square" rtlCol="0" anchor="ctr"/>
          <a:lstStyle/>
          <a:p>
            <a:pPr algn="ctr" indent="0" marL="0">
              <a:buNone/>
            </a:pPr>
            <a:r>
              <a:rPr lang="en-US" sz="1050" b="1" dirty="0">
                <a:solidFill>
                  <a:srgbClr val="C7CFE0"/>
                </a:solidFill>
                <a:latin typeface="Arial" pitchFamily="34" charset="0"/>
                <a:ea typeface="Arial" pitchFamily="34" charset="-122"/>
                <a:cs typeface="Arial" pitchFamily="34" charset="-120"/>
              </a:rPr>
              <a:t>Suman Suresh</a:t>
            </a:r>
            <a:endParaRPr lang="en-US" sz="1050" dirty="0"/>
          </a:p>
        </p:txBody>
      </p:sp>
      <p:sp>
        <p:nvSpPr>
          <p:cNvPr id="12" name="Text 10"/>
          <p:cNvSpPr/>
          <p:nvPr/>
        </p:nvSpPr>
        <p:spPr>
          <a:xfrm>
            <a:off x="6172200" y="2331720"/>
            <a:ext cx="1207008" cy="512064"/>
          </a:xfrm>
          <a:prstGeom prst="rect">
            <a:avLst/>
          </a:prstGeom>
          <a:noFill/>
          <a:ln/>
        </p:spPr>
        <p:txBody>
          <a:bodyPr wrap="square" rtlCol="0" anchor="ctr"/>
          <a:lstStyle/>
          <a:p>
            <a:pPr algn="ctr" indent="0" marL="0">
              <a:buNone/>
            </a:pPr>
            <a:r>
              <a:rPr lang="en-US" sz="1050" b="1" dirty="0">
                <a:solidFill>
                  <a:srgbClr val="C7CFE0"/>
                </a:solidFill>
                <a:latin typeface="Arial" pitchFamily="34" charset="0"/>
                <a:ea typeface="Arial" pitchFamily="34" charset="-122"/>
                <a:cs typeface="Arial" pitchFamily="34" charset="-120"/>
              </a:rPr>
              <a:t>Adharv KT</a:t>
            </a:r>
            <a:endParaRPr lang="en-US" sz="1050" dirty="0"/>
          </a:p>
        </p:txBody>
      </p:sp>
      <p:sp>
        <p:nvSpPr>
          <p:cNvPr id="13" name="Text 11"/>
          <p:cNvSpPr/>
          <p:nvPr/>
        </p:nvSpPr>
        <p:spPr>
          <a:xfrm>
            <a:off x="7452360" y="2331720"/>
            <a:ext cx="1207008" cy="512064"/>
          </a:xfrm>
          <a:prstGeom prst="rect">
            <a:avLst/>
          </a:prstGeom>
          <a:noFill/>
          <a:ln/>
        </p:spPr>
        <p:txBody>
          <a:bodyPr wrap="square" rtlCol="0" anchor="ctr"/>
          <a:lstStyle/>
          <a:p>
            <a:pPr algn="ctr" indent="0" marL="0">
              <a:buNone/>
            </a:pPr>
            <a:r>
              <a:rPr lang="en-US" sz="1050" b="1" dirty="0">
                <a:solidFill>
                  <a:srgbClr val="C7CFE0"/>
                </a:solidFill>
                <a:latin typeface="Arial" pitchFamily="34" charset="0"/>
                <a:ea typeface="Arial" pitchFamily="34" charset="-122"/>
                <a:cs typeface="Arial" pitchFamily="34" charset="-120"/>
              </a:rPr>
              <a:t>Ayanloye O.</a:t>
            </a:r>
            <a:endParaRPr lang="en-US" sz="1050" dirty="0"/>
          </a:p>
        </p:txBody>
      </p:sp>
      <p:sp>
        <p:nvSpPr>
          <p:cNvPr id="14" name="Text 12"/>
          <p:cNvSpPr/>
          <p:nvPr/>
        </p:nvSpPr>
        <p:spPr>
          <a:xfrm>
            <a:off x="8732520" y="2331720"/>
            <a:ext cx="1252728" cy="512064"/>
          </a:xfrm>
          <a:prstGeom prst="rect">
            <a:avLst/>
          </a:prstGeom>
          <a:noFill/>
          <a:ln/>
        </p:spPr>
        <p:txBody>
          <a:bodyPr wrap="square" rtlCol="0" anchor="ctr"/>
          <a:lstStyle/>
          <a:p>
            <a:pPr algn="ctr" indent="0" marL="0">
              <a:buNone/>
            </a:pPr>
            <a:r>
              <a:rPr lang="en-US" sz="1050" b="1" dirty="0">
                <a:solidFill>
                  <a:srgbClr val="C7CFE0"/>
                </a:solidFill>
                <a:latin typeface="Arial" pitchFamily="34" charset="0"/>
                <a:ea typeface="Arial" pitchFamily="34" charset="-122"/>
                <a:cs typeface="Arial" pitchFamily="34" charset="-120"/>
              </a:rPr>
              <a:t>Aswin Krishna</a:t>
            </a:r>
            <a:endParaRPr lang="en-US" sz="1050" dirty="0"/>
          </a:p>
        </p:txBody>
      </p:sp>
      <p:sp>
        <p:nvSpPr>
          <p:cNvPr id="15" name="Text 13"/>
          <p:cNvSpPr/>
          <p:nvPr/>
        </p:nvSpPr>
        <p:spPr>
          <a:xfrm>
            <a:off x="10058400" y="2331720"/>
            <a:ext cx="1417320" cy="512064"/>
          </a:xfrm>
          <a:prstGeom prst="rect">
            <a:avLst/>
          </a:prstGeom>
          <a:noFill/>
          <a:ln/>
        </p:spPr>
        <p:txBody>
          <a:bodyPr wrap="square" rtlCol="0" anchor="ctr"/>
          <a:lstStyle/>
          <a:p>
            <a:pPr algn="ctr" indent="0" marL="0">
              <a:buNone/>
            </a:pPr>
            <a:r>
              <a:rPr lang="en-US" sz="1050" b="1" dirty="0">
                <a:solidFill>
                  <a:srgbClr val="C9A24B"/>
                </a:solidFill>
                <a:latin typeface="Arial" pitchFamily="34" charset="0"/>
                <a:ea typeface="Arial" pitchFamily="34" charset="-122"/>
                <a:cs typeface="Arial" pitchFamily="34" charset="-120"/>
              </a:rPr>
              <a:t>Hammad (Sentinel)</a:t>
            </a:r>
            <a:endParaRPr lang="en-US" sz="1050" dirty="0"/>
          </a:p>
        </p:txBody>
      </p:sp>
      <p:sp>
        <p:nvSpPr>
          <p:cNvPr id="16" name="Shape 14"/>
          <p:cNvSpPr/>
          <p:nvPr/>
        </p:nvSpPr>
        <p:spPr>
          <a:xfrm>
            <a:off x="640080" y="2843784"/>
            <a:ext cx="10908792" cy="512064"/>
          </a:xfrm>
          <a:prstGeom prst="rect">
            <a:avLst/>
          </a:prstGeom>
          <a:solidFill>
            <a:srgbClr val="20305A"/>
          </a:solidFill>
          <a:ln w="12700">
            <a:solidFill>
              <a:srgbClr val="20305A"/>
            </a:solidFill>
            <a:prstDash val="solid"/>
          </a:ln>
        </p:spPr>
      </p:sp>
      <p:sp>
        <p:nvSpPr>
          <p:cNvPr id="17" name="Text 15"/>
          <p:cNvSpPr/>
          <p:nvPr/>
        </p:nvSpPr>
        <p:spPr>
          <a:xfrm>
            <a:off x="640080" y="2843784"/>
            <a:ext cx="2532888" cy="512064"/>
          </a:xfrm>
          <a:prstGeom prst="rect">
            <a:avLst/>
          </a:prstGeom>
          <a:noFill/>
          <a:ln/>
        </p:spPr>
        <p:txBody>
          <a:bodyPr wrap="square" rtlCol="0" anchor="ctr"/>
          <a:lstStyle/>
          <a:p>
            <a:pPr algn="l" indent="0" marL="0">
              <a:buNone/>
            </a:pPr>
            <a:r>
              <a:rPr lang="en-US" sz="1100" dirty="0">
                <a:solidFill>
                  <a:srgbClr val="F5F3EE"/>
                </a:solidFill>
                <a:latin typeface="Arial" pitchFamily="34" charset="0"/>
                <a:ea typeface="Arial" pitchFamily="34" charset="-122"/>
                <a:cs typeface="Arial" pitchFamily="34" charset="-120"/>
              </a:rPr>
              <a:t>GRC framework depth</a:t>
            </a:r>
            <a:endParaRPr lang="en-US" sz="1100" dirty="0"/>
          </a:p>
        </p:txBody>
      </p:sp>
      <p:sp>
        <p:nvSpPr>
          <p:cNvPr id="18" name="Text 16"/>
          <p:cNvSpPr/>
          <p:nvPr/>
        </p:nvSpPr>
        <p:spPr>
          <a:xfrm>
            <a:off x="3246120" y="2843784"/>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High</a:t>
            </a:r>
            <a:endParaRPr lang="en-US" sz="1100" dirty="0"/>
          </a:p>
        </p:txBody>
      </p:sp>
      <p:sp>
        <p:nvSpPr>
          <p:cNvPr id="19" name="Text 17"/>
          <p:cNvSpPr/>
          <p:nvPr/>
        </p:nvSpPr>
        <p:spPr>
          <a:xfrm>
            <a:off x="4709160" y="2843784"/>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Medium</a:t>
            </a:r>
            <a:endParaRPr lang="en-US" sz="1100" dirty="0"/>
          </a:p>
        </p:txBody>
      </p:sp>
      <p:sp>
        <p:nvSpPr>
          <p:cNvPr id="20" name="Text 18"/>
          <p:cNvSpPr/>
          <p:nvPr/>
        </p:nvSpPr>
        <p:spPr>
          <a:xfrm>
            <a:off x="6172200" y="2843784"/>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Low</a:t>
            </a:r>
            <a:endParaRPr lang="en-US" sz="1100" dirty="0"/>
          </a:p>
        </p:txBody>
      </p:sp>
      <p:sp>
        <p:nvSpPr>
          <p:cNvPr id="21" name="Text 19"/>
          <p:cNvSpPr/>
          <p:nvPr/>
        </p:nvSpPr>
        <p:spPr>
          <a:xfrm>
            <a:off x="7452360" y="2843784"/>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Low</a:t>
            </a:r>
            <a:endParaRPr lang="en-US" sz="1100" dirty="0"/>
          </a:p>
        </p:txBody>
      </p:sp>
      <p:sp>
        <p:nvSpPr>
          <p:cNvPr id="22" name="Text 20"/>
          <p:cNvSpPr/>
          <p:nvPr/>
        </p:nvSpPr>
        <p:spPr>
          <a:xfrm>
            <a:off x="8732520" y="2843784"/>
            <a:ext cx="125272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Medium</a:t>
            </a:r>
            <a:endParaRPr lang="en-US" sz="1100" dirty="0"/>
          </a:p>
        </p:txBody>
      </p:sp>
      <p:sp>
        <p:nvSpPr>
          <p:cNvPr id="23" name="Text 21"/>
          <p:cNvSpPr/>
          <p:nvPr/>
        </p:nvSpPr>
        <p:spPr>
          <a:xfrm>
            <a:off x="10058400" y="2843784"/>
            <a:ext cx="1417320" cy="512064"/>
          </a:xfrm>
          <a:prstGeom prst="rect">
            <a:avLst/>
          </a:prstGeom>
          <a:noFill/>
          <a:ln/>
        </p:spPr>
        <p:txBody>
          <a:bodyPr wrap="square" rtlCol="0" anchor="ctr"/>
          <a:lstStyle/>
          <a:p>
            <a:pPr algn="ctr" indent="0" marL="0">
              <a:buNone/>
            </a:pPr>
            <a:r>
              <a:rPr lang="en-US" sz="1100" b="1" dirty="0">
                <a:solidFill>
                  <a:srgbClr val="C9A24B"/>
                </a:solidFill>
                <a:latin typeface="Arial" pitchFamily="34" charset="0"/>
                <a:ea typeface="Arial" pitchFamily="34" charset="-122"/>
                <a:cs typeface="Arial" pitchFamily="34" charset="-120"/>
              </a:rPr>
              <a:t>High</a:t>
            </a:r>
            <a:endParaRPr lang="en-US" sz="1100" dirty="0"/>
          </a:p>
        </p:txBody>
      </p:sp>
      <p:sp>
        <p:nvSpPr>
          <p:cNvPr id="24" name="Shape 22"/>
          <p:cNvSpPr/>
          <p:nvPr/>
        </p:nvSpPr>
        <p:spPr>
          <a:xfrm>
            <a:off x="640080" y="3355848"/>
            <a:ext cx="10908792" cy="512064"/>
          </a:xfrm>
          <a:prstGeom prst="rect">
            <a:avLst/>
          </a:prstGeom>
          <a:solidFill>
            <a:srgbClr val="1B2A4A"/>
          </a:solidFill>
          <a:ln w="12700">
            <a:solidFill>
              <a:srgbClr val="1B2A4A"/>
            </a:solidFill>
            <a:prstDash val="solid"/>
          </a:ln>
        </p:spPr>
      </p:sp>
      <p:sp>
        <p:nvSpPr>
          <p:cNvPr id="25" name="Text 23"/>
          <p:cNvSpPr/>
          <p:nvPr/>
        </p:nvSpPr>
        <p:spPr>
          <a:xfrm>
            <a:off x="640080" y="3355848"/>
            <a:ext cx="2532888" cy="512064"/>
          </a:xfrm>
          <a:prstGeom prst="rect">
            <a:avLst/>
          </a:prstGeom>
          <a:noFill/>
          <a:ln/>
        </p:spPr>
        <p:txBody>
          <a:bodyPr wrap="square" rtlCol="0" anchor="ctr"/>
          <a:lstStyle/>
          <a:p>
            <a:pPr algn="l" indent="0" marL="0">
              <a:buNone/>
            </a:pPr>
            <a:r>
              <a:rPr lang="en-US" sz="1100" dirty="0">
                <a:solidFill>
                  <a:srgbClr val="F5F3EE"/>
                </a:solidFill>
                <a:latin typeface="Arial" pitchFamily="34" charset="0"/>
                <a:ea typeface="Arial" pitchFamily="34" charset="-122"/>
                <a:cs typeface="Arial" pitchFamily="34" charset="-120"/>
              </a:rPr>
              <a:t>IT ops foundation</a:t>
            </a:r>
            <a:endParaRPr lang="en-US" sz="1100" dirty="0"/>
          </a:p>
        </p:txBody>
      </p:sp>
      <p:sp>
        <p:nvSpPr>
          <p:cNvPr id="26" name="Text 24"/>
          <p:cNvSpPr/>
          <p:nvPr/>
        </p:nvSpPr>
        <p:spPr>
          <a:xfrm>
            <a:off x="3246120" y="3355848"/>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27" name="Text 25"/>
          <p:cNvSpPr/>
          <p:nvPr/>
        </p:nvSpPr>
        <p:spPr>
          <a:xfrm>
            <a:off x="4709160" y="3355848"/>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Moderate</a:t>
            </a:r>
            <a:endParaRPr lang="en-US" sz="1100" dirty="0"/>
          </a:p>
        </p:txBody>
      </p:sp>
      <p:sp>
        <p:nvSpPr>
          <p:cNvPr id="28" name="Text 26"/>
          <p:cNvSpPr/>
          <p:nvPr/>
        </p:nvSpPr>
        <p:spPr>
          <a:xfrm>
            <a:off x="6172200" y="3355848"/>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Moderate</a:t>
            </a:r>
            <a:endParaRPr lang="en-US" sz="1100" dirty="0"/>
          </a:p>
        </p:txBody>
      </p:sp>
      <p:sp>
        <p:nvSpPr>
          <p:cNvPr id="29" name="Text 27"/>
          <p:cNvSpPr/>
          <p:nvPr/>
        </p:nvSpPr>
        <p:spPr>
          <a:xfrm>
            <a:off x="7452360" y="3355848"/>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Minimal</a:t>
            </a:r>
            <a:endParaRPr lang="en-US" sz="1100" dirty="0"/>
          </a:p>
        </p:txBody>
      </p:sp>
      <p:sp>
        <p:nvSpPr>
          <p:cNvPr id="30" name="Text 28"/>
          <p:cNvSpPr/>
          <p:nvPr/>
        </p:nvSpPr>
        <p:spPr>
          <a:xfrm>
            <a:off x="8732520" y="3355848"/>
            <a:ext cx="125272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Moderate</a:t>
            </a:r>
            <a:endParaRPr lang="en-US" sz="1100" dirty="0"/>
          </a:p>
        </p:txBody>
      </p:sp>
      <p:sp>
        <p:nvSpPr>
          <p:cNvPr id="31" name="Text 29"/>
          <p:cNvSpPr/>
          <p:nvPr/>
        </p:nvSpPr>
        <p:spPr>
          <a:xfrm>
            <a:off x="10058400" y="3355848"/>
            <a:ext cx="1417320" cy="512064"/>
          </a:xfrm>
          <a:prstGeom prst="rect">
            <a:avLst/>
          </a:prstGeom>
          <a:noFill/>
          <a:ln/>
        </p:spPr>
        <p:txBody>
          <a:bodyPr wrap="square" rtlCol="0" anchor="ctr"/>
          <a:lstStyle/>
          <a:p>
            <a:pPr algn="ctr" indent="0" marL="0">
              <a:buNone/>
            </a:pPr>
            <a:r>
              <a:rPr lang="en-US" sz="1100" b="1" dirty="0">
                <a:solidFill>
                  <a:srgbClr val="C9A24B"/>
                </a:solidFill>
                <a:latin typeface="Arial" pitchFamily="34" charset="0"/>
                <a:ea typeface="Arial" pitchFamily="34" charset="-122"/>
                <a:cs typeface="Arial" pitchFamily="34" charset="-120"/>
              </a:rPr>
              <a:t>11 years</a:t>
            </a:r>
            <a:endParaRPr lang="en-US" sz="1100" dirty="0"/>
          </a:p>
        </p:txBody>
      </p:sp>
      <p:sp>
        <p:nvSpPr>
          <p:cNvPr id="32" name="Shape 30"/>
          <p:cNvSpPr/>
          <p:nvPr/>
        </p:nvSpPr>
        <p:spPr>
          <a:xfrm>
            <a:off x="640080" y="3867912"/>
            <a:ext cx="10908792" cy="512064"/>
          </a:xfrm>
          <a:prstGeom prst="rect">
            <a:avLst/>
          </a:prstGeom>
          <a:solidFill>
            <a:srgbClr val="20305A"/>
          </a:solidFill>
          <a:ln w="12700">
            <a:solidFill>
              <a:srgbClr val="20305A"/>
            </a:solidFill>
            <a:prstDash val="solid"/>
          </a:ln>
        </p:spPr>
      </p:sp>
      <p:sp>
        <p:nvSpPr>
          <p:cNvPr id="33" name="Text 31"/>
          <p:cNvSpPr/>
          <p:nvPr/>
        </p:nvSpPr>
        <p:spPr>
          <a:xfrm>
            <a:off x="640080" y="3867912"/>
            <a:ext cx="2532888" cy="512064"/>
          </a:xfrm>
          <a:prstGeom prst="rect">
            <a:avLst/>
          </a:prstGeom>
          <a:noFill/>
          <a:ln/>
        </p:spPr>
        <p:txBody>
          <a:bodyPr wrap="square" rtlCol="0" anchor="ctr"/>
          <a:lstStyle/>
          <a:p>
            <a:pPr algn="l" indent="0" marL="0">
              <a:buNone/>
            </a:pPr>
            <a:r>
              <a:rPr lang="en-US" sz="1100" dirty="0">
                <a:solidFill>
                  <a:srgbClr val="F5F3EE"/>
                </a:solidFill>
                <a:latin typeface="Arial" pitchFamily="34" charset="0"/>
                <a:ea typeface="Arial" pitchFamily="34" charset="-122"/>
                <a:cs typeface="Arial" pitchFamily="34" charset="-120"/>
              </a:rPr>
              <a:t>AI / automation</a:t>
            </a:r>
            <a:endParaRPr lang="en-US" sz="1100" dirty="0"/>
          </a:p>
        </p:txBody>
      </p:sp>
      <p:sp>
        <p:nvSpPr>
          <p:cNvPr id="34" name="Text 32"/>
          <p:cNvSpPr/>
          <p:nvPr/>
        </p:nvSpPr>
        <p:spPr>
          <a:xfrm>
            <a:off x="3246120" y="3867912"/>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35" name="Text 33"/>
          <p:cNvSpPr/>
          <p:nvPr/>
        </p:nvSpPr>
        <p:spPr>
          <a:xfrm>
            <a:off x="4709160" y="3867912"/>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Research only</a:t>
            </a:r>
            <a:endParaRPr lang="en-US" sz="1100" dirty="0"/>
          </a:p>
        </p:txBody>
      </p:sp>
      <p:sp>
        <p:nvSpPr>
          <p:cNvPr id="36" name="Text 34"/>
          <p:cNvSpPr/>
          <p:nvPr/>
        </p:nvSpPr>
        <p:spPr>
          <a:xfrm>
            <a:off x="6172200" y="3867912"/>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37" name="Text 35"/>
          <p:cNvSpPr/>
          <p:nvPr/>
        </p:nvSpPr>
        <p:spPr>
          <a:xfrm>
            <a:off x="7452360" y="3867912"/>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38" name="Text 36"/>
          <p:cNvSpPr/>
          <p:nvPr/>
        </p:nvSpPr>
        <p:spPr>
          <a:xfrm>
            <a:off x="8732520" y="3867912"/>
            <a:ext cx="125272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39" name="Text 37"/>
          <p:cNvSpPr/>
          <p:nvPr/>
        </p:nvSpPr>
        <p:spPr>
          <a:xfrm>
            <a:off x="10058400" y="3867912"/>
            <a:ext cx="1417320" cy="512064"/>
          </a:xfrm>
          <a:prstGeom prst="rect">
            <a:avLst/>
          </a:prstGeom>
          <a:noFill/>
          <a:ln/>
        </p:spPr>
        <p:txBody>
          <a:bodyPr wrap="square" rtlCol="0" anchor="ctr"/>
          <a:lstStyle/>
          <a:p>
            <a:pPr algn="ctr" indent="0" marL="0">
              <a:buNone/>
            </a:pPr>
            <a:r>
              <a:rPr lang="en-US" sz="1100" b="1" dirty="0">
                <a:solidFill>
                  <a:srgbClr val="C9A24B"/>
                </a:solidFill>
                <a:latin typeface="Arial" pitchFamily="34" charset="0"/>
                <a:ea typeface="Arial" pitchFamily="34" charset="-122"/>
                <a:cs typeface="Arial" pitchFamily="34" charset="-120"/>
              </a:rPr>
              <a:t>Core feature</a:t>
            </a:r>
            <a:endParaRPr lang="en-US" sz="1100" dirty="0"/>
          </a:p>
        </p:txBody>
      </p:sp>
      <p:sp>
        <p:nvSpPr>
          <p:cNvPr id="40" name="Shape 38"/>
          <p:cNvSpPr/>
          <p:nvPr/>
        </p:nvSpPr>
        <p:spPr>
          <a:xfrm>
            <a:off x="640080" y="4379976"/>
            <a:ext cx="10908792" cy="512064"/>
          </a:xfrm>
          <a:prstGeom prst="rect">
            <a:avLst/>
          </a:prstGeom>
          <a:solidFill>
            <a:srgbClr val="1B2A4A"/>
          </a:solidFill>
          <a:ln w="12700">
            <a:solidFill>
              <a:srgbClr val="1B2A4A"/>
            </a:solidFill>
            <a:prstDash val="solid"/>
          </a:ln>
        </p:spPr>
      </p:sp>
      <p:sp>
        <p:nvSpPr>
          <p:cNvPr id="41" name="Text 39"/>
          <p:cNvSpPr/>
          <p:nvPr/>
        </p:nvSpPr>
        <p:spPr>
          <a:xfrm>
            <a:off x="640080" y="4379976"/>
            <a:ext cx="2532888" cy="512064"/>
          </a:xfrm>
          <a:prstGeom prst="rect">
            <a:avLst/>
          </a:prstGeom>
          <a:noFill/>
          <a:ln/>
        </p:spPr>
        <p:txBody>
          <a:bodyPr wrap="square" rtlCol="0" anchor="ctr"/>
          <a:lstStyle/>
          <a:p>
            <a:pPr algn="l" indent="0" marL="0">
              <a:buNone/>
            </a:pPr>
            <a:r>
              <a:rPr lang="en-US" sz="1100" dirty="0">
                <a:solidFill>
                  <a:srgbClr val="F5F3EE"/>
                </a:solidFill>
                <a:latin typeface="Arial" pitchFamily="34" charset="0"/>
                <a:ea typeface="Arial" pitchFamily="34" charset="-122"/>
                <a:cs typeface="Arial" pitchFamily="34" charset="-120"/>
              </a:rPr>
              <a:t>Multi-source ingestion</a:t>
            </a:r>
            <a:endParaRPr lang="en-US" sz="1100" dirty="0"/>
          </a:p>
        </p:txBody>
      </p:sp>
      <p:sp>
        <p:nvSpPr>
          <p:cNvPr id="42" name="Text 40"/>
          <p:cNvSpPr/>
          <p:nvPr/>
        </p:nvSpPr>
        <p:spPr>
          <a:xfrm>
            <a:off x="3246120" y="4379976"/>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43" name="Text 41"/>
          <p:cNvSpPr/>
          <p:nvPr/>
        </p:nvSpPr>
        <p:spPr>
          <a:xfrm>
            <a:off x="4709160" y="4379976"/>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44" name="Text 42"/>
          <p:cNvSpPr/>
          <p:nvPr/>
        </p:nvSpPr>
        <p:spPr>
          <a:xfrm>
            <a:off x="6172200" y="4379976"/>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45" name="Text 43"/>
          <p:cNvSpPr/>
          <p:nvPr/>
        </p:nvSpPr>
        <p:spPr>
          <a:xfrm>
            <a:off x="7452360" y="4379976"/>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46" name="Text 44"/>
          <p:cNvSpPr/>
          <p:nvPr/>
        </p:nvSpPr>
        <p:spPr>
          <a:xfrm>
            <a:off x="8732520" y="4379976"/>
            <a:ext cx="125272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47" name="Text 45"/>
          <p:cNvSpPr/>
          <p:nvPr/>
        </p:nvSpPr>
        <p:spPr>
          <a:xfrm>
            <a:off x="10058400" y="4379976"/>
            <a:ext cx="1417320" cy="512064"/>
          </a:xfrm>
          <a:prstGeom prst="rect">
            <a:avLst/>
          </a:prstGeom>
          <a:noFill/>
          <a:ln/>
        </p:spPr>
        <p:txBody>
          <a:bodyPr wrap="square" rtlCol="0" anchor="ctr"/>
          <a:lstStyle/>
          <a:p>
            <a:pPr algn="ctr" indent="0" marL="0">
              <a:buNone/>
            </a:pPr>
            <a:r>
              <a:rPr lang="en-US" sz="1100" b="1" dirty="0">
                <a:solidFill>
                  <a:srgbClr val="C9A24B"/>
                </a:solidFill>
                <a:latin typeface="Arial" pitchFamily="34" charset="0"/>
                <a:ea typeface="Arial" pitchFamily="34" charset="-122"/>
                <a:cs typeface="Arial" pitchFamily="34" charset="-120"/>
              </a:rPr>
              <a:t>3 sources</a:t>
            </a:r>
            <a:endParaRPr lang="en-US" sz="1100" dirty="0"/>
          </a:p>
        </p:txBody>
      </p:sp>
      <p:sp>
        <p:nvSpPr>
          <p:cNvPr id="48" name="Shape 46"/>
          <p:cNvSpPr/>
          <p:nvPr/>
        </p:nvSpPr>
        <p:spPr>
          <a:xfrm>
            <a:off x="640080" y="4892040"/>
            <a:ext cx="10908792" cy="512064"/>
          </a:xfrm>
          <a:prstGeom prst="rect">
            <a:avLst/>
          </a:prstGeom>
          <a:solidFill>
            <a:srgbClr val="20305A"/>
          </a:solidFill>
          <a:ln w="12700">
            <a:solidFill>
              <a:srgbClr val="20305A"/>
            </a:solidFill>
            <a:prstDash val="solid"/>
          </a:ln>
        </p:spPr>
      </p:sp>
      <p:sp>
        <p:nvSpPr>
          <p:cNvPr id="49" name="Text 47"/>
          <p:cNvSpPr/>
          <p:nvPr/>
        </p:nvSpPr>
        <p:spPr>
          <a:xfrm>
            <a:off x="640080" y="4892040"/>
            <a:ext cx="2532888" cy="512064"/>
          </a:xfrm>
          <a:prstGeom prst="rect">
            <a:avLst/>
          </a:prstGeom>
          <a:noFill/>
          <a:ln/>
        </p:spPr>
        <p:txBody>
          <a:bodyPr wrap="square" rtlCol="0" anchor="ctr"/>
          <a:lstStyle/>
          <a:p>
            <a:pPr algn="l" indent="0" marL="0">
              <a:buNone/>
            </a:pPr>
            <a:r>
              <a:rPr lang="en-US" sz="1100" dirty="0">
                <a:solidFill>
                  <a:srgbClr val="F5F3EE"/>
                </a:solidFill>
                <a:latin typeface="Arial" pitchFamily="34" charset="0"/>
                <a:ea typeface="Arial" pitchFamily="34" charset="-122"/>
                <a:cs typeface="Arial" pitchFamily="34" charset="-120"/>
              </a:rPr>
              <a:t>Audit-ready outputs</a:t>
            </a:r>
            <a:endParaRPr lang="en-US" sz="1100" dirty="0"/>
          </a:p>
        </p:txBody>
      </p:sp>
      <p:sp>
        <p:nvSpPr>
          <p:cNvPr id="50" name="Text 48"/>
          <p:cNvSpPr/>
          <p:nvPr/>
        </p:nvSpPr>
        <p:spPr>
          <a:xfrm>
            <a:off x="3246120" y="4892040"/>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Manual</a:t>
            </a:r>
            <a:endParaRPr lang="en-US" sz="1100" dirty="0"/>
          </a:p>
        </p:txBody>
      </p:sp>
      <p:sp>
        <p:nvSpPr>
          <p:cNvPr id="51" name="Text 49"/>
          <p:cNvSpPr/>
          <p:nvPr/>
        </p:nvSpPr>
        <p:spPr>
          <a:xfrm>
            <a:off x="4709160" y="4892040"/>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Manual</a:t>
            </a:r>
            <a:endParaRPr lang="en-US" sz="1100" dirty="0"/>
          </a:p>
        </p:txBody>
      </p:sp>
      <p:sp>
        <p:nvSpPr>
          <p:cNvPr id="52" name="Text 50"/>
          <p:cNvSpPr/>
          <p:nvPr/>
        </p:nvSpPr>
        <p:spPr>
          <a:xfrm>
            <a:off x="6172200" y="4892040"/>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Manual</a:t>
            </a:r>
            <a:endParaRPr lang="en-US" sz="1100" dirty="0"/>
          </a:p>
        </p:txBody>
      </p:sp>
      <p:sp>
        <p:nvSpPr>
          <p:cNvPr id="53" name="Text 51"/>
          <p:cNvSpPr/>
          <p:nvPr/>
        </p:nvSpPr>
        <p:spPr>
          <a:xfrm>
            <a:off x="7452360" y="4892040"/>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Manual</a:t>
            </a:r>
            <a:endParaRPr lang="en-US" sz="1100" dirty="0"/>
          </a:p>
        </p:txBody>
      </p:sp>
      <p:sp>
        <p:nvSpPr>
          <p:cNvPr id="54" name="Text 52"/>
          <p:cNvSpPr/>
          <p:nvPr/>
        </p:nvSpPr>
        <p:spPr>
          <a:xfrm>
            <a:off x="8732520" y="4892040"/>
            <a:ext cx="125272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Manual</a:t>
            </a:r>
            <a:endParaRPr lang="en-US" sz="1100" dirty="0"/>
          </a:p>
        </p:txBody>
      </p:sp>
      <p:sp>
        <p:nvSpPr>
          <p:cNvPr id="55" name="Text 53"/>
          <p:cNvSpPr/>
          <p:nvPr/>
        </p:nvSpPr>
        <p:spPr>
          <a:xfrm>
            <a:off x="10058400" y="4892040"/>
            <a:ext cx="1417320" cy="512064"/>
          </a:xfrm>
          <a:prstGeom prst="rect">
            <a:avLst/>
          </a:prstGeom>
          <a:noFill/>
          <a:ln/>
        </p:spPr>
        <p:txBody>
          <a:bodyPr wrap="square" rtlCol="0" anchor="ctr"/>
          <a:lstStyle/>
          <a:p>
            <a:pPr algn="ctr" indent="0" marL="0">
              <a:buNone/>
            </a:pPr>
            <a:r>
              <a:rPr lang="en-US" sz="1100" b="1" dirty="0">
                <a:solidFill>
                  <a:srgbClr val="C9A24B"/>
                </a:solidFill>
                <a:latin typeface="Arial" pitchFamily="34" charset="0"/>
                <a:ea typeface="Arial" pitchFamily="34" charset="-122"/>
                <a:cs typeface="Arial" pitchFamily="34" charset="-120"/>
              </a:rPr>
              <a:t>Automated</a:t>
            </a:r>
            <a:endParaRPr lang="en-US" sz="1100" dirty="0"/>
          </a:p>
        </p:txBody>
      </p:sp>
      <p:sp>
        <p:nvSpPr>
          <p:cNvPr id="56" name="Shape 54"/>
          <p:cNvSpPr/>
          <p:nvPr/>
        </p:nvSpPr>
        <p:spPr>
          <a:xfrm>
            <a:off x="640080" y="5404104"/>
            <a:ext cx="10908792" cy="512064"/>
          </a:xfrm>
          <a:prstGeom prst="rect">
            <a:avLst/>
          </a:prstGeom>
          <a:solidFill>
            <a:srgbClr val="1B2A4A"/>
          </a:solidFill>
          <a:ln w="12700">
            <a:solidFill>
              <a:srgbClr val="1B2A4A"/>
            </a:solidFill>
            <a:prstDash val="solid"/>
          </a:ln>
        </p:spPr>
      </p:sp>
      <p:sp>
        <p:nvSpPr>
          <p:cNvPr id="57" name="Text 55"/>
          <p:cNvSpPr/>
          <p:nvPr/>
        </p:nvSpPr>
        <p:spPr>
          <a:xfrm>
            <a:off x="640080" y="5404104"/>
            <a:ext cx="2532888" cy="512064"/>
          </a:xfrm>
          <a:prstGeom prst="rect">
            <a:avLst/>
          </a:prstGeom>
          <a:noFill/>
          <a:ln/>
        </p:spPr>
        <p:txBody>
          <a:bodyPr wrap="square" rtlCol="0" anchor="ctr"/>
          <a:lstStyle/>
          <a:p>
            <a:pPr algn="l" indent="0" marL="0">
              <a:buNone/>
            </a:pPr>
            <a:r>
              <a:rPr lang="en-US" sz="1100" dirty="0">
                <a:solidFill>
                  <a:srgbClr val="F5F3EE"/>
                </a:solidFill>
                <a:latin typeface="Arial" pitchFamily="34" charset="0"/>
                <a:ea typeface="Arial" pitchFamily="34" charset="-122"/>
                <a:cs typeface="Arial" pitchFamily="34" charset="-120"/>
              </a:rPr>
              <a:t>Cross-framework mapping</a:t>
            </a:r>
            <a:endParaRPr lang="en-US" sz="1100" dirty="0"/>
          </a:p>
        </p:txBody>
      </p:sp>
      <p:sp>
        <p:nvSpPr>
          <p:cNvPr id="58" name="Text 56"/>
          <p:cNvSpPr/>
          <p:nvPr/>
        </p:nvSpPr>
        <p:spPr>
          <a:xfrm>
            <a:off x="3246120" y="5404104"/>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ISO only</a:t>
            </a:r>
            <a:endParaRPr lang="en-US" sz="1100" dirty="0"/>
          </a:p>
        </p:txBody>
      </p:sp>
      <p:sp>
        <p:nvSpPr>
          <p:cNvPr id="59" name="Text 57"/>
          <p:cNvSpPr/>
          <p:nvPr/>
        </p:nvSpPr>
        <p:spPr>
          <a:xfrm>
            <a:off x="4709160" y="5404104"/>
            <a:ext cx="138988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60" name="Text 58"/>
          <p:cNvSpPr/>
          <p:nvPr/>
        </p:nvSpPr>
        <p:spPr>
          <a:xfrm>
            <a:off x="6172200" y="5404104"/>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61" name="Text 59"/>
          <p:cNvSpPr/>
          <p:nvPr/>
        </p:nvSpPr>
        <p:spPr>
          <a:xfrm>
            <a:off x="7452360" y="5404104"/>
            <a:ext cx="120700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62" name="Text 60"/>
          <p:cNvSpPr/>
          <p:nvPr/>
        </p:nvSpPr>
        <p:spPr>
          <a:xfrm>
            <a:off x="8732520" y="5404104"/>
            <a:ext cx="1252728" cy="512064"/>
          </a:xfrm>
          <a:prstGeom prst="rect">
            <a:avLst/>
          </a:prstGeom>
          <a:noFill/>
          <a:ln/>
        </p:spPr>
        <p:txBody>
          <a:bodyPr wrap="square" rtlCol="0" anchor="ctr"/>
          <a:lstStyle/>
          <a:p>
            <a:pPr algn="ctr" indent="0" marL="0">
              <a:buNone/>
            </a:pPr>
            <a:r>
              <a:rPr lang="en-US" sz="1100" dirty="0">
                <a:solidFill>
                  <a:srgbClr val="C7CFE0"/>
                </a:solidFill>
                <a:latin typeface="Arial" pitchFamily="34" charset="0"/>
                <a:ea typeface="Arial" pitchFamily="34" charset="-122"/>
                <a:cs typeface="Arial" pitchFamily="34" charset="-120"/>
              </a:rPr>
              <a:t>None</a:t>
            </a:r>
            <a:endParaRPr lang="en-US" sz="1100" dirty="0"/>
          </a:p>
        </p:txBody>
      </p:sp>
      <p:sp>
        <p:nvSpPr>
          <p:cNvPr id="63" name="Text 61"/>
          <p:cNvSpPr/>
          <p:nvPr/>
        </p:nvSpPr>
        <p:spPr>
          <a:xfrm>
            <a:off x="10058400" y="5404104"/>
            <a:ext cx="1417320" cy="512064"/>
          </a:xfrm>
          <a:prstGeom prst="rect">
            <a:avLst/>
          </a:prstGeom>
          <a:noFill/>
          <a:ln/>
        </p:spPr>
        <p:txBody>
          <a:bodyPr wrap="square" rtlCol="0" anchor="ctr"/>
          <a:lstStyle/>
          <a:p>
            <a:pPr algn="ctr" indent="0" marL="0">
              <a:buNone/>
            </a:pPr>
            <a:r>
              <a:rPr lang="en-US" sz="1100" b="1" dirty="0">
                <a:solidFill>
                  <a:srgbClr val="C9A24B"/>
                </a:solidFill>
                <a:latin typeface="Arial" pitchFamily="34" charset="0"/>
                <a:ea typeface="Arial" pitchFamily="34" charset="-122"/>
                <a:cs typeface="Arial" pitchFamily="34" charset="-120"/>
              </a:rPr>
              <a:t>ISO/SOC2/NIST</a:t>
            </a:r>
            <a:endParaRPr lang="en-US" sz="1100" dirty="0"/>
          </a:p>
        </p:txBody>
      </p:sp>
      <p:sp>
        <p:nvSpPr>
          <p:cNvPr id="64" name="Shape 62"/>
          <p:cNvSpPr/>
          <p:nvPr/>
        </p:nvSpPr>
        <p:spPr>
          <a:xfrm>
            <a:off x="10030968" y="2331720"/>
            <a:ext cx="1517904" cy="3584448"/>
          </a:xfrm>
          <a:prstGeom prst="roundRect">
            <a:avLst>
              <a:gd name="adj" fmla="val 2410"/>
            </a:avLst>
          </a:prstGeom>
          <a:ln w="19050">
            <a:solidFill>
              <a:srgbClr val="C9A24B"/>
            </a:solidFill>
            <a:prstDash val="solid"/>
          </a:ln>
        </p:spPr>
      </p:sp>
      <p:sp>
        <p:nvSpPr>
          <p:cNvPr id="65" name="Text 63"/>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8598BE"/>
                </a:solidFill>
                <a:latin typeface="Arial" pitchFamily="34" charset="0"/>
                <a:ea typeface="Arial" pitchFamily="34" charset="-122"/>
                <a:cs typeface="Arial" pitchFamily="34" charset="-120"/>
              </a:rPr>
              <a:t>Hammad Rana</a:t>
            </a:r>
            <a:endParaRPr lang="en-US" sz="900" dirty="0"/>
          </a:p>
        </p:txBody>
      </p:sp>
      <p:sp>
        <p:nvSpPr>
          <p:cNvPr id="66" name="Text 64"/>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598BE"/>
                </a:solidFill>
                <a:latin typeface="Arial" pitchFamily="34" charset="0"/>
                <a:ea typeface="Arial" pitchFamily="34" charset="-122"/>
                <a:cs typeface="Arial"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1B2A4A"/>
          </a:solidFill>
          <a:ln w="12700">
            <a:solidFill>
              <a:srgbClr val="1B2A4A"/>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1B2A4A"/>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3C6E71"/>
                </a:solidFill>
                <a:latin typeface="Arial" pitchFamily="34" charset="0"/>
                <a:ea typeface="Arial" pitchFamily="34" charset="-122"/>
                <a:cs typeface="Arial" pitchFamily="34" charset="-120"/>
              </a:rPr>
              <a:t>BRAND STRATEGY</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1B2A4A"/>
                </a:solidFill>
                <a:latin typeface="Georgia" pitchFamily="34" charset="0"/>
                <a:ea typeface="Georgia" pitchFamily="34" charset="-122"/>
                <a:cs typeface="Georgia" pitchFamily="34" charset="-120"/>
              </a:rPr>
              <a:t>The sweet spot no one else occupies</a:t>
            </a:r>
            <a:endParaRPr lang="en-US" sz="2900" dirty="0"/>
          </a:p>
        </p:txBody>
      </p:sp>
      <p:sp>
        <p:nvSpPr>
          <p:cNvPr id="7" name="Shape 5"/>
          <p:cNvSpPr/>
          <p:nvPr/>
        </p:nvSpPr>
        <p:spPr>
          <a:xfrm>
            <a:off x="2011680" y="2057400"/>
            <a:ext cx="7863840" cy="3657600"/>
          </a:xfrm>
          <a:prstGeom prst="rect">
            <a:avLst/>
          </a:prstGeom>
          <a:solidFill>
            <a:srgbClr val="FFFFFF"/>
          </a:solidFill>
          <a:ln w="12700">
            <a:solidFill>
              <a:srgbClr val="D8D3C6"/>
            </a:solidFill>
            <a:prstDash val="solid"/>
          </a:ln>
        </p:spPr>
      </p:sp>
      <p:sp>
        <p:nvSpPr>
          <p:cNvPr id="8" name="Shape 6"/>
          <p:cNvSpPr/>
          <p:nvPr/>
        </p:nvSpPr>
        <p:spPr>
          <a:xfrm>
            <a:off x="5943600" y="2057400"/>
            <a:ext cx="3931920" cy="1828800"/>
          </a:xfrm>
          <a:prstGeom prst="rect">
            <a:avLst/>
          </a:prstGeom>
          <a:solidFill>
            <a:srgbClr val="F5EBD6">
              <a:alpha val="60000"/>
            </a:srgbClr>
          </a:solidFill>
          <a:ln w="12700">
            <a:solidFill>
              <a:srgbClr val="F5EBD6">
                <a:alpha val="60000"/>
              </a:srgbClr>
            </a:solidFill>
            <a:prstDash val="solid"/>
          </a:ln>
        </p:spPr>
      </p:sp>
      <p:sp>
        <p:nvSpPr>
          <p:cNvPr id="9" name="Shape 7"/>
          <p:cNvSpPr/>
          <p:nvPr/>
        </p:nvSpPr>
        <p:spPr>
          <a:xfrm>
            <a:off x="5943600" y="2057400"/>
            <a:ext cx="0" cy="3657600"/>
          </a:xfrm>
          <a:prstGeom prst="line">
            <a:avLst/>
          </a:prstGeom>
          <a:noFill/>
          <a:ln w="12700">
            <a:solidFill>
              <a:srgbClr val="E5E1D6"/>
            </a:solidFill>
            <a:prstDash val="solid"/>
          </a:ln>
        </p:spPr>
      </p:sp>
      <p:sp>
        <p:nvSpPr>
          <p:cNvPr id="10" name="Shape 8"/>
          <p:cNvSpPr/>
          <p:nvPr/>
        </p:nvSpPr>
        <p:spPr>
          <a:xfrm>
            <a:off x="2011680" y="3886200"/>
            <a:ext cx="7863840" cy="0"/>
          </a:xfrm>
          <a:prstGeom prst="line">
            <a:avLst/>
          </a:prstGeom>
          <a:noFill/>
          <a:ln w="12700">
            <a:solidFill>
              <a:srgbClr val="E5E1D6"/>
            </a:solidFill>
            <a:prstDash val="solid"/>
          </a:ln>
        </p:spPr>
      </p:sp>
      <p:sp>
        <p:nvSpPr>
          <p:cNvPr id="11" name="Text 9"/>
          <p:cNvSpPr/>
          <p:nvPr/>
        </p:nvSpPr>
        <p:spPr>
          <a:xfrm rot="16200000">
            <a:off x="-137160" y="3749040"/>
            <a:ext cx="3291840" cy="274320"/>
          </a:xfrm>
          <a:prstGeom prst="rect">
            <a:avLst/>
          </a:prstGeom>
          <a:noFill/>
          <a:ln/>
        </p:spPr>
        <p:txBody>
          <a:bodyPr wrap="square" rtlCol="0" anchor="ctr"/>
          <a:lstStyle/>
          <a:p>
            <a:pPr algn="ctr" indent="0" marL="0">
              <a:buNone/>
            </a:pPr>
            <a:r>
              <a:rPr lang="en-US" sz="1100" b="1" dirty="0">
                <a:solidFill>
                  <a:srgbClr val="3C6E71"/>
                </a:solidFill>
                <a:latin typeface="Arial" pitchFamily="34" charset="0"/>
                <a:ea typeface="Arial" pitchFamily="34" charset="-122"/>
                <a:cs typeface="Arial" pitchFamily="34" charset="-120"/>
              </a:rPr>
              <a:t>GRC framework depth →</a:t>
            </a:r>
            <a:endParaRPr lang="en-US" sz="1100" dirty="0"/>
          </a:p>
        </p:txBody>
      </p:sp>
      <p:sp>
        <p:nvSpPr>
          <p:cNvPr id="12" name="Text 10"/>
          <p:cNvSpPr/>
          <p:nvPr/>
        </p:nvSpPr>
        <p:spPr>
          <a:xfrm>
            <a:off x="2011680" y="5824728"/>
            <a:ext cx="7863840" cy="274320"/>
          </a:xfrm>
          <a:prstGeom prst="rect">
            <a:avLst/>
          </a:prstGeom>
          <a:noFill/>
          <a:ln/>
        </p:spPr>
        <p:txBody>
          <a:bodyPr wrap="square" rtlCol="0" anchor="ctr"/>
          <a:lstStyle/>
          <a:p>
            <a:pPr algn="ctr" indent="0" marL="0">
              <a:buNone/>
            </a:pPr>
            <a:r>
              <a:rPr lang="en-US" sz="1100" b="1" dirty="0">
                <a:solidFill>
                  <a:srgbClr val="3C6E71"/>
                </a:solidFill>
                <a:latin typeface="Arial" pitchFamily="34" charset="0"/>
                <a:ea typeface="Arial" pitchFamily="34" charset="-122"/>
                <a:cs typeface="Arial" pitchFamily="34" charset="-120"/>
              </a:rPr>
              <a:t>IT operations depth →</a:t>
            </a:r>
            <a:endParaRPr lang="en-US" sz="1100" dirty="0"/>
          </a:p>
        </p:txBody>
      </p:sp>
      <p:sp>
        <p:nvSpPr>
          <p:cNvPr id="13" name="Shape 11"/>
          <p:cNvSpPr/>
          <p:nvPr/>
        </p:nvSpPr>
        <p:spPr>
          <a:xfrm>
            <a:off x="2863901" y="4965192"/>
            <a:ext cx="182880" cy="182880"/>
          </a:xfrm>
          <a:prstGeom prst="ellipse">
            <a:avLst/>
          </a:prstGeom>
          <a:solidFill>
            <a:srgbClr val="3C6E71"/>
          </a:solidFill>
          <a:ln w="19050">
            <a:solidFill>
              <a:srgbClr val="FFFFFF"/>
            </a:solidFill>
            <a:prstDash val="solid"/>
          </a:ln>
        </p:spPr>
      </p:sp>
      <p:sp>
        <p:nvSpPr>
          <p:cNvPr id="14" name="Text 12"/>
          <p:cNvSpPr/>
          <p:nvPr/>
        </p:nvSpPr>
        <p:spPr>
          <a:xfrm>
            <a:off x="3119933" y="4892040"/>
            <a:ext cx="2377440" cy="365760"/>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Ayanloye Olaitan</a:t>
            </a:r>
            <a:endParaRPr lang="en-US" sz="1000" dirty="0"/>
          </a:p>
        </p:txBody>
      </p:sp>
      <p:sp>
        <p:nvSpPr>
          <p:cNvPr id="15" name="Shape 13"/>
          <p:cNvSpPr/>
          <p:nvPr/>
        </p:nvSpPr>
        <p:spPr>
          <a:xfrm>
            <a:off x="4908499" y="5184648"/>
            <a:ext cx="182880" cy="182880"/>
          </a:xfrm>
          <a:prstGeom prst="ellipse">
            <a:avLst/>
          </a:prstGeom>
          <a:solidFill>
            <a:srgbClr val="3C6E71"/>
          </a:solidFill>
          <a:ln w="19050">
            <a:solidFill>
              <a:srgbClr val="FFFFFF"/>
            </a:solidFill>
            <a:prstDash val="solid"/>
          </a:ln>
        </p:spPr>
      </p:sp>
      <p:sp>
        <p:nvSpPr>
          <p:cNvPr id="16" name="Text 14"/>
          <p:cNvSpPr/>
          <p:nvPr/>
        </p:nvSpPr>
        <p:spPr>
          <a:xfrm>
            <a:off x="5164531" y="5111496"/>
            <a:ext cx="2377440" cy="365760"/>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Adharv KT</a:t>
            </a:r>
            <a:endParaRPr lang="en-US" sz="1000" dirty="0"/>
          </a:p>
        </p:txBody>
      </p:sp>
      <p:sp>
        <p:nvSpPr>
          <p:cNvPr id="17" name="Shape 15"/>
          <p:cNvSpPr/>
          <p:nvPr/>
        </p:nvSpPr>
        <p:spPr>
          <a:xfrm>
            <a:off x="5223053" y="3867912"/>
            <a:ext cx="182880" cy="182880"/>
          </a:xfrm>
          <a:prstGeom prst="ellipse">
            <a:avLst/>
          </a:prstGeom>
          <a:solidFill>
            <a:srgbClr val="3C6E71"/>
          </a:solidFill>
          <a:ln w="19050">
            <a:solidFill>
              <a:srgbClr val="FFFFFF"/>
            </a:solidFill>
            <a:prstDash val="solid"/>
          </a:ln>
        </p:spPr>
      </p:sp>
      <p:sp>
        <p:nvSpPr>
          <p:cNvPr id="18" name="Text 16"/>
          <p:cNvSpPr/>
          <p:nvPr/>
        </p:nvSpPr>
        <p:spPr>
          <a:xfrm>
            <a:off x="5479085" y="3794760"/>
            <a:ext cx="2377440" cy="365760"/>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Aswin Krishna</a:t>
            </a:r>
            <a:endParaRPr lang="en-US" sz="1000" dirty="0"/>
          </a:p>
        </p:txBody>
      </p:sp>
      <p:sp>
        <p:nvSpPr>
          <p:cNvPr id="19" name="Shape 17"/>
          <p:cNvSpPr/>
          <p:nvPr/>
        </p:nvSpPr>
        <p:spPr>
          <a:xfrm>
            <a:off x="5694883" y="3611880"/>
            <a:ext cx="182880" cy="182880"/>
          </a:xfrm>
          <a:prstGeom prst="ellipse">
            <a:avLst/>
          </a:prstGeom>
          <a:solidFill>
            <a:srgbClr val="3C6E71"/>
          </a:solidFill>
          <a:ln w="19050">
            <a:solidFill>
              <a:srgbClr val="FFFFFF"/>
            </a:solidFill>
            <a:prstDash val="solid"/>
          </a:ln>
        </p:spPr>
      </p:sp>
      <p:sp>
        <p:nvSpPr>
          <p:cNvPr id="20" name="Text 18"/>
          <p:cNvSpPr/>
          <p:nvPr/>
        </p:nvSpPr>
        <p:spPr>
          <a:xfrm>
            <a:off x="5950915" y="3538728"/>
            <a:ext cx="2377440" cy="365760"/>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Suman Suresh</a:t>
            </a:r>
            <a:endParaRPr lang="en-US" sz="1000" dirty="0"/>
          </a:p>
        </p:txBody>
      </p:sp>
      <p:sp>
        <p:nvSpPr>
          <p:cNvPr id="21" name="Shape 19"/>
          <p:cNvSpPr/>
          <p:nvPr/>
        </p:nvSpPr>
        <p:spPr>
          <a:xfrm>
            <a:off x="2706624" y="2624328"/>
            <a:ext cx="182880" cy="182880"/>
          </a:xfrm>
          <a:prstGeom prst="ellipse">
            <a:avLst/>
          </a:prstGeom>
          <a:solidFill>
            <a:srgbClr val="3C6E71"/>
          </a:solidFill>
          <a:ln w="19050">
            <a:solidFill>
              <a:srgbClr val="FFFFFF"/>
            </a:solidFill>
            <a:prstDash val="solid"/>
          </a:ln>
        </p:spPr>
      </p:sp>
      <p:sp>
        <p:nvSpPr>
          <p:cNvPr id="22" name="Text 20"/>
          <p:cNvSpPr/>
          <p:nvPr/>
        </p:nvSpPr>
        <p:spPr>
          <a:xfrm>
            <a:off x="2962656" y="2551176"/>
            <a:ext cx="2377440" cy="365760"/>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Ledy Florez</a:t>
            </a:r>
            <a:endParaRPr lang="en-US" sz="1000" dirty="0"/>
          </a:p>
        </p:txBody>
      </p:sp>
      <p:sp>
        <p:nvSpPr>
          <p:cNvPr id="23" name="Shape 21"/>
          <p:cNvSpPr/>
          <p:nvPr/>
        </p:nvSpPr>
        <p:spPr>
          <a:xfrm>
            <a:off x="8785555" y="2276856"/>
            <a:ext cx="292608" cy="292608"/>
          </a:xfrm>
          <a:prstGeom prst="ellipse">
            <a:avLst/>
          </a:prstGeom>
          <a:solidFill>
            <a:srgbClr val="C9A24B"/>
          </a:solidFill>
          <a:ln w="19050">
            <a:solidFill>
              <a:srgbClr val="FFFFFF"/>
            </a:solidFill>
            <a:prstDash val="solid"/>
          </a:ln>
        </p:spPr>
      </p:sp>
      <p:sp>
        <p:nvSpPr>
          <p:cNvPr id="24" name="Text 22"/>
          <p:cNvSpPr/>
          <p:nvPr/>
        </p:nvSpPr>
        <p:spPr>
          <a:xfrm>
            <a:off x="9151315" y="2258568"/>
            <a:ext cx="2377440" cy="365760"/>
          </a:xfrm>
          <a:prstGeom prst="rect">
            <a:avLst/>
          </a:prstGeom>
          <a:noFill/>
          <a:ln/>
        </p:spPr>
        <p:txBody>
          <a:bodyPr wrap="square" rtlCol="0" anchor="ctr"/>
          <a:lstStyle/>
          <a:p>
            <a:pPr indent="0" marL="0">
              <a:buNone/>
            </a:pPr>
            <a:r>
              <a:rPr lang="en-US" sz="1200" b="1" dirty="0">
                <a:solidFill>
                  <a:srgbClr val="1B2A4A"/>
                </a:solidFill>
                <a:latin typeface="Arial" pitchFamily="34" charset="0"/>
                <a:ea typeface="Arial" pitchFamily="34" charset="-122"/>
                <a:cs typeface="Arial" pitchFamily="34" charset="-120"/>
              </a:rPr>
              <a:t>Hammad — SentinelGRC</a:t>
            </a:r>
            <a:endParaRPr lang="en-US" sz="1200" dirty="0"/>
          </a:p>
        </p:txBody>
      </p:sp>
      <p:sp>
        <p:nvSpPr>
          <p:cNvPr id="25" name="Text 23"/>
          <p:cNvSpPr/>
          <p:nvPr/>
        </p:nvSpPr>
        <p:spPr>
          <a:xfrm>
            <a:off x="640080" y="6309360"/>
            <a:ext cx="10881360" cy="292608"/>
          </a:xfrm>
          <a:prstGeom prst="rect">
            <a:avLst/>
          </a:prstGeom>
          <a:noFill/>
          <a:ln/>
        </p:spPr>
        <p:txBody>
          <a:bodyPr wrap="square" rtlCol="0" anchor="ctr"/>
          <a:lstStyle/>
          <a:p>
            <a:pPr algn="ctr" indent="0" marL="0">
              <a:buNone/>
            </a:pPr>
            <a:r>
              <a:rPr lang="en-US" sz="1100" i="1" dirty="0">
                <a:solidFill>
                  <a:srgbClr val="6B7280"/>
                </a:solidFill>
                <a:latin typeface="Arial" pitchFamily="34" charset="0"/>
                <a:ea typeface="Arial" pitchFamily="34" charset="-122"/>
                <a:cs typeface="Arial" pitchFamily="34" charset="-120"/>
              </a:rPr>
              <a:t>No portfolio in the field combines graduate-level GRC depth with over a decade of live operational experience.</a:t>
            </a:r>
            <a:endParaRPr lang="en-US" sz="1100" dirty="0"/>
          </a:p>
        </p:txBody>
      </p:sp>
      <p:sp>
        <p:nvSpPr>
          <p:cNvPr id="26" name="Text 24"/>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9AA0A0"/>
                </a:solidFill>
                <a:latin typeface="Arial" pitchFamily="34" charset="0"/>
                <a:ea typeface="Arial" pitchFamily="34" charset="-122"/>
                <a:cs typeface="Arial" pitchFamily="34" charset="-120"/>
              </a:rPr>
              <a:t>Hammad Rana</a:t>
            </a:r>
            <a:endParaRPr lang="en-US" sz="900" dirty="0"/>
          </a:p>
        </p:txBody>
      </p:sp>
      <p:sp>
        <p:nvSpPr>
          <p:cNvPr id="27" name="Text 2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9AA0A0"/>
                </a:solidFill>
                <a:latin typeface="Arial" pitchFamily="34" charset="0"/>
                <a:ea typeface="Arial" pitchFamily="34" charset="-122"/>
                <a:cs typeface="Arial"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1B2A4A"/>
          </a:solidFill>
          <a:ln w="12700">
            <a:solidFill>
              <a:srgbClr val="1B2A4A"/>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1B2A4A"/>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3C6E71"/>
                </a:solidFill>
                <a:latin typeface="Arial" pitchFamily="34" charset="0"/>
                <a:ea typeface="Arial" pitchFamily="34" charset="-122"/>
                <a:cs typeface="Arial" pitchFamily="34" charset="-120"/>
              </a:rPr>
              <a:t>VISUAL IDENTITY</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1B2A4A"/>
                </a:solidFill>
                <a:latin typeface="Georgia" pitchFamily="34" charset="0"/>
                <a:ea typeface="Georgia" pitchFamily="34" charset="-122"/>
                <a:cs typeface="Georgia" pitchFamily="34" charset="-120"/>
              </a:rPr>
              <a:t>The visual identity system</a:t>
            </a:r>
            <a:endParaRPr lang="en-US" sz="2900" dirty="0"/>
          </a:p>
        </p:txBody>
      </p:sp>
      <p:sp>
        <p:nvSpPr>
          <p:cNvPr id="7" name="Shape 5"/>
          <p:cNvSpPr/>
          <p:nvPr/>
        </p:nvSpPr>
        <p:spPr>
          <a:xfrm>
            <a:off x="640080" y="1965960"/>
            <a:ext cx="2926080" cy="3794760"/>
          </a:xfrm>
          <a:prstGeom prst="roundRect">
            <a:avLst>
              <a:gd name="adj" fmla="val 3750"/>
            </a:avLst>
          </a:prstGeom>
          <a:solidFill>
            <a:srgbClr val="FFFFFF"/>
          </a:solidFill>
          <a:ln w="12700">
            <a:solidFill>
              <a:srgbClr val="D8D3C6"/>
            </a:solidFill>
            <a:prstDash val="solid"/>
          </a:ln>
        </p:spPr>
      </p:sp>
      <p:sp>
        <p:nvSpPr>
          <p:cNvPr id="8" name="Text 6"/>
          <p:cNvSpPr/>
          <p:nvPr/>
        </p:nvSpPr>
        <p:spPr>
          <a:xfrm>
            <a:off x="914400" y="2148840"/>
            <a:ext cx="2377440" cy="274320"/>
          </a:xfrm>
          <a:prstGeom prst="rect">
            <a:avLst/>
          </a:prstGeom>
          <a:noFill/>
          <a:ln/>
        </p:spPr>
        <p:txBody>
          <a:bodyPr wrap="square" rtlCol="0" anchor="ctr"/>
          <a:lstStyle/>
          <a:p>
            <a:pPr indent="0" marL="0">
              <a:buNone/>
            </a:pPr>
            <a:r>
              <a:rPr lang="en-US" sz="1100" b="1" dirty="0">
                <a:solidFill>
                  <a:srgbClr val="3C6E71"/>
                </a:solidFill>
                <a:latin typeface="Arial" pitchFamily="34" charset="0"/>
                <a:ea typeface="Arial" pitchFamily="34" charset="-122"/>
                <a:cs typeface="Arial" pitchFamily="34" charset="-120"/>
              </a:rPr>
              <a:t>LOGOTYPE</a:t>
            </a:r>
            <a:endParaRPr lang="en-US" sz="1100" dirty="0"/>
          </a:p>
        </p:txBody>
      </p:sp>
      <p:sp>
        <p:nvSpPr>
          <p:cNvPr id="9" name="Shape 7"/>
          <p:cNvSpPr/>
          <p:nvPr/>
        </p:nvSpPr>
        <p:spPr>
          <a:xfrm>
            <a:off x="1188720" y="2606040"/>
            <a:ext cx="1828800" cy="1280160"/>
          </a:xfrm>
          <a:prstGeom prst="roundRect">
            <a:avLst>
              <a:gd name="adj" fmla="val 7143"/>
            </a:avLst>
          </a:prstGeom>
          <a:solidFill>
            <a:srgbClr val="1B2A4A"/>
          </a:solidFill>
          <a:ln w="12700">
            <a:solidFill>
              <a:srgbClr val="1B2A4A"/>
            </a:solidFill>
            <a:prstDash val="solid"/>
          </a:ln>
        </p:spPr>
      </p:sp>
      <p:sp>
        <p:nvSpPr>
          <p:cNvPr id="10" name="Text 8"/>
          <p:cNvSpPr/>
          <p:nvPr/>
        </p:nvSpPr>
        <p:spPr>
          <a:xfrm>
            <a:off x="1188720" y="2606040"/>
            <a:ext cx="1828800" cy="1280160"/>
          </a:xfrm>
          <a:prstGeom prst="rect">
            <a:avLst/>
          </a:prstGeom>
          <a:noFill/>
          <a:ln/>
        </p:spPr>
        <p:txBody>
          <a:bodyPr wrap="square" lIns="0" tIns="0" rIns="0" bIns="0" rtlCol="0" anchor="ctr"/>
          <a:lstStyle/>
          <a:p>
            <a:pPr algn="ctr" indent="0" marL="0">
              <a:buNone/>
            </a:pPr>
            <a:r>
              <a:rPr lang="en-US" sz="3200" b="1" dirty="0">
                <a:solidFill>
                  <a:srgbClr val="C9A24B"/>
                </a:solidFill>
                <a:latin typeface="Georgia" pitchFamily="34" charset="0"/>
                <a:ea typeface="Georgia" pitchFamily="34" charset="-122"/>
                <a:cs typeface="Georgia" pitchFamily="34" charset="-120"/>
              </a:rPr>
              <a:t>HR</a:t>
            </a:r>
            <a:endParaRPr lang="en-US" sz="3200" dirty="0"/>
          </a:p>
        </p:txBody>
      </p:sp>
      <p:sp>
        <p:nvSpPr>
          <p:cNvPr id="11" name="Text 9"/>
          <p:cNvSpPr/>
          <p:nvPr/>
        </p:nvSpPr>
        <p:spPr>
          <a:xfrm>
            <a:off x="914400" y="3977640"/>
            <a:ext cx="2377440" cy="27432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Primary mark</a:t>
            </a:r>
            <a:endParaRPr lang="en-US" sz="1000" dirty="0"/>
          </a:p>
        </p:txBody>
      </p:sp>
      <p:sp>
        <p:nvSpPr>
          <p:cNvPr id="12" name="Text 10"/>
          <p:cNvSpPr/>
          <p:nvPr/>
        </p:nvSpPr>
        <p:spPr>
          <a:xfrm>
            <a:off x="914400" y="4370832"/>
            <a:ext cx="2377440" cy="365760"/>
          </a:xfrm>
          <a:prstGeom prst="rect">
            <a:avLst/>
          </a:prstGeom>
          <a:noFill/>
          <a:ln/>
        </p:spPr>
        <p:txBody>
          <a:bodyPr wrap="square" rtlCol="0" anchor="ctr"/>
          <a:lstStyle/>
          <a:p>
            <a:pPr algn="ctr" indent="0" marL="0">
              <a:buNone/>
            </a:pPr>
            <a:r>
              <a:rPr lang="en-US" sz="1700" b="1" dirty="0">
                <a:solidFill>
                  <a:srgbClr val="1B2A4A"/>
                </a:solidFill>
                <a:latin typeface="Georgia" pitchFamily="34" charset="0"/>
                <a:ea typeface="Georgia" pitchFamily="34" charset="-122"/>
                <a:cs typeface="Georgia" pitchFamily="34" charset="-120"/>
              </a:rPr>
              <a:t>Hammad Rana</a:t>
            </a:r>
            <a:endParaRPr lang="en-US" sz="1700" dirty="0"/>
          </a:p>
        </p:txBody>
      </p:sp>
      <p:sp>
        <p:nvSpPr>
          <p:cNvPr id="13" name="Text 11"/>
          <p:cNvSpPr/>
          <p:nvPr/>
        </p:nvSpPr>
        <p:spPr>
          <a:xfrm>
            <a:off x="914400" y="4736592"/>
            <a:ext cx="2377440" cy="27432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Wordmark variation</a:t>
            </a:r>
            <a:endParaRPr lang="en-US" sz="1000" dirty="0"/>
          </a:p>
        </p:txBody>
      </p:sp>
      <p:sp>
        <p:nvSpPr>
          <p:cNvPr id="14" name="Shape 12"/>
          <p:cNvSpPr/>
          <p:nvPr/>
        </p:nvSpPr>
        <p:spPr>
          <a:xfrm>
            <a:off x="3794760" y="1965960"/>
            <a:ext cx="3703320" cy="3794760"/>
          </a:xfrm>
          <a:prstGeom prst="roundRect">
            <a:avLst>
              <a:gd name="adj" fmla="val 2963"/>
            </a:avLst>
          </a:prstGeom>
          <a:solidFill>
            <a:srgbClr val="FFFFFF"/>
          </a:solidFill>
          <a:ln w="12700">
            <a:solidFill>
              <a:srgbClr val="D8D3C6"/>
            </a:solidFill>
            <a:prstDash val="solid"/>
          </a:ln>
        </p:spPr>
      </p:sp>
      <p:sp>
        <p:nvSpPr>
          <p:cNvPr id="15" name="Text 13"/>
          <p:cNvSpPr/>
          <p:nvPr/>
        </p:nvSpPr>
        <p:spPr>
          <a:xfrm>
            <a:off x="4069080" y="2148840"/>
            <a:ext cx="3108960" cy="274320"/>
          </a:xfrm>
          <a:prstGeom prst="rect">
            <a:avLst/>
          </a:prstGeom>
          <a:noFill/>
          <a:ln/>
        </p:spPr>
        <p:txBody>
          <a:bodyPr wrap="square" rtlCol="0" anchor="ctr"/>
          <a:lstStyle/>
          <a:p>
            <a:pPr indent="0" marL="0">
              <a:buNone/>
            </a:pPr>
            <a:r>
              <a:rPr lang="en-US" sz="1100" b="1" dirty="0">
                <a:solidFill>
                  <a:srgbClr val="3C6E71"/>
                </a:solidFill>
                <a:latin typeface="Arial" pitchFamily="34" charset="0"/>
                <a:ea typeface="Arial" pitchFamily="34" charset="-122"/>
                <a:cs typeface="Arial" pitchFamily="34" charset="-120"/>
              </a:rPr>
              <a:t>COLOR PALETTE</a:t>
            </a:r>
            <a:endParaRPr lang="en-US" sz="1100" dirty="0"/>
          </a:p>
        </p:txBody>
      </p:sp>
      <p:sp>
        <p:nvSpPr>
          <p:cNvPr id="16" name="Shape 14"/>
          <p:cNvSpPr/>
          <p:nvPr/>
        </p:nvSpPr>
        <p:spPr>
          <a:xfrm>
            <a:off x="4069080" y="2542032"/>
            <a:ext cx="3108960" cy="658368"/>
          </a:xfrm>
          <a:prstGeom prst="roundRect">
            <a:avLst>
              <a:gd name="adj" fmla="val 11111"/>
            </a:avLst>
          </a:prstGeom>
          <a:solidFill>
            <a:srgbClr val="1B2A4A"/>
          </a:solidFill>
          <a:ln w="12700">
            <a:solidFill>
              <a:srgbClr val="1B2A4A"/>
            </a:solidFill>
            <a:prstDash val="solid"/>
          </a:ln>
        </p:spPr>
      </p:sp>
      <p:sp>
        <p:nvSpPr>
          <p:cNvPr id="17" name="Text 15"/>
          <p:cNvSpPr/>
          <p:nvPr/>
        </p:nvSpPr>
        <p:spPr>
          <a:xfrm>
            <a:off x="4251960" y="2542032"/>
            <a:ext cx="1828800" cy="658368"/>
          </a:xfrm>
          <a:prstGeom prst="rect">
            <a:avLst/>
          </a:prstGeom>
          <a:noFill/>
          <a:ln/>
        </p:spPr>
        <p:txBody>
          <a:bodyPr wrap="square" rtlCol="0" anchor="ctr"/>
          <a:lstStyle/>
          <a:p>
            <a:pPr indent="0" marL="0">
              <a:buNone/>
            </a:pPr>
            <a:r>
              <a:rPr lang="en-US" sz="1250" b="1" dirty="0">
                <a:solidFill>
                  <a:srgbClr val="F5F3EE"/>
                </a:solidFill>
                <a:latin typeface="Arial" pitchFamily="34" charset="0"/>
                <a:ea typeface="Arial" pitchFamily="34" charset="-122"/>
                <a:cs typeface="Arial" pitchFamily="34" charset="-120"/>
              </a:rPr>
              <a:t>Deep navy</a:t>
            </a:r>
            <a:endParaRPr lang="en-US" sz="1250" dirty="0"/>
          </a:p>
        </p:txBody>
      </p:sp>
      <p:sp>
        <p:nvSpPr>
          <p:cNvPr id="18" name="Text 16"/>
          <p:cNvSpPr/>
          <p:nvPr/>
        </p:nvSpPr>
        <p:spPr>
          <a:xfrm>
            <a:off x="6035040" y="2542032"/>
            <a:ext cx="1005840" cy="658368"/>
          </a:xfrm>
          <a:prstGeom prst="rect">
            <a:avLst/>
          </a:prstGeom>
          <a:noFill/>
          <a:ln/>
        </p:spPr>
        <p:txBody>
          <a:bodyPr wrap="square" rtlCol="0" anchor="ctr"/>
          <a:lstStyle/>
          <a:p>
            <a:pPr algn="r" indent="0" marL="0">
              <a:buNone/>
            </a:pPr>
            <a:r>
              <a:rPr lang="en-US" sz="1050" dirty="0">
                <a:solidFill>
                  <a:srgbClr val="F5F3EE"/>
                </a:solidFill>
                <a:latin typeface="Arial" pitchFamily="34" charset="0"/>
                <a:ea typeface="Arial" pitchFamily="34" charset="-122"/>
                <a:cs typeface="Arial" pitchFamily="34" charset="-120"/>
              </a:rPr>
              <a:t>#1B2A4A</a:t>
            </a:r>
            <a:endParaRPr lang="en-US" sz="1050" dirty="0"/>
          </a:p>
        </p:txBody>
      </p:sp>
      <p:sp>
        <p:nvSpPr>
          <p:cNvPr id="19" name="Shape 17"/>
          <p:cNvSpPr/>
          <p:nvPr/>
        </p:nvSpPr>
        <p:spPr>
          <a:xfrm>
            <a:off x="4069080" y="3328416"/>
            <a:ext cx="3108960" cy="658368"/>
          </a:xfrm>
          <a:prstGeom prst="roundRect">
            <a:avLst>
              <a:gd name="adj" fmla="val 11111"/>
            </a:avLst>
          </a:prstGeom>
          <a:solidFill>
            <a:srgbClr val="3C6E71"/>
          </a:solidFill>
          <a:ln w="12700">
            <a:solidFill>
              <a:srgbClr val="3C6E71"/>
            </a:solidFill>
            <a:prstDash val="solid"/>
          </a:ln>
        </p:spPr>
      </p:sp>
      <p:sp>
        <p:nvSpPr>
          <p:cNvPr id="20" name="Text 18"/>
          <p:cNvSpPr/>
          <p:nvPr/>
        </p:nvSpPr>
        <p:spPr>
          <a:xfrm>
            <a:off x="4251960" y="3328416"/>
            <a:ext cx="1828800" cy="658368"/>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Slate teal</a:t>
            </a:r>
            <a:endParaRPr lang="en-US" sz="1250" dirty="0"/>
          </a:p>
        </p:txBody>
      </p:sp>
      <p:sp>
        <p:nvSpPr>
          <p:cNvPr id="21" name="Text 19"/>
          <p:cNvSpPr/>
          <p:nvPr/>
        </p:nvSpPr>
        <p:spPr>
          <a:xfrm>
            <a:off x="6035040" y="3328416"/>
            <a:ext cx="1005840" cy="658368"/>
          </a:xfrm>
          <a:prstGeom prst="rect">
            <a:avLst/>
          </a:prstGeom>
          <a:noFill/>
          <a:ln/>
        </p:spPr>
        <p:txBody>
          <a:bodyPr wrap="square" rtlCol="0" anchor="ctr"/>
          <a:lstStyle/>
          <a:p>
            <a:pPr algn="r" indent="0" marL="0">
              <a:buNone/>
            </a:pPr>
            <a:r>
              <a:rPr lang="en-US" sz="1050" dirty="0">
                <a:solidFill>
                  <a:srgbClr val="FFFFFF"/>
                </a:solidFill>
                <a:latin typeface="Arial" pitchFamily="34" charset="0"/>
                <a:ea typeface="Arial" pitchFamily="34" charset="-122"/>
                <a:cs typeface="Arial" pitchFamily="34" charset="-120"/>
              </a:rPr>
              <a:t>#3C6E71</a:t>
            </a:r>
            <a:endParaRPr lang="en-US" sz="1050" dirty="0"/>
          </a:p>
        </p:txBody>
      </p:sp>
      <p:sp>
        <p:nvSpPr>
          <p:cNvPr id="22" name="Shape 20"/>
          <p:cNvSpPr/>
          <p:nvPr/>
        </p:nvSpPr>
        <p:spPr>
          <a:xfrm>
            <a:off x="4069080" y="4114800"/>
            <a:ext cx="3108960" cy="658368"/>
          </a:xfrm>
          <a:prstGeom prst="roundRect">
            <a:avLst>
              <a:gd name="adj" fmla="val 11111"/>
            </a:avLst>
          </a:prstGeom>
          <a:solidFill>
            <a:srgbClr val="C9A24B"/>
          </a:solidFill>
          <a:ln w="12700">
            <a:solidFill>
              <a:srgbClr val="C9A24B"/>
            </a:solidFill>
            <a:prstDash val="solid"/>
          </a:ln>
        </p:spPr>
      </p:sp>
      <p:sp>
        <p:nvSpPr>
          <p:cNvPr id="23" name="Text 21"/>
          <p:cNvSpPr/>
          <p:nvPr/>
        </p:nvSpPr>
        <p:spPr>
          <a:xfrm>
            <a:off x="4251960" y="4114800"/>
            <a:ext cx="1828800" cy="658368"/>
          </a:xfrm>
          <a:prstGeom prst="rect">
            <a:avLst/>
          </a:prstGeom>
          <a:noFill/>
          <a:ln/>
        </p:spPr>
        <p:txBody>
          <a:bodyPr wrap="square" rtlCol="0" anchor="ctr"/>
          <a:lstStyle/>
          <a:p>
            <a:pPr indent="0" marL="0">
              <a:buNone/>
            </a:pPr>
            <a:r>
              <a:rPr lang="en-US" sz="1250" b="1" dirty="0">
                <a:solidFill>
                  <a:srgbClr val="1B2A4A"/>
                </a:solidFill>
                <a:latin typeface="Arial" pitchFamily="34" charset="0"/>
                <a:ea typeface="Arial" pitchFamily="34" charset="-122"/>
                <a:cs typeface="Arial" pitchFamily="34" charset="-120"/>
              </a:rPr>
              <a:t>Muted gold</a:t>
            </a:r>
            <a:endParaRPr lang="en-US" sz="1250" dirty="0"/>
          </a:p>
        </p:txBody>
      </p:sp>
      <p:sp>
        <p:nvSpPr>
          <p:cNvPr id="24" name="Text 22"/>
          <p:cNvSpPr/>
          <p:nvPr/>
        </p:nvSpPr>
        <p:spPr>
          <a:xfrm>
            <a:off x="6035040" y="4114800"/>
            <a:ext cx="1005840" cy="658368"/>
          </a:xfrm>
          <a:prstGeom prst="rect">
            <a:avLst/>
          </a:prstGeom>
          <a:noFill/>
          <a:ln/>
        </p:spPr>
        <p:txBody>
          <a:bodyPr wrap="square" rtlCol="0" anchor="ctr"/>
          <a:lstStyle/>
          <a:p>
            <a:pPr algn="r" indent="0" marL="0">
              <a:buNone/>
            </a:pPr>
            <a:r>
              <a:rPr lang="en-US" sz="1050" dirty="0">
                <a:solidFill>
                  <a:srgbClr val="1B2A4A"/>
                </a:solidFill>
                <a:latin typeface="Arial" pitchFamily="34" charset="0"/>
                <a:ea typeface="Arial" pitchFamily="34" charset="-122"/>
                <a:cs typeface="Arial" pitchFamily="34" charset="-120"/>
              </a:rPr>
              <a:t>#C9A24B</a:t>
            </a:r>
            <a:endParaRPr lang="en-US" sz="1050" dirty="0"/>
          </a:p>
        </p:txBody>
      </p:sp>
      <p:sp>
        <p:nvSpPr>
          <p:cNvPr id="25" name="Shape 23"/>
          <p:cNvSpPr/>
          <p:nvPr/>
        </p:nvSpPr>
        <p:spPr>
          <a:xfrm>
            <a:off x="4069080" y="4901184"/>
            <a:ext cx="3108960" cy="658368"/>
          </a:xfrm>
          <a:prstGeom prst="roundRect">
            <a:avLst>
              <a:gd name="adj" fmla="val 11111"/>
            </a:avLst>
          </a:prstGeom>
          <a:solidFill>
            <a:srgbClr val="F5F3EE"/>
          </a:solidFill>
          <a:ln w="12700">
            <a:solidFill>
              <a:srgbClr val="F5F3EE"/>
            </a:solidFill>
            <a:prstDash val="solid"/>
          </a:ln>
        </p:spPr>
      </p:sp>
      <p:sp>
        <p:nvSpPr>
          <p:cNvPr id="26" name="Text 24"/>
          <p:cNvSpPr/>
          <p:nvPr/>
        </p:nvSpPr>
        <p:spPr>
          <a:xfrm>
            <a:off x="4251960" y="4901184"/>
            <a:ext cx="1828800" cy="658368"/>
          </a:xfrm>
          <a:prstGeom prst="rect">
            <a:avLst/>
          </a:prstGeom>
          <a:noFill/>
          <a:ln/>
        </p:spPr>
        <p:txBody>
          <a:bodyPr wrap="square" rtlCol="0" anchor="ctr"/>
          <a:lstStyle/>
          <a:p>
            <a:pPr indent="0" marL="0">
              <a:buNone/>
            </a:pPr>
            <a:r>
              <a:rPr lang="en-US" sz="1250" b="1" dirty="0">
                <a:solidFill>
                  <a:srgbClr val="1B2A4A"/>
                </a:solidFill>
                <a:latin typeface="Arial" pitchFamily="34" charset="0"/>
                <a:ea typeface="Arial" pitchFamily="34" charset="-122"/>
                <a:cs typeface="Arial" pitchFamily="34" charset="-120"/>
              </a:rPr>
              <a:t>Warm cream</a:t>
            </a:r>
            <a:endParaRPr lang="en-US" sz="1250" dirty="0"/>
          </a:p>
        </p:txBody>
      </p:sp>
      <p:sp>
        <p:nvSpPr>
          <p:cNvPr id="27" name="Text 25"/>
          <p:cNvSpPr/>
          <p:nvPr/>
        </p:nvSpPr>
        <p:spPr>
          <a:xfrm>
            <a:off x="6035040" y="4901184"/>
            <a:ext cx="1005840" cy="658368"/>
          </a:xfrm>
          <a:prstGeom prst="rect">
            <a:avLst/>
          </a:prstGeom>
          <a:noFill/>
          <a:ln/>
        </p:spPr>
        <p:txBody>
          <a:bodyPr wrap="square" rtlCol="0" anchor="ctr"/>
          <a:lstStyle/>
          <a:p>
            <a:pPr algn="r" indent="0" marL="0">
              <a:buNone/>
            </a:pPr>
            <a:r>
              <a:rPr lang="en-US" sz="1050" dirty="0">
                <a:solidFill>
                  <a:srgbClr val="1B2A4A"/>
                </a:solidFill>
                <a:latin typeface="Arial" pitchFamily="34" charset="0"/>
                <a:ea typeface="Arial" pitchFamily="34" charset="-122"/>
                <a:cs typeface="Arial" pitchFamily="34" charset="-120"/>
              </a:rPr>
              <a:t>#F5F3EE</a:t>
            </a:r>
            <a:endParaRPr lang="en-US" sz="1050" dirty="0"/>
          </a:p>
        </p:txBody>
      </p:sp>
      <p:sp>
        <p:nvSpPr>
          <p:cNvPr id="28" name="Shape 26"/>
          <p:cNvSpPr/>
          <p:nvPr/>
        </p:nvSpPr>
        <p:spPr>
          <a:xfrm>
            <a:off x="7726680" y="1965960"/>
            <a:ext cx="3794760" cy="3794760"/>
          </a:xfrm>
          <a:prstGeom prst="roundRect">
            <a:avLst>
              <a:gd name="adj" fmla="val 2892"/>
            </a:avLst>
          </a:prstGeom>
          <a:solidFill>
            <a:srgbClr val="FFFFFF"/>
          </a:solidFill>
          <a:ln w="12700">
            <a:solidFill>
              <a:srgbClr val="D8D3C6"/>
            </a:solidFill>
            <a:prstDash val="solid"/>
          </a:ln>
        </p:spPr>
      </p:sp>
      <p:sp>
        <p:nvSpPr>
          <p:cNvPr id="29" name="Text 27"/>
          <p:cNvSpPr/>
          <p:nvPr/>
        </p:nvSpPr>
        <p:spPr>
          <a:xfrm>
            <a:off x="8001000" y="2148840"/>
            <a:ext cx="3200400" cy="274320"/>
          </a:xfrm>
          <a:prstGeom prst="rect">
            <a:avLst/>
          </a:prstGeom>
          <a:noFill/>
          <a:ln/>
        </p:spPr>
        <p:txBody>
          <a:bodyPr wrap="square" rtlCol="0" anchor="ctr"/>
          <a:lstStyle/>
          <a:p>
            <a:pPr indent="0" marL="0">
              <a:buNone/>
            </a:pPr>
            <a:r>
              <a:rPr lang="en-US" sz="1100" b="1" dirty="0">
                <a:solidFill>
                  <a:srgbClr val="3C6E71"/>
                </a:solidFill>
                <a:latin typeface="Arial" pitchFamily="34" charset="0"/>
                <a:ea typeface="Arial" pitchFamily="34" charset="-122"/>
                <a:cs typeface="Arial" pitchFamily="34" charset="-120"/>
              </a:rPr>
              <a:t>TYPOGRAPHY</a:t>
            </a:r>
            <a:endParaRPr lang="en-US" sz="1100" dirty="0"/>
          </a:p>
        </p:txBody>
      </p:sp>
      <p:sp>
        <p:nvSpPr>
          <p:cNvPr id="30" name="Text 28"/>
          <p:cNvSpPr/>
          <p:nvPr/>
        </p:nvSpPr>
        <p:spPr>
          <a:xfrm>
            <a:off x="8001000" y="2468880"/>
            <a:ext cx="3200400" cy="914400"/>
          </a:xfrm>
          <a:prstGeom prst="rect">
            <a:avLst/>
          </a:prstGeom>
          <a:noFill/>
          <a:ln/>
        </p:spPr>
        <p:txBody>
          <a:bodyPr wrap="square" rtlCol="0" anchor="ctr"/>
          <a:lstStyle/>
          <a:p>
            <a:pPr indent="0" marL="0">
              <a:buNone/>
            </a:pPr>
            <a:r>
              <a:rPr lang="en-US" sz="4600" b="1" dirty="0">
                <a:solidFill>
                  <a:srgbClr val="1B2A4A"/>
                </a:solidFill>
                <a:latin typeface="Georgia" pitchFamily="34" charset="0"/>
                <a:ea typeface="Georgia" pitchFamily="34" charset="-122"/>
                <a:cs typeface="Georgia" pitchFamily="34" charset="-120"/>
              </a:rPr>
              <a:t>Aa</a:t>
            </a:r>
            <a:endParaRPr lang="en-US" sz="4600" dirty="0"/>
          </a:p>
        </p:txBody>
      </p:sp>
      <p:sp>
        <p:nvSpPr>
          <p:cNvPr id="31" name="Text 29"/>
          <p:cNvSpPr/>
          <p:nvPr/>
        </p:nvSpPr>
        <p:spPr>
          <a:xfrm>
            <a:off x="8001000" y="3337560"/>
            <a:ext cx="3200400" cy="320040"/>
          </a:xfrm>
          <a:prstGeom prst="rect">
            <a:avLst/>
          </a:prstGeom>
          <a:noFill/>
          <a:ln/>
        </p:spPr>
        <p:txBody>
          <a:bodyPr wrap="square" rtlCol="0" anchor="ctr"/>
          <a:lstStyle/>
          <a:p>
            <a:pPr indent="0" marL="0">
              <a:buNone/>
            </a:pPr>
            <a:r>
              <a:rPr lang="en-US" sz="1200" dirty="0">
                <a:solidFill>
                  <a:srgbClr val="6B7280"/>
                </a:solidFill>
                <a:latin typeface="Arial" pitchFamily="34" charset="0"/>
                <a:ea typeface="Arial" pitchFamily="34" charset="-122"/>
                <a:cs typeface="Arial" pitchFamily="34" charset="-120"/>
              </a:rPr>
              <a:t>Georgia — headings</a:t>
            </a:r>
            <a:endParaRPr lang="en-US" sz="1200" dirty="0"/>
          </a:p>
        </p:txBody>
      </p:sp>
      <p:sp>
        <p:nvSpPr>
          <p:cNvPr id="32" name="Shape 30"/>
          <p:cNvSpPr/>
          <p:nvPr/>
        </p:nvSpPr>
        <p:spPr>
          <a:xfrm>
            <a:off x="8001000" y="3749040"/>
            <a:ext cx="3200400" cy="0"/>
          </a:xfrm>
          <a:prstGeom prst="line">
            <a:avLst/>
          </a:prstGeom>
          <a:noFill/>
          <a:ln w="9525">
            <a:solidFill>
              <a:srgbClr val="D8D3C6"/>
            </a:solidFill>
            <a:prstDash val="solid"/>
          </a:ln>
        </p:spPr>
      </p:sp>
      <p:sp>
        <p:nvSpPr>
          <p:cNvPr id="33" name="Text 31"/>
          <p:cNvSpPr/>
          <p:nvPr/>
        </p:nvSpPr>
        <p:spPr>
          <a:xfrm>
            <a:off x="8001000" y="3886200"/>
            <a:ext cx="3200400" cy="822960"/>
          </a:xfrm>
          <a:prstGeom prst="rect">
            <a:avLst/>
          </a:prstGeom>
          <a:noFill/>
          <a:ln/>
        </p:spPr>
        <p:txBody>
          <a:bodyPr wrap="square" rtlCol="0" anchor="ctr"/>
          <a:lstStyle/>
          <a:p>
            <a:pPr indent="0" marL="0">
              <a:buNone/>
            </a:pPr>
            <a:r>
              <a:rPr lang="en-US" sz="4000" b="1" dirty="0">
                <a:solidFill>
                  <a:srgbClr val="1B2A4A"/>
                </a:solidFill>
                <a:latin typeface="Arial" pitchFamily="34" charset="0"/>
                <a:ea typeface="Arial" pitchFamily="34" charset="-122"/>
                <a:cs typeface="Arial" pitchFamily="34" charset="-120"/>
              </a:rPr>
              <a:t>Aa</a:t>
            </a:r>
            <a:endParaRPr lang="en-US" sz="4000" dirty="0"/>
          </a:p>
        </p:txBody>
      </p:sp>
      <p:sp>
        <p:nvSpPr>
          <p:cNvPr id="34" name="Text 32"/>
          <p:cNvSpPr/>
          <p:nvPr/>
        </p:nvSpPr>
        <p:spPr>
          <a:xfrm>
            <a:off x="8001000" y="4709160"/>
            <a:ext cx="3200400" cy="320040"/>
          </a:xfrm>
          <a:prstGeom prst="rect">
            <a:avLst/>
          </a:prstGeom>
          <a:noFill/>
          <a:ln/>
        </p:spPr>
        <p:txBody>
          <a:bodyPr wrap="square" rtlCol="0" anchor="ctr"/>
          <a:lstStyle/>
          <a:p>
            <a:pPr indent="0" marL="0">
              <a:buNone/>
            </a:pPr>
            <a:r>
              <a:rPr lang="en-US" sz="1200" dirty="0">
                <a:solidFill>
                  <a:srgbClr val="6B7280"/>
                </a:solidFill>
                <a:latin typeface="Arial" pitchFamily="34" charset="0"/>
                <a:ea typeface="Arial" pitchFamily="34" charset="-122"/>
                <a:cs typeface="Arial" pitchFamily="34" charset="-120"/>
              </a:rPr>
              <a:t>Arial — body copy</a:t>
            </a:r>
            <a:endParaRPr lang="en-US" sz="1200" dirty="0"/>
          </a:p>
        </p:txBody>
      </p:sp>
      <p:sp>
        <p:nvSpPr>
          <p:cNvPr id="35" name="Text 33"/>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9AA0A0"/>
                </a:solidFill>
                <a:latin typeface="Arial" pitchFamily="34" charset="0"/>
                <a:ea typeface="Arial" pitchFamily="34" charset="-122"/>
                <a:cs typeface="Arial" pitchFamily="34" charset="-120"/>
              </a:rPr>
              <a:t>Hammad Rana</a:t>
            </a:r>
            <a:endParaRPr lang="en-US" sz="900" dirty="0"/>
          </a:p>
        </p:txBody>
      </p:sp>
      <p:sp>
        <p:nvSpPr>
          <p:cNvPr id="36" name="Text 34"/>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9AA0A0"/>
                </a:solidFill>
                <a:latin typeface="Arial" pitchFamily="34" charset="0"/>
                <a:ea typeface="Arial" pitchFamily="34" charset="-122"/>
                <a:cs typeface="Arial"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1B2A4A"/>
          </a:solidFill>
          <a:ln w="12700">
            <a:solidFill>
              <a:srgbClr val="1B2A4A"/>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1B2A4A"/>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3C6E71"/>
                </a:solidFill>
                <a:latin typeface="Arial" pitchFamily="34" charset="0"/>
                <a:ea typeface="Arial" pitchFamily="34" charset="-122"/>
                <a:cs typeface="Arial" pitchFamily="34" charset="-120"/>
              </a:rPr>
              <a:t>VISUAL IDENTITY</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1B2A4A"/>
                </a:solidFill>
                <a:latin typeface="Georgia" pitchFamily="34" charset="0"/>
                <a:ea typeface="Georgia" pitchFamily="34" charset="-122"/>
                <a:cs typeface="Georgia" pitchFamily="34" charset="-120"/>
              </a:rPr>
              <a:t>The brand website — live</a:t>
            </a:r>
            <a:endParaRPr lang="en-US" sz="2900" dirty="0"/>
          </a:p>
        </p:txBody>
      </p:sp>
      <p:sp>
        <p:nvSpPr>
          <p:cNvPr id="7" name="Text 5"/>
          <p:cNvSpPr/>
          <p:nvPr/>
        </p:nvSpPr>
        <p:spPr>
          <a:xfrm>
            <a:off x="8412480" y="777240"/>
            <a:ext cx="3108960" cy="320040"/>
          </a:xfrm>
          <a:prstGeom prst="rect">
            <a:avLst/>
          </a:prstGeom>
          <a:noFill/>
          <a:ln/>
        </p:spPr>
        <p:txBody>
          <a:bodyPr wrap="square" rtlCol="0" anchor="ctr"/>
          <a:lstStyle/>
          <a:p>
            <a:pPr algn="r" indent="0" marL="0">
              <a:buNone/>
            </a:pPr>
            <a:r>
              <a:rPr lang="en-US" sz="1250" dirty="0">
                <a:solidFill>
                  <a:srgbClr val="3C6E71"/>
                </a:solidFill>
                <a:latin typeface="Arial" pitchFamily="34" charset="0"/>
                <a:ea typeface="Arial" pitchFamily="34" charset="-122"/>
                <a:cs typeface="Arial" pitchFamily="34" charset="-120"/>
              </a:rPr>
              <a:t>hammad-rana.vercel.app</a:t>
            </a:r>
            <a:endParaRPr lang="en-US" sz="1250" dirty="0"/>
          </a:p>
        </p:txBody>
      </p:sp>
      <p:sp>
        <p:nvSpPr>
          <p:cNvPr id="8" name="Shape 6"/>
          <p:cNvSpPr/>
          <p:nvPr/>
        </p:nvSpPr>
        <p:spPr>
          <a:xfrm>
            <a:off x="640080" y="1783080"/>
            <a:ext cx="10881360" cy="4114800"/>
          </a:xfrm>
          <a:prstGeom prst="roundRect">
            <a:avLst>
              <a:gd name="adj" fmla="val 2222"/>
            </a:avLst>
          </a:prstGeom>
          <a:solidFill>
            <a:srgbClr val="FFFFFF"/>
          </a:solidFill>
          <a:ln w="12700">
            <a:solidFill>
              <a:srgbClr val="D8D3C6"/>
            </a:solidFill>
            <a:prstDash val="solid"/>
          </a:ln>
        </p:spPr>
      </p:sp>
      <p:sp>
        <p:nvSpPr>
          <p:cNvPr id="9" name="Shape 7"/>
          <p:cNvSpPr/>
          <p:nvPr/>
        </p:nvSpPr>
        <p:spPr>
          <a:xfrm>
            <a:off x="640080" y="1783080"/>
            <a:ext cx="10881360" cy="365760"/>
          </a:xfrm>
          <a:prstGeom prst="rect">
            <a:avLst/>
          </a:prstGeom>
          <a:solidFill>
            <a:srgbClr val="EFEBE0"/>
          </a:solidFill>
          <a:ln w="12700">
            <a:solidFill>
              <a:srgbClr val="EFEBE0"/>
            </a:solidFill>
            <a:prstDash val="solid"/>
          </a:ln>
        </p:spPr>
      </p:sp>
      <p:sp>
        <p:nvSpPr>
          <p:cNvPr id="10" name="Shape 8"/>
          <p:cNvSpPr/>
          <p:nvPr/>
        </p:nvSpPr>
        <p:spPr>
          <a:xfrm>
            <a:off x="822960" y="1920240"/>
            <a:ext cx="91440" cy="91440"/>
          </a:xfrm>
          <a:prstGeom prst="ellipse">
            <a:avLst/>
          </a:prstGeom>
          <a:solidFill>
            <a:srgbClr val="C7C1B2"/>
          </a:solidFill>
          <a:ln w="12700">
            <a:solidFill>
              <a:srgbClr val="C7C1B2"/>
            </a:solidFill>
            <a:prstDash val="solid"/>
          </a:ln>
        </p:spPr>
      </p:sp>
      <p:sp>
        <p:nvSpPr>
          <p:cNvPr id="11" name="Shape 9"/>
          <p:cNvSpPr/>
          <p:nvPr/>
        </p:nvSpPr>
        <p:spPr>
          <a:xfrm>
            <a:off x="1078992" y="1920240"/>
            <a:ext cx="91440" cy="91440"/>
          </a:xfrm>
          <a:prstGeom prst="ellipse">
            <a:avLst/>
          </a:prstGeom>
          <a:solidFill>
            <a:srgbClr val="C7C1B2"/>
          </a:solidFill>
          <a:ln w="12700">
            <a:solidFill>
              <a:srgbClr val="C7C1B2"/>
            </a:solidFill>
            <a:prstDash val="solid"/>
          </a:ln>
        </p:spPr>
      </p:sp>
      <p:sp>
        <p:nvSpPr>
          <p:cNvPr id="12" name="Shape 10"/>
          <p:cNvSpPr/>
          <p:nvPr/>
        </p:nvSpPr>
        <p:spPr>
          <a:xfrm>
            <a:off x="1335024" y="1920240"/>
            <a:ext cx="91440" cy="91440"/>
          </a:xfrm>
          <a:prstGeom prst="ellipse">
            <a:avLst/>
          </a:prstGeom>
          <a:solidFill>
            <a:srgbClr val="C7C1B2"/>
          </a:solidFill>
          <a:ln w="12700">
            <a:solidFill>
              <a:srgbClr val="C7C1B2"/>
            </a:solidFill>
            <a:prstDash val="solid"/>
          </a:ln>
        </p:spPr>
      </p:sp>
      <p:sp>
        <p:nvSpPr>
          <p:cNvPr id="13" name="Text 11"/>
          <p:cNvSpPr/>
          <p:nvPr/>
        </p:nvSpPr>
        <p:spPr>
          <a:xfrm>
            <a:off x="1005840" y="2331720"/>
            <a:ext cx="7772400" cy="59436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Hammad Rana</a:t>
            </a:r>
            <a:endParaRPr lang="en-US" sz="2800" dirty="0"/>
          </a:p>
        </p:txBody>
      </p:sp>
      <p:sp>
        <p:nvSpPr>
          <p:cNvPr id="14" name="Text 12"/>
          <p:cNvSpPr/>
          <p:nvPr/>
        </p:nvSpPr>
        <p:spPr>
          <a:xfrm>
            <a:off x="1005840" y="2834640"/>
            <a:ext cx="7772400" cy="365760"/>
          </a:xfrm>
          <a:prstGeom prst="rect">
            <a:avLst/>
          </a:prstGeom>
          <a:noFill/>
          <a:ln/>
        </p:spPr>
        <p:txBody>
          <a:bodyPr wrap="square" rtlCol="0" anchor="ctr"/>
          <a:lstStyle/>
          <a:p>
            <a:pPr indent="0" marL="0">
              <a:buNone/>
            </a:pPr>
            <a:r>
              <a:rPr lang="en-US" sz="1250" dirty="0">
                <a:solidFill>
                  <a:srgbClr val="3C6E71"/>
                </a:solidFill>
                <a:latin typeface="Arial" pitchFamily="34" charset="0"/>
                <a:ea typeface="Arial" pitchFamily="34" charset="-122"/>
                <a:cs typeface="Arial" pitchFamily="34" charset="-120"/>
              </a:rPr>
              <a:t>Governance, Risk &amp; Compliance  |  Cybersecurity</a:t>
            </a:r>
            <a:endParaRPr lang="en-US" sz="1250" dirty="0"/>
          </a:p>
        </p:txBody>
      </p:sp>
      <p:sp>
        <p:nvSpPr>
          <p:cNvPr id="15" name="Text 13"/>
          <p:cNvSpPr/>
          <p:nvPr/>
        </p:nvSpPr>
        <p:spPr>
          <a:xfrm>
            <a:off x="1005840" y="3246120"/>
            <a:ext cx="7589520" cy="777240"/>
          </a:xfrm>
          <a:prstGeom prst="rect">
            <a:avLst/>
          </a:prstGeom>
          <a:noFill/>
          <a:ln/>
        </p:spPr>
        <p:txBody>
          <a:bodyPr wrap="square" rtlCol="0" anchor="ctr"/>
          <a:lstStyle/>
          <a:p>
            <a:pPr indent="0" marL="0">
              <a:lnSpc>
                <a:spcPct val="120000"/>
              </a:lnSpc>
              <a:buNone/>
            </a:pPr>
            <a:r>
              <a:rPr lang="en-US" sz="1300" i="1" dirty="0">
                <a:solidFill>
                  <a:srgbClr val="3D4657"/>
                </a:solidFill>
                <a:latin typeface="Georgia" pitchFamily="34" charset="0"/>
                <a:ea typeface="Georgia" pitchFamily="34" charset="-122"/>
                <a:cs typeface="Georgia" pitchFamily="34" charset="-120"/>
              </a:rPr>
              <a:t>I help security-conscious organizations bridge the gap between IT operations and GRC — building compliance programs that hold up beyond the audit.</a:t>
            </a:r>
            <a:endParaRPr lang="en-US" sz="1300" dirty="0"/>
          </a:p>
        </p:txBody>
      </p:sp>
      <p:sp>
        <p:nvSpPr>
          <p:cNvPr id="16" name="Shape 14"/>
          <p:cNvSpPr/>
          <p:nvPr/>
        </p:nvSpPr>
        <p:spPr>
          <a:xfrm>
            <a:off x="1005840" y="4069080"/>
            <a:ext cx="1554480" cy="411480"/>
          </a:xfrm>
          <a:prstGeom prst="roundRect">
            <a:avLst>
              <a:gd name="adj" fmla="val 13333"/>
            </a:avLst>
          </a:prstGeom>
          <a:solidFill>
            <a:srgbClr val="1B2A4A"/>
          </a:solidFill>
          <a:ln w="12700">
            <a:solidFill>
              <a:srgbClr val="1B2A4A"/>
            </a:solidFill>
            <a:prstDash val="solid"/>
          </a:ln>
        </p:spPr>
      </p:sp>
      <p:sp>
        <p:nvSpPr>
          <p:cNvPr id="17" name="Text 15"/>
          <p:cNvSpPr/>
          <p:nvPr/>
        </p:nvSpPr>
        <p:spPr>
          <a:xfrm>
            <a:off x="1005840" y="4069080"/>
            <a:ext cx="155448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View my work</a:t>
            </a:r>
            <a:endParaRPr lang="en-US" sz="1100" dirty="0"/>
          </a:p>
        </p:txBody>
      </p:sp>
      <p:sp>
        <p:nvSpPr>
          <p:cNvPr id="18" name="Shape 16"/>
          <p:cNvSpPr/>
          <p:nvPr/>
        </p:nvSpPr>
        <p:spPr>
          <a:xfrm>
            <a:off x="2697480" y="4069080"/>
            <a:ext cx="1463040" cy="411480"/>
          </a:xfrm>
          <a:prstGeom prst="roundRect">
            <a:avLst>
              <a:gd name="adj" fmla="val 13333"/>
            </a:avLst>
          </a:prstGeom>
          <a:solidFill>
            <a:srgbClr val="FFFFFF"/>
          </a:solidFill>
          <a:ln w="15875">
            <a:solidFill>
              <a:srgbClr val="3C6E71"/>
            </a:solidFill>
            <a:prstDash val="solid"/>
          </a:ln>
        </p:spPr>
      </p:sp>
      <p:sp>
        <p:nvSpPr>
          <p:cNvPr id="19" name="Text 17"/>
          <p:cNvSpPr/>
          <p:nvPr/>
        </p:nvSpPr>
        <p:spPr>
          <a:xfrm>
            <a:off x="2697480" y="4069080"/>
            <a:ext cx="1463040" cy="411480"/>
          </a:xfrm>
          <a:prstGeom prst="rect">
            <a:avLst/>
          </a:prstGeom>
          <a:noFill/>
          <a:ln/>
        </p:spPr>
        <p:txBody>
          <a:bodyPr wrap="square" rtlCol="0" anchor="ctr"/>
          <a:lstStyle/>
          <a:p>
            <a:pPr algn="ctr" indent="0" marL="0">
              <a:buNone/>
            </a:pPr>
            <a:r>
              <a:rPr lang="en-US" sz="1100" b="1" dirty="0">
                <a:solidFill>
                  <a:srgbClr val="3C6E71"/>
                </a:solidFill>
                <a:latin typeface="Arial" pitchFamily="34" charset="0"/>
                <a:ea typeface="Arial" pitchFamily="34" charset="-122"/>
                <a:cs typeface="Arial" pitchFamily="34" charset="-120"/>
              </a:rPr>
              <a:t>Get in touch</a:t>
            </a:r>
            <a:endParaRPr lang="en-US" sz="1100" dirty="0"/>
          </a:p>
        </p:txBody>
      </p:sp>
      <p:sp>
        <p:nvSpPr>
          <p:cNvPr id="20" name="Shape 18"/>
          <p:cNvSpPr/>
          <p:nvPr/>
        </p:nvSpPr>
        <p:spPr>
          <a:xfrm>
            <a:off x="1005840" y="4892040"/>
            <a:ext cx="1485900" cy="411480"/>
          </a:xfrm>
          <a:prstGeom prst="roundRect">
            <a:avLst>
              <a:gd name="adj" fmla="val 44444"/>
            </a:avLst>
          </a:prstGeom>
          <a:solidFill>
            <a:srgbClr val="E3EEEE"/>
          </a:solidFill>
          <a:ln w="12700">
            <a:solidFill>
              <a:srgbClr val="E3EEEE"/>
            </a:solidFill>
            <a:prstDash val="solid"/>
          </a:ln>
        </p:spPr>
      </p:sp>
      <p:sp>
        <p:nvSpPr>
          <p:cNvPr id="21" name="Text 19"/>
          <p:cNvSpPr/>
          <p:nvPr/>
        </p:nvSpPr>
        <p:spPr>
          <a:xfrm>
            <a:off x="1005840" y="4892040"/>
            <a:ext cx="1485900" cy="411480"/>
          </a:xfrm>
          <a:prstGeom prst="rect">
            <a:avLst/>
          </a:prstGeom>
          <a:noFill/>
          <a:ln/>
        </p:spPr>
        <p:txBody>
          <a:bodyPr wrap="square" rtlCol="0" anchor="ctr"/>
          <a:lstStyle/>
          <a:p>
            <a:pPr algn="ctr" indent="0" marL="0">
              <a:buNone/>
            </a:pPr>
            <a:r>
              <a:rPr lang="en-US" sz="1050" dirty="0">
                <a:solidFill>
                  <a:srgbClr val="3C6E71"/>
                </a:solidFill>
                <a:latin typeface="Arial" pitchFamily="34" charset="0"/>
                <a:ea typeface="Arial" pitchFamily="34" charset="-122"/>
                <a:cs typeface="Arial" pitchFamily="34" charset="-120"/>
              </a:rPr>
              <a:t>SentinelGRC Ops</a:t>
            </a:r>
            <a:endParaRPr lang="en-US" sz="1050" dirty="0"/>
          </a:p>
        </p:txBody>
      </p:sp>
      <p:sp>
        <p:nvSpPr>
          <p:cNvPr id="22" name="Shape 20"/>
          <p:cNvSpPr/>
          <p:nvPr/>
        </p:nvSpPr>
        <p:spPr>
          <a:xfrm>
            <a:off x="2674620" y="4892040"/>
            <a:ext cx="2729484" cy="411480"/>
          </a:xfrm>
          <a:prstGeom prst="roundRect">
            <a:avLst>
              <a:gd name="adj" fmla="val 44444"/>
            </a:avLst>
          </a:prstGeom>
          <a:solidFill>
            <a:srgbClr val="E3EEEE"/>
          </a:solidFill>
          <a:ln w="12700">
            <a:solidFill>
              <a:srgbClr val="E3EEEE"/>
            </a:solidFill>
            <a:prstDash val="solid"/>
          </a:ln>
        </p:spPr>
      </p:sp>
      <p:sp>
        <p:nvSpPr>
          <p:cNvPr id="23" name="Text 21"/>
          <p:cNvSpPr/>
          <p:nvPr/>
        </p:nvSpPr>
        <p:spPr>
          <a:xfrm>
            <a:off x="2674620" y="4892040"/>
            <a:ext cx="2729484" cy="411480"/>
          </a:xfrm>
          <a:prstGeom prst="rect">
            <a:avLst/>
          </a:prstGeom>
          <a:noFill/>
          <a:ln/>
        </p:spPr>
        <p:txBody>
          <a:bodyPr wrap="square" rtlCol="0" anchor="ctr"/>
          <a:lstStyle/>
          <a:p>
            <a:pPr algn="ctr" indent="0" marL="0">
              <a:buNone/>
            </a:pPr>
            <a:r>
              <a:rPr lang="en-US" sz="1050" dirty="0">
                <a:solidFill>
                  <a:srgbClr val="3C6E71"/>
                </a:solidFill>
                <a:latin typeface="Arial" pitchFamily="34" charset="0"/>
                <a:ea typeface="Arial" pitchFamily="34" charset="-122"/>
                <a:cs typeface="Arial" pitchFamily="34" charset="-120"/>
              </a:rPr>
              <a:t>Cloud Migration Risk Assessment</a:t>
            </a:r>
            <a:endParaRPr lang="en-US" sz="1050" dirty="0"/>
          </a:p>
        </p:txBody>
      </p:sp>
      <p:sp>
        <p:nvSpPr>
          <p:cNvPr id="24" name="Shape 22"/>
          <p:cNvSpPr/>
          <p:nvPr/>
        </p:nvSpPr>
        <p:spPr>
          <a:xfrm>
            <a:off x="5586984" y="4892040"/>
            <a:ext cx="1252728" cy="411480"/>
          </a:xfrm>
          <a:prstGeom prst="roundRect">
            <a:avLst>
              <a:gd name="adj" fmla="val 44444"/>
            </a:avLst>
          </a:prstGeom>
          <a:solidFill>
            <a:srgbClr val="E3EEEE"/>
          </a:solidFill>
          <a:ln w="12700">
            <a:solidFill>
              <a:srgbClr val="E3EEEE"/>
            </a:solidFill>
            <a:prstDash val="solid"/>
          </a:ln>
        </p:spPr>
      </p:sp>
      <p:sp>
        <p:nvSpPr>
          <p:cNvPr id="25" name="Text 23"/>
          <p:cNvSpPr/>
          <p:nvPr/>
        </p:nvSpPr>
        <p:spPr>
          <a:xfrm>
            <a:off x="5586984" y="4892040"/>
            <a:ext cx="1252728" cy="411480"/>
          </a:xfrm>
          <a:prstGeom prst="rect">
            <a:avLst/>
          </a:prstGeom>
          <a:noFill/>
          <a:ln/>
        </p:spPr>
        <p:txBody>
          <a:bodyPr wrap="square" rtlCol="0" anchor="ctr"/>
          <a:lstStyle/>
          <a:p>
            <a:pPr algn="ctr" indent="0" marL="0">
              <a:buNone/>
            </a:pPr>
            <a:r>
              <a:rPr lang="en-US" sz="1050" dirty="0">
                <a:solidFill>
                  <a:srgbClr val="3C6E71"/>
                </a:solidFill>
                <a:latin typeface="Arial" pitchFamily="34" charset="0"/>
                <a:ea typeface="Arial" pitchFamily="34" charset="-122"/>
                <a:cs typeface="Arial" pitchFamily="34" charset="-120"/>
              </a:rPr>
              <a:t>HISN Digital</a:t>
            </a:r>
            <a:endParaRPr lang="en-US" sz="1050" dirty="0"/>
          </a:p>
        </p:txBody>
      </p:sp>
      <p:sp>
        <p:nvSpPr>
          <p:cNvPr id="26" name="Text 24"/>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9AA0A0"/>
                </a:solidFill>
                <a:latin typeface="Arial" pitchFamily="34" charset="0"/>
                <a:ea typeface="Arial" pitchFamily="34" charset="-122"/>
                <a:cs typeface="Arial" pitchFamily="34" charset="-120"/>
              </a:rPr>
              <a:t>Hammad Rana</a:t>
            </a:r>
            <a:endParaRPr lang="en-US" sz="900" dirty="0"/>
          </a:p>
        </p:txBody>
      </p:sp>
      <p:sp>
        <p:nvSpPr>
          <p:cNvPr id="27" name="Text 2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9AA0A0"/>
                </a:solidFill>
                <a:latin typeface="Arial" pitchFamily="34" charset="0"/>
                <a:ea typeface="Arial" pitchFamily="34" charset="-122"/>
                <a:cs typeface="Arial"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24365C"/>
          </a:solidFill>
          <a:ln w="12700">
            <a:solidFill>
              <a:srgbClr val="24365C"/>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F5F3EE"/>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C9A24B"/>
                </a:solidFill>
                <a:latin typeface="Arial" pitchFamily="34" charset="0"/>
                <a:ea typeface="Arial" pitchFamily="34" charset="-122"/>
                <a:cs typeface="Arial" pitchFamily="34" charset="-120"/>
              </a:rPr>
              <a:t>VISUAL IDENTITY</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F5F3EE"/>
                </a:solidFill>
                <a:latin typeface="Georgia" pitchFamily="34" charset="0"/>
                <a:ea typeface="Georgia" pitchFamily="34" charset="-122"/>
                <a:cs typeface="Georgia" pitchFamily="34" charset="-120"/>
              </a:rPr>
              <a:t>Brand voice in the wild</a:t>
            </a:r>
            <a:endParaRPr lang="en-US" sz="2900" dirty="0"/>
          </a:p>
        </p:txBody>
      </p:sp>
      <p:sp>
        <p:nvSpPr>
          <p:cNvPr id="7" name="Text 5"/>
          <p:cNvSpPr/>
          <p:nvPr/>
        </p:nvSpPr>
        <p:spPr>
          <a:xfrm>
            <a:off x="640080" y="1600200"/>
            <a:ext cx="3456432" cy="274320"/>
          </a:xfrm>
          <a:prstGeom prst="rect">
            <a:avLst/>
          </a:prstGeom>
          <a:noFill/>
          <a:ln/>
        </p:spPr>
        <p:txBody>
          <a:bodyPr wrap="square" rtlCol="0" anchor="ctr"/>
          <a:lstStyle/>
          <a:p>
            <a:pPr indent="0" marL="0">
              <a:buNone/>
            </a:pPr>
            <a:r>
              <a:rPr lang="en-US" sz="1050" b="1" dirty="0">
                <a:solidFill>
                  <a:srgbClr val="C9A24B"/>
                </a:solidFill>
                <a:latin typeface="Arial" pitchFamily="34" charset="0"/>
                <a:ea typeface="Arial" pitchFamily="34" charset="-122"/>
                <a:cs typeface="Arial" pitchFamily="34" charset="-120"/>
              </a:rPr>
              <a:t>LINKEDIN — POST 1</a:t>
            </a:r>
            <a:endParaRPr lang="en-US" sz="1050" dirty="0"/>
          </a:p>
        </p:txBody>
      </p:sp>
      <p:sp>
        <p:nvSpPr>
          <p:cNvPr id="8" name="Shape 6"/>
          <p:cNvSpPr/>
          <p:nvPr/>
        </p:nvSpPr>
        <p:spPr>
          <a:xfrm>
            <a:off x="640080" y="1920240"/>
            <a:ext cx="3456432" cy="4160520"/>
          </a:xfrm>
          <a:prstGeom prst="roundRect">
            <a:avLst>
              <a:gd name="adj" fmla="val 2646"/>
            </a:avLst>
          </a:prstGeom>
          <a:solidFill>
            <a:srgbClr val="FFFFFF"/>
          </a:solidFill>
          <a:ln w="12700">
            <a:solidFill>
              <a:srgbClr val="FFFFFF"/>
            </a:solidFill>
            <a:prstDash val="solid"/>
          </a:ln>
        </p:spPr>
      </p:sp>
      <p:sp>
        <p:nvSpPr>
          <p:cNvPr id="9" name="Shape 7"/>
          <p:cNvSpPr/>
          <p:nvPr/>
        </p:nvSpPr>
        <p:spPr>
          <a:xfrm>
            <a:off x="868680" y="2121408"/>
            <a:ext cx="411480" cy="411480"/>
          </a:xfrm>
          <a:prstGeom prst="ellipse">
            <a:avLst/>
          </a:prstGeom>
          <a:solidFill>
            <a:srgbClr val="1B2A4A"/>
          </a:solidFill>
          <a:ln w="12700">
            <a:solidFill>
              <a:srgbClr val="1B2A4A"/>
            </a:solidFill>
            <a:prstDash val="solid"/>
          </a:ln>
        </p:spPr>
      </p:sp>
      <p:sp>
        <p:nvSpPr>
          <p:cNvPr id="10" name="Text 8"/>
          <p:cNvSpPr/>
          <p:nvPr/>
        </p:nvSpPr>
        <p:spPr>
          <a:xfrm>
            <a:off x="868680" y="2121408"/>
            <a:ext cx="411480" cy="411480"/>
          </a:xfrm>
          <a:prstGeom prst="rect">
            <a:avLst/>
          </a:prstGeom>
          <a:noFill/>
          <a:ln/>
        </p:spPr>
        <p:txBody>
          <a:bodyPr wrap="square" lIns="0" tIns="0" rIns="0" bIns="0" rtlCol="0" anchor="ctr"/>
          <a:lstStyle/>
          <a:p>
            <a:pPr algn="ctr" indent="0" marL="0">
              <a:buNone/>
            </a:pPr>
            <a:r>
              <a:rPr lang="en-US" sz="1050" b="1" dirty="0">
                <a:solidFill>
                  <a:srgbClr val="C9A24B"/>
                </a:solidFill>
                <a:latin typeface="Arial" pitchFamily="34" charset="0"/>
                <a:ea typeface="Arial" pitchFamily="34" charset="-122"/>
                <a:cs typeface="Arial" pitchFamily="34" charset="-120"/>
              </a:rPr>
              <a:t>HR</a:t>
            </a:r>
            <a:endParaRPr lang="en-US" sz="1050" dirty="0"/>
          </a:p>
        </p:txBody>
      </p:sp>
      <p:sp>
        <p:nvSpPr>
          <p:cNvPr id="11" name="Text 9"/>
          <p:cNvSpPr/>
          <p:nvPr/>
        </p:nvSpPr>
        <p:spPr>
          <a:xfrm>
            <a:off x="1371600" y="2103120"/>
            <a:ext cx="2468880" cy="256032"/>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Hammad Rana</a:t>
            </a:r>
            <a:endParaRPr lang="en-US" sz="1100" dirty="0"/>
          </a:p>
        </p:txBody>
      </p:sp>
      <p:sp>
        <p:nvSpPr>
          <p:cNvPr id="12" name="Text 10"/>
          <p:cNvSpPr/>
          <p:nvPr/>
        </p:nvSpPr>
        <p:spPr>
          <a:xfrm>
            <a:off x="1371600" y="2340864"/>
            <a:ext cx="2468880" cy="201168"/>
          </a:xfrm>
          <a:prstGeom prst="rect">
            <a:avLst/>
          </a:prstGeom>
          <a:noFill/>
          <a:ln/>
        </p:spPr>
        <p:txBody>
          <a:bodyPr wrap="square" rtlCol="0" anchor="ctr"/>
          <a:lstStyle/>
          <a:p>
            <a:pPr indent="0" marL="0">
              <a:buNone/>
            </a:pPr>
            <a:r>
              <a:rPr lang="en-US" sz="850" dirty="0">
                <a:solidFill>
                  <a:srgbClr val="6B7280"/>
                </a:solidFill>
                <a:latin typeface="Arial" pitchFamily="34" charset="0"/>
                <a:ea typeface="Arial" pitchFamily="34" charset="-122"/>
                <a:cs typeface="Arial" pitchFamily="34" charset="-120"/>
              </a:rPr>
              <a:t>GRC | MSIS</a:t>
            </a:r>
            <a:endParaRPr lang="en-US" sz="850" dirty="0"/>
          </a:p>
        </p:txBody>
      </p:sp>
      <p:sp>
        <p:nvSpPr>
          <p:cNvPr id="13" name="Text 11"/>
          <p:cNvSpPr/>
          <p:nvPr/>
        </p:nvSpPr>
        <p:spPr>
          <a:xfrm>
            <a:off x="868680" y="2697480"/>
            <a:ext cx="2999232" cy="2880360"/>
          </a:xfrm>
          <a:prstGeom prst="rect">
            <a:avLst/>
          </a:prstGeom>
          <a:noFill/>
          <a:ln/>
        </p:spPr>
        <p:txBody>
          <a:bodyPr wrap="square" rtlCol="0" anchor="ctr"/>
          <a:lstStyle/>
          <a:p>
            <a:pPr indent="0" marL="0">
              <a:lnSpc>
                <a:spcPct val="120000"/>
              </a:lnSpc>
              <a:buNone/>
            </a:pPr>
            <a:r>
              <a:rPr lang="en-US" sz="1000" dirty="0">
                <a:solidFill>
                  <a:srgbClr val="3D4657"/>
                </a:solidFill>
                <a:latin typeface="Arial" pitchFamily="34" charset="0"/>
                <a:ea typeface="Arial" pitchFamily="34" charset="-122"/>
                <a:cs typeface="Arial" pitchFamily="34" charset="-120"/>
              </a:rPr>
              <a:t>New on The GRC Signal 📝</a:t>
            </a:r>
            <a:endParaRPr lang="en-US" sz="1000" dirty="0"/>
          </a:p>
          <a:p>
            <a:pPr indent="0" marL="0">
              <a:lnSpc>
                <a:spcPct val="120000"/>
              </a:lnSpc>
              <a:buNone/>
            </a:pPr>
            <a:endParaRPr lang="en-US" sz="1000" dirty="0"/>
          </a:p>
          <a:p>
            <a:pPr indent="0" marL="0">
              <a:lnSpc>
                <a:spcPct val="120000"/>
              </a:lnSpc>
              <a:buNone/>
            </a:pPr>
            <a:r>
              <a:rPr lang="en-US" sz="1000" dirty="0">
                <a:solidFill>
                  <a:srgbClr val="3D4657"/>
                </a:solidFill>
                <a:latin typeface="Arial" pitchFamily="34" charset="0"/>
                <a:ea typeface="Arial" pitchFamily="34" charset="-122"/>
                <a:cs typeface="Arial" pitchFamily="34" charset="-120"/>
              </a:rPr>
              <a:t>For 11 years I was the person called when something broke. Invisible work, by design.</a:t>
            </a:r>
            <a:endParaRPr lang="en-US" sz="1000" dirty="0"/>
          </a:p>
          <a:p>
            <a:pPr indent="0" marL="0">
              <a:lnSpc>
                <a:spcPct val="120000"/>
              </a:lnSpc>
              <a:buNone/>
            </a:pPr>
            <a:endParaRPr lang="en-US" sz="1000" dirty="0"/>
          </a:p>
          <a:p>
            <a:pPr indent="0" marL="0">
              <a:lnSpc>
                <a:spcPct val="120000"/>
              </a:lnSpc>
              <a:buNone/>
            </a:pPr>
            <a:r>
              <a:rPr lang="en-US" sz="1000" dirty="0">
                <a:solidFill>
                  <a:srgbClr val="3D4657"/>
                </a:solidFill>
                <a:latin typeface="Arial" pitchFamily="34" charset="0"/>
                <a:ea typeface="Arial" pitchFamily="34" charset="-122"/>
                <a:cs typeface="Arial" pitchFamily="34" charset="-120"/>
              </a:rPr>
              <a:t>Then I hit a ceiling — and realized the fix wasn't a new job title. It was going deeper into the same infrastructure, at a different layer: governance, risk, and compliance.</a:t>
            </a:r>
            <a:endParaRPr lang="en-US" sz="1000" dirty="0"/>
          </a:p>
          <a:p>
            <a:pPr indent="0" marL="0">
              <a:lnSpc>
                <a:spcPct val="120000"/>
              </a:lnSpc>
              <a:buNone/>
            </a:pPr>
            <a:endParaRPr lang="en-US" sz="1000" dirty="0"/>
          </a:p>
          <a:p>
            <a:pPr indent="0" marL="0">
              <a:lnSpc>
                <a:spcPct val="120000"/>
              </a:lnSpc>
              <a:buNone/>
            </a:pPr>
            <a:r>
              <a:rPr lang="en-US" sz="1000" dirty="0">
                <a:solidFill>
                  <a:srgbClr val="3D4657"/>
                </a:solidFill>
                <a:latin typeface="Arial" pitchFamily="34" charset="0"/>
                <a:ea typeface="Arial" pitchFamily="34" charset="-122"/>
                <a:cs typeface="Arial" pitchFamily="34" charset="-120"/>
              </a:rPr>
              <a:t>Full story — link in bio.</a:t>
            </a:r>
            <a:endParaRPr lang="en-US" sz="1000" dirty="0"/>
          </a:p>
        </p:txBody>
      </p:sp>
      <p:sp>
        <p:nvSpPr>
          <p:cNvPr id="14" name="Text 12"/>
          <p:cNvSpPr/>
          <p:nvPr/>
        </p:nvSpPr>
        <p:spPr>
          <a:xfrm>
            <a:off x="868680" y="5696712"/>
            <a:ext cx="2999232" cy="274320"/>
          </a:xfrm>
          <a:prstGeom prst="rect">
            <a:avLst/>
          </a:prstGeom>
          <a:noFill/>
          <a:ln/>
        </p:spPr>
        <p:txBody>
          <a:bodyPr wrap="square" rtlCol="0" anchor="ctr"/>
          <a:lstStyle/>
          <a:p>
            <a:pPr indent="0" marL="0">
              <a:buNone/>
            </a:pPr>
            <a:r>
              <a:rPr lang="en-US" sz="850" dirty="0">
                <a:solidFill>
                  <a:srgbClr val="3C6E71"/>
                </a:solidFill>
                <a:latin typeface="Arial" pitchFamily="34" charset="0"/>
                <a:ea typeface="Arial" pitchFamily="34" charset="-122"/>
                <a:cs typeface="Arial" pitchFamily="34" charset="-120"/>
              </a:rPr>
              <a:t>#GRC #MSIS #CareerPivot</a:t>
            </a:r>
            <a:endParaRPr lang="en-US" sz="850" dirty="0"/>
          </a:p>
        </p:txBody>
      </p:sp>
      <p:sp>
        <p:nvSpPr>
          <p:cNvPr id="15" name="Text 13"/>
          <p:cNvSpPr/>
          <p:nvPr/>
        </p:nvSpPr>
        <p:spPr>
          <a:xfrm>
            <a:off x="4261104" y="1600200"/>
            <a:ext cx="3456432" cy="274320"/>
          </a:xfrm>
          <a:prstGeom prst="rect">
            <a:avLst/>
          </a:prstGeom>
          <a:noFill/>
          <a:ln/>
        </p:spPr>
        <p:txBody>
          <a:bodyPr wrap="square" rtlCol="0" anchor="ctr"/>
          <a:lstStyle/>
          <a:p>
            <a:pPr indent="0" marL="0">
              <a:buNone/>
            </a:pPr>
            <a:r>
              <a:rPr lang="en-US" sz="1050" b="1" dirty="0">
                <a:solidFill>
                  <a:srgbClr val="C9A24B"/>
                </a:solidFill>
                <a:latin typeface="Arial" pitchFamily="34" charset="0"/>
                <a:ea typeface="Arial" pitchFamily="34" charset="-122"/>
                <a:cs typeface="Arial" pitchFamily="34" charset="-120"/>
              </a:rPr>
              <a:t>LINKEDIN — POST 2</a:t>
            </a:r>
            <a:endParaRPr lang="en-US" sz="1050" dirty="0"/>
          </a:p>
        </p:txBody>
      </p:sp>
      <p:sp>
        <p:nvSpPr>
          <p:cNvPr id="16" name="Shape 14"/>
          <p:cNvSpPr/>
          <p:nvPr/>
        </p:nvSpPr>
        <p:spPr>
          <a:xfrm>
            <a:off x="4261104" y="1920240"/>
            <a:ext cx="3456432" cy="4160520"/>
          </a:xfrm>
          <a:prstGeom prst="roundRect">
            <a:avLst>
              <a:gd name="adj" fmla="val 2646"/>
            </a:avLst>
          </a:prstGeom>
          <a:solidFill>
            <a:srgbClr val="FFFFFF"/>
          </a:solidFill>
          <a:ln w="12700">
            <a:solidFill>
              <a:srgbClr val="FFFFFF"/>
            </a:solidFill>
            <a:prstDash val="solid"/>
          </a:ln>
        </p:spPr>
      </p:sp>
      <p:sp>
        <p:nvSpPr>
          <p:cNvPr id="17" name="Shape 15"/>
          <p:cNvSpPr/>
          <p:nvPr/>
        </p:nvSpPr>
        <p:spPr>
          <a:xfrm>
            <a:off x="4489704" y="2121408"/>
            <a:ext cx="411480" cy="411480"/>
          </a:xfrm>
          <a:prstGeom prst="ellipse">
            <a:avLst/>
          </a:prstGeom>
          <a:solidFill>
            <a:srgbClr val="1B2A4A"/>
          </a:solidFill>
          <a:ln w="12700">
            <a:solidFill>
              <a:srgbClr val="1B2A4A"/>
            </a:solidFill>
            <a:prstDash val="solid"/>
          </a:ln>
        </p:spPr>
      </p:sp>
      <p:sp>
        <p:nvSpPr>
          <p:cNvPr id="18" name="Text 16"/>
          <p:cNvSpPr/>
          <p:nvPr/>
        </p:nvSpPr>
        <p:spPr>
          <a:xfrm>
            <a:off x="4489704" y="2121408"/>
            <a:ext cx="411480" cy="411480"/>
          </a:xfrm>
          <a:prstGeom prst="rect">
            <a:avLst/>
          </a:prstGeom>
          <a:noFill/>
          <a:ln/>
        </p:spPr>
        <p:txBody>
          <a:bodyPr wrap="square" lIns="0" tIns="0" rIns="0" bIns="0" rtlCol="0" anchor="ctr"/>
          <a:lstStyle/>
          <a:p>
            <a:pPr algn="ctr" indent="0" marL="0">
              <a:buNone/>
            </a:pPr>
            <a:r>
              <a:rPr lang="en-US" sz="1050" b="1" dirty="0">
                <a:solidFill>
                  <a:srgbClr val="C9A24B"/>
                </a:solidFill>
                <a:latin typeface="Arial" pitchFamily="34" charset="0"/>
                <a:ea typeface="Arial" pitchFamily="34" charset="-122"/>
                <a:cs typeface="Arial" pitchFamily="34" charset="-120"/>
              </a:rPr>
              <a:t>HR</a:t>
            </a:r>
            <a:endParaRPr lang="en-US" sz="1050" dirty="0"/>
          </a:p>
        </p:txBody>
      </p:sp>
      <p:sp>
        <p:nvSpPr>
          <p:cNvPr id="19" name="Text 17"/>
          <p:cNvSpPr/>
          <p:nvPr/>
        </p:nvSpPr>
        <p:spPr>
          <a:xfrm>
            <a:off x="4992624" y="2103120"/>
            <a:ext cx="2468880" cy="256032"/>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Hammad Rana</a:t>
            </a:r>
            <a:endParaRPr lang="en-US" sz="1100" dirty="0"/>
          </a:p>
        </p:txBody>
      </p:sp>
      <p:sp>
        <p:nvSpPr>
          <p:cNvPr id="20" name="Text 18"/>
          <p:cNvSpPr/>
          <p:nvPr/>
        </p:nvSpPr>
        <p:spPr>
          <a:xfrm>
            <a:off x="4992624" y="2340864"/>
            <a:ext cx="2468880" cy="201168"/>
          </a:xfrm>
          <a:prstGeom prst="rect">
            <a:avLst/>
          </a:prstGeom>
          <a:noFill/>
          <a:ln/>
        </p:spPr>
        <p:txBody>
          <a:bodyPr wrap="square" rtlCol="0" anchor="ctr"/>
          <a:lstStyle/>
          <a:p>
            <a:pPr indent="0" marL="0">
              <a:buNone/>
            </a:pPr>
            <a:r>
              <a:rPr lang="en-US" sz="850" dirty="0">
                <a:solidFill>
                  <a:srgbClr val="6B7280"/>
                </a:solidFill>
                <a:latin typeface="Arial" pitchFamily="34" charset="0"/>
                <a:ea typeface="Arial" pitchFamily="34" charset="-122"/>
                <a:cs typeface="Arial" pitchFamily="34" charset="-120"/>
              </a:rPr>
              <a:t>GRC | MSIS</a:t>
            </a:r>
            <a:endParaRPr lang="en-US" sz="850" dirty="0"/>
          </a:p>
        </p:txBody>
      </p:sp>
      <p:sp>
        <p:nvSpPr>
          <p:cNvPr id="21" name="Text 19"/>
          <p:cNvSpPr/>
          <p:nvPr/>
        </p:nvSpPr>
        <p:spPr>
          <a:xfrm>
            <a:off x="4489704" y="2697480"/>
            <a:ext cx="2999232" cy="2880360"/>
          </a:xfrm>
          <a:prstGeom prst="rect">
            <a:avLst/>
          </a:prstGeom>
          <a:noFill/>
          <a:ln/>
        </p:spPr>
        <p:txBody>
          <a:bodyPr wrap="square" rtlCol="0" anchor="ctr"/>
          <a:lstStyle/>
          <a:p>
            <a:pPr indent="0" marL="0">
              <a:lnSpc>
                <a:spcPct val="120000"/>
              </a:lnSpc>
              <a:buNone/>
            </a:pPr>
            <a:r>
              <a:rPr lang="en-US" sz="1000" dirty="0">
                <a:solidFill>
                  <a:srgbClr val="3D4657"/>
                </a:solidFill>
                <a:latin typeface="Arial" pitchFamily="34" charset="0"/>
                <a:ea typeface="Arial" pitchFamily="34" charset="-122"/>
                <a:cs typeface="Arial" pitchFamily="34" charset="-120"/>
              </a:rPr>
              <a:t>Shipped: SentinelGRC Ops 🛡️</a:t>
            </a:r>
            <a:endParaRPr lang="en-US" sz="1000" dirty="0"/>
          </a:p>
          <a:p>
            <a:pPr indent="0" marL="0">
              <a:lnSpc>
                <a:spcPct val="120000"/>
              </a:lnSpc>
              <a:buNone/>
            </a:pPr>
            <a:endParaRPr lang="en-US" sz="1000" dirty="0"/>
          </a:p>
          <a:p>
            <a:pPr indent="0" marL="0">
              <a:lnSpc>
                <a:spcPct val="120000"/>
              </a:lnSpc>
              <a:buNone/>
            </a:pPr>
            <a:r>
              <a:rPr lang="en-US" sz="1000" dirty="0">
                <a:solidFill>
                  <a:srgbClr val="3D4657"/>
                </a:solidFill>
                <a:latin typeface="Arial" pitchFamily="34" charset="0"/>
                <a:ea typeface="Arial" pitchFamily="34" charset="-122"/>
                <a:cs typeface="Arial" pitchFamily="34" charset="-120"/>
              </a:rPr>
              <a:t>An AI pipeline that maps live CISA security advisories directly to ISO 27001, SOC 2, and GDPR controls — the frameworks companies actually get audited against.</a:t>
            </a:r>
            <a:endParaRPr lang="en-US" sz="1000" dirty="0"/>
          </a:p>
          <a:p>
            <a:pPr indent="0" marL="0">
              <a:lnSpc>
                <a:spcPct val="120000"/>
              </a:lnSpc>
              <a:buNone/>
            </a:pPr>
            <a:endParaRPr lang="en-US" sz="1000" dirty="0"/>
          </a:p>
          <a:p>
            <a:pPr indent="0" marL="0">
              <a:lnSpc>
                <a:spcPct val="120000"/>
              </a:lnSpc>
              <a:buNone/>
            </a:pPr>
            <a:r>
              <a:rPr lang="en-US" sz="1000" dirty="0">
                <a:solidFill>
                  <a:srgbClr val="3D4657"/>
                </a:solidFill>
                <a:latin typeface="Arial" pitchFamily="34" charset="0"/>
                <a:ea typeface="Arial" pitchFamily="34" charset="-122"/>
                <a:cs typeface="Arial" pitchFamily="34" charset="-120"/>
              </a:rPr>
              <a:t>467 records processed. 99.6% pass rate. Live on HuggingFace Spaces.</a:t>
            </a:r>
            <a:endParaRPr lang="en-US" sz="1000" dirty="0"/>
          </a:p>
          <a:p>
            <a:pPr indent="0" marL="0">
              <a:lnSpc>
                <a:spcPct val="120000"/>
              </a:lnSpc>
              <a:buNone/>
            </a:pPr>
            <a:endParaRPr lang="en-US" sz="1000" dirty="0"/>
          </a:p>
          <a:p>
            <a:pPr indent="0" marL="0">
              <a:lnSpc>
                <a:spcPct val="120000"/>
              </a:lnSpc>
              <a:buNone/>
            </a:pPr>
            <a:r>
              <a:rPr lang="en-US" sz="1000" dirty="0">
                <a:solidFill>
                  <a:srgbClr val="3D4657"/>
                </a:solidFill>
                <a:latin typeface="Arial" pitchFamily="34" charset="0"/>
                <a:ea typeface="Arial" pitchFamily="34" charset="-122"/>
                <a:cs typeface="Arial" pitchFamily="34" charset="-120"/>
              </a:rPr>
              <a:t>Not a class project. A working answer to a real compliance problem.</a:t>
            </a:r>
            <a:endParaRPr lang="en-US" sz="1000" dirty="0"/>
          </a:p>
        </p:txBody>
      </p:sp>
      <p:sp>
        <p:nvSpPr>
          <p:cNvPr id="22" name="Text 20"/>
          <p:cNvSpPr/>
          <p:nvPr/>
        </p:nvSpPr>
        <p:spPr>
          <a:xfrm>
            <a:off x="4489704" y="5696712"/>
            <a:ext cx="2999232" cy="274320"/>
          </a:xfrm>
          <a:prstGeom prst="rect">
            <a:avLst/>
          </a:prstGeom>
          <a:noFill/>
          <a:ln/>
        </p:spPr>
        <p:txBody>
          <a:bodyPr wrap="square" rtlCol="0" anchor="ctr"/>
          <a:lstStyle/>
          <a:p>
            <a:pPr indent="0" marL="0">
              <a:buNone/>
            </a:pPr>
            <a:r>
              <a:rPr lang="en-US" sz="850" dirty="0">
                <a:solidFill>
                  <a:srgbClr val="3C6E71"/>
                </a:solidFill>
                <a:latin typeface="Arial" pitchFamily="34" charset="0"/>
                <a:ea typeface="Arial" pitchFamily="34" charset="-122"/>
                <a:cs typeface="Arial" pitchFamily="34" charset="-120"/>
              </a:rPr>
              <a:t>#GRC #AI #Compliance</a:t>
            </a:r>
            <a:endParaRPr lang="en-US" sz="850" dirty="0"/>
          </a:p>
        </p:txBody>
      </p:sp>
      <p:sp>
        <p:nvSpPr>
          <p:cNvPr id="23" name="Text 21"/>
          <p:cNvSpPr/>
          <p:nvPr/>
        </p:nvSpPr>
        <p:spPr>
          <a:xfrm>
            <a:off x="7882128" y="1600200"/>
            <a:ext cx="3456432" cy="274320"/>
          </a:xfrm>
          <a:prstGeom prst="rect">
            <a:avLst/>
          </a:prstGeom>
          <a:noFill/>
          <a:ln/>
        </p:spPr>
        <p:txBody>
          <a:bodyPr wrap="square" rtlCol="0" anchor="ctr"/>
          <a:lstStyle/>
          <a:p>
            <a:pPr indent="0" marL="0">
              <a:buNone/>
            </a:pPr>
            <a:r>
              <a:rPr lang="en-US" sz="1050" b="1" dirty="0">
                <a:solidFill>
                  <a:srgbClr val="C9A24B"/>
                </a:solidFill>
                <a:latin typeface="Arial" pitchFamily="34" charset="0"/>
                <a:ea typeface="Arial" pitchFamily="34" charset="-122"/>
                <a:cs typeface="Arial" pitchFamily="34" charset="-120"/>
              </a:rPr>
              <a:t>SUBSTACK — THE GRC SIGNAL</a:t>
            </a:r>
            <a:endParaRPr lang="en-US" sz="1050" dirty="0"/>
          </a:p>
        </p:txBody>
      </p:sp>
      <p:sp>
        <p:nvSpPr>
          <p:cNvPr id="24" name="Shape 22"/>
          <p:cNvSpPr/>
          <p:nvPr/>
        </p:nvSpPr>
        <p:spPr>
          <a:xfrm>
            <a:off x="7882128" y="1920240"/>
            <a:ext cx="3456432" cy="4160520"/>
          </a:xfrm>
          <a:prstGeom prst="roundRect">
            <a:avLst>
              <a:gd name="adj" fmla="val 2646"/>
            </a:avLst>
          </a:prstGeom>
          <a:solidFill>
            <a:srgbClr val="FFFFFF"/>
          </a:solidFill>
          <a:ln w="12700">
            <a:solidFill>
              <a:srgbClr val="FFFFFF"/>
            </a:solidFill>
            <a:prstDash val="solid"/>
          </a:ln>
        </p:spPr>
      </p:sp>
      <p:sp>
        <p:nvSpPr>
          <p:cNvPr id="25" name="Text 23"/>
          <p:cNvSpPr/>
          <p:nvPr/>
        </p:nvSpPr>
        <p:spPr>
          <a:xfrm>
            <a:off x="8110728" y="2121408"/>
            <a:ext cx="2999232" cy="256032"/>
          </a:xfrm>
          <a:prstGeom prst="rect">
            <a:avLst/>
          </a:prstGeom>
          <a:noFill/>
          <a:ln/>
        </p:spPr>
        <p:txBody>
          <a:bodyPr wrap="square" rtlCol="0" anchor="ctr"/>
          <a:lstStyle/>
          <a:p>
            <a:pPr indent="0" marL="0">
              <a:buNone/>
            </a:pPr>
            <a:r>
              <a:rPr lang="en-US" sz="950" b="1" dirty="0">
                <a:solidFill>
                  <a:srgbClr val="C9A24B"/>
                </a:solidFill>
                <a:latin typeface="Arial" pitchFamily="34" charset="0"/>
                <a:ea typeface="Arial" pitchFamily="34" charset="-122"/>
                <a:cs typeface="Arial" pitchFamily="34" charset="-120"/>
              </a:rPr>
              <a:t>THE GRC SIGNAL</a:t>
            </a:r>
            <a:endParaRPr lang="en-US" sz="950" dirty="0"/>
          </a:p>
        </p:txBody>
      </p:sp>
      <p:sp>
        <p:nvSpPr>
          <p:cNvPr id="26" name="Text 24"/>
          <p:cNvSpPr/>
          <p:nvPr/>
        </p:nvSpPr>
        <p:spPr>
          <a:xfrm>
            <a:off x="8110728" y="2423160"/>
            <a:ext cx="2999232" cy="868680"/>
          </a:xfrm>
          <a:prstGeom prst="rect">
            <a:avLst/>
          </a:prstGeom>
          <a:noFill/>
          <a:ln/>
        </p:spPr>
        <p:txBody>
          <a:bodyPr wrap="square" rtlCol="0" anchor="ctr"/>
          <a:lstStyle/>
          <a:p>
            <a:pPr indent="0" marL="0">
              <a:lnSpc>
                <a:spcPct val="110000"/>
              </a:lnSpc>
              <a:buNone/>
            </a:pPr>
            <a:r>
              <a:rPr lang="en-US" sz="1500" b="1" dirty="0">
                <a:solidFill>
                  <a:srgbClr val="1B2A4A"/>
                </a:solidFill>
                <a:latin typeface="Georgia" pitchFamily="34" charset="0"/>
                <a:ea typeface="Georgia" pitchFamily="34" charset="-122"/>
                <a:cs typeface="Georgia" pitchFamily="34" charset="-120"/>
              </a:rPr>
              <a:t>The Ceiling Wasn't the Problem —</a:t>
            </a:r>
            <a:endParaRPr lang="en-US" sz="1500" dirty="0"/>
          </a:p>
          <a:p>
            <a:pPr indent="0" marL="0">
              <a:lnSpc>
                <a:spcPct val="110000"/>
              </a:lnSpc>
              <a:buNone/>
            </a:pPr>
            <a:r>
              <a:rPr lang="en-US" sz="1500" b="1" dirty="0">
                <a:solidFill>
                  <a:srgbClr val="1B2A4A"/>
                </a:solidFill>
                <a:latin typeface="Georgia" pitchFamily="34" charset="0"/>
                <a:ea typeface="Georgia" pitchFamily="34" charset="-122"/>
                <a:cs typeface="Georgia" pitchFamily="34" charset="-120"/>
              </a:rPr>
              <a:t>I Just Hadn't Found the Next Floor</a:t>
            </a:r>
            <a:endParaRPr lang="en-US" sz="1500" dirty="0"/>
          </a:p>
        </p:txBody>
      </p:sp>
      <p:sp>
        <p:nvSpPr>
          <p:cNvPr id="27" name="Text 25"/>
          <p:cNvSpPr/>
          <p:nvPr/>
        </p:nvSpPr>
        <p:spPr>
          <a:xfrm>
            <a:off x="8110728" y="3383280"/>
            <a:ext cx="2999232" cy="1371600"/>
          </a:xfrm>
          <a:prstGeom prst="rect">
            <a:avLst/>
          </a:prstGeom>
          <a:noFill/>
          <a:ln/>
        </p:spPr>
        <p:txBody>
          <a:bodyPr wrap="square" rtlCol="0" anchor="ctr"/>
          <a:lstStyle/>
          <a:p>
            <a:pPr indent="0" marL="0">
              <a:lnSpc>
                <a:spcPct val="125000"/>
              </a:lnSpc>
              <a:buNone/>
            </a:pPr>
            <a:r>
              <a:rPr lang="en-US" sz="1150" i="1" dirty="0">
                <a:solidFill>
                  <a:srgbClr val="3D4657"/>
                </a:solidFill>
                <a:latin typeface="Georgia" pitchFamily="34" charset="0"/>
                <a:ea typeface="Georgia" pitchFamily="34" charset="-122"/>
                <a:cs typeface="Georgia" pitchFamily="34" charset="-120"/>
              </a:rPr>
              <a:t>“If you've hit a ceiling in your own work, the fix usually isn't a new job. It's finding the layer beneath the one you've already mastered — and being loud enough that people notice.”</a:t>
            </a:r>
            <a:endParaRPr lang="en-US" sz="1150" dirty="0"/>
          </a:p>
        </p:txBody>
      </p:sp>
      <p:sp>
        <p:nvSpPr>
          <p:cNvPr id="28" name="Text 26"/>
          <p:cNvSpPr/>
          <p:nvPr/>
        </p:nvSpPr>
        <p:spPr>
          <a:xfrm>
            <a:off x="8110728" y="5367528"/>
            <a:ext cx="2999232" cy="256032"/>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539 words  ·  Published July 31, 2026</a:t>
            </a:r>
            <a:endParaRPr lang="en-US" sz="900" dirty="0"/>
          </a:p>
        </p:txBody>
      </p:sp>
      <p:sp>
        <p:nvSpPr>
          <p:cNvPr id="29" name="Text 27"/>
          <p:cNvSpPr/>
          <p:nvPr/>
        </p:nvSpPr>
        <p:spPr>
          <a:xfrm>
            <a:off x="8110728" y="5696712"/>
            <a:ext cx="2999232" cy="274320"/>
          </a:xfrm>
          <a:prstGeom prst="rect">
            <a:avLst/>
          </a:prstGeom>
          <a:noFill/>
          <a:ln/>
        </p:spPr>
        <p:txBody>
          <a:bodyPr wrap="square" rtlCol="0" anchor="ctr"/>
          <a:lstStyle/>
          <a:p>
            <a:pPr indent="0" marL="0">
              <a:buNone/>
            </a:pPr>
            <a:r>
              <a:rPr lang="en-US" sz="900" dirty="0">
                <a:solidFill>
                  <a:srgbClr val="3C6E71"/>
                </a:solidFill>
                <a:latin typeface="Arial" pitchFamily="34" charset="0"/>
                <a:ea typeface="Arial" pitchFamily="34" charset="-122"/>
                <a:cs typeface="Arial" pitchFamily="34" charset="-120"/>
              </a:rPr>
              <a:t>hammadrana12.substack.com</a:t>
            </a:r>
            <a:endParaRPr lang="en-US" sz="900" dirty="0"/>
          </a:p>
        </p:txBody>
      </p:sp>
      <p:sp>
        <p:nvSpPr>
          <p:cNvPr id="30" name="Text 28"/>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8598BE"/>
                </a:solidFill>
                <a:latin typeface="Arial" pitchFamily="34" charset="0"/>
                <a:ea typeface="Arial" pitchFamily="34" charset="-122"/>
                <a:cs typeface="Arial" pitchFamily="34" charset="-120"/>
              </a:rPr>
              <a:t>Hammad Rana</a:t>
            </a:r>
            <a:endParaRPr lang="en-US" sz="900" dirty="0"/>
          </a:p>
        </p:txBody>
      </p:sp>
      <p:sp>
        <p:nvSpPr>
          <p:cNvPr id="31" name="Text 29"/>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598BE"/>
                </a:solidFill>
                <a:latin typeface="Arial" pitchFamily="34" charset="0"/>
                <a:ea typeface="Arial" pitchFamily="34" charset="-122"/>
                <a:cs typeface="Arial"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24365C"/>
          </a:solidFill>
          <a:ln w="12700">
            <a:solidFill>
              <a:srgbClr val="24365C"/>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F5F3EE"/>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C9A24B"/>
                </a:solidFill>
                <a:latin typeface="Arial" pitchFamily="34" charset="0"/>
                <a:ea typeface="Arial" pitchFamily="34" charset="-122"/>
                <a:cs typeface="Arial" pitchFamily="34" charset="-120"/>
              </a:rPr>
              <a:t>BRAND STORYTELLING</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F5F3EE"/>
                </a:solidFill>
                <a:latin typeface="Georgia" pitchFamily="34" charset="0"/>
                <a:ea typeface="Georgia" pitchFamily="34" charset="-122"/>
                <a:cs typeface="Georgia" pitchFamily="34" charset="-120"/>
              </a:rPr>
              <a:t>The Pivot</a:t>
            </a:r>
            <a:endParaRPr lang="en-US" sz="2900" dirty="0"/>
          </a:p>
        </p:txBody>
      </p:sp>
      <p:sp>
        <p:nvSpPr>
          <p:cNvPr id="7" name="Text 5"/>
          <p:cNvSpPr/>
          <p:nvPr/>
        </p:nvSpPr>
        <p:spPr>
          <a:xfrm>
            <a:off x="640080" y="1737360"/>
            <a:ext cx="7315200" cy="320040"/>
          </a:xfrm>
          <a:prstGeom prst="rect">
            <a:avLst/>
          </a:prstGeom>
          <a:noFill/>
          <a:ln/>
        </p:spPr>
        <p:txBody>
          <a:bodyPr wrap="square" rtlCol="0" anchor="ctr"/>
          <a:lstStyle/>
          <a:p>
            <a:pPr indent="0" marL="0">
              <a:buNone/>
            </a:pPr>
            <a:r>
              <a:rPr lang="en-US" sz="1300" i="1" dirty="0">
                <a:solidFill>
                  <a:srgbClr val="E3EEEE"/>
                </a:solidFill>
                <a:latin typeface="Arial" pitchFamily="34" charset="0"/>
                <a:ea typeface="Arial" pitchFamily="34" charset="-122"/>
                <a:cs typeface="Arial" pitchFamily="34" charset="-120"/>
              </a:rPr>
              <a:t>Narrative framework: Voyage and Return</a:t>
            </a:r>
            <a:endParaRPr lang="en-US" sz="1300" dirty="0"/>
          </a:p>
        </p:txBody>
      </p:sp>
      <p:sp>
        <p:nvSpPr>
          <p:cNvPr id="8" name="Shape 6"/>
          <p:cNvSpPr/>
          <p:nvPr/>
        </p:nvSpPr>
        <p:spPr>
          <a:xfrm>
            <a:off x="640080" y="2331720"/>
            <a:ext cx="2542032" cy="3291840"/>
          </a:xfrm>
          <a:prstGeom prst="roundRect">
            <a:avLst>
              <a:gd name="adj" fmla="val 4317"/>
            </a:avLst>
          </a:prstGeom>
          <a:solidFill>
            <a:srgbClr val="24365C"/>
          </a:solidFill>
          <a:ln w="12700">
            <a:solidFill>
              <a:srgbClr val="24365C"/>
            </a:solidFill>
            <a:prstDash val="solid"/>
          </a:ln>
        </p:spPr>
      </p:sp>
      <p:sp>
        <p:nvSpPr>
          <p:cNvPr id="9" name="Text 7"/>
          <p:cNvSpPr/>
          <p:nvPr/>
        </p:nvSpPr>
        <p:spPr>
          <a:xfrm>
            <a:off x="868680" y="2560320"/>
            <a:ext cx="1097280" cy="50292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1</a:t>
            </a:r>
            <a:endParaRPr lang="en-US" sz="2200" dirty="0"/>
          </a:p>
        </p:txBody>
      </p:sp>
      <p:sp>
        <p:nvSpPr>
          <p:cNvPr id="10" name="Text 8"/>
          <p:cNvSpPr/>
          <p:nvPr/>
        </p:nvSpPr>
        <p:spPr>
          <a:xfrm>
            <a:off x="868680" y="3108960"/>
            <a:ext cx="2084832" cy="457200"/>
          </a:xfrm>
          <a:prstGeom prst="rect">
            <a:avLst/>
          </a:prstGeom>
          <a:noFill/>
          <a:ln/>
        </p:spPr>
        <p:txBody>
          <a:bodyPr wrap="square" rtlCol="0" anchor="ctr"/>
          <a:lstStyle/>
          <a:p>
            <a:pPr indent="0" marL="0">
              <a:buNone/>
            </a:pPr>
            <a:r>
              <a:rPr lang="en-US" sz="1400" b="1" dirty="0">
                <a:solidFill>
                  <a:srgbClr val="F5F3EE"/>
                </a:solidFill>
                <a:latin typeface="Georgia" pitchFamily="34" charset="0"/>
                <a:ea typeface="Georgia" pitchFamily="34" charset="-122"/>
                <a:cs typeface="Georgia" pitchFamily="34" charset="-120"/>
              </a:rPr>
              <a:t>DEPARTURE</a:t>
            </a:r>
            <a:endParaRPr lang="en-US" sz="1400" dirty="0"/>
          </a:p>
        </p:txBody>
      </p:sp>
      <p:sp>
        <p:nvSpPr>
          <p:cNvPr id="11" name="Text 9"/>
          <p:cNvSpPr/>
          <p:nvPr/>
        </p:nvSpPr>
        <p:spPr>
          <a:xfrm>
            <a:off x="868680" y="3611880"/>
            <a:ext cx="2084832" cy="1828800"/>
          </a:xfrm>
          <a:prstGeom prst="rect">
            <a:avLst/>
          </a:prstGeom>
          <a:noFill/>
          <a:ln/>
        </p:spPr>
        <p:txBody>
          <a:bodyPr wrap="square" rtlCol="0" anchor="ctr"/>
          <a:lstStyle/>
          <a:p>
            <a:pPr indent="0" marL="0">
              <a:lnSpc>
                <a:spcPct val="125000"/>
              </a:lnSpc>
              <a:buNone/>
            </a:pPr>
            <a:r>
              <a:rPr lang="en-US" sz="1100" dirty="0">
                <a:solidFill>
                  <a:srgbClr val="C7CFE0"/>
                </a:solidFill>
                <a:latin typeface="Arial" pitchFamily="34" charset="0"/>
                <a:ea typeface="Arial" pitchFamily="34" charset="-122"/>
                <a:cs typeface="Arial" pitchFamily="34" charset="-120"/>
              </a:rPr>
              <a:t>Thrown into keeping 1,200+ endpoints and campus infrastructure running from day one in Kuwait.</a:t>
            </a:r>
            <a:endParaRPr lang="en-US" sz="1100" dirty="0"/>
          </a:p>
        </p:txBody>
      </p:sp>
      <p:sp>
        <p:nvSpPr>
          <p:cNvPr id="12" name="Shape 10"/>
          <p:cNvSpPr/>
          <p:nvPr/>
        </p:nvSpPr>
        <p:spPr>
          <a:xfrm>
            <a:off x="3410712" y="2331720"/>
            <a:ext cx="2542032" cy="3291840"/>
          </a:xfrm>
          <a:prstGeom prst="roundRect">
            <a:avLst>
              <a:gd name="adj" fmla="val 4317"/>
            </a:avLst>
          </a:prstGeom>
          <a:solidFill>
            <a:srgbClr val="24365C"/>
          </a:solidFill>
          <a:ln w="12700">
            <a:solidFill>
              <a:srgbClr val="24365C"/>
            </a:solidFill>
            <a:prstDash val="solid"/>
          </a:ln>
        </p:spPr>
      </p:sp>
      <p:sp>
        <p:nvSpPr>
          <p:cNvPr id="13" name="Text 11"/>
          <p:cNvSpPr/>
          <p:nvPr/>
        </p:nvSpPr>
        <p:spPr>
          <a:xfrm>
            <a:off x="3639312" y="2560320"/>
            <a:ext cx="1097280" cy="50292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3639312" y="3108960"/>
            <a:ext cx="2084832" cy="457200"/>
          </a:xfrm>
          <a:prstGeom prst="rect">
            <a:avLst/>
          </a:prstGeom>
          <a:noFill/>
          <a:ln/>
        </p:spPr>
        <p:txBody>
          <a:bodyPr wrap="square" rtlCol="0" anchor="ctr"/>
          <a:lstStyle/>
          <a:p>
            <a:pPr indent="0" marL="0">
              <a:buNone/>
            </a:pPr>
            <a:r>
              <a:rPr lang="en-US" sz="1400" b="1" dirty="0">
                <a:solidFill>
                  <a:srgbClr val="F5F3EE"/>
                </a:solidFill>
                <a:latin typeface="Georgia" pitchFamily="34" charset="0"/>
                <a:ea typeface="Georgia" pitchFamily="34" charset="-122"/>
                <a:cs typeface="Georgia" pitchFamily="34" charset="-120"/>
              </a:rPr>
              <a:t>THE ROUTINE</a:t>
            </a:r>
            <a:endParaRPr lang="en-US" sz="1400" dirty="0"/>
          </a:p>
        </p:txBody>
      </p:sp>
      <p:sp>
        <p:nvSpPr>
          <p:cNvPr id="15" name="Text 13"/>
          <p:cNvSpPr/>
          <p:nvPr/>
        </p:nvSpPr>
        <p:spPr>
          <a:xfrm>
            <a:off x="3639312" y="3611880"/>
            <a:ext cx="2084832" cy="1828800"/>
          </a:xfrm>
          <a:prstGeom prst="rect">
            <a:avLst/>
          </a:prstGeom>
          <a:noFill/>
          <a:ln/>
        </p:spPr>
        <p:txBody>
          <a:bodyPr wrap="square" rtlCol="0" anchor="ctr"/>
          <a:lstStyle/>
          <a:p>
            <a:pPr indent="0" marL="0">
              <a:lnSpc>
                <a:spcPct val="125000"/>
              </a:lnSpc>
              <a:buNone/>
            </a:pPr>
            <a:r>
              <a:rPr lang="en-US" sz="1100" dirty="0">
                <a:solidFill>
                  <a:srgbClr val="C7CFE0"/>
                </a:solidFill>
                <a:latin typeface="Arial" pitchFamily="34" charset="0"/>
                <a:ea typeface="Arial" pitchFamily="34" charset="-122"/>
                <a:cs typeface="Arial" pitchFamily="34" charset="-120"/>
              </a:rPr>
              <a:t>A decade as the person organizations called when something broke — infrastructure, data, thousands of users.</a:t>
            </a:r>
            <a:endParaRPr lang="en-US" sz="1100" dirty="0"/>
          </a:p>
        </p:txBody>
      </p:sp>
      <p:sp>
        <p:nvSpPr>
          <p:cNvPr id="16" name="Shape 14"/>
          <p:cNvSpPr/>
          <p:nvPr/>
        </p:nvSpPr>
        <p:spPr>
          <a:xfrm>
            <a:off x="6181344" y="2331720"/>
            <a:ext cx="2542032" cy="3291840"/>
          </a:xfrm>
          <a:prstGeom prst="roundRect">
            <a:avLst>
              <a:gd name="adj" fmla="val 4317"/>
            </a:avLst>
          </a:prstGeom>
          <a:solidFill>
            <a:srgbClr val="24365C"/>
          </a:solidFill>
          <a:ln w="12700">
            <a:solidFill>
              <a:srgbClr val="24365C"/>
            </a:solidFill>
            <a:prstDash val="solid"/>
          </a:ln>
        </p:spPr>
      </p:sp>
      <p:sp>
        <p:nvSpPr>
          <p:cNvPr id="17" name="Text 15"/>
          <p:cNvSpPr/>
          <p:nvPr/>
        </p:nvSpPr>
        <p:spPr>
          <a:xfrm>
            <a:off x="6409944" y="2560320"/>
            <a:ext cx="1097280" cy="50292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6409944" y="3108960"/>
            <a:ext cx="2084832" cy="457200"/>
          </a:xfrm>
          <a:prstGeom prst="rect">
            <a:avLst/>
          </a:prstGeom>
          <a:noFill/>
          <a:ln/>
        </p:spPr>
        <p:txBody>
          <a:bodyPr wrap="square" rtlCol="0" anchor="ctr"/>
          <a:lstStyle/>
          <a:p>
            <a:pPr indent="0" marL="0">
              <a:buNone/>
            </a:pPr>
            <a:r>
              <a:rPr lang="en-US" sz="1400" b="1" dirty="0">
                <a:solidFill>
                  <a:srgbClr val="F5F3EE"/>
                </a:solidFill>
                <a:latin typeface="Georgia" pitchFamily="34" charset="0"/>
                <a:ea typeface="Georgia" pitchFamily="34" charset="-122"/>
                <a:cs typeface="Georgia" pitchFamily="34" charset="-120"/>
              </a:rPr>
              <a:t>THE RETURN</a:t>
            </a:r>
            <a:endParaRPr lang="en-US" sz="1400" dirty="0"/>
          </a:p>
        </p:txBody>
      </p:sp>
      <p:sp>
        <p:nvSpPr>
          <p:cNvPr id="19" name="Text 17"/>
          <p:cNvSpPr/>
          <p:nvPr/>
        </p:nvSpPr>
        <p:spPr>
          <a:xfrm>
            <a:off x="6409944" y="3611880"/>
            <a:ext cx="2084832" cy="1828800"/>
          </a:xfrm>
          <a:prstGeom prst="rect">
            <a:avLst/>
          </a:prstGeom>
          <a:noFill/>
          <a:ln/>
        </p:spPr>
        <p:txBody>
          <a:bodyPr wrap="square" rtlCol="0" anchor="ctr"/>
          <a:lstStyle/>
          <a:p>
            <a:pPr indent="0" marL="0">
              <a:lnSpc>
                <a:spcPct val="125000"/>
              </a:lnSpc>
              <a:buNone/>
            </a:pPr>
            <a:r>
              <a:rPr lang="en-US" sz="1100" dirty="0">
                <a:solidFill>
                  <a:srgbClr val="C7CFE0"/>
                </a:solidFill>
                <a:latin typeface="Arial" pitchFamily="34" charset="0"/>
                <a:ea typeface="Arial" pitchFamily="34" charset="-122"/>
                <a:cs typeface="Arial" pitchFamily="34" charset="-120"/>
              </a:rPr>
              <a:t>Coming to Northeastern for his Master's wasn't a career change — it was the missing layer.</a:t>
            </a:r>
            <a:endParaRPr lang="en-US" sz="1100" dirty="0"/>
          </a:p>
        </p:txBody>
      </p:sp>
      <p:sp>
        <p:nvSpPr>
          <p:cNvPr id="20" name="Shape 18"/>
          <p:cNvSpPr/>
          <p:nvPr/>
        </p:nvSpPr>
        <p:spPr>
          <a:xfrm>
            <a:off x="8951976" y="2331720"/>
            <a:ext cx="2542032" cy="3291840"/>
          </a:xfrm>
          <a:prstGeom prst="roundRect">
            <a:avLst>
              <a:gd name="adj" fmla="val 4317"/>
            </a:avLst>
          </a:prstGeom>
          <a:solidFill>
            <a:srgbClr val="24365C"/>
          </a:solidFill>
          <a:ln w="12700">
            <a:solidFill>
              <a:srgbClr val="24365C"/>
            </a:solidFill>
            <a:prstDash val="solid"/>
          </a:ln>
        </p:spPr>
      </p:sp>
      <p:sp>
        <p:nvSpPr>
          <p:cNvPr id="21" name="Text 19"/>
          <p:cNvSpPr/>
          <p:nvPr/>
        </p:nvSpPr>
        <p:spPr>
          <a:xfrm>
            <a:off x="9180576" y="2560320"/>
            <a:ext cx="1097280" cy="50292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4</a:t>
            </a:r>
            <a:endParaRPr lang="en-US" sz="2200" dirty="0"/>
          </a:p>
        </p:txBody>
      </p:sp>
      <p:sp>
        <p:nvSpPr>
          <p:cNvPr id="22" name="Text 20"/>
          <p:cNvSpPr/>
          <p:nvPr/>
        </p:nvSpPr>
        <p:spPr>
          <a:xfrm>
            <a:off x="9180576" y="3108960"/>
            <a:ext cx="2084832" cy="457200"/>
          </a:xfrm>
          <a:prstGeom prst="rect">
            <a:avLst/>
          </a:prstGeom>
          <a:noFill/>
          <a:ln/>
        </p:spPr>
        <p:txBody>
          <a:bodyPr wrap="square" rtlCol="0" anchor="ctr"/>
          <a:lstStyle/>
          <a:p>
            <a:pPr indent="0" marL="0">
              <a:buNone/>
            </a:pPr>
            <a:r>
              <a:rPr lang="en-US" sz="1400" b="1" dirty="0">
                <a:solidFill>
                  <a:srgbClr val="F5F3EE"/>
                </a:solidFill>
                <a:latin typeface="Georgia" pitchFamily="34" charset="0"/>
                <a:ea typeface="Georgia" pitchFamily="34" charset="-122"/>
                <a:cs typeface="Georgia" pitchFamily="34" charset="-120"/>
              </a:rPr>
              <a:t>TRANSFORMED</a:t>
            </a:r>
            <a:endParaRPr lang="en-US" sz="1400" dirty="0"/>
          </a:p>
        </p:txBody>
      </p:sp>
      <p:sp>
        <p:nvSpPr>
          <p:cNvPr id="23" name="Text 21"/>
          <p:cNvSpPr/>
          <p:nvPr/>
        </p:nvSpPr>
        <p:spPr>
          <a:xfrm>
            <a:off x="9180576" y="3611880"/>
            <a:ext cx="2084832" cy="1828800"/>
          </a:xfrm>
          <a:prstGeom prst="rect">
            <a:avLst/>
          </a:prstGeom>
          <a:noFill/>
          <a:ln/>
        </p:spPr>
        <p:txBody>
          <a:bodyPr wrap="square" rtlCol="0" anchor="ctr"/>
          <a:lstStyle/>
          <a:p>
            <a:pPr indent="0" marL="0">
              <a:lnSpc>
                <a:spcPct val="125000"/>
              </a:lnSpc>
              <a:buNone/>
            </a:pPr>
            <a:r>
              <a:rPr lang="en-US" sz="1100" dirty="0">
                <a:solidFill>
                  <a:srgbClr val="C7CFE0"/>
                </a:solidFill>
                <a:latin typeface="Arial" pitchFamily="34" charset="0"/>
                <a:ea typeface="Arial" pitchFamily="34" charset="-122"/>
                <a:cs typeface="Arial" pitchFamily="34" charset="-120"/>
              </a:rPr>
              <a:t>Now builds GRC programs that work, because he understands both sides of the wall.</a:t>
            </a:r>
            <a:endParaRPr lang="en-US" sz="1100" dirty="0"/>
          </a:p>
        </p:txBody>
      </p:sp>
      <p:sp>
        <p:nvSpPr>
          <p:cNvPr id="24" name="Text 22"/>
          <p:cNvSpPr/>
          <p:nvPr/>
        </p:nvSpPr>
        <p:spPr>
          <a:xfrm>
            <a:off x="640080" y="5760720"/>
            <a:ext cx="10881360" cy="685800"/>
          </a:xfrm>
          <a:prstGeom prst="rect">
            <a:avLst/>
          </a:prstGeom>
          <a:noFill/>
          <a:ln/>
        </p:spPr>
        <p:txBody>
          <a:bodyPr wrap="square" rtlCol="0" anchor="ctr"/>
          <a:lstStyle/>
          <a:p>
            <a:pPr indent="0" marL="0">
              <a:lnSpc>
                <a:spcPct val="120000"/>
              </a:lnSpc>
              <a:buNone/>
            </a:pPr>
            <a:r>
              <a:rPr lang="en-US" sz="1400" b="1" i="1" dirty="0">
                <a:solidFill>
                  <a:srgbClr val="C9A24B"/>
                </a:solidFill>
                <a:latin typeface="Georgia" pitchFamily="34" charset="0"/>
                <a:ea typeface="Georgia" pitchFamily="34" charset="-122"/>
                <a:cs typeface="Georgia" pitchFamily="34" charset="-120"/>
              </a:rPr>
              <a:t>“Coming to Northeastern for my Master's wasn't a career change — it was the missing layer. Now I build GRC programs that work because I understand both sides of the wall.”</a:t>
            </a:r>
            <a:endParaRPr lang="en-US" sz="1400" dirty="0"/>
          </a:p>
        </p:txBody>
      </p:sp>
      <p:sp>
        <p:nvSpPr>
          <p:cNvPr id="25" name="Text 23"/>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8598BE"/>
                </a:solidFill>
                <a:latin typeface="Arial" pitchFamily="34" charset="0"/>
                <a:ea typeface="Arial" pitchFamily="34" charset="-122"/>
                <a:cs typeface="Arial" pitchFamily="34" charset="-120"/>
              </a:rPr>
              <a:t>Hammad Rana</a:t>
            </a:r>
            <a:endParaRPr lang="en-US" sz="900" dirty="0"/>
          </a:p>
        </p:txBody>
      </p:sp>
      <p:sp>
        <p:nvSpPr>
          <p:cNvPr id="26" name="Text 24"/>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598BE"/>
                </a:solidFill>
                <a:latin typeface="Arial" pitchFamily="34" charset="0"/>
                <a:ea typeface="Arial" pitchFamily="34" charset="-122"/>
                <a:cs typeface="Arial"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24365C"/>
          </a:solidFill>
          <a:ln w="12700">
            <a:solidFill>
              <a:srgbClr val="24365C"/>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F5F3EE"/>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C9A24B"/>
                </a:solidFill>
                <a:latin typeface="Arial" pitchFamily="34" charset="0"/>
                <a:ea typeface="Arial" pitchFamily="34" charset="-122"/>
                <a:cs typeface="Arial" pitchFamily="34" charset="-120"/>
              </a:rPr>
              <a:t>BRAND STORYTELLING</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F5F3EE"/>
                </a:solidFill>
                <a:latin typeface="Georgia" pitchFamily="34" charset="0"/>
                <a:ea typeface="Georgia" pitchFamily="34" charset="-122"/>
                <a:cs typeface="Georgia" pitchFamily="34" charset="-120"/>
              </a:rPr>
              <a:t>The Comfort-Zone Lesson</a:t>
            </a:r>
            <a:endParaRPr lang="en-US" sz="2900" dirty="0"/>
          </a:p>
        </p:txBody>
      </p:sp>
      <p:sp>
        <p:nvSpPr>
          <p:cNvPr id="7" name="Text 5"/>
          <p:cNvSpPr/>
          <p:nvPr/>
        </p:nvSpPr>
        <p:spPr>
          <a:xfrm>
            <a:off x="640080" y="1737360"/>
            <a:ext cx="7315200" cy="320040"/>
          </a:xfrm>
          <a:prstGeom prst="rect">
            <a:avLst/>
          </a:prstGeom>
          <a:noFill/>
          <a:ln/>
        </p:spPr>
        <p:txBody>
          <a:bodyPr wrap="square" rtlCol="0" anchor="ctr"/>
          <a:lstStyle/>
          <a:p>
            <a:pPr indent="0" marL="0">
              <a:buNone/>
            </a:pPr>
            <a:r>
              <a:rPr lang="en-US" sz="1300" i="1" dirty="0">
                <a:solidFill>
                  <a:srgbClr val="E3EEEE"/>
                </a:solidFill>
                <a:latin typeface="Arial" pitchFamily="34" charset="0"/>
                <a:ea typeface="Arial" pitchFamily="34" charset="-122"/>
                <a:cs typeface="Arial" pitchFamily="34" charset="-120"/>
              </a:rPr>
              <a:t>Narrative framework: Overcoming the Monster</a:t>
            </a:r>
            <a:endParaRPr lang="en-US" sz="1300" dirty="0"/>
          </a:p>
        </p:txBody>
      </p:sp>
      <p:sp>
        <p:nvSpPr>
          <p:cNvPr id="8" name="Shape 6"/>
          <p:cNvSpPr/>
          <p:nvPr/>
        </p:nvSpPr>
        <p:spPr>
          <a:xfrm>
            <a:off x="640080" y="2331720"/>
            <a:ext cx="2542032" cy="3291840"/>
          </a:xfrm>
          <a:prstGeom prst="roundRect">
            <a:avLst>
              <a:gd name="adj" fmla="val 4317"/>
            </a:avLst>
          </a:prstGeom>
          <a:solidFill>
            <a:srgbClr val="24365C"/>
          </a:solidFill>
          <a:ln w="12700">
            <a:solidFill>
              <a:srgbClr val="24365C"/>
            </a:solidFill>
            <a:prstDash val="solid"/>
          </a:ln>
        </p:spPr>
      </p:sp>
      <p:sp>
        <p:nvSpPr>
          <p:cNvPr id="9" name="Text 7"/>
          <p:cNvSpPr/>
          <p:nvPr/>
        </p:nvSpPr>
        <p:spPr>
          <a:xfrm>
            <a:off x="868680" y="2560320"/>
            <a:ext cx="1097280" cy="50292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1</a:t>
            </a:r>
            <a:endParaRPr lang="en-US" sz="2200" dirty="0"/>
          </a:p>
        </p:txBody>
      </p:sp>
      <p:sp>
        <p:nvSpPr>
          <p:cNvPr id="10" name="Text 8"/>
          <p:cNvSpPr/>
          <p:nvPr/>
        </p:nvSpPr>
        <p:spPr>
          <a:xfrm>
            <a:off x="868680" y="3108960"/>
            <a:ext cx="2084832" cy="457200"/>
          </a:xfrm>
          <a:prstGeom prst="rect">
            <a:avLst/>
          </a:prstGeom>
          <a:noFill/>
          <a:ln/>
        </p:spPr>
        <p:txBody>
          <a:bodyPr wrap="square" rtlCol="0" anchor="ctr"/>
          <a:lstStyle/>
          <a:p>
            <a:pPr indent="0" marL="0">
              <a:buNone/>
            </a:pPr>
            <a:r>
              <a:rPr lang="en-US" sz="1300" b="1" dirty="0">
                <a:solidFill>
                  <a:srgbClr val="F5F3EE"/>
                </a:solidFill>
                <a:latin typeface="Georgia" pitchFamily="34" charset="0"/>
                <a:ea typeface="Georgia" pitchFamily="34" charset="-122"/>
                <a:cs typeface="Georgia" pitchFamily="34" charset="-120"/>
              </a:rPr>
              <a:t>THE MONSTER</a:t>
            </a:r>
            <a:endParaRPr lang="en-US" sz="1300" dirty="0"/>
          </a:p>
        </p:txBody>
      </p:sp>
      <p:sp>
        <p:nvSpPr>
          <p:cNvPr id="11" name="Text 9"/>
          <p:cNvSpPr/>
          <p:nvPr/>
        </p:nvSpPr>
        <p:spPr>
          <a:xfrm>
            <a:off x="868680" y="3611880"/>
            <a:ext cx="2084832" cy="1828800"/>
          </a:xfrm>
          <a:prstGeom prst="rect">
            <a:avLst/>
          </a:prstGeom>
          <a:noFill/>
          <a:ln/>
        </p:spPr>
        <p:txBody>
          <a:bodyPr wrap="square" rtlCol="0" anchor="ctr"/>
          <a:lstStyle/>
          <a:p>
            <a:pPr indent="0" marL="0">
              <a:lnSpc>
                <a:spcPct val="122000"/>
              </a:lnSpc>
              <a:buNone/>
            </a:pPr>
            <a:r>
              <a:rPr lang="en-US" sz="1050" dirty="0">
                <a:solidFill>
                  <a:srgbClr val="C7CFE0"/>
                </a:solidFill>
                <a:latin typeface="Arial" pitchFamily="34" charset="0"/>
                <a:ea typeface="Arial" pitchFamily="34" charset="-122"/>
                <a:cs typeface="Arial" pitchFamily="34" charset="-120"/>
              </a:rPr>
              <a:t>Not a bad boss or a system outage — his own comfort zone. Solid, invisible work, on repeat.</a:t>
            </a:r>
            <a:endParaRPr lang="en-US" sz="1050" dirty="0"/>
          </a:p>
        </p:txBody>
      </p:sp>
      <p:sp>
        <p:nvSpPr>
          <p:cNvPr id="12" name="Shape 10"/>
          <p:cNvSpPr/>
          <p:nvPr/>
        </p:nvSpPr>
        <p:spPr>
          <a:xfrm>
            <a:off x="3410712" y="2331720"/>
            <a:ext cx="2542032" cy="3291840"/>
          </a:xfrm>
          <a:prstGeom prst="roundRect">
            <a:avLst>
              <a:gd name="adj" fmla="val 4317"/>
            </a:avLst>
          </a:prstGeom>
          <a:solidFill>
            <a:srgbClr val="24365C"/>
          </a:solidFill>
          <a:ln w="12700">
            <a:solidFill>
              <a:srgbClr val="24365C"/>
            </a:solidFill>
            <a:prstDash val="solid"/>
          </a:ln>
        </p:spPr>
      </p:sp>
      <p:sp>
        <p:nvSpPr>
          <p:cNvPr id="13" name="Text 11"/>
          <p:cNvSpPr/>
          <p:nvPr/>
        </p:nvSpPr>
        <p:spPr>
          <a:xfrm>
            <a:off x="3639312" y="2560320"/>
            <a:ext cx="1097280" cy="50292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3639312" y="3108960"/>
            <a:ext cx="2084832" cy="457200"/>
          </a:xfrm>
          <a:prstGeom prst="rect">
            <a:avLst/>
          </a:prstGeom>
          <a:noFill/>
          <a:ln/>
        </p:spPr>
        <p:txBody>
          <a:bodyPr wrap="square" rtlCol="0" anchor="ctr"/>
          <a:lstStyle/>
          <a:p>
            <a:pPr indent="0" marL="0">
              <a:buNone/>
            </a:pPr>
            <a:r>
              <a:rPr lang="en-US" sz="1300" b="1" dirty="0">
                <a:solidFill>
                  <a:srgbClr val="F5F3EE"/>
                </a:solidFill>
                <a:latin typeface="Georgia" pitchFamily="34" charset="0"/>
                <a:ea typeface="Georgia" pitchFamily="34" charset="-122"/>
                <a:cs typeface="Georgia" pitchFamily="34" charset="-120"/>
              </a:rPr>
              <a:t>THE INVISIBLE YEARS</a:t>
            </a:r>
            <a:endParaRPr lang="en-US" sz="1300" dirty="0"/>
          </a:p>
        </p:txBody>
      </p:sp>
      <p:sp>
        <p:nvSpPr>
          <p:cNvPr id="15" name="Text 13"/>
          <p:cNvSpPr/>
          <p:nvPr/>
        </p:nvSpPr>
        <p:spPr>
          <a:xfrm>
            <a:off x="3639312" y="3611880"/>
            <a:ext cx="2084832" cy="1828800"/>
          </a:xfrm>
          <a:prstGeom prst="rect">
            <a:avLst/>
          </a:prstGeom>
          <a:noFill/>
          <a:ln/>
        </p:spPr>
        <p:txBody>
          <a:bodyPr wrap="square" rtlCol="0" anchor="ctr"/>
          <a:lstStyle/>
          <a:p>
            <a:pPr indent="0" marL="0">
              <a:lnSpc>
                <a:spcPct val="122000"/>
              </a:lnSpc>
              <a:buNone/>
            </a:pPr>
            <a:r>
              <a:rPr lang="en-US" sz="1050" dirty="0">
                <a:solidFill>
                  <a:srgbClr val="C7CFE0"/>
                </a:solidFill>
                <a:latin typeface="Arial" pitchFamily="34" charset="0"/>
                <a:ea typeface="Arial" pitchFamily="34" charset="-122"/>
                <a:cs typeface="Arial" pitchFamily="34" charset="-120"/>
              </a:rPr>
              <a:t>Securing endpoints, running exam integrity for thousands of students — invisible because it worked.</a:t>
            </a:r>
            <a:endParaRPr lang="en-US" sz="1050" dirty="0"/>
          </a:p>
        </p:txBody>
      </p:sp>
      <p:sp>
        <p:nvSpPr>
          <p:cNvPr id="16" name="Shape 14"/>
          <p:cNvSpPr/>
          <p:nvPr/>
        </p:nvSpPr>
        <p:spPr>
          <a:xfrm>
            <a:off x="6181344" y="2331720"/>
            <a:ext cx="2542032" cy="3291840"/>
          </a:xfrm>
          <a:prstGeom prst="roundRect">
            <a:avLst>
              <a:gd name="adj" fmla="val 4317"/>
            </a:avLst>
          </a:prstGeom>
          <a:solidFill>
            <a:srgbClr val="24365C"/>
          </a:solidFill>
          <a:ln w="12700">
            <a:solidFill>
              <a:srgbClr val="24365C"/>
            </a:solidFill>
            <a:prstDash val="solid"/>
          </a:ln>
        </p:spPr>
      </p:sp>
      <p:sp>
        <p:nvSpPr>
          <p:cNvPr id="17" name="Text 15"/>
          <p:cNvSpPr/>
          <p:nvPr/>
        </p:nvSpPr>
        <p:spPr>
          <a:xfrm>
            <a:off x="6409944" y="2560320"/>
            <a:ext cx="1097280" cy="50292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6409944" y="3108960"/>
            <a:ext cx="2084832" cy="457200"/>
          </a:xfrm>
          <a:prstGeom prst="rect">
            <a:avLst/>
          </a:prstGeom>
          <a:noFill/>
          <a:ln/>
        </p:spPr>
        <p:txBody>
          <a:bodyPr wrap="square" rtlCol="0" anchor="ctr"/>
          <a:lstStyle/>
          <a:p>
            <a:pPr indent="0" marL="0">
              <a:buNone/>
            </a:pPr>
            <a:r>
              <a:rPr lang="en-US" sz="1300" b="1" dirty="0">
                <a:solidFill>
                  <a:srgbClr val="F5F3EE"/>
                </a:solidFill>
                <a:latin typeface="Georgia" pitchFamily="34" charset="0"/>
                <a:ea typeface="Georgia" pitchFamily="34" charset="-122"/>
                <a:cs typeface="Georgia" pitchFamily="34" charset="-120"/>
              </a:rPr>
              <a:t>THE REAL SHIFT</a:t>
            </a:r>
            <a:endParaRPr lang="en-US" sz="1300" dirty="0"/>
          </a:p>
        </p:txBody>
      </p:sp>
      <p:sp>
        <p:nvSpPr>
          <p:cNvPr id="19" name="Text 17"/>
          <p:cNvSpPr/>
          <p:nvPr/>
        </p:nvSpPr>
        <p:spPr>
          <a:xfrm>
            <a:off x="6409944" y="3611880"/>
            <a:ext cx="2084832" cy="1828800"/>
          </a:xfrm>
          <a:prstGeom prst="rect">
            <a:avLst/>
          </a:prstGeom>
          <a:noFill/>
          <a:ln/>
        </p:spPr>
        <p:txBody>
          <a:bodyPr wrap="square" rtlCol="0" anchor="ctr"/>
          <a:lstStyle/>
          <a:p>
            <a:pPr indent="0" marL="0">
              <a:lnSpc>
                <a:spcPct val="122000"/>
              </a:lnSpc>
              <a:buNone/>
            </a:pPr>
            <a:r>
              <a:rPr lang="en-US" sz="1050" dirty="0">
                <a:solidFill>
                  <a:srgbClr val="C7CFE0"/>
                </a:solidFill>
                <a:latin typeface="Arial" pitchFamily="34" charset="0"/>
                <a:ea typeface="Arial" pitchFamily="34" charset="-122"/>
                <a:cs typeface="Arial" pitchFamily="34" charset="-120"/>
              </a:rPr>
              <a:t>Not technical — personal. Learning to speak up, share what he'd built, stop assuming good work speaks for itself.</a:t>
            </a:r>
            <a:endParaRPr lang="en-US" sz="1050" dirty="0"/>
          </a:p>
        </p:txBody>
      </p:sp>
      <p:sp>
        <p:nvSpPr>
          <p:cNvPr id="20" name="Shape 18"/>
          <p:cNvSpPr/>
          <p:nvPr/>
        </p:nvSpPr>
        <p:spPr>
          <a:xfrm>
            <a:off x="8951976" y="2331720"/>
            <a:ext cx="2542032" cy="3291840"/>
          </a:xfrm>
          <a:prstGeom prst="roundRect">
            <a:avLst>
              <a:gd name="adj" fmla="val 4317"/>
            </a:avLst>
          </a:prstGeom>
          <a:solidFill>
            <a:srgbClr val="24365C"/>
          </a:solidFill>
          <a:ln w="12700">
            <a:solidFill>
              <a:srgbClr val="24365C"/>
            </a:solidFill>
            <a:prstDash val="solid"/>
          </a:ln>
        </p:spPr>
      </p:sp>
      <p:sp>
        <p:nvSpPr>
          <p:cNvPr id="21" name="Text 19"/>
          <p:cNvSpPr/>
          <p:nvPr/>
        </p:nvSpPr>
        <p:spPr>
          <a:xfrm>
            <a:off x="9180576" y="2560320"/>
            <a:ext cx="1097280" cy="50292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4</a:t>
            </a:r>
            <a:endParaRPr lang="en-US" sz="2200" dirty="0"/>
          </a:p>
        </p:txBody>
      </p:sp>
      <p:sp>
        <p:nvSpPr>
          <p:cNvPr id="22" name="Text 20"/>
          <p:cNvSpPr/>
          <p:nvPr/>
        </p:nvSpPr>
        <p:spPr>
          <a:xfrm>
            <a:off x="9180576" y="3108960"/>
            <a:ext cx="2084832" cy="457200"/>
          </a:xfrm>
          <a:prstGeom prst="rect">
            <a:avLst/>
          </a:prstGeom>
          <a:noFill/>
          <a:ln/>
        </p:spPr>
        <p:txBody>
          <a:bodyPr wrap="square" rtlCol="0" anchor="ctr"/>
          <a:lstStyle/>
          <a:p>
            <a:pPr indent="0" marL="0">
              <a:buNone/>
            </a:pPr>
            <a:r>
              <a:rPr lang="en-US" sz="1300" b="1" dirty="0">
                <a:solidFill>
                  <a:srgbClr val="F5F3EE"/>
                </a:solidFill>
                <a:latin typeface="Georgia" pitchFamily="34" charset="0"/>
                <a:ea typeface="Georgia" pitchFamily="34" charset="-122"/>
                <a:cs typeface="Georgia" pitchFamily="34" charset="-120"/>
              </a:rPr>
              <a:t>NOW</a:t>
            </a:r>
            <a:endParaRPr lang="en-US" sz="1300" dirty="0"/>
          </a:p>
        </p:txBody>
      </p:sp>
      <p:sp>
        <p:nvSpPr>
          <p:cNvPr id="23" name="Text 21"/>
          <p:cNvSpPr/>
          <p:nvPr/>
        </p:nvSpPr>
        <p:spPr>
          <a:xfrm>
            <a:off x="9180576" y="3611880"/>
            <a:ext cx="2084832" cy="1828800"/>
          </a:xfrm>
          <a:prstGeom prst="rect">
            <a:avLst/>
          </a:prstGeom>
          <a:noFill/>
          <a:ln/>
        </p:spPr>
        <p:txBody>
          <a:bodyPr wrap="square" rtlCol="0" anchor="ctr"/>
          <a:lstStyle/>
          <a:p>
            <a:pPr indent="0" marL="0">
              <a:lnSpc>
                <a:spcPct val="122000"/>
              </a:lnSpc>
              <a:buNone/>
            </a:pPr>
            <a:r>
              <a:rPr lang="en-US" sz="1050" dirty="0">
                <a:solidFill>
                  <a:srgbClr val="C7CFE0"/>
                </a:solidFill>
                <a:latin typeface="Arial" pitchFamily="34" charset="0"/>
                <a:ea typeface="Arial" pitchFamily="34" charset="-122"/>
                <a:cs typeface="Arial" pitchFamily="34" charset="-120"/>
              </a:rPr>
              <a:t>He writes. He publishes. He puts his name on projects like SentinelGRC Ops.</a:t>
            </a:r>
            <a:endParaRPr lang="en-US" sz="1050" dirty="0"/>
          </a:p>
        </p:txBody>
      </p:sp>
      <p:sp>
        <p:nvSpPr>
          <p:cNvPr id="24" name="Text 22"/>
          <p:cNvSpPr/>
          <p:nvPr/>
        </p:nvSpPr>
        <p:spPr>
          <a:xfrm>
            <a:off x="640080" y="5760720"/>
            <a:ext cx="10881360" cy="685800"/>
          </a:xfrm>
          <a:prstGeom prst="rect">
            <a:avLst/>
          </a:prstGeom>
          <a:noFill/>
          <a:ln/>
        </p:spPr>
        <p:txBody>
          <a:bodyPr wrap="square" rtlCol="0" anchor="ctr"/>
          <a:lstStyle/>
          <a:p>
            <a:pPr indent="0" marL="0">
              <a:lnSpc>
                <a:spcPct val="120000"/>
              </a:lnSpc>
              <a:buNone/>
            </a:pPr>
            <a:r>
              <a:rPr lang="en-US" sz="1600" b="1" i="1" dirty="0">
                <a:solidFill>
                  <a:srgbClr val="C9A24B"/>
                </a:solidFill>
                <a:latin typeface="Georgia" pitchFamily="34" charset="0"/>
                <a:ea typeface="Georgia" pitchFamily="34" charset="-122"/>
                <a:cs typeface="Georgia" pitchFamily="34" charset="-120"/>
              </a:rPr>
              <a:t>“Working less and showing more beats the reverse.”</a:t>
            </a:r>
            <a:endParaRPr lang="en-US" sz="1600" dirty="0"/>
          </a:p>
        </p:txBody>
      </p:sp>
      <p:sp>
        <p:nvSpPr>
          <p:cNvPr id="25" name="Text 23"/>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8598BE"/>
                </a:solidFill>
                <a:latin typeface="Arial" pitchFamily="34" charset="0"/>
                <a:ea typeface="Arial" pitchFamily="34" charset="-122"/>
                <a:cs typeface="Arial" pitchFamily="34" charset="-120"/>
              </a:rPr>
              <a:t>Hammad Rana</a:t>
            </a:r>
            <a:endParaRPr lang="en-US" sz="900" dirty="0"/>
          </a:p>
        </p:txBody>
      </p:sp>
      <p:sp>
        <p:nvSpPr>
          <p:cNvPr id="26" name="Text 24"/>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598BE"/>
                </a:solidFill>
                <a:latin typeface="Arial" pitchFamily="34" charset="0"/>
                <a:ea typeface="Arial" pitchFamily="34" charset="-122"/>
                <a:cs typeface="Arial"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24365C"/>
          </a:solidFill>
          <a:ln w="12700">
            <a:solidFill>
              <a:srgbClr val="24365C"/>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F5F3EE"/>
                </a:solidFill>
                <a:latin typeface="Arial" pitchFamily="34" charset="0"/>
                <a:ea typeface="Arial" pitchFamily="34" charset="-122"/>
                <a:cs typeface="Arial" pitchFamily="34" charset="-120"/>
              </a:rPr>
              <a:t>HAMMAD RANA</a:t>
            </a:r>
            <a:endParaRPr lang="en-US" sz="1000" dirty="0"/>
          </a:p>
        </p:txBody>
      </p:sp>
      <p:sp>
        <p:nvSpPr>
          <p:cNvPr id="5" name="Shape 3"/>
          <p:cNvSpPr/>
          <p:nvPr/>
        </p:nvSpPr>
        <p:spPr>
          <a:xfrm>
            <a:off x="640080" y="1463040"/>
            <a:ext cx="1554480" cy="365760"/>
          </a:xfrm>
          <a:prstGeom prst="roundRect">
            <a:avLst>
              <a:gd name="adj" fmla="val 15000"/>
            </a:avLst>
          </a:prstGeom>
          <a:solidFill>
            <a:srgbClr val="8A3B3B"/>
          </a:solidFill>
          <a:ln w="12700">
            <a:solidFill>
              <a:srgbClr val="8A3B3B"/>
            </a:solidFill>
            <a:prstDash val="solid"/>
          </a:ln>
        </p:spPr>
      </p:sp>
      <p:sp>
        <p:nvSpPr>
          <p:cNvPr id="6" name="Text 4"/>
          <p:cNvSpPr/>
          <p:nvPr/>
        </p:nvSpPr>
        <p:spPr>
          <a:xfrm>
            <a:off x="640080" y="1463040"/>
            <a:ext cx="155448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LIVE DEMO</a:t>
            </a:r>
            <a:endParaRPr lang="en-US" sz="1100" dirty="0"/>
          </a:p>
        </p:txBody>
      </p:sp>
      <p:sp>
        <p:nvSpPr>
          <p:cNvPr id="7" name="Text 5"/>
          <p:cNvSpPr/>
          <p:nvPr/>
        </p:nvSpPr>
        <p:spPr>
          <a:xfrm>
            <a:off x="640080" y="1920240"/>
            <a:ext cx="10515600" cy="1417320"/>
          </a:xfrm>
          <a:prstGeom prst="rect">
            <a:avLst/>
          </a:prstGeom>
          <a:noFill/>
          <a:ln/>
        </p:spPr>
        <p:txBody>
          <a:bodyPr wrap="square" rtlCol="0" anchor="ctr"/>
          <a:lstStyle/>
          <a:p>
            <a:pPr indent="0" marL="0">
              <a:lnSpc>
                <a:spcPct val="115000"/>
              </a:lnSpc>
              <a:buNone/>
            </a:pPr>
            <a:r>
              <a:rPr lang="en-US" sz="3400" b="1" dirty="0">
                <a:solidFill>
                  <a:srgbClr val="F5F3EE"/>
                </a:solidFill>
                <a:latin typeface="Georgia" pitchFamily="34" charset="0"/>
                <a:ea typeface="Georgia" pitchFamily="34" charset="-122"/>
                <a:cs typeface="Georgia" pitchFamily="34" charset="-120"/>
              </a:rPr>
              <a:t>Watch 30 CISA advisories</a:t>
            </a:r>
            <a:endParaRPr lang="en-US" sz="3400" dirty="0"/>
          </a:p>
          <a:p>
            <a:pPr indent="0" marL="0">
              <a:lnSpc>
                <a:spcPct val="115000"/>
              </a:lnSpc>
              <a:buNone/>
            </a:pPr>
            <a:r>
              <a:rPr lang="en-US" sz="3400" b="1" dirty="0">
                <a:solidFill>
                  <a:srgbClr val="F5F3EE"/>
                </a:solidFill>
                <a:latin typeface="Georgia" pitchFamily="34" charset="0"/>
                <a:ea typeface="Georgia" pitchFamily="34" charset="-122"/>
                <a:cs typeface="Georgia" pitchFamily="34" charset="-120"/>
              </a:rPr>
              <a:t>get mapped in under 600ms</a:t>
            </a:r>
            <a:endParaRPr lang="en-US" sz="3400" dirty="0"/>
          </a:p>
        </p:txBody>
      </p:sp>
      <p:sp>
        <p:nvSpPr>
          <p:cNvPr id="8" name="Text 6"/>
          <p:cNvSpPr/>
          <p:nvPr/>
        </p:nvSpPr>
        <p:spPr>
          <a:xfrm>
            <a:off x="640080" y="3401568"/>
            <a:ext cx="10515600" cy="320040"/>
          </a:xfrm>
          <a:prstGeom prst="rect">
            <a:avLst/>
          </a:prstGeom>
          <a:noFill/>
          <a:ln/>
        </p:spPr>
        <p:txBody>
          <a:bodyPr wrap="square" rtlCol="0" anchor="ctr"/>
          <a:lstStyle/>
          <a:p>
            <a:pPr indent="0" marL="0">
              <a:buNone/>
            </a:pPr>
            <a:r>
              <a:rPr lang="en-US" sz="1350" dirty="0">
                <a:solidFill>
                  <a:srgbClr val="E3EEEE"/>
                </a:solidFill>
                <a:latin typeface="Arial" pitchFamily="34" charset="0"/>
                <a:ea typeface="Arial" pitchFamily="34" charset="-122"/>
                <a:cs typeface="Arial" pitchFamily="34" charset="-120"/>
              </a:rPr>
              <a:t>SentinelGRC Ops  ·  n8n + Groq AI (llama-3.1-8b-instant)  ·  live on HuggingFace Spaces</a:t>
            </a:r>
            <a:endParaRPr lang="en-US" sz="1350" dirty="0"/>
          </a:p>
        </p:txBody>
      </p:sp>
      <p:sp>
        <p:nvSpPr>
          <p:cNvPr id="9" name="Text 7"/>
          <p:cNvSpPr/>
          <p:nvPr/>
        </p:nvSpPr>
        <p:spPr>
          <a:xfrm>
            <a:off x="640080" y="3730752"/>
            <a:ext cx="7772400" cy="292608"/>
          </a:xfrm>
          <a:prstGeom prst="rect">
            <a:avLst/>
          </a:prstGeom>
          <a:noFill/>
          <a:ln/>
        </p:spPr>
        <p:txBody>
          <a:bodyPr wrap="square" rtlCol="0" anchor="ctr"/>
          <a:lstStyle/>
          <a:p>
            <a:pPr indent="0" marL="0">
              <a:buNone/>
            </a:pPr>
            <a:r>
              <a:rPr lang="en-US" sz="1200" dirty="0">
                <a:solidFill>
                  <a:srgbClr val="C9A24B"/>
                </a:solidFill>
                <a:latin typeface="Arial" pitchFamily="34" charset="0"/>
                <a:ea typeface="Arial" pitchFamily="34" charset="-122"/>
                <a:cs typeface="Arial" pitchFamily="34" charset="-120"/>
              </a:rPr>
              <a:t>huggingface.co/spaces/HammadRana1/sentinel-grc-ops</a:t>
            </a:r>
            <a:endParaRPr lang="en-US" sz="1200" dirty="0"/>
          </a:p>
        </p:txBody>
      </p:sp>
      <p:sp>
        <p:nvSpPr>
          <p:cNvPr id="10" name="Shape 8"/>
          <p:cNvSpPr/>
          <p:nvPr/>
        </p:nvSpPr>
        <p:spPr>
          <a:xfrm>
            <a:off x="640080" y="4251960"/>
            <a:ext cx="3429000" cy="1691640"/>
          </a:xfrm>
          <a:prstGeom prst="roundRect">
            <a:avLst>
              <a:gd name="adj" fmla="val 6486"/>
            </a:avLst>
          </a:prstGeom>
          <a:solidFill>
            <a:srgbClr val="24365C"/>
          </a:solidFill>
          <a:ln w="12700">
            <a:solidFill>
              <a:srgbClr val="24365C"/>
            </a:solidFill>
            <a:prstDash val="solid"/>
          </a:ln>
        </p:spPr>
      </p:sp>
      <p:sp>
        <p:nvSpPr>
          <p:cNvPr id="11" name="Text 9"/>
          <p:cNvSpPr/>
          <p:nvPr/>
        </p:nvSpPr>
        <p:spPr>
          <a:xfrm>
            <a:off x="868680" y="4434840"/>
            <a:ext cx="1097280" cy="457200"/>
          </a:xfrm>
          <a:prstGeom prst="rect">
            <a:avLst/>
          </a:prstGeom>
          <a:noFill/>
          <a:ln/>
        </p:spPr>
        <p:txBody>
          <a:bodyPr wrap="square" rtlCol="0" anchor="ctr"/>
          <a:lstStyle/>
          <a:p>
            <a:pPr indent="0" marL="0">
              <a:buNone/>
            </a:pPr>
            <a:r>
              <a:rPr lang="en-US" sz="2000" b="1" dirty="0">
                <a:solidFill>
                  <a:srgbClr val="C9A24B"/>
                </a:solidFill>
                <a:latin typeface="Georgia" pitchFamily="34" charset="0"/>
                <a:ea typeface="Georgia" pitchFamily="34" charset="-122"/>
                <a:cs typeface="Georgia" pitchFamily="34" charset="-120"/>
              </a:rPr>
              <a:t>01</a:t>
            </a:r>
            <a:endParaRPr lang="en-US" sz="2000" dirty="0"/>
          </a:p>
        </p:txBody>
      </p:sp>
      <p:sp>
        <p:nvSpPr>
          <p:cNvPr id="12" name="Text 10"/>
          <p:cNvSpPr/>
          <p:nvPr/>
        </p:nvSpPr>
        <p:spPr>
          <a:xfrm>
            <a:off x="868680" y="4873752"/>
            <a:ext cx="2971800" cy="365760"/>
          </a:xfrm>
          <a:prstGeom prst="rect">
            <a:avLst/>
          </a:prstGeom>
          <a:noFill/>
          <a:ln/>
        </p:spPr>
        <p:txBody>
          <a:bodyPr wrap="square" rtlCol="0" anchor="ctr"/>
          <a:lstStyle/>
          <a:p>
            <a:pPr indent="0" marL="0">
              <a:buNone/>
            </a:pPr>
            <a:r>
              <a:rPr lang="en-US" sz="1500" b="1" dirty="0">
                <a:solidFill>
                  <a:srgbClr val="F5F3EE"/>
                </a:solidFill>
                <a:latin typeface="Georgia" pitchFamily="34" charset="0"/>
                <a:ea typeface="Georgia" pitchFamily="34" charset="-122"/>
                <a:cs typeface="Georgia" pitchFamily="34" charset="-120"/>
              </a:rPr>
              <a:t>INGEST</a:t>
            </a:r>
            <a:endParaRPr lang="en-US" sz="1500" dirty="0"/>
          </a:p>
        </p:txBody>
      </p:sp>
      <p:sp>
        <p:nvSpPr>
          <p:cNvPr id="13" name="Text 11"/>
          <p:cNvSpPr/>
          <p:nvPr/>
        </p:nvSpPr>
        <p:spPr>
          <a:xfrm>
            <a:off x="868680" y="5239512"/>
            <a:ext cx="2971800" cy="731520"/>
          </a:xfrm>
          <a:prstGeom prst="rect">
            <a:avLst/>
          </a:prstGeom>
          <a:noFill/>
          <a:ln/>
        </p:spPr>
        <p:txBody>
          <a:bodyPr wrap="square" rtlCol="0" anchor="ctr"/>
          <a:lstStyle/>
          <a:p>
            <a:pPr indent="0" marL="0">
              <a:lnSpc>
                <a:spcPct val="120000"/>
              </a:lnSpc>
              <a:buNone/>
            </a:pPr>
            <a:r>
              <a:rPr lang="en-US" sz="1080" dirty="0">
                <a:solidFill>
                  <a:srgbClr val="C7CFE0"/>
                </a:solidFill>
                <a:latin typeface="Arial" pitchFamily="34" charset="0"/>
                <a:ea typeface="Arial" pitchFamily="34" charset="-122"/>
                <a:cs typeface="Arial" pitchFamily="34" charset="-120"/>
              </a:rPr>
              <a:t>Pull the live CISA advisory feed, 30 records at a time</a:t>
            </a:r>
            <a:endParaRPr lang="en-US" sz="1080" dirty="0"/>
          </a:p>
        </p:txBody>
      </p:sp>
      <p:sp>
        <p:nvSpPr>
          <p:cNvPr id="14" name="Shape 12"/>
          <p:cNvSpPr/>
          <p:nvPr/>
        </p:nvSpPr>
        <p:spPr>
          <a:xfrm>
            <a:off x="4343400" y="4251960"/>
            <a:ext cx="3429000" cy="1691640"/>
          </a:xfrm>
          <a:prstGeom prst="roundRect">
            <a:avLst>
              <a:gd name="adj" fmla="val 6486"/>
            </a:avLst>
          </a:prstGeom>
          <a:solidFill>
            <a:srgbClr val="24365C"/>
          </a:solidFill>
          <a:ln w="12700">
            <a:solidFill>
              <a:srgbClr val="24365C"/>
            </a:solidFill>
            <a:prstDash val="solid"/>
          </a:ln>
        </p:spPr>
      </p:sp>
      <p:sp>
        <p:nvSpPr>
          <p:cNvPr id="15" name="Text 13"/>
          <p:cNvSpPr/>
          <p:nvPr/>
        </p:nvSpPr>
        <p:spPr>
          <a:xfrm>
            <a:off x="4572000" y="4434840"/>
            <a:ext cx="1097280" cy="457200"/>
          </a:xfrm>
          <a:prstGeom prst="rect">
            <a:avLst/>
          </a:prstGeom>
          <a:noFill/>
          <a:ln/>
        </p:spPr>
        <p:txBody>
          <a:bodyPr wrap="square" rtlCol="0" anchor="ctr"/>
          <a:lstStyle/>
          <a:p>
            <a:pPr indent="0" marL="0">
              <a:buNone/>
            </a:pPr>
            <a:r>
              <a:rPr lang="en-US" sz="2000" b="1" dirty="0">
                <a:solidFill>
                  <a:srgbClr val="C9A24B"/>
                </a:solidFill>
                <a:latin typeface="Georgia" pitchFamily="34" charset="0"/>
                <a:ea typeface="Georgia" pitchFamily="34" charset="-122"/>
                <a:cs typeface="Georgia" pitchFamily="34" charset="-120"/>
              </a:rPr>
              <a:t>02</a:t>
            </a:r>
            <a:endParaRPr lang="en-US" sz="2000" dirty="0"/>
          </a:p>
        </p:txBody>
      </p:sp>
      <p:sp>
        <p:nvSpPr>
          <p:cNvPr id="16" name="Text 14"/>
          <p:cNvSpPr/>
          <p:nvPr/>
        </p:nvSpPr>
        <p:spPr>
          <a:xfrm>
            <a:off x="4572000" y="4873752"/>
            <a:ext cx="2971800" cy="365760"/>
          </a:xfrm>
          <a:prstGeom prst="rect">
            <a:avLst/>
          </a:prstGeom>
          <a:noFill/>
          <a:ln/>
        </p:spPr>
        <p:txBody>
          <a:bodyPr wrap="square" rtlCol="0" anchor="ctr"/>
          <a:lstStyle/>
          <a:p>
            <a:pPr indent="0" marL="0">
              <a:buNone/>
            </a:pPr>
            <a:r>
              <a:rPr lang="en-US" sz="1500" b="1" dirty="0">
                <a:solidFill>
                  <a:srgbClr val="F5F3EE"/>
                </a:solidFill>
                <a:latin typeface="Georgia" pitchFamily="34" charset="0"/>
                <a:ea typeface="Georgia" pitchFamily="34" charset="-122"/>
                <a:cs typeface="Georgia" pitchFamily="34" charset="-120"/>
              </a:rPr>
              <a:t>ANALYZE</a:t>
            </a:r>
            <a:endParaRPr lang="en-US" sz="1500" dirty="0"/>
          </a:p>
        </p:txBody>
      </p:sp>
      <p:sp>
        <p:nvSpPr>
          <p:cNvPr id="17" name="Text 15"/>
          <p:cNvSpPr/>
          <p:nvPr/>
        </p:nvSpPr>
        <p:spPr>
          <a:xfrm>
            <a:off x="4572000" y="5239512"/>
            <a:ext cx="2971800" cy="731520"/>
          </a:xfrm>
          <a:prstGeom prst="rect">
            <a:avLst/>
          </a:prstGeom>
          <a:noFill/>
          <a:ln/>
        </p:spPr>
        <p:txBody>
          <a:bodyPr wrap="square" rtlCol="0" anchor="ctr"/>
          <a:lstStyle/>
          <a:p>
            <a:pPr indent="0" marL="0">
              <a:lnSpc>
                <a:spcPct val="120000"/>
              </a:lnSpc>
              <a:buNone/>
            </a:pPr>
            <a:r>
              <a:rPr lang="en-US" sz="1080" dirty="0">
                <a:solidFill>
                  <a:srgbClr val="C7CFE0"/>
                </a:solidFill>
                <a:latin typeface="Arial" pitchFamily="34" charset="0"/>
                <a:ea typeface="Arial" pitchFamily="34" charset="-122"/>
                <a:cs typeface="Arial" pitchFamily="34" charset="-120"/>
              </a:rPr>
              <a:t>LLM maps each finding to ISO 27001 / SOC 2 / GDPR, with reasoning</a:t>
            </a:r>
            <a:endParaRPr lang="en-US" sz="1080" dirty="0"/>
          </a:p>
        </p:txBody>
      </p:sp>
      <p:sp>
        <p:nvSpPr>
          <p:cNvPr id="18" name="Shape 16"/>
          <p:cNvSpPr/>
          <p:nvPr/>
        </p:nvSpPr>
        <p:spPr>
          <a:xfrm>
            <a:off x="8046720" y="4251960"/>
            <a:ext cx="3429000" cy="1691640"/>
          </a:xfrm>
          <a:prstGeom prst="roundRect">
            <a:avLst>
              <a:gd name="adj" fmla="val 6486"/>
            </a:avLst>
          </a:prstGeom>
          <a:solidFill>
            <a:srgbClr val="24365C"/>
          </a:solidFill>
          <a:ln w="12700">
            <a:solidFill>
              <a:srgbClr val="24365C"/>
            </a:solidFill>
            <a:prstDash val="solid"/>
          </a:ln>
        </p:spPr>
      </p:sp>
      <p:sp>
        <p:nvSpPr>
          <p:cNvPr id="19" name="Text 17"/>
          <p:cNvSpPr/>
          <p:nvPr/>
        </p:nvSpPr>
        <p:spPr>
          <a:xfrm>
            <a:off x="8275320" y="4434840"/>
            <a:ext cx="1097280" cy="457200"/>
          </a:xfrm>
          <a:prstGeom prst="rect">
            <a:avLst/>
          </a:prstGeom>
          <a:noFill/>
          <a:ln/>
        </p:spPr>
        <p:txBody>
          <a:bodyPr wrap="square" rtlCol="0" anchor="ctr"/>
          <a:lstStyle/>
          <a:p>
            <a:pPr indent="0" marL="0">
              <a:buNone/>
            </a:pPr>
            <a:r>
              <a:rPr lang="en-US" sz="2000" b="1" dirty="0">
                <a:solidFill>
                  <a:srgbClr val="C9A24B"/>
                </a:solidFill>
                <a:latin typeface="Georgia" pitchFamily="34" charset="0"/>
                <a:ea typeface="Georgia" pitchFamily="34" charset="-122"/>
                <a:cs typeface="Georgia" pitchFamily="34" charset="-120"/>
              </a:rPr>
              <a:t>03</a:t>
            </a:r>
            <a:endParaRPr lang="en-US" sz="2000" dirty="0"/>
          </a:p>
        </p:txBody>
      </p:sp>
      <p:sp>
        <p:nvSpPr>
          <p:cNvPr id="20" name="Text 18"/>
          <p:cNvSpPr/>
          <p:nvPr/>
        </p:nvSpPr>
        <p:spPr>
          <a:xfrm>
            <a:off x="8275320" y="4873752"/>
            <a:ext cx="2971800" cy="365760"/>
          </a:xfrm>
          <a:prstGeom prst="rect">
            <a:avLst/>
          </a:prstGeom>
          <a:noFill/>
          <a:ln/>
        </p:spPr>
        <p:txBody>
          <a:bodyPr wrap="square" rtlCol="0" anchor="ctr"/>
          <a:lstStyle/>
          <a:p>
            <a:pPr indent="0" marL="0">
              <a:buNone/>
            </a:pPr>
            <a:r>
              <a:rPr lang="en-US" sz="1500" b="1" dirty="0">
                <a:solidFill>
                  <a:srgbClr val="F5F3EE"/>
                </a:solidFill>
                <a:latin typeface="Georgia" pitchFamily="34" charset="0"/>
                <a:ea typeface="Georgia" pitchFamily="34" charset="-122"/>
                <a:cs typeface="Georgia" pitchFamily="34" charset="-120"/>
              </a:rPr>
              <a:t>ROUTE</a:t>
            </a:r>
            <a:endParaRPr lang="en-US" sz="1500" dirty="0"/>
          </a:p>
        </p:txBody>
      </p:sp>
      <p:sp>
        <p:nvSpPr>
          <p:cNvPr id="21" name="Text 19"/>
          <p:cNvSpPr/>
          <p:nvPr/>
        </p:nvSpPr>
        <p:spPr>
          <a:xfrm>
            <a:off x="8275320" y="5239512"/>
            <a:ext cx="2971800" cy="731520"/>
          </a:xfrm>
          <a:prstGeom prst="rect">
            <a:avLst/>
          </a:prstGeom>
          <a:noFill/>
          <a:ln/>
        </p:spPr>
        <p:txBody>
          <a:bodyPr wrap="square" rtlCol="0" anchor="ctr"/>
          <a:lstStyle/>
          <a:p>
            <a:pPr indent="0" marL="0">
              <a:lnSpc>
                <a:spcPct val="120000"/>
              </a:lnSpc>
              <a:buNone/>
            </a:pPr>
            <a:r>
              <a:rPr lang="en-US" sz="1080" dirty="0">
                <a:solidFill>
                  <a:srgbClr val="C7CFE0"/>
                </a:solidFill>
                <a:latin typeface="Arial" pitchFamily="34" charset="0"/>
                <a:ea typeface="Arial" pitchFamily="34" charset="-122"/>
                <a:cs typeface="Arial" pitchFamily="34" charset="-120"/>
              </a:rPr>
              <a:t>Write the Jira ticket and Slack notification, routed by data sensitivity</a:t>
            </a:r>
            <a:endParaRPr lang="en-US" sz="1080" dirty="0"/>
          </a:p>
        </p:txBody>
      </p:sp>
      <p:sp>
        <p:nvSpPr>
          <p:cNvPr id="22" name="Text 20"/>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8598BE"/>
                </a:solidFill>
                <a:latin typeface="Arial" pitchFamily="34" charset="0"/>
                <a:ea typeface="Arial" pitchFamily="34" charset="-122"/>
                <a:cs typeface="Arial" pitchFamily="34" charset="-120"/>
              </a:rPr>
              <a:t>Hammad Rana</a:t>
            </a:r>
            <a:endParaRPr lang="en-US" sz="900" dirty="0"/>
          </a:p>
        </p:txBody>
      </p:sp>
      <p:sp>
        <p:nvSpPr>
          <p:cNvPr id="23" name="Text 21"/>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598BE"/>
                </a:solidFill>
                <a:latin typeface="Arial" pitchFamily="34" charset="0"/>
                <a:ea typeface="Arial" pitchFamily="34" charset="-122"/>
                <a:cs typeface="Arial"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1B2A4A"/>
          </a:solidFill>
          <a:ln w="12700">
            <a:solidFill>
              <a:srgbClr val="1B2A4A"/>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1B2A4A"/>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3C6E71"/>
                </a:solidFill>
                <a:latin typeface="Arial" pitchFamily="34" charset="0"/>
                <a:ea typeface="Arial" pitchFamily="34" charset="-122"/>
                <a:cs typeface="Arial" pitchFamily="34" charset="-120"/>
              </a:rPr>
              <a:t>MADISON AI TOOL</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1B2A4A"/>
                </a:solidFill>
                <a:latin typeface="Georgia" pitchFamily="34" charset="0"/>
                <a:ea typeface="Georgia" pitchFamily="34" charset="-122"/>
                <a:cs typeface="Georgia" pitchFamily="34" charset="-120"/>
              </a:rPr>
              <a:t>SentinelGRC Ops</a:t>
            </a:r>
            <a:endParaRPr lang="en-US" sz="2900" dirty="0"/>
          </a:p>
        </p:txBody>
      </p:sp>
      <p:sp>
        <p:nvSpPr>
          <p:cNvPr id="7" name="Text 5"/>
          <p:cNvSpPr/>
          <p:nvPr/>
        </p:nvSpPr>
        <p:spPr>
          <a:xfrm>
            <a:off x="640080" y="1737360"/>
            <a:ext cx="7315200" cy="320040"/>
          </a:xfrm>
          <a:prstGeom prst="rect">
            <a:avLst/>
          </a:prstGeom>
          <a:noFill/>
          <a:ln/>
        </p:spPr>
        <p:txBody>
          <a:bodyPr wrap="square" rtlCol="0" anchor="ctr"/>
          <a:lstStyle/>
          <a:p>
            <a:pPr indent="0" marL="0">
              <a:buNone/>
            </a:pPr>
            <a:r>
              <a:rPr lang="en-US" sz="1300" i="1" dirty="0">
                <a:solidFill>
                  <a:srgbClr val="3C6E71"/>
                </a:solidFill>
                <a:latin typeface="Arial" pitchFamily="34" charset="0"/>
                <a:ea typeface="Arial" pitchFamily="34" charset="-122"/>
                <a:cs typeface="Arial" pitchFamily="34" charset="-120"/>
              </a:rPr>
              <a:t>AI-powered GRC intelligence pipeline</a:t>
            </a:r>
            <a:endParaRPr lang="en-US" sz="1300" dirty="0"/>
          </a:p>
        </p:txBody>
      </p:sp>
      <p:sp>
        <p:nvSpPr>
          <p:cNvPr id="8" name="Shape 6"/>
          <p:cNvSpPr/>
          <p:nvPr/>
        </p:nvSpPr>
        <p:spPr>
          <a:xfrm>
            <a:off x="640080" y="2286000"/>
            <a:ext cx="5212080" cy="1874520"/>
          </a:xfrm>
          <a:prstGeom prst="roundRect">
            <a:avLst>
              <a:gd name="adj" fmla="val 5854"/>
            </a:avLst>
          </a:prstGeom>
          <a:solidFill>
            <a:srgbClr val="F5EBD6"/>
          </a:solidFill>
          <a:ln w="12700">
            <a:solidFill>
              <a:srgbClr val="F5EBD6"/>
            </a:solidFill>
            <a:prstDash val="solid"/>
          </a:ln>
        </p:spPr>
      </p:sp>
      <p:sp>
        <p:nvSpPr>
          <p:cNvPr id="9" name="Text 7"/>
          <p:cNvSpPr/>
          <p:nvPr/>
        </p:nvSpPr>
        <p:spPr>
          <a:xfrm>
            <a:off x="914400" y="2450592"/>
            <a:ext cx="4663440" cy="292608"/>
          </a:xfrm>
          <a:prstGeom prst="rect">
            <a:avLst/>
          </a:prstGeom>
          <a:noFill/>
          <a:ln/>
        </p:spPr>
        <p:txBody>
          <a:bodyPr wrap="square" rtlCol="0" anchor="ctr"/>
          <a:lstStyle/>
          <a:p>
            <a:pPr indent="0" marL="0">
              <a:buNone/>
            </a:pPr>
            <a:r>
              <a:rPr lang="en-US" sz="1150" b="1" dirty="0">
                <a:solidFill>
                  <a:srgbClr val="8A6A1F"/>
                </a:solidFill>
                <a:latin typeface="Arial" pitchFamily="34" charset="0"/>
                <a:ea typeface="Arial" pitchFamily="34" charset="-122"/>
                <a:cs typeface="Arial" pitchFamily="34" charset="-120"/>
              </a:rPr>
              <a:t>THE PROBLEM</a:t>
            </a:r>
            <a:endParaRPr lang="en-US" sz="1150" dirty="0"/>
          </a:p>
        </p:txBody>
      </p:sp>
      <p:sp>
        <p:nvSpPr>
          <p:cNvPr id="10" name="Text 8"/>
          <p:cNvSpPr/>
          <p:nvPr/>
        </p:nvSpPr>
        <p:spPr>
          <a:xfrm>
            <a:off x="914400" y="2788920"/>
            <a:ext cx="4663440" cy="1234440"/>
          </a:xfrm>
          <a:prstGeom prst="rect">
            <a:avLst/>
          </a:prstGeom>
          <a:noFill/>
          <a:ln/>
        </p:spPr>
        <p:txBody>
          <a:bodyPr wrap="square" rtlCol="0" anchor="ctr"/>
          <a:lstStyle/>
          <a:p>
            <a:pPr indent="0" marL="0">
              <a:lnSpc>
                <a:spcPct val="120000"/>
              </a:lnSpc>
              <a:buNone/>
            </a:pPr>
            <a:r>
              <a:rPr lang="en-US" sz="1250" dirty="0">
                <a:solidFill>
                  <a:srgbClr val="3D4657"/>
                </a:solidFill>
                <a:latin typeface="Arial" pitchFamily="34" charset="0"/>
                <a:ea typeface="Arial" pitchFamily="34" charset="-122"/>
                <a:cs typeface="Arial" pitchFamily="34" charset="-120"/>
              </a:rPr>
              <a:t>GRC analysts spend 2–3 hours a week manually mapping CVEs and vendor questionnaires to compliance controls — repetitive, expensive, and error-prone.</a:t>
            </a:r>
            <a:endParaRPr lang="en-US" sz="1250" dirty="0"/>
          </a:p>
        </p:txBody>
      </p:sp>
      <p:sp>
        <p:nvSpPr>
          <p:cNvPr id="11" name="Shape 9"/>
          <p:cNvSpPr/>
          <p:nvPr/>
        </p:nvSpPr>
        <p:spPr>
          <a:xfrm>
            <a:off x="6035040" y="2286000"/>
            <a:ext cx="5486400" cy="1874520"/>
          </a:xfrm>
          <a:prstGeom prst="roundRect">
            <a:avLst>
              <a:gd name="adj" fmla="val 5854"/>
            </a:avLst>
          </a:prstGeom>
          <a:solidFill>
            <a:srgbClr val="E3EEEE"/>
          </a:solidFill>
          <a:ln w="12700">
            <a:solidFill>
              <a:srgbClr val="E3EEEE"/>
            </a:solidFill>
            <a:prstDash val="solid"/>
          </a:ln>
        </p:spPr>
      </p:sp>
      <p:sp>
        <p:nvSpPr>
          <p:cNvPr id="12" name="Text 10"/>
          <p:cNvSpPr/>
          <p:nvPr/>
        </p:nvSpPr>
        <p:spPr>
          <a:xfrm>
            <a:off x="6309360" y="2450592"/>
            <a:ext cx="4937760" cy="292608"/>
          </a:xfrm>
          <a:prstGeom prst="rect">
            <a:avLst/>
          </a:prstGeom>
          <a:noFill/>
          <a:ln/>
        </p:spPr>
        <p:txBody>
          <a:bodyPr wrap="square" rtlCol="0" anchor="ctr"/>
          <a:lstStyle/>
          <a:p>
            <a:pPr indent="0" marL="0">
              <a:buNone/>
            </a:pPr>
            <a:r>
              <a:rPr lang="en-US" sz="1150" b="1" dirty="0">
                <a:solidFill>
                  <a:srgbClr val="1F5654"/>
                </a:solidFill>
                <a:latin typeface="Arial" pitchFamily="34" charset="0"/>
                <a:ea typeface="Arial" pitchFamily="34" charset="-122"/>
                <a:cs typeface="Arial" pitchFamily="34" charset="-120"/>
              </a:rPr>
              <a:t>THE SOLUTION</a:t>
            </a:r>
            <a:endParaRPr lang="en-US" sz="1150" dirty="0"/>
          </a:p>
        </p:txBody>
      </p:sp>
      <p:sp>
        <p:nvSpPr>
          <p:cNvPr id="13" name="Text 11"/>
          <p:cNvSpPr/>
          <p:nvPr/>
        </p:nvSpPr>
        <p:spPr>
          <a:xfrm>
            <a:off x="6309360" y="2788920"/>
            <a:ext cx="4937760" cy="1234440"/>
          </a:xfrm>
          <a:prstGeom prst="rect">
            <a:avLst/>
          </a:prstGeom>
          <a:noFill/>
          <a:ln/>
        </p:spPr>
        <p:txBody>
          <a:bodyPr wrap="square" rtlCol="0" anchor="ctr"/>
          <a:lstStyle/>
          <a:p>
            <a:pPr indent="0" marL="0">
              <a:lnSpc>
                <a:spcPct val="120000"/>
              </a:lnSpc>
              <a:buNone/>
            </a:pPr>
            <a:r>
              <a:rPr lang="en-US" sz="1250" dirty="0">
                <a:solidFill>
                  <a:srgbClr val="3D4657"/>
                </a:solidFill>
                <a:latin typeface="Arial" pitchFamily="34" charset="0"/>
                <a:ea typeface="Arial" pitchFamily="34" charset="-122"/>
                <a:cs typeface="Arial" pitchFamily="34" charset="-120"/>
              </a:rPr>
              <a:t>An n8n pipeline that ingests live CISA advisories and vendor data, maps findings to ISO 27001 / SOC 2 / GDPR with an LLM, and writes audit-ready Jira tickets automatically.</a:t>
            </a:r>
            <a:endParaRPr lang="en-US" sz="1250" dirty="0"/>
          </a:p>
        </p:txBody>
      </p:sp>
      <p:sp>
        <p:nvSpPr>
          <p:cNvPr id="14" name="Shape 12"/>
          <p:cNvSpPr/>
          <p:nvPr/>
        </p:nvSpPr>
        <p:spPr>
          <a:xfrm>
            <a:off x="640080" y="4389120"/>
            <a:ext cx="2606040" cy="1508760"/>
          </a:xfrm>
          <a:prstGeom prst="roundRect">
            <a:avLst>
              <a:gd name="adj" fmla="val 6061"/>
            </a:avLst>
          </a:prstGeom>
          <a:solidFill>
            <a:srgbClr val="FFFFFF"/>
          </a:solidFill>
          <a:ln w="12700">
            <a:solidFill>
              <a:srgbClr val="D8D3C6"/>
            </a:solidFill>
            <a:prstDash val="solid"/>
          </a:ln>
        </p:spPr>
      </p:sp>
      <p:sp>
        <p:nvSpPr>
          <p:cNvPr id="15" name="Text 13"/>
          <p:cNvSpPr/>
          <p:nvPr/>
        </p:nvSpPr>
        <p:spPr>
          <a:xfrm>
            <a:off x="640080" y="4553712"/>
            <a:ext cx="2606040" cy="640080"/>
          </a:xfrm>
          <a:prstGeom prst="rect">
            <a:avLst/>
          </a:prstGeom>
          <a:noFill/>
          <a:ln/>
        </p:spPr>
        <p:txBody>
          <a:bodyPr wrap="square" rtlCol="0" anchor="ctr"/>
          <a:lstStyle/>
          <a:p>
            <a:pPr algn="ctr" indent="0" marL="0">
              <a:buNone/>
            </a:pPr>
            <a:r>
              <a:rPr lang="en-US" sz="2600" b="1" dirty="0">
                <a:solidFill>
                  <a:srgbClr val="1B2A4A"/>
                </a:solidFill>
                <a:latin typeface="Georgia" pitchFamily="34" charset="0"/>
                <a:ea typeface="Georgia" pitchFamily="34" charset="-122"/>
                <a:cs typeface="Georgia" pitchFamily="34" charset="-120"/>
              </a:rPr>
              <a:t>3</a:t>
            </a:r>
            <a:endParaRPr lang="en-US" sz="2600" dirty="0"/>
          </a:p>
        </p:txBody>
      </p:sp>
      <p:sp>
        <p:nvSpPr>
          <p:cNvPr id="16" name="Text 14"/>
          <p:cNvSpPr/>
          <p:nvPr/>
        </p:nvSpPr>
        <p:spPr>
          <a:xfrm>
            <a:off x="822960" y="5230368"/>
            <a:ext cx="2240280" cy="548640"/>
          </a:xfrm>
          <a:prstGeom prst="rect">
            <a:avLst/>
          </a:prstGeom>
          <a:noFill/>
          <a:ln/>
        </p:spPr>
        <p:txBody>
          <a:bodyPr wrap="square"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data sources ingested</a:t>
            </a:r>
            <a:endParaRPr lang="en-US" sz="1100" dirty="0"/>
          </a:p>
        </p:txBody>
      </p:sp>
      <p:sp>
        <p:nvSpPr>
          <p:cNvPr id="17" name="Shape 15"/>
          <p:cNvSpPr/>
          <p:nvPr/>
        </p:nvSpPr>
        <p:spPr>
          <a:xfrm>
            <a:off x="3410712" y="4389120"/>
            <a:ext cx="2606040" cy="1508760"/>
          </a:xfrm>
          <a:prstGeom prst="roundRect">
            <a:avLst>
              <a:gd name="adj" fmla="val 6061"/>
            </a:avLst>
          </a:prstGeom>
          <a:solidFill>
            <a:srgbClr val="FFFFFF"/>
          </a:solidFill>
          <a:ln w="12700">
            <a:solidFill>
              <a:srgbClr val="D8D3C6"/>
            </a:solidFill>
            <a:prstDash val="solid"/>
          </a:ln>
        </p:spPr>
      </p:sp>
      <p:sp>
        <p:nvSpPr>
          <p:cNvPr id="18" name="Text 16"/>
          <p:cNvSpPr/>
          <p:nvPr/>
        </p:nvSpPr>
        <p:spPr>
          <a:xfrm>
            <a:off x="3410712" y="4553712"/>
            <a:ext cx="2606040" cy="640080"/>
          </a:xfrm>
          <a:prstGeom prst="rect">
            <a:avLst/>
          </a:prstGeom>
          <a:noFill/>
          <a:ln/>
        </p:spPr>
        <p:txBody>
          <a:bodyPr wrap="square" rtlCol="0" anchor="ctr"/>
          <a:lstStyle/>
          <a:p>
            <a:pPr algn="ctr" indent="0" marL="0">
              <a:buNone/>
            </a:pPr>
            <a:r>
              <a:rPr lang="en-US" sz="2600" b="1" dirty="0">
                <a:solidFill>
                  <a:srgbClr val="1B2A4A"/>
                </a:solidFill>
                <a:latin typeface="Georgia" pitchFamily="34" charset="0"/>
                <a:ea typeface="Georgia" pitchFamily="34" charset="-122"/>
                <a:cs typeface="Georgia" pitchFamily="34" charset="-120"/>
              </a:rPr>
              <a:t>99.6%</a:t>
            </a:r>
            <a:endParaRPr lang="en-US" sz="2600" dirty="0"/>
          </a:p>
        </p:txBody>
      </p:sp>
      <p:sp>
        <p:nvSpPr>
          <p:cNvPr id="19" name="Text 17"/>
          <p:cNvSpPr/>
          <p:nvPr/>
        </p:nvSpPr>
        <p:spPr>
          <a:xfrm>
            <a:off x="3593592" y="5230368"/>
            <a:ext cx="2240280" cy="548640"/>
          </a:xfrm>
          <a:prstGeom prst="rect">
            <a:avLst/>
          </a:prstGeom>
          <a:noFill/>
          <a:ln/>
        </p:spPr>
        <p:txBody>
          <a:bodyPr wrap="square"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pipeline pass rate</a:t>
            </a:r>
            <a:endParaRPr lang="en-US" sz="1100" dirty="0"/>
          </a:p>
        </p:txBody>
      </p:sp>
      <p:sp>
        <p:nvSpPr>
          <p:cNvPr id="20" name="Shape 18"/>
          <p:cNvSpPr/>
          <p:nvPr/>
        </p:nvSpPr>
        <p:spPr>
          <a:xfrm>
            <a:off x="6181344" y="4389120"/>
            <a:ext cx="2606040" cy="1508760"/>
          </a:xfrm>
          <a:prstGeom prst="roundRect">
            <a:avLst>
              <a:gd name="adj" fmla="val 6061"/>
            </a:avLst>
          </a:prstGeom>
          <a:solidFill>
            <a:srgbClr val="FFFFFF"/>
          </a:solidFill>
          <a:ln w="12700">
            <a:solidFill>
              <a:srgbClr val="D8D3C6"/>
            </a:solidFill>
            <a:prstDash val="solid"/>
          </a:ln>
        </p:spPr>
      </p:sp>
      <p:sp>
        <p:nvSpPr>
          <p:cNvPr id="21" name="Text 19"/>
          <p:cNvSpPr/>
          <p:nvPr/>
        </p:nvSpPr>
        <p:spPr>
          <a:xfrm>
            <a:off x="6181344" y="4553712"/>
            <a:ext cx="2606040" cy="640080"/>
          </a:xfrm>
          <a:prstGeom prst="rect">
            <a:avLst/>
          </a:prstGeom>
          <a:noFill/>
          <a:ln/>
        </p:spPr>
        <p:txBody>
          <a:bodyPr wrap="square" rtlCol="0" anchor="ctr"/>
          <a:lstStyle/>
          <a:p>
            <a:pPr algn="ctr" indent="0" marL="0">
              <a:buNone/>
            </a:pPr>
            <a:r>
              <a:rPr lang="en-US" sz="2600" b="1" dirty="0">
                <a:solidFill>
                  <a:srgbClr val="1B2A4A"/>
                </a:solidFill>
                <a:latin typeface="Georgia" pitchFamily="34" charset="0"/>
                <a:ea typeface="Georgia" pitchFamily="34" charset="-122"/>
                <a:cs typeface="Georgia" pitchFamily="34" charset="-120"/>
              </a:rPr>
              <a:t>&lt;600ms</a:t>
            </a:r>
            <a:endParaRPr lang="en-US" sz="2600" dirty="0"/>
          </a:p>
        </p:txBody>
      </p:sp>
      <p:sp>
        <p:nvSpPr>
          <p:cNvPr id="22" name="Text 20"/>
          <p:cNvSpPr/>
          <p:nvPr/>
        </p:nvSpPr>
        <p:spPr>
          <a:xfrm>
            <a:off x="6364224" y="5230368"/>
            <a:ext cx="2240280" cy="548640"/>
          </a:xfrm>
          <a:prstGeom prst="rect">
            <a:avLst/>
          </a:prstGeom>
          <a:noFill/>
          <a:ln/>
        </p:spPr>
        <p:txBody>
          <a:bodyPr wrap="square"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processing time</a:t>
            </a:r>
            <a:endParaRPr lang="en-US" sz="1100" dirty="0"/>
          </a:p>
        </p:txBody>
      </p:sp>
      <p:sp>
        <p:nvSpPr>
          <p:cNvPr id="23" name="Shape 21"/>
          <p:cNvSpPr/>
          <p:nvPr/>
        </p:nvSpPr>
        <p:spPr>
          <a:xfrm>
            <a:off x="8951976" y="4389120"/>
            <a:ext cx="2606040" cy="1508760"/>
          </a:xfrm>
          <a:prstGeom prst="roundRect">
            <a:avLst>
              <a:gd name="adj" fmla="val 6061"/>
            </a:avLst>
          </a:prstGeom>
          <a:solidFill>
            <a:srgbClr val="FFFFFF"/>
          </a:solidFill>
          <a:ln w="12700">
            <a:solidFill>
              <a:srgbClr val="D8D3C6"/>
            </a:solidFill>
            <a:prstDash val="solid"/>
          </a:ln>
        </p:spPr>
      </p:sp>
      <p:sp>
        <p:nvSpPr>
          <p:cNvPr id="24" name="Text 22"/>
          <p:cNvSpPr/>
          <p:nvPr/>
        </p:nvSpPr>
        <p:spPr>
          <a:xfrm>
            <a:off x="8951976" y="4553712"/>
            <a:ext cx="2606040" cy="640080"/>
          </a:xfrm>
          <a:prstGeom prst="rect">
            <a:avLst/>
          </a:prstGeom>
          <a:noFill/>
          <a:ln/>
        </p:spPr>
        <p:txBody>
          <a:bodyPr wrap="square" rtlCol="0" anchor="ctr"/>
          <a:lstStyle/>
          <a:p>
            <a:pPr algn="ctr" indent="0" marL="0">
              <a:buNone/>
            </a:pPr>
            <a:r>
              <a:rPr lang="en-US" sz="2600" b="1" dirty="0">
                <a:solidFill>
                  <a:srgbClr val="1B2A4A"/>
                </a:solidFill>
                <a:latin typeface="Georgia" pitchFamily="34" charset="0"/>
                <a:ea typeface="Georgia" pitchFamily="34" charset="-122"/>
                <a:cs typeface="Georgia" pitchFamily="34" charset="-120"/>
              </a:rPr>
              <a:t>$0.00</a:t>
            </a:r>
            <a:endParaRPr lang="en-US" sz="2600" dirty="0"/>
          </a:p>
        </p:txBody>
      </p:sp>
      <p:sp>
        <p:nvSpPr>
          <p:cNvPr id="25" name="Text 23"/>
          <p:cNvSpPr/>
          <p:nvPr/>
        </p:nvSpPr>
        <p:spPr>
          <a:xfrm>
            <a:off x="9134856" y="5230368"/>
            <a:ext cx="2240280" cy="548640"/>
          </a:xfrm>
          <a:prstGeom prst="rect">
            <a:avLst/>
          </a:prstGeom>
          <a:noFill/>
          <a:ln/>
        </p:spPr>
        <p:txBody>
          <a:bodyPr wrap="square"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cost per demo run</a:t>
            </a:r>
            <a:endParaRPr lang="en-US" sz="1100" dirty="0"/>
          </a:p>
        </p:txBody>
      </p:sp>
      <p:sp>
        <p:nvSpPr>
          <p:cNvPr id="26" name="Text 24"/>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9AA0A0"/>
                </a:solidFill>
                <a:latin typeface="Arial" pitchFamily="34" charset="0"/>
                <a:ea typeface="Arial" pitchFamily="34" charset="-122"/>
                <a:cs typeface="Arial" pitchFamily="34" charset="-120"/>
              </a:rPr>
              <a:t>Hammad Rana</a:t>
            </a:r>
            <a:endParaRPr lang="en-US" sz="900" dirty="0"/>
          </a:p>
        </p:txBody>
      </p:sp>
      <p:sp>
        <p:nvSpPr>
          <p:cNvPr id="27" name="Text 2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9AA0A0"/>
                </a:solidFill>
                <a:latin typeface="Arial" pitchFamily="34" charset="0"/>
                <a:ea typeface="Arial" pitchFamily="34" charset="-122"/>
                <a:cs typeface="Arial"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24365C"/>
          </a:solidFill>
          <a:ln w="12700">
            <a:solidFill>
              <a:srgbClr val="24365C"/>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F5F3EE"/>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C9A24B"/>
                </a:solidFill>
                <a:latin typeface="Arial" pitchFamily="34" charset="0"/>
                <a:ea typeface="Arial" pitchFamily="34" charset="-122"/>
                <a:cs typeface="Arial" pitchFamily="34" charset="-120"/>
              </a:rPr>
              <a:t>MADISON AI TOOL</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F5F3EE"/>
                </a:solidFill>
                <a:latin typeface="Georgia" pitchFamily="34" charset="0"/>
                <a:ea typeface="Georgia" pitchFamily="34" charset="-122"/>
                <a:cs typeface="Georgia" pitchFamily="34" charset="-120"/>
              </a:rPr>
              <a:t>How it works — a three-agent pipeline</a:t>
            </a:r>
            <a:endParaRPr lang="en-US" sz="2900" dirty="0"/>
          </a:p>
        </p:txBody>
      </p:sp>
      <p:sp>
        <p:nvSpPr>
          <p:cNvPr id="7" name="Text 5"/>
          <p:cNvSpPr/>
          <p:nvPr/>
        </p:nvSpPr>
        <p:spPr>
          <a:xfrm>
            <a:off x="640080" y="1737360"/>
            <a:ext cx="10515600" cy="365760"/>
          </a:xfrm>
          <a:prstGeom prst="rect">
            <a:avLst/>
          </a:prstGeom>
          <a:noFill/>
          <a:ln/>
        </p:spPr>
        <p:txBody>
          <a:bodyPr wrap="square" rtlCol="0" anchor="ctr"/>
          <a:lstStyle/>
          <a:p>
            <a:pPr indent="0" marL="0">
              <a:buNone/>
            </a:pPr>
            <a:r>
              <a:rPr lang="en-US" sz="1250" dirty="0">
                <a:solidFill>
                  <a:srgbClr val="C7CFE0"/>
                </a:solidFill>
                <a:latin typeface="Arial" pitchFamily="34" charset="0"/>
                <a:ea typeface="Arial" pitchFamily="34" charset="-122"/>
                <a:cs typeface="Arial" pitchFamily="34" charset="-120"/>
              </a:rPr>
              <a:t>Coordinated by n8n. Every agent boundary is a typed JSON contract — malformed payloads fail loudly, never silently.</a:t>
            </a:r>
            <a:endParaRPr lang="en-US" sz="1250" dirty="0"/>
          </a:p>
        </p:txBody>
      </p:sp>
      <p:sp>
        <p:nvSpPr>
          <p:cNvPr id="8" name="Shape 6"/>
          <p:cNvSpPr/>
          <p:nvPr/>
        </p:nvSpPr>
        <p:spPr>
          <a:xfrm>
            <a:off x="640080" y="2331720"/>
            <a:ext cx="2468880" cy="3017520"/>
          </a:xfrm>
          <a:prstGeom prst="roundRect">
            <a:avLst>
              <a:gd name="adj" fmla="val 4444"/>
            </a:avLst>
          </a:prstGeom>
          <a:solidFill>
            <a:srgbClr val="24365C"/>
          </a:solidFill>
          <a:ln w="12700">
            <a:solidFill>
              <a:srgbClr val="24365C"/>
            </a:solidFill>
            <a:prstDash val="solid"/>
          </a:ln>
        </p:spPr>
      </p:sp>
      <p:sp>
        <p:nvSpPr>
          <p:cNvPr id="9" name="Text 7"/>
          <p:cNvSpPr/>
          <p:nvPr/>
        </p:nvSpPr>
        <p:spPr>
          <a:xfrm>
            <a:off x="868680" y="2560320"/>
            <a:ext cx="1097280" cy="45720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01</a:t>
            </a:r>
            <a:endParaRPr lang="en-US" sz="2200" dirty="0"/>
          </a:p>
        </p:txBody>
      </p:sp>
      <p:sp>
        <p:nvSpPr>
          <p:cNvPr id="10" name="Text 8"/>
          <p:cNvSpPr/>
          <p:nvPr/>
        </p:nvSpPr>
        <p:spPr>
          <a:xfrm>
            <a:off x="868680" y="3108960"/>
            <a:ext cx="2011680" cy="685800"/>
          </a:xfrm>
          <a:prstGeom prst="rect">
            <a:avLst/>
          </a:prstGeom>
          <a:noFill/>
          <a:ln/>
        </p:spPr>
        <p:txBody>
          <a:bodyPr wrap="square" rtlCol="0" anchor="ctr"/>
          <a:lstStyle/>
          <a:p>
            <a:pPr indent="0" marL="0">
              <a:lnSpc>
                <a:spcPct val="110000"/>
              </a:lnSpc>
              <a:buNone/>
            </a:pPr>
            <a:r>
              <a:rPr lang="en-US" sz="1500" b="1" dirty="0">
                <a:solidFill>
                  <a:srgbClr val="F5F3EE"/>
                </a:solidFill>
                <a:latin typeface="Georgia" pitchFamily="34" charset="0"/>
                <a:ea typeface="Georgia" pitchFamily="34" charset="-122"/>
                <a:cs typeface="Georgia" pitchFamily="34" charset="-120"/>
              </a:rPr>
              <a:t>Intake intelligence</a:t>
            </a:r>
            <a:endParaRPr lang="en-US" sz="1500" dirty="0"/>
          </a:p>
        </p:txBody>
      </p:sp>
      <p:sp>
        <p:nvSpPr>
          <p:cNvPr id="11" name="Text 9"/>
          <p:cNvSpPr/>
          <p:nvPr/>
        </p:nvSpPr>
        <p:spPr>
          <a:xfrm>
            <a:off x="868680" y="3840480"/>
            <a:ext cx="2011680" cy="1371600"/>
          </a:xfrm>
          <a:prstGeom prst="rect">
            <a:avLst/>
          </a:prstGeom>
          <a:noFill/>
          <a:ln/>
        </p:spPr>
        <p:txBody>
          <a:bodyPr wrap="square" rtlCol="0" anchor="ctr"/>
          <a:lstStyle/>
          <a:p>
            <a:pPr indent="0" marL="0">
              <a:lnSpc>
                <a:spcPct val="120000"/>
              </a:lnSpc>
              <a:buNone/>
            </a:pPr>
            <a:r>
              <a:rPr lang="en-US" sz="1100" dirty="0">
                <a:solidFill>
                  <a:srgbClr val="C7CFE0"/>
                </a:solidFill>
                <a:latin typeface="Arial" pitchFamily="34" charset="0"/>
                <a:ea typeface="Arial" pitchFamily="34" charset="-122"/>
                <a:cs typeface="Arial" pitchFamily="34" charset="-120"/>
              </a:rPr>
              <a:t>Normalizes the vendor questionnaire into a single JSON envelope</a:t>
            </a:r>
            <a:endParaRPr lang="en-US" sz="1100" dirty="0"/>
          </a:p>
        </p:txBody>
      </p:sp>
      <p:sp>
        <p:nvSpPr>
          <p:cNvPr id="12" name="Shape 10"/>
          <p:cNvSpPr/>
          <p:nvPr/>
        </p:nvSpPr>
        <p:spPr>
          <a:xfrm>
            <a:off x="3063240" y="3730752"/>
            <a:ext cx="438912" cy="219456"/>
          </a:xfrm>
          <a:prstGeom prst="rightArrow">
            <a:avLst/>
          </a:prstGeom>
          <a:solidFill>
            <a:srgbClr val="C9A24B"/>
          </a:solidFill>
          <a:ln w="12700">
            <a:solidFill>
              <a:srgbClr val="C9A24B"/>
            </a:solidFill>
            <a:prstDash val="solid"/>
          </a:ln>
        </p:spPr>
      </p:sp>
      <p:sp>
        <p:nvSpPr>
          <p:cNvPr id="13" name="Shape 11"/>
          <p:cNvSpPr/>
          <p:nvPr/>
        </p:nvSpPr>
        <p:spPr>
          <a:xfrm>
            <a:off x="3364992" y="2331720"/>
            <a:ext cx="2468880" cy="3017520"/>
          </a:xfrm>
          <a:prstGeom prst="roundRect">
            <a:avLst>
              <a:gd name="adj" fmla="val 4444"/>
            </a:avLst>
          </a:prstGeom>
          <a:solidFill>
            <a:srgbClr val="24365C"/>
          </a:solidFill>
          <a:ln w="12700">
            <a:solidFill>
              <a:srgbClr val="24365C"/>
            </a:solidFill>
            <a:prstDash val="solid"/>
          </a:ln>
        </p:spPr>
      </p:sp>
      <p:sp>
        <p:nvSpPr>
          <p:cNvPr id="14" name="Text 12"/>
          <p:cNvSpPr/>
          <p:nvPr/>
        </p:nvSpPr>
        <p:spPr>
          <a:xfrm>
            <a:off x="3593592" y="2560320"/>
            <a:ext cx="1097280" cy="45720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02</a:t>
            </a:r>
            <a:endParaRPr lang="en-US" sz="2200" dirty="0"/>
          </a:p>
        </p:txBody>
      </p:sp>
      <p:sp>
        <p:nvSpPr>
          <p:cNvPr id="15" name="Text 13"/>
          <p:cNvSpPr/>
          <p:nvPr/>
        </p:nvSpPr>
        <p:spPr>
          <a:xfrm>
            <a:off x="3593592" y="3108960"/>
            <a:ext cx="2011680" cy="685800"/>
          </a:xfrm>
          <a:prstGeom prst="rect">
            <a:avLst/>
          </a:prstGeom>
          <a:noFill/>
          <a:ln/>
        </p:spPr>
        <p:txBody>
          <a:bodyPr wrap="square" rtlCol="0" anchor="ctr"/>
          <a:lstStyle/>
          <a:p>
            <a:pPr indent="0" marL="0">
              <a:lnSpc>
                <a:spcPct val="110000"/>
              </a:lnSpc>
              <a:buNone/>
            </a:pPr>
            <a:r>
              <a:rPr lang="en-US" sz="1500" b="1" dirty="0">
                <a:solidFill>
                  <a:srgbClr val="F5F3EE"/>
                </a:solidFill>
                <a:latin typeface="Georgia" pitchFamily="34" charset="0"/>
                <a:ea typeface="Georgia" pitchFamily="34" charset="-122"/>
                <a:cs typeface="Georgia" pitchFamily="34" charset="-120"/>
              </a:rPr>
              <a:t>Control mapping</a:t>
            </a:r>
            <a:endParaRPr lang="en-US" sz="1500" dirty="0"/>
          </a:p>
        </p:txBody>
      </p:sp>
      <p:sp>
        <p:nvSpPr>
          <p:cNvPr id="16" name="Text 14"/>
          <p:cNvSpPr/>
          <p:nvPr/>
        </p:nvSpPr>
        <p:spPr>
          <a:xfrm>
            <a:off x="3593592" y="3840480"/>
            <a:ext cx="2011680" cy="1371600"/>
          </a:xfrm>
          <a:prstGeom prst="rect">
            <a:avLst/>
          </a:prstGeom>
          <a:noFill/>
          <a:ln/>
        </p:spPr>
        <p:txBody>
          <a:bodyPr wrap="square" rtlCol="0" anchor="ctr"/>
          <a:lstStyle/>
          <a:p>
            <a:pPr indent="0" marL="0">
              <a:lnSpc>
                <a:spcPct val="120000"/>
              </a:lnSpc>
              <a:buNone/>
            </a:pPr>
            <a:r>
              <a:rPr lang="en-US" sz="1100" dirty="0">
                <a:solidFill>
                  <a:srgbClr val="C7CFE0"/>
                </a:solidFill>
                <a:latin typeface="Arial" pitchFamily="34" charset="0"/>
                <a:ea typeface="Arial" pitchFamily="34" charset="-122"/>
                <a:cs typeface="Arial" pitchFamily="34" charset="-120"/>
              </a:rPr>
              <a:t>LLM maps each response to ISO 27001 / SOC 2 / GDPR, with a confidence score</a:t>
            </a:r>
            <a:endParaRPr lang="en-US" sz="1100" dirty="0"/>
          </a:p>
        </p:txBody>
      </p:sp>
      <p:sp>
        <p:nvSpPr>
          <p:cNvPr id="17" name="Shape 15"/>
          <p:cNvSpPr/>
          <p:nvPr/>
        </p:nvSpPr>
        <p:spPr>
          <a:xfrm>
            <a:off x="5788152" y="3730752"/>
            <a:ext cx="438912" cy="219456"/>
          </a:xfrm>
          <a:prstGeom prst="rightArrow">
            <a:avLst/>
          </a:prstGeom>
          <a:solidFill>
            <a:srgbClr val="C9A24B"/>
          </a:solidFill>
          <a:ln w="12700">
            <a:solidFill>
              <a:srgbClr val="C9A24B"/>
            </a:solidFill>
            <a:prstDash val="solid"/>
          </a:ln>
        </p:spPr>
      </p:sp>
      <p:sp>
        <p:nvSpPr>
          <p:cNvPr id="18" name="Shape 16"/>
          <p:cNvSpPr/>
          <p:nvPr/>
        </p:nvSpPr>
        <p:spPr>
          <a:xfrm>
            <a:off x="6089904" y="2331720"/>
            <a:ext cx="2468880" cy="3017520"/>
          </a:xfrm>
          <a:prstGeom prst="roundRect">
            <a:avLst>
              <a:gd name="adj" fmla="val 4444"/>
            </a:avLst>
          </a:prstGeom>
          <a:solidFill>
            <a:srgbClr val="24365C"/>
          </a:solidFill>
          <a:ln w="12700">
            <a:solidFill>
              <a:srgbClr val="24365C"/>
            </a:solidFill>
            <a:prstDash val="solid"/>
          </a:ln>
        </p:spPr>
      </p:sp>
      <p:sp>
        <p:nvSpPr>
          <p:cNvPr id="19" name="Text 17"/>
          <p:cNvSpPr/>
          <p:nvPr/>
        </p:nvSpPr>
        <p:spPr>
          <a:xfrm>
            <a:off x="6318504" y="2560320"/>
            <a:ext cx="1097280" cy="45720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03</a:t>
            </a:r>
            <a:endParaRPr lang="en-US" sz="2200" dirty="0"/>
          </a:p>
        </p:txBody>
      </p:sp>
      <p:sp>
        <p:nvSpPr>
          <p:cNvPr id="20" name="Text 18"/>
          <p:cNvSpPr/>
          <p:nvPr/>
        </p:nvSpPr>
        <p:spPr>
          <a:xfrm>
            <a:off x="6318504" y="3108960"/>
            <a:ext cx="2011680" cy="685800"/>
          </a:xfrm>
          <a:prstGeom prst="rect">
            <a:avLst/>
          </a:prstGeom>
          <a:noFill/>
          <a:ln/>
        </p:spPr>
        <p:txBody>
          <a:bodyPr wrap="square" rtlCol="0" anchor="ctr"/>
          <a:lstStyle/>
          <a:p>
            <a:pPr indent="0" marL="0">
              <a:lnSpc>
                <a:spcPct val="110000"/>
              </a:lnSpc>
              <a:buNone/>
            </a:pPr>
            <a:r>
              <a:rPr lang="en-US" sz="1500" b="1" dirty="0">
                <a:solidFill>
                  <a:srgbClr val="F5F3EE"/>
                </a:solidFill>
                <a:latin typeface="Georgia" pitchFamily="34" charset="0"/>
                <a:ea typeface="Georgia" pitchFamily="34" charset="-122"/>
                <a:cs typeface="Georgia" pitchFamily="34" charset="-120"/>
              </a:rPr>
              <a:t>Memo &amp; ticket content</a:t>
            </a:r>
            <a:endParaRPr lang="en-US" sz="1500" dirty="0"/>
          </a:p>
        </p:txBody>
      </p:sp>
      <p:sp>
        <p:nvSpPr>
          <p:cNvPr id="21" name="Text 19"/>
          <p:cNvSpPr/>
          <p:nvPr/>
        </p:nvSpPr>
        <p:spPr>
          <a:xfrm>
            <a:off x="6318504" y="3840480"/>
            <a:ext cx="2011680" cy="1371600"/>
          </a:xfrm>
          <a:prstGeom prst="rect">
            <a:avLst/>
          </a:prstGeom>
          <a:noFill/>
          <a:ln/>
        </p:spPr>
        <p:txBody>
          <a:bodyPr wrap="square" rtlCol="0" anchor="ctr"/>
          <a:lstStyle/>
          <a:p>
            <a:pPr indent="0" marL="0">
              <a:lnSpc>
                <a:spcPct val="120000"/>
              </a:lnSpc>
              <a:buNone/>
            </a:pPr>
            <a:r>
              <a:rPr lang="en-US" sz="1100" dirty="0">
                <a:solidFill>
                  <a:srgbClr val="C7CFE0"/>
                </a:solidFill>
                <a:latin typeface="Arial" pitchFamily="34" charset="0"/>
                <a:ea typeface="Arial" pitchFamily="34" charset="-122"/>
                <a:cs typeface="Arial" pitchFamily="34" charset="-120"/>
              </a:rPr>
              <a:t>Writes the Sheets register row and the routed Jira ticket payload</a:t>
            </a:r>
            <a:endParaRPr lang="en-US" sz="1100" dirty="0"/>
          </a:p>
        </p:txBody>
      </p:sp>
      <p:sp>
        <p:nvSpPr>
          <p:cNvPr id="22" name="Shape 20"/>
          <p:cNvSpPr/>
          <p:nvPr/>
        </p:nvSpPr>
        <p:spPr>
          <a:xfrm>
            <a:off x="8513064" y="3730752"/>
            <a:ext cx="438912" cy="219456"/>
          </a:xfrm>
          <a:prstGeom prst="rightArrow">
            <a:avLst/>
          </a:prstGeom>
          <a:solidFill>
            <a:srgbClr val="C9A24B"/>
          </a:solidFill>
          <a:ln w="12700">
            <a:solidFill>
              <a:srgbClr val="C9A24B"/>
            </a:solidFill>
            <a:prstDash val="solid"/>
          </a:ln>
        </p:spPr>
      </p:sp>
      <p:sp>
        <p:nvSpPr>
          <p:cNvPr id="23" name="Shape 21"/>
          <p:cNvSpPr/>
          <p:nvPr/>
        </p:nvSpPr>
        <p:spPr>
          <a:xfrm>
            <a:off x="8814816" y="2331720"/>
            <a:ext cx="2468880" cy="3017520"/>
          </a:xfrm>
          <a:prstGeom prst="roundRect">
            <a:avLst>
              <a:gd name="adj" fmla="val 4444"/>
            </a:avLst>
          </a:prstGeom>
          <a:solidFill>
            <a:srgbClr val="1F2E52"/>
          </a:solidFill>
          <a:ln w="12700">
            <a:solidFill>
              <a:srgbClr val="3A4A78"/>
            </a:solidFill>
            <a:prstDash val="dash"/>
          </a:ln>
        </p:spPr>
      </p:sp>
      <p:sp>
        <p:nvSpPr>
          <p:cNvPr id="24" name="Text 22"/>
          <p:cNvSpPr/>
          <p:nvPr/>
        </p:nvSpPr>
        <p:spPr>
          <a:xfrm>
            <a:off x="9043416" y="2560320"/>
            <a:ext cx="1097280" cy="457200"/>
          </a:xfrm>
          <a:prstGeom prst="rect">
            <a:avLst/>
          </a:prstGeom>
          <a:noFill/>
          <a:ln/>
        </p:spPr>
        <p:txBody>
          <a:bodyPr wrap="square" rtlCol="0" anchor="ctr"/>
          <a:lstStyle/>
          <a:p>
            <a:pPr indent="0" marL="0">
              <a:buNone/>
            </a:pPr>
            <a:r>
              <a:rPr lang="en-US" sz="2200" b="1" dirty="0">
                <a:solidFill>
                  <a:srgbClr val="C9A24B"/>
                </a:solidFill>
                <a:latin typeface="Georgia" pitchFamily="34" charset="0"/>
                <a:ea typeface="Georgia" pitchFamily="34" charset="-122"/>
                <a:cs typeface="Georgia" pitchFamily="34" charset="-120"/>
              </a:rPr>
              <a:t>04</a:t>
            </a:r>
            <a:endParaRPr lang="en-US" sz="2200" dirty="0"/>
          </a:p>
        </p:txBody>
      </p:sp>
      <p:sp>
        <p:nvSpPr>
          <p:cNvPr id="25" name="Text 23"/>
          <p:cNvSpPr/>
          <p:nvPr/>
        </p:nvSpPr>
        <p:spPr>
          <a:xfrm>
            <a:off x="9043416" y="3108960"/>
            <a:ext cx="2011680" cy="685800"/>
          </a:xfrm>
          <a:prstGeom prst="rect">
            <a:avLst/>
          </a:prstGeom>
          <a:noFill/>
          <a:ln/>
        </p:spPr>
        <p:txBody>
          <a:bodyPr wrap="square" rtlCol="0" anchor="ctr"/>
          <a:lstStyle/>
          <a:p>
            <a:pPr indent="0" marL="0">
              <a:lnSpc>
                <a:spcPct val="110000"/>
              </a:lnSpc>
              <a:buNone/>
            </a:pPr>
            <a:r>
              <a:rPr lang="en-US" sz="1500" b="1" dirty="0">
                <a:solidFill>
                  <a:srgbClr val="F5F3EE"/>
                </a:solidFill>
                <a:latin typeface="Georgia" pitchFamily="34" charset="0"/>
                <a:ea typeface="Georgia" pitchFamily="34" charset="-122"/>
                <a:cs typeface="Georgia" pitchFamily="34" charset="-120"/>
              </a:rPr>
              <a:t>Performance analytics</a:t>
            </a:r>
            <a:endParaRPr lang="en-US" sz="1500" dirty="0"/>
          </a:p>
        </p:txBody>
      </p:sp>
      <p:sp>
        <p:nvSpPr>
          <p:cNvPr id="26" name="Text 24"/>
          <p:cNvSpPr/>
          <p:nvPr/>
        </p:nvSpPr>
        <p:spPr>
          <a:xfrm>
            <a:off x="9043416" y="3840480"/>
            <a:ext cx="2011680" cy="1371600"/>
          </a:xfrm>
          <a:prstGeom prst="rect">
            <a:avLst/>
          </a:prstGeom>
          <a:noFill/>
          <a:ln/>
        </p:spPr>
        <p:txBody>
          <a:bodyPr wrap="square" rtlCol="0" anchor="ctr"/>
          <a:lstStyle/>
          <a:p>
            <a:pPr indent="0" marL="0">
              <a:lnSpc>
                <a:spcPct val="120000"/>
              </a:lnSpc>
              <a:buNone/>
            </a:pPr>
            <a:r>
              <a:rPr lang="en-US" sz="1100" dirty="0">
                <a:solidFill>
                  <a:srgbClr val="C7CFE0"/>
                </a:solidFill>
                <a:latin typeface="Arial" pitchFamily="34" charset="0"/>
                <a:ea typeface="Arial" pitchFamily="34" charset="-122"/>
                <a:cs typeface="Arial" pitchFamily="34" charset="-120"/>
              </a:rPr>
              <a:t>Phase 2 — reads the register and drives a weekly intake dashboard</a:t>
            </a:r>
            <a:endParaRPr lang="en-US" sz="1100" dirty="0"/>
          </a:p>
        </p:txBody>
      </p:sp>
      <p:sp>
        <p:nvSpPr>
          <p:cNvPr id="27" name="Text 25"/>
          <p:cNvSpPr/>
          <p:nvPr/>
        </p:nvSpPr>
        <p:spPr>
          <a:xfrm>
            <a:off x="640080" y="5623560"/>
            <a:ext cx="10515600" cy="365760"/>
          </a:xfrm>
          <a:prstGeom prst="rect">
            <a:avLst/>
          </a:prstGeom>
          <a:noFill/>
          <a:ln/>
        </p:spPr>
        <p:txBody>
          <a:bodyPr wrap="square" rtlCol="0" anchor="ctr"/>
          <a:lstStyle/>
          <a:p>
            <a:pPr indent="0" marL="0">
              <a:buNone/>
            </a:pPr>
            <a:r>
              <a:rPr lang="en-US" sz="1200" i="1" dirty="0">
                <a:solidFill>
                  <a:srgbClr val="9AA6C0"/>
                </a:solidFill>
                <a:latin typeface="Arial" pitchFamily="34" charset="0"/>
                <a:ea typeface="Arial" pitchFamily="34" charset="-122"/>
                <a:cs typeface="Arial" pitchFamily="34" charset="-120"/>
              </a:rPr>
              <a:t>MVP scope (Week 3): agents 01–03, one n8n workflow, 6 nodes, 7–14 build hours.</a:t>
            </a:r>
            <a:endParaRPr lang="en-US" sz="1200" dirty="0"/>
          </a:p>
        </p:txBody>
      </p:sp>
      <p:sp>
        <p:nvSpPr>
          <p:cNvPr id="28" name="Text 26"/>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8598BE"/>
                </a:solidFill>
                <a:latin typeface="Arial" pitchFamily="34" charset="0"/>
                <a:ea typeface="Arial" pitchFamily="34" charset="-122"/>
                <a:cs typeface="Arial" pitchFamily="34" charset="-120"/>
              </a:rPr>
              <a:t>Hammad Rana</a:t>
            </a:r>
            <a:endParaRPr lang="en-US" sz="900" dirty="0"/>
          </a:p>
        </p:txBody>
      </p:sp>
      <p:sp>
        <p:nvSpPr>
          <p:cNvPr id="29" name="Text 27"/>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598BE"/>
                </a:solidFill>
                <a:latin typeface="Arial" pitchFamily="34" charset="0"/>
                <a:ea typeface="Arial" pitchFamily="34" charset="-122"/>
                <a:cs typeface="Arial"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1B2A4A"/>
          </a:solidFill>
          <a:ln w="12700">
            <a:solidFill>
              <a:srgbClr val="1B2A4A"/>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1B2A4A"/>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3C6E71"/>
                </a:solidFill>
                <a:latin typeface="Arial" pitchFamily="34" charset="0"/>
                <a:ea typeface="Arial" pitchFamily="34" charset="-122"/>
                <a:cs typeface="Arial" pitchFamily="34" charset="-120"/>
              </a:rPr>
              <a:t>MADISON AI TOOL</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1B2A4A"/>
                </a:solidFill>
                <a:latin typeface="Georgia" pitchFamily="34" charset="0"/>
                <a:ea typeface="Georgia" pitchFamily="34" charset="-122"/>
                <a:cs typeface="Georgia" pitchFamily="34" charset="-120"/>
              </a:rPr>
              <a:t>Live demo — real CISA advisories, mapped</a:t>
            </a:r>
            <a:endParaRPr lang="en-US" sz="2900" dirty="0"/>
          </a:p>
        </p:txBody>
      </p:sp>
      <p:sp>
        <p:nvSpPr>
          <p:cNvPr id="7" name="Text 5"/>
          <p:cNvSpPr/>
          <p:nvPr/>
        </p:nvSpPr>
        <p:spPr>
          <a:xfrm>
            <a:off x="640080" y="1737360"/>
            <a:ext cx="10515600" cy="365760"/>
          </a:xfrm>
          <a:prstGeom prst="rect">
            <a:avLst/>
          </a:prstGeom>
          <a:noFill/>
          <a:ln/>
        </p:spPr>
        <p:txBody>
          <a:bodyPr wrap="square" rtlCol="0" anchor="ctr"/>
          <a:lstStyle/>
          <a:p>
            <a:pPr indent="0" marL="0">
              <a:buNone/>
            </a:pPr>
            <a:r>
              <a:rPr lang="en-US" sz="1250" i="1" dirty="0">
                <a:solidFill>
                  <a:srgbClr val="3C6E71"/>
                </a:solidFill>
                <a:latin typeface="Arial" pitchFamily="34" charset="0"/>
                <a:ea typeface="Arial" pitchFamily="34" charset="-122"/>
                <a:cs typeface="Arial" pitchFamily="34" charset="-120"/>
              </a:rPr>
              <a:t>10 advisories processed end-to-end · llama-3.1-8b-instant via Groq · &lt;600ms total</a:t>
            </a:r>
            <a:endParaRPr lang="en-US" sz="1250" dirty="0"/>
          </a:p>
        </p:txBody>
      </p:sp>
      <p:sp>
        <p:nvSpPr>
          <p:cNvPr id="8" name="Shape 6"/>
          <p:cNvSpPr/>
          <p:nvPr/>
        </p:nvSpPr>
        <p:spPr>
          <a:xfrm>
            <a:off x="640080" y="2240280"/>
            <a:ext cx="3502152" cy="3794760"/>
          </a:xfrm>
          <a:prstGeom prst="roundRect">
            <a:avLst>
              <a:gd name="adj" fmla="val 3133"/>
            </a:avLst>
          </a:prstGeom>
          <a:solidFill>
            <a:srgbClr val="1B2A4A"/>
          </a:solidFill>
          <a:ln w="12700">
            <a:solidFill>
              <a:srgbClr val="1B2A4A"/>
            </a:solidFill>
            <a:prstDash val="solid"/>
          </a:ln>
        </p:spPr>
      </p:sp>
      <p:sp>
        <p:nvSpPr>
          <p:cNvPr id="9" name="Text 7"/>
          <p:cNvSpPr/>
          <p:nvPr/>
        </p:nvSpPr>
        <p:spPr>
          <a:xfrm>
            <a:off x="868680" y="2441448"/>
            <a:ext cx="2313432" cy="365760"/>
          </a:xfrm>
          <a:prstGeom prst="rect">
            <a:avLst/>
          </a:prstGeom>
          <a:noFill/>
          <a:ln/>
        </p:spPr>
        <p:txBody>
          <a:bodyPr wrap="square" rtlCol="0" anchor="ctr"/>
          <a:lstStyle/>
          <a:p>
            <a:pPr indent="0" marL="0">
              <a:buNone/>
            </a:pPr>
            <a:r>
              <a:rPr lang="en-US" sz="1500" b="1" dirty="0">
                <a:solidFill>
                  <a:srgbClr val="F5F3EE"/>
                </a:solidFill>
                <a:latin typeface="Georgia" pitchFamily="34" charset="0"/>
                <a:ea typeface="Georgia" pitchFamily="34" charset="-122"/>
                <a:cs typeface="Georgia" pitchFamily="34" charset="-120"/>
              </a:rPr>
              <a:t>Siemens</a:t>
            </a:r>
            <a:endParaRPr lang="en-US" sz="1500" dirty="0"/>
          </a:p>
        </p:txBody>
      </p:sp>
      <p:sp>
        <p:nvSpPr>
          <p:cNvPr id="10" name="Shape 8"/>
          <p:cNvSpPr/>
          <p:nvPr/>
        </p:nvSpPr>
        <p:spPr>
          <a:xfrm>
            <a:off x="3090672" y="2441448"/>
            <a:ext cx="868680" cy="320040"/>
          </a:xfrm>
          <a:prstGeom prst="roundRect">
            <a:avLst>
              <a:gd name="adj" fmla="val 51429"/>
            </a:avLst>
          </a:prstGeom>
          <a:solidFill>
            <a:srgbClr val="C9A24B"/>
          </a:solidFill>
          <a:ln w="12700">
            <a:solidFill>
              <a:srgbClr val="C9A24B"/>
            </a:solidFill>
            <a:prstDash val="solid"/>
          </a:ln>
        </p:spPr>
      </p:sp>
      <p:sp>
        <p:nvSpPr>
          <p:cNvPr id="11" name="Text 9"/>
          <p:cNvSpPr/>
          <p:nvPr/>
        </p:nvSpPr>
        <p:spPr>
          <a:xfrm>
            <a:off x="3090672" y="2441448"/>
            <a:ext cx="86868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HIGH</a:t>
            </a:r>
            <a:endParaRPr lang="en-US" sz="900" dirty="0"/>
          </a:p>
        </p:txBody>
      </p:sp>
      <p:sp>
        <p:nvSpPr>
          <p:cNvPr id="12" name="Shape 10"/>
          <p:cNvSpPr/>
          <p:nvPr/>
        </p:nvSpPr>
        <p:spPr>
          <a:xfrm>
            <a:off x="868680" y="2898648"/>
            <a:ext cx="3044952" cy="347472"/>
          </a:xfrm>
          <a:prstGeom prst="roundRect">
            <a:avLst>
              <a:gd name="adj" fmla="val 15789"/>
            </a:avLst>
          </a:prstGeom>
          <a:solidFill>
            <a:srgbClr val="24365C"/>
          </a:solidFill>
          <a:ln w="12700">
            <a:solidFill>
              <a:srgbClr val="24365C"/>
            </a:solidFill>
            <a:prstDash val="solid"/>
          </a:ln>
        </p:spPr>
      </p:sp>
      <p:sp>
        <p:nvSpPr>
          <p:cNvPr id="13" name="Text 11"/>
          <p:cNvSpPr/>
          <p:nvPr/>
        </p:nvSpPr>
        <p:spPr>
          <a:xfrm>
            <a:off x="868680" y="2898648"/>
            <a:ext cx="3044952" cy="347472"/>
          </a:xfrm>
          <a:prstGeom prst="rect">
            <a:avLst/>
          </a:prstGeom>
          <a:noFill/>
          <a:ln/>
        </p:spPr>
        <p:txBody>
          <a:bodyPr wrap="square" rtlCol="0" anchor="ctr"/>
          <a:lstStyle/>
          <a:p>
            <a:pPr algn="ctr" indent="0" marL="0">
              <a:buNone/>
            </a:pPr>
            <a:r>
              <a:rPr lang="en-US" sz="1050" dirty="0">
                <a:solidFill>
                  <a:srgbClr val="C9A24B"/>
                </a:solidFill>
                <a:latin typeface="Arial" pitchFamily="34" charset="0"/>
                <a:ea typeface="Arial" pitchFamily="34" charset="-122"/>
                <a:cs typeface="Arial" pitchFamily="34" charset="-120"/>
              </a:rPr>
              <a:t>CVE-2026-1041</a:t>
            </a:r>
            <a:endParaRPr lang="en-US" sz="1050" dirty="0"/>
          </a:p>
        </p:txBody>
      </p:sp>
      <p:sp>
        <p:nvSpPr>
          <p:cNvPr id="14" name="Text 12"/>
          <p:cNvSpPr/>
          <p:nvPr/>
        </p:nvSpPr>
        <p:spPr>
          <a:xfrm>
            <a:off x="868680" y="3410712"/>
            <a:ext cx="3044952" cy="274320"/>
          </a:xfrm>
          <a:prstGeom prst="rect">
            <a:avLst/>
          </a:prstGeom>
          <a:noFill/>
          <a:ln/>
        </p:spPr>
        <p:txBody>
          <a:bodyPr wrap="square" rtlCol="0" anchor="ctr"/>
          <a:lstStyle/>
          <a:p>
            <a:pPr indent="0" marL="0">
              <a:buNone/>
            </a:pPr>
            <a:r>
              <a:rPr lang="en-US" sz="900" b="1" dirty="0">
                <a:solidFill>
                  <a:srgbClr val="9AA6C0"/>
                </a:solidFill>
                <a:latin typeface="Arial" pitchFamily="34" charset="0"/>
                <a:ea typeface="Arial" pitchFamily="34" charset="-122"/>
                <a:cs typeface="Arial" pitchFamily="34" charset="-120"/>
              </a:rPr>
              <a:t>CONTROL MAPPING</a:t>
            </a:r>
            <a:endParaRPr lang="en-US" sz="900" dirty="0"/>
          </a:p>
        </p:txBody>
      </p:sp>
      <p:sp>
        <p:nvSpPr>
          <p:cNvPr id="15" name="Text 13"/>
          <p:cNvSpPr/>
          <p:nvPr/>
        </p:nvSpPr>
        <p:spPr>
          <a:xfrm>
            <a:off x="868680" y="3666744"/>
            <a:ext cx="3044952" cy="594360"/>
          </a:xfrm>
          <a:prstGeom prst="rect">
            <a:avLst/>
          </a:prstGeom>
          <a:noFill/>
          <a:ln/>
        </p:spPr>
        <p:txBody>
          <a:bodyPr wrap="square" rtlCol="0" anchor="ctr"/>
          <a:lstStyle/>
          <a:p>
            <a:pPr indent="0" marL="0">
              <a:lnSpc>
                <a:spcPct val="115000"/>
              </a:lnSpc>
              <a:buNone/>
            </a:pPr>
            <a:r>
              <a:rPr lang="en-US" sz="1100" dirty="0">
                <a:solidFill>
                  <a:srgbClr val="F5F3EE"/>
                </a:solidFill>
                <a:latin typeface="Arial" pitchFamily="34" charset="0"/>
                <a:ea typeface="Arial" pitchFamily="34" charset="-122"/>
                <a:cs typeface="Arial" pitchFamily="34" charset="-120"/>
              </a:rPr>
              <a:t>ISO 27001 A.12.6.1 · SOC 2 CC7.1</a:t>
            </a:r>
            <a:endParaRPr lang="en-US" sz="1100" dirty="0"/>
          </a:p>
        </p:txBody>
      </p:sp>
      <p:sp>
        <p:nvSpPr>
          <p:cNvPr id="16" name="Text 14"/>
          <p:cNvSpPr/>
          <p:nvPr/>
        </p:nvSpPr>
        <p:spPr>
          <a:xfrm>
            <a:off x="868680" y="4361688"/>
            <a:ext cx="3044952" cy="274320"/>
          </a:xfrm>
          <a:prstGeom prst="rect">
            <a:avLst/>
          </a:prstGeom>
          <a:noFill/>
          <a:ln/>
        </p:spPr>
        <p:txBody>
          <a:bodyPr wrap="square" rtlCol="0" anchor="ctr"/>
          <a:lstStyle/>
          <a:p>
            <a:pPr indent="0" marL="0">
              <a:buNone/>
            </a:pPr>
            <a:r>
              <a:rPr lang="en-US" sz="900" b="1" dirty="0">
                <a:solidFill>
                  <a:srgbClr val="9AA6C0"/>
                </a:solidFill>
                <a:latin typeface="Arial" pitchFamily="34" charset="0"/>
                <a:ea typeface="Arial" pitchFamily="34" charset="-122"/>
                <a:cs typeface="Arial" pitchFamily="34" charset="-120"/>
              </a:rPr>
              <a:t>RECOMMENDED ACTION</a:t>
            </a:r>
            <a:endParaRPr lang="en-US" sz="900" dirty="0"/>
          </a:p>
        </p:txBody>
      </p:sp>
      <p:sp>
        <p:nvSpPr>
          <p:cNvPr id="17" name="Text 15"/>
          <p:cNvSpPr/>
          <p:nvPr/>
        </p:nvSpPr>
        <p:spPr>
          <a:xfrm>
            <a:off x="868680" y="4617720"/>
            <a:ext cx="3044952" cy="1188720"/>
          </a:xfrm>
          <a:prstGeom prst="rect">
            <a:avLst/>
          </a:prstGeom>
          <a:noFill/>
          <a:ln/>
        </p:spPr>
        <p:txBody>
          <a:bodyPr wrap="square" rtlCol="0" anchor="ctr"/>
          <a:lstStyle/>
          <a:p>
            <a:pPr indent="0" marL="0">
              <a:lnSpc>
                <a:spcPct val="125000"/>
              </a:lnSpc>
              <a:buNone/>
            </a:pPr>
            <a:r>
              <a:rPr lang="en-US" sz="1150" dirty="0">
                <a:solidFill>
                  <a:srgbClr val="F5F3EE"/>
                </a:solidFill>
                <a:latin typeface="Arial" pitchFamily="34" charset="0"/>
                <a:ea typeface="Arial" pitchFamily="34" charset="-122"/>
                <a:cs typeface="Arial" pitchFamily="34" charset="-120"/>
              </a:rPr>
              <a:t>Apply V1.0 SP2 Update 3 patch immediately</a:t>
            </a:r>
            <a:endParaRPr lang="en-US" sz="1150" dirty="0"/>
          </a:p>
        </p:txBody>
      </p:sp>
      <p:sp>
        <p:nvSpPr>
          <p:cNvPr id="18" name="Shape 16"/>
          <p:cNvSpPr/>
          <p:nvPr/>
        </p:nvSpPr>
        <p:spPr>
          <a:xfrm>
            <a:off x="4325112" y="2240280"/>
            <a:ext cx="3502152" cy="3794760"/>
          </a:xfrm>
          <a:prstGeom prst="roundRect">
            <a:avLst>
              <a:gd name="adj" fmla="val 3133"/>
            </a:avLst>
          </a:prstGeom>
          <a:solidFill>
            <a:srgbClr val="1B2A4A"/>
          </a:solidFill>
          <a:ln w="12700">
            <a:solidFill>
              <a:srgbClr val="1B2A4A"/>
            </a:solidFill>
            <a:prstDash val="solid"/>
          </a:ln>
        </p:spPr>
      </p:sp>
      <p:sp>
        <p:nvSpPr>
          <p:cNvPr id="19" name="Text 17"/>
          <p:cNvSpPr/>
          <p:nvPr/>
        </p:nvSpPr>
        <p:spPr>
          <a:xfrm>
            <a:off x="4553712" y="2441448"/>
            <a:ext cx="2313432" cy="365760"/>
          </a:xfrm>
          <a:prstGeom prst="rect">
            <a:avLst/>
          </a:prstGeom>
          <a:noFill/>
          <a:ln/>
        </p:spPr>
        <p:txBody>
          <a:bodyPr wrap="square" rtlCol="0" anchor="ctr"/>
          <a:lstStyle/>
          <a:p>
            <a:pPr indent="0" marL="0">
              <a:buNone/>
            </a:pPr>
            <a:r>
              <a:rPr lang="en-US" sz="1500" b="1" dirty="0">
                <a:solidFill>
                  <a:srgbClr val="F5F3EE"/>
                </a:solidFill>
                <a:latin typeface="Georgia" pitchFamily="34" charset="0"/>
                <a:ea typeface="Georgia" pitchFamily="34" charset="-122"/>
                <a:cs typeface="Georgia" pitchFamily="34" charset="-120"/>
              </a:rPr>
              <a:t>Palo Alto</a:t>
            </a:r>
            <a:endParaRPr lang="en-US" sz="1500" dirty="0"/>
          </a:p>
        </p:txBody>
      </p:sp>
      <p:sp>
        <p:nvSpPr>
          <p:cNvPr id="20" name="Shape 18"/>
          <p:cNvSpPr/>
          <p:nvPr/>
        </p:nvSpPr>
        <p:spPr>
          <a:xfrm>
            <a:off x="6775704" y="2441448"/>
            <a:ext cx="868680" cy="320040"/>
          </a:xfrm>
          <a:prstGeom prst="roundRect">
            <a:avLst>
              <a:gd name="adj" fmla="val 51429"/>
            </a:avLst>
          </a:prstGeom>
          <a:solidFill>
            <a:srgbClr val="3C6E71"/>
          </a:solidFill>
          <a:ln w="12700">
            <a:solidFill>
              <a:srgbClr val="3C6E71"/>
            </a:solidFill>
            <a:prstDash val="solid"/>
          </a:ln>
        </p:spPr>
      </p:sp>
      <p:sp>
        <p:nvSpPr>
          <p:cNvPr id="21" name="Text 19"/>
          <p:cNvSpPr/>
          <p:nvPr/>
        </p:nvSpPr>
        <p:spPr>
          <a:xfrm>
            <a:off x="6775704" y="2441448"/>
            <a:ext cx="86868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MEDIUM</a:t>
            </a:r>
            <a:endParaRPr lang="en-US" sz="900" dirty="0"/>
          </a:p>
        </p:txBody>
      </p:sp>
      <p:sp>
        <p:nvSpPr>
          <p:cNvPr id="22" name="Shape 20"/>
          <p:cNvSpPr/>
          <p:nvPr/>
        </p:nvSpPr>
        <p:spPr>
          <a:xfrm>
            <a:off x="4553712" y="2898648"/>
            <a:ext cx="3044952" cy="347472"/>
          </a:xfrm>
          <a:prstGeom prst="roundRect">
            <a:avLst>
              <a:gd name="adj" fmla="val 15789"/>
            </a:avLst>
          </a:prstGeom>
          <a:solidFill>
            <a:srgbClr val="24365C"/>
          </a:solidFill>
          <a:ln w="12700">
            <a:solidFill>
              <a:srgbClr val="24365C"/>
            </a:solidFill>
            <a:prstDash val="solid"/>
          </a:ln>
        </p:spPr>
      </p:sp>
      <p:sp>
        <p:nvSpPr>
          <p:cNvPr id="23" name="Text 21"/>
          <p:cNvSpPr/>
          <p:nvPr/>
        </p:nvSpPr>
        <p:spPr>
          <a:xfrm>
            <a:off x="4553712" y="2898648"/>
            <a:ext cx="3044952" cy="347472"/>
          </a:xfrm>
          <a:prstGeom prst="rect">
            <a:avLst/>
          </a:prstGeom>
          <a:noFill/>
          <a:ln/>
        </p:spPr>
        <p:txBody>
          <a:bodyPr wrap="square" rtlCol="0" anchor="ctr"/>
          <a:lstStyle/>
          <a:p>
            <a:pPr algn="ctr" indent="0" marL="0">
              <a:buNone/>
            </a:pPr>
            <a:r>
              <a:rPr lang="en-US" sz="1050" dirty="0">
                <a:solidFill>
                  <a:srgbClr val="C9A24B"/>
                </a:solidFill>
                <a:latin typeface="Arial" pitchFamily="34" charset="0"/>
                <a:ea typeface="Arial" pitchFamily="34" charset="-122"/>
                <a:cs typeface="Arial" pitchFamily="34" charset="-120"/>
              </a:rPr>
              <a:t>CVE-2026-0257</a:t>
            </a:r>
            <a:endParaRPr lang="en-US" sz="1050" dirty="0"/>
          </a:p>
        </p:txBody>
      </p:sp>
      <p:sp>
        <p:nvSpPr>
          <p:cNvPr id="24" name="Text 22"/>
          <p:cNvSpPr/>
          <p:nvPr/>
        </p:nvSpPr>
        <p:spPr>
          <a:xfrm>
            <a:off x="4553712" y="3410712"/>
            <a:ext cx="3044952" cy="274320"/>
          </a:xfrm>
          <a:prstGeom prst="rect">
            <a:avLst/>
          </a:prstGeom>
          <a:noFill/>
          <a:ln/>
        </p:spPr>
        <p:txBody>
          <a:bodyPr wrap="square" rtlCol="0" anchor="ctr"/>
          <a:lstStyle/>
          <a:p>
            <a:pPr indent="0" marL="0">
              <a:buNone/>
            </a:pPr>
            <a:r>
              <a:rPr lang="en-US" sz="900" b="1" dirty="0">
                <a:solidFill>
                  <a:srgbClr val="9AA6C0"/>
                </a:solidFill>
                <a:latin typeface="Arial" pitchFamily="34" charset="0"/>
                <a:ea typeface="Arial" pitchFamily="34" charset="-122"/>
                <a:cs typeface="Arial" pitchFamily="34" charset="-120"/>
              </a:rPr>
              <a:t>CONTROL MAPPING</a:t>
            </a:r>
            <a:endParaRPr lang="en-US" sz="900" dirty="0"/>
          </a:p>
        </p:txBody>
      </p:sp>
      <p:sp>
        <p:nvSpPr>
          <p:cNvPr id="25" name="Text 23"/>
          <p:cNvSpPr/>
          <p:nvPr/>
        </p:nvSpPr>
        <p:spPr>
          <a:xfrm>
            <a:off x="4553712" y="3666744"/>
            <a:ext cx="3044952" cy="594360"/>
          </a:xfrm>
          <a:prstGeom prst="rect">
            <a:avLst/>
          </a:prstGeom>
          <a:noFill/>
          <a:ln/>
        </p:spPr>
        <p:txBody>
          <a:bodyPr wrap="square" rtlCol="0" anchor="ctr"/>
          <a:lstStyle/>
          <a:p>
            <a:pPr indent="0" marL="0">
              <a:lnSpc>
                <a:spcPct val="115000"/>
              </a:lnSpc>
              <a:buNone/>
            </a:pPr>
            <a:r>
              <a:rPr lang="en-US" sz="1100" dirty="0">
                <a:solidFill>
                  <a:srgbClr val="F5F3EE"/>
                </a:solidFill>
                <a:latin typeface="Arial" pitchFamily="34" charset="0"/>
                <a:ea typeface="Arial" pitchFamily="34" charset="-122"/>
                <a:cs typeface="Arial" pitchFamily="34" charset="-120"/>
              </a:rPr>
              <a:t>ISO 27001 A.12.6.1 · GDPR Art. 32</a:t>
            </a:r>
            <a:endParaRPr lang="en-US" sz="1100" dirty="0"/>
          </a:p>
        </p:txBody>
      </p:sp>
      <p:sp>
        <p:nvSpPr>
          <p:cNvPr id="26" name="Text 24"/>
          <p:cNvSpPr/>
          <p:nvPr/>
        </p:nvSpPr>
        <p:spPr>
          <a:xfrm>
            <a:off x="4553712" y="4361688"/>
            <a:ext cx="3044952" cy="274320"/>
          </a:xfrm>
          <a:prstGeom prst="rect">
            <a:avLst/>
          </a:prstGeom>
          <a:noFill/>
          <a:ln/>
        </p:spPr>
        <p:txBody>
          <a:bodyPr wrap="square" rtlCol="0" anchor="ctr"/>
          <a:lstStyle/>
          <a:p>
            <a:pPr indent="0" marL="0">
              <a:buNone/>
            </a:pPr>
            <a:r>
              <a:rPr lang="en-US" sz="900" b="1" dirty="0">
                <a:solidFill>
                  <a:srgbClr val="9AA6C0"/>
                </a:solidFill>
                <a:latin typeface="Arial" pitchFamily="34" charset="0"/>
                <a:ea typeface="Arial" pitchFamily="34" charset="-122"/>
                <a:cs typeface="Arial" pitchFamily="34" charset="-120"/>
              </a:rPr>
              <a:t>RECOMMENDED ACTION</a:t>
            </a:r>
            <a:endParaRPr lang="en-US" sz="900" dirty="0"/>
          </a:p>
        </p:txBody>
      </p:sp>
      <p:sp>
        <p:nvSpPr>
          <p:cNvPr id="27" name="Text 25"/>
          <p:cNvSpPr/>
          <p:nvPr/>
        </p:nvSpPr>
        <p:spPr>
          <a:xfrm>
            <a:off x="4553712" y="4617720"/>
            <a:ext cx="3044952" cy="1188720"/>
          </a:xfrm>
          <a:prstGeom prst="rect">
            <a:avLst/>
          </a:prstGeom>
          <a:noFill/>
          <a:ln/>
        </p:spPr>
        <p:txBody>
          <a:bodyPr wrap="square" rtlCol="0" anchor="ctr"/>
          <a:lstStyle/>
          <a:p>
            <a:pPr indent="0" marL="0">
              <a:lnSpc>
                <a:spcPct val="125000"/>
              </a:lnSpc>
              <a:buNone/>
            </a:pPr>
            <a:r>
              <a:rPr lang="en-US" sz="1150" dirty="0">
                <a:solidFill>
                  <a:srgbClr val="F5F3EE"/>
                </a:solidFill>
                <a:latin typeface="Arial" pitchFamily="34" charset="0"/>
                <a:ea typeface="Arial" pitchFamily="34" charset="-122"/>
                <a:cs typeface="Arial" pitchFamily="34" charset="-120"/>
              </a:rPr>
              <a:t>Patch PAN-OS authentication bypass</a:t>
            </a:r>
            <a:endParaRPr lang="en-US" sz="1150" dirty="0"/>
          </a:p>
        </p:txBody>
      </p:sp>
      <p:sp>
        <p:nvSpPr>
          <p:cNvPr id="28" name="Shape 26"/>
          <p:cNvSpPr/>
          <p:nvPr/>
        </p:nvSpPr>
        <p:spPr>
          <a:xfrm>
            <a:off x="8010144" y="2240280"/>
            <a:ext cx="3502152" cy="3794760"/>
          </a:xfrm>
          <a:prstGeom prst="roundRect">
            <a:avLst>
              <a:gd name="adj" fmla="val 3133"/>
            </a:avLst>
          </a:prstGeom>
          <a:solidFill>
            <a:srgbClr val="1B2A4A"/>
          </a:solidFill>
          <a:ln w="12700">
            <a:solidFill>
              <a:srgbClr val="1B2A4A"/>
            </a:solidFill>
            <a:prstDash val="solid"/>
          </a:ln>
        </p:spPr>
      </p:sp>
      <p:sp>
        <p:nvSpPr>
          <p:cNvPr id="29" name="Text 27"/>
          <p:cNvSpPr/>
          <p:nvPr/>
        </p:nvSpPr>
        <p:spPr>
          <a:xfrm>
            <a:off x="8238744" y="2441448"/>
            <a:ext cx="2313432" cy="365760"/>
          </a:xfrm>
          <a:prstGeom prst="rect">
            <a:avLst/>
          </a:prstGeom>
          <a:noFill/>
          <a:ln/>
        </p:spPr>
        <p:txBody>
          <a:bodyPr wrap="square" rtlCol="0" anchor="ctr"/>
          <a:lstStyle/>
          <a:p>
            <a:pPr indent="0" marL="0">
              <a:buNone/>
            </a:pPr>
            <a:r>
              <a:rPr lang="en-US" sz="1500" b="1" dirty="0">
                <a:solidFill>
                  <a:srgbClr val="F5F3EE"/>
                </a:solidFill>
                <a:latin typeface="Georgia" pitchFamily="34" charset="0"/>
                <a:ea typeface="Georgia" pitchFamily="34" charset="-122"/>
                <a:cs typeface="Georgia" pitchFamily="34" charset="-120"/>
              </a:rPr>
              <a:t>Fourth Frontier</a:t>
            </a:r>
            <a:endParaRPr lang="en-US" sz="1500" dirty="0"/>
          </a:p>
        </p:txBody>
      </p:sp>
      <p:sp>
        <p:nvSpPr>
          <p:cNvPr id="30" name="Shape 28"/>
          <p:cNvSpPr/>
          <p:nvPr/>
        </p:nvSpPr>
        <p:spPr>
          <a:xfrm>
            <a:off x="10460736" y="2441448"/>
            <a:ext cx="868680" cy="320040"/>
          </a:xfrm>
          <a:prstGeom prst="roundRect">
            <a:avLst>
              <a:gd name="adj" fmla="val 51429"/>
            </a:avLst>
          </a:prstGeom>
          <a:solidFill>
            <a:srgbClr val="8A3B3B"/>
          </a:solidFill>
          <a:ln w="12700">
            <a:solidFill>
              <a:srgbClr val="8A3B3B"/>
            </a:solidFill>
            <a:prstDash val="solid"/>
          </a:ln>
        </p:spPr>
      </p:sp>
      <p:sp>
        <p:nvSpPr>
          <p:cNvPr id="31" name="Text 29"/>
          <p:cNvSpPr/>
          <p:nvPr/>
        </p:nvSpPr>
        <p:spPr>
          <a:xfrm>
            <a:off x="10460736" y="2441448"/>
            <a:ext cx="868680" cy="32004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CRITICAL</a:t>
            </a:r>
            <a:endParaRPr lang="en-US" sz="900" dirty="0"/>
          </a:p>
        </p:txBody>
      </p:sp>
      <p:sp>
        <p:nvSpPr>
          <p:cNvPr id="32" name="Shape 30"/>
          <p:cNvSpPr/>
          <p:nvPr/>
        </p:nvSpPr>
        <p:spPr>
          <a:xfrm>
            <a:off x="8238744" y="2898648"/>
            <a:ext cx="3044952" cy="347472"/>
          </a:xfrm>
          <a:prstGeom prst="roundRect">
            <a:avLst>
              <a:gd name="adj" fmla="val 15789"/>
            </a:avLst>
          </a:prstGeom>
          <a:solidFill>
            <a:srgbClr val="24365C"/>
          </a:solidFill>
          <a:ln w="12700">
            <a:solidFill>
              <a:srgbClr val="24365C"/>
            </a:solidFill>
            <a:prstDash val="solid"/>
          </a:ln>
        </p:spPr>
      </p:sp>
      <p:sp>
        <p:nvSpPr>
          <p:cNvPr id="33" name="Text 31"/>
          <p:cNvSpPr/>
          <p:nvPr/>
        </p:nvSpPr>
        <p:spPr>
          <a:xfrm>
            <a:off x="8238744" y="2898648"/>
            <a:ext cx="3044952" cy="347472"/>
          </a:xfrm>
          <a:prstGeom prst="rect">
            <a:avLst/>
          </a:prstGeom>
          <a:noFill/>
          <a:ln/>
        </p:spPr>
        <p:txBody>
          <a:bodyPr wrap="square" rtlCol="0" anchor="ctr"/>
          <a:lstStyle/>
          <a:p>
            <a:pPr algn="ctr" indent="0" marL="0">
              <a:buNone/>
            </a:pPr>
            <a:r>
              <a:rPr lang="en-US" sz="1050" dirty="0">
                <a:solidFill>
                  <a:srgbClr val="C9A24B"/>
                </a:solidFill>
                <a:latin typeface="Arial" pitchFamily="34" charset="0"/>
                <a:ea typeface="Arial" pitchFamily="34" charset="-122"/>
                <a:cs typeface="Arial" pitchFamily="34" charset="-120"/>
              </a:rPr>
              <a:t>CVE-2026-2203</a:t>
            </a:r>
            <a:endParaRPr lang="en-US" sz="1050" dirty="0"/>
          </a:p>
        </p:txBody>
      </p:sp>
      <p:sp>
        <p:nvSpPr>
          <p:cNvPr id="34" name="Text 32"/>
          <p:cNvSpPr/>
          <p:nvPr/>
        </p:nvSpPr>
        <p:spPr>
          <a:xfrm>
            <a:off x="8238744" y="3410712"/>
            <a:ext cx="3044952" cy="274320"/>
          </a:xfrm>
          <a:prstGeom prst="rect">
            <a:avLst/>
          </a:prstGeom>
          <a:noFill/>
          <a:ln/>
        </p:spPr>
        <p:txBody>
          <a:bodyPr wrap="square" rtlCol="0" anchor="ctr"/>
          <a:lstStyle/>
          <a:p>
            <a:pPr indent="0" marL="0">
              <a:buNone/>
            </a:pPr>
            <a:r>
              <a:rPr lang="en-US" sz="900" b="1" dirty="0">
                <a:solidFill>
                  <a:srgbClr val="9AA6C0"/>
                </a:solidFill>
                <a:latin typeface="Arial" pitchFamily="34" charset="0"/>
                <a:ea typeface="Arial" pitchFamily="34" charset="-122"/>
                <a:cs typeface="Arial" pitchFamily="34" charset="-120"/>
              </a:rPr>
              <a:t>CONTROL MAPPING</a:t>
            </a:r>
            <a:endParaRPr lang="en-US" sz="900" dirty="0"/>
          </a:p>
        </p:txBody>
      </p:sp>
      <p:sp>
        <p:nvSpPr>
          <p:cNvPr id="35" name="Text 33"/>
          <p:cNvSpPr/>
          <p:nvPr/>
        </p:nvSpPr>
        <p:spPr>
          <a:xfrm>
            <a:off x="8238744" y="3666744"/>
            <a:ext cx="3044952" cy="594360"/>
          </a:xfrm>
          <a:prstGeom prst="rect">
            <a:avLst/>
          </a:prstGeom>
          <a:noFill/>
          <a:ln/>
        </p:spPr>
        <p:txBody>
          <a:bodyPr wrap="square" rtlCol="0" anchor="ctr"/>
          <a:lstStyle/>
          <a:p>
            <a:pPr indent="0" marL="0">
              <a:lnSpc>
                <a:spcPct val="115000"/>
              </a:lnSpc>
              <a:buNone/>
            </a:pPr>
            <a:r>
              <a:rPr lang="en-US" sz="1100" dirty="0">
                <a:solidFill>
                  <a:srgbClr val="F5F3EE"/>
                </a:solidFill>
                <a:latin typeface="Arial" pitchFamily="34" charset="0"/>
                <a:ea typeface="Arial" pitchFamily="34" charset="-122"/>
                <a:cs typeface="Arial" pitchFamily="34" charset="-120"/>
              </a:rPr>
              <a:t>ISO 27001 A.12.6.2 · HIPAA §164.312</a:t>
            </a:r>
            <a:endParaRPr lang="en-US" sz="1100" dirty="0"/>
          </a:p>
        </p:txBody>
      </p:sp>
      <p:sp>
        <p:nvSpPr>
          <p:cNvPr id="36" name="Text 34"/>
          <p:cNvSpPr/>
          <p:nvPr/>
        </p:nvSpPr>
        <p:spPr>
          <a:xfrm>
            <a:off x="8238744" y="4361688"/>
            <a:ext cx="3044952" cy="274320"/>
          </a:xfrm>
          <a:prstGeom prst="rect">
            <a:avLst/>
          </a:prstGeom>
          <a:noFill/>
          <a:ln/>
        </p:spPr>
        <p:txBody>
          <a:bodyPr wrap="square" rtlCol="0" anchor="ctr"/>
          <a:lstStyle/>
          <a:p>
            <a:pPr indent="0" marL="0">
              <a:buNone/>
            </a:pPr>
            <a:r>
              <a:rPr lang="en-US" sz="900" b="1" dirty="0">
                <a:solidFill>
                  <a:srgbClr val="9AA6C0"/>
                </a:solidFill>
                <a:latin typeface="Arial" pitchFamily="34" charset="0"/>
                <a:ea typeface="Arial" pitchFamily="34" charset="-122"/>
                <a:cs typeface="Arial" pitchFamily="34" charset="-120"/>
              </a:rPr>
              <a:t>RECOMMENDED ACTION</a:t>
            </a:r>
            <a:endParaRPr lang="en-US" sz="900" dirty="0"/>
          </a:p>
        </p:txBody>
      </p:sp>
      <p:sp>
        <p:nvSpPr>
          <p:cNvPr id="37" name="Text 35"/>
          <p:cNvSpPr/>
          <p:nvPr/>
        </p:nvSpPr>
        <p:spPr>
          <a:xfrm>
            <a:off x="8238744" y="4617720"/>
            <a:ext cx="3044952" cy="1188720"/>
          </a:xfrm>
          <a:prstGeom prst="rect">
            <a:avLst/>
          </a:prstGeom>
          <a:noFill/>
          <a:ln/>
        </p:spPr>
        <p:txBody>
          <a:bodyPr wrap="square" rtlCol="0" anchor="ctr"/>
          <a:lstStyle/>
          <a:p>
            <a:pPr indent="0" marL="0">
              <a:lnSpc>
                <a:spcPct val="125000"/>
              </a:lnSpc>
              <a:buNone/>
            </a:pPr>
            <a:r>
              <a:rPr lang="en-US" sz="1150" dirty="0">
                <a:solidFill>
                  <a:srgbClr val="F5F3EE"/>
                </a:solidFill>
                <a:latin typeface="Arial" pitchFamily="34" charset="0"/>
                <a:ea typeface="Arial" pitchFamily="34" charset="-122"/>
                <a:cs typeface="Arial" pitchFamily="34" charset="-120"/>
              </a:rPr>
              <a:t>Update mobile app to prevent unauthorized patient-data access</a:t>
            </a:r>
            <a:endParaRPr lang="en-US" sz="1150" dirty="0"/>
          </a:p>
        </p:txBody>
      </p:sp>
      <p:sp>
        <p:nvSpPr>
          <p:cNvPr id="38" name="Text 36"/>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9AA0A0"/>
                </a:solidFill>
                <a:latin typeface="Arial" pitchFamily="34" charset="0"/>
                <a:ea typeface="Arial" pitchFamily="34" charset="-122"/>
                <a:cs typeface="Arial" pitchFamily="34" charset="-120"/>
              </a:rPr>
              <a:t>Hammad Rana</a:t>
            </a:r>
            <a:endParaRPr lang="en-US" sz="900" dirty="0"/>
          </a:p>
        </p:txBody>
      </p:sp>
      <p:sp>
        <p:nvSpPr>
          <p:cNvPr id="39" name="Text 37"/>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9AA0A0"/>
                </a:solidFill>
                <a:latin typeface="Arial" pitchFamily="34" charset="0"/>
                <a:ea typeface="Arial" pitchFamily="34" charset="-122"/>
                <a:cs typeface="Arial"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oundRect">
            <a:avLst>
              <a:gd name="adj" fmla="val 20000"/>
            </a:avLst>
          </a:prstGeom>
          <a:solidFill>
            <a:srgbClr val="1B2A4A"/>
          </a:solidFill>
          <a:ln w="12700">
            <a:solidFill>
              <a:srgbClr val="1B2A4A"/>
            </a:solidFill>
            <a:prstDash val="solid"/>
          </a:ln>
        </p:spPr>
      </p:sp>
      <p:sp>
        <p:nvSpPr>
          <p:cNvPr id="3" name="Text 1"/>
          <p:cNvSpPr/>
          <p:nvPr/>
        </p:nvSpPr>
        <p:spPr>
          <a:xfrm>
            <a:off x="457200" y="320040"/>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latin typeface="Georgia" pitchFamily="34" charset="0"/>
                <a:ea typeface="Georgia" pitchFamily="34" charset="-122"/>
                <a:cs typeface="Georgia" pitchFamily="34" charset="-120"/>
              </a:rPr>
              <a:t>HR</a:t>
            </a:r>
            <a:endParaRPr lang="en-US" sz="1300" dirty="0"/>
          </a:p>
        </p:txBody>
      </p:sp>
      <p:sp>
        <p:nvSpPr>
          <p:cNvPr id="4" name="Text 2"/>
          <p:cNvSpPr/>
          <p:nvPr/>
        </p:nvSpPr>
        <p:spPr>
          <a:xfrm>
            <a:off x="914400" y="320040"/>
            <a:ext cx="3200400" cy="365760"/>
          </a:xfrm>
          <a:prstGeom prst="rect">
            <a:avLst/>
          </a:prstGeom>
          <a:noFill/>
          <a:ln/>
        </p:spPr>
        <p:txBody>
          <a:bodyPr wrap="square" rtlCol="0" anchor="ctr"/>
          <a:lstStyle/>
          <a:p>
            <a:pPr indent="0" marL="0">
              <a:buNone/>
            </a:pPr>
            <a:r>
              <a:rPr lang="en-US" sz="1000" b="1" spc="120" kern="0" dirty="0">
                <a:solidFill>
                  <a:srgbClr val="1B2A4A"/>
                </a:solidFill>
                <a:latin typeface="Arial" pitchFamily="34" charset="0"/>
                <a:ea typeface="Arial" pitchFamily="34" charset="-122"/>
                <a:cs typeface="Arial" pitchFamily="34" charset="-120"/>
              </a:rPr>
              <a:t>HAMMAD RANA</a:t>
            </a:r>
            <a:endParaRPr lang="en-US" sz="1000" dirty="0"/>
          </a:p>
        </p:txBody>
      </p:sp>
      <p:sp>
        <p:nvSpPr>
          <p:cNvPr id="5" name="Text 3"/>
          <p:cNvSpPr/>
          <p:nvPr/>
        </p:nvSpPr>
        <p:spPr>
          <a:xfrm>
            <a:off x="640080" y="777240"/>
            <a:ext cx="7315200" cy="320040"/>
          </a:xfrm>
          <a:prstGeom prst="rect">
            <a:avLst/>
          </a:prstGeom>
          <a:noFill/>
          <a:ln/>
        </p:spPr>
        <p:txBody>
          <a:bodyPr wrap="square" rtlCol="0" anchor="ctr"/>
          <a:lstStyle/>
          <a:p>
            <a:pPr indent="0" marL="0">
              <a:buNone/>
            </a:pPr>
            <a:r>
              <a:rPr lang="en-US" sz="1200" b="1" spc="50" kern="0" dirty="0">
                <a:solidFill>
                  <a:srgbClr val="3C6E71"/>
                </a:solidFill>
                <a:latin typeface="Arial" pitchFamily="34" charset="0"/>
                <a:ea typeface="Arial" pitchFamily="34" charset="-122"/>
                <a:cs typeface="Arial" pitchFamily="34" charset="-120"/>
              </a:rPr>
              <a:t>MADISON AI TOOL</a:t>
            </a:r>
            <a:endParaRPr lang="en-US" sz="1200" dirty="0"/>
          </a:p>
        </p:txBody>
      </p:sp>
      <p:sp>
        <p:nvSpPr>
          <p:cNvPr id="6" name="Text 4"/>
          <p:cNvSpPr/>
          <p:nvPr/>
        </p:nvSpPr>
        <p:spPr>
          <a:xfrm>
            <a:off x="640080" y="1078992"/>
            <a:ext cx="10881360" cy="777240"/>
          </a:xfrm>
          <a:prstGeom prst="rect">
            <a:avLst/>
          </a:prstGeom>
          <a:noFill/>
          <a:ln/>
        </p:spPr>
        <p:txBody>
          <a:bodyPr wrap="square" rtlCol="0" anchor="ctr"/>
          <a:lstStyle/>
          <a:p>
            <a:pPr indent="0" marL="0">
              <a:buNone/>
            </a:pPr>
            <a:r>
              <a:rPr lang="en-US" sz="2900" b="1" dirty="0">
                <a:solidFill>
                  <a:srgbClr val="1B2A4A"/>
                </a:solidFill>
                <a:latin typeface="Georgia" pitchFamily="34" charset="0"/>
                <a:ea typeface="Georgia" pitchFamily="34" charset="-122"/>
                <a:cs typeface="Georgia" pitchFamily="34" charset="-120"/>
              </a:rPr>
              <a:t>Why it matters</a:t>
            </a:r>
            <a:endParaRPr lang="en-US" sz="2900" dirty="0"/>
          </a:p>
        </p:txBody>
      </p:sp>
      <p:sp>
        <p:nvSpPr>
          <p:cNvPr id="7" name="Shape 5"/>
          <p:cNvSpPr/>
          <p:nvPr/>
        </p:nvSpPr>
        <p:spPr>
          <a:xfrm>
            <a:off x="640080" y="1965960"/>
            <a:ext cx="5212080" cy="3246120"/>
          </a:xfrm>
          <a:prstGeom prst="roundRect">
            <a:avLst>
              <a:gd name="adj" fmla="val 2817"/>
            </a:avLst>
          </a:prstGeom>
          <a:solidFill>
            <a:srgbClr val="F2E9E4"/>
          </a:solidFill>
          <a:ln w="12700">
            <a:solidFill>
              <a:srgbClr val="F2E9E4"/>
            </a:solidFill>
            <a:prstDash val="solid"/>
          </a:ln>
        </p:spPr>
      </p:sp>
      <p:sp>
        <p:nvSpPr>
          <p:cNvPr id="8" name="Text 6"/>
          <p:cNvSpPr/>
          <p:nvPr/>
        </p:nvSpPr>
        <p:spPr>
          <a:xfrm>
            <a:off x="914400" y="2148840"/>
            <a:ext cx="4663440" cy="292608"/>
          </a:xfrm>
          <a:prstGeom prst="rect">
            <a:avLst/>
          </a:prstGeom>
          <a:noFill/>
          <a:ln/>
        </p:spPr>
        <p:txBody>
          <a:bodyPr wrap="square" rtlCol="0" anchor="ctr"/>
          <a:lstStyle/>
          <a:p>
            <a:pPr indent="0" marL="0">
              <a:buNone/>
            </a:pPr>
            <a:r>
              <a:rPr lang="en-US" sz="1100" b="1" dirty="0">
                <a:solidFill>
                  <a:srgbClr val="8A5A3B"/>
                </a:solidFill>
                <a:latin typeface="Arial" pitchFamily="34" charset="0"/>
                <a:ea typeface="Arial" pitchFamily="34" charset="-122"/>
                <a:cs typeface="Arial" pitchFamily="34" charset="-120"/>
              </a:rPr>
              <a:t>WITHOUT SENTINELGRC OPS</a:t>
            </a:r>
            <a:endParaRPr lang="en-US" sz="1100" dirty="0"/>
          </a:p>
        </p:txBody>
      </p:sp>
      <p:sp>
        <p:nvSpPr>
          <p:cNvPr id="9" name="Shape 7"/>
          <p:cNvSpPr/>
          <p:nvPr/>
        </p:nvSpPr>
        <p:spPr>
          <a:xfrm>
            <a:off x="6035040" y="1965960"/>
            <a:ext cx="5486400" cy="3246120"/>
          </a:xfrm>
          <a:prstGeom prst="roundRect">
            <a:avLst>
              <a:gd name="adj" fmla="val 2817"/>
            </a:avLst>
          </a:prstGeom>
          <a:solidFill>
            <a:srgbClr val="E3EEEE"/>
          </a:solidFill>
          <a:ln w="12700">
            <a:solidFill>
              <a:srgbClr val="E3EEEE"/>
            </a:solidFill>
            <a:prstDash val="solid"/>
          </a:ln>
        </p:spPr>
      </p:sp>
      <p:sp>
        <p:nvSpPr>
          <p:cNvPr id="10" name="Text 8"/>
          <p:cNvSpPr/>
          <p:nvPr/>
        </p:nvSpPr>
        <p:spPr>
          <a:xfrm>
            <a:off x="6309360" y="2148840"/>
            <a:ext cx="4937760" cy="292608"/>
          </a:xfrm>
          <a:prstGeom prst="rect">
            <a:avLst/>
          </a:prstGeom>
          <a:noFill/>
          <a:ln/>
        </p:spPr>
        <p:txBody>
          <a:bodyPr wrap="square" rtlCol="0" anchor="ctr"/>
          <a:lstStyle/>
          <a:p>
            <a:pPr indent="0" marL="0">
              <a:buNone/>
            </a:pPr>
            <a:r>
              <a:rPr lang="en-US" sz="1100" b="1" dirty="0">
                <a:solidFill>
                  <a:srgbClr val="1F5654"/>
                </a:solidFill>
                <a:latin typeface="Arial" pitchFamily="34" charset="0"/>
                <a:ea typeface="Arial" pitchFamily="34" charset="-122"/>
                <a:cs typeface="Arial" pitchFamily="34" charset="-120"/>
              </a:rPr>
              <a:t>WITH SENTINELGRC OPS</a:t>
            </a:r>
            <a:endParaRPr lang="en-US" sz="1100" dirty="0"/>
          </a:p>
        </p:txBody>
      </p:sp>
      <p:sp>
        <p:nvSpPr>
          <p:cNvPr id="11" name="Text 9"/>
          <p:cNvSpPr/>
          <p:nvPr/>
        </p:nvSpPr>
        <p:spPr>
          <a:xfrm>
            <a:off x="914400" y="2606040"/>
            <a:ext cx="4663440" cy="594360"/>
          </a:xfrm>
          <a:prstGeom prst="rect">
            <a:avLst/>
          </a:prstGeom>
          <a:noFill/>
          <a:ln/>
        </p:spPr>
        <p:txBody>
          <a:bodyPr wrap="square" rtlCol="0" anchor="ctr"/>
          <a:lstStyle/>
          <a:p>
            <a:pPr indent="0" marL="0">
              <a:lnSpc>
                <a:spcPct val="115000"/>
              </a:lnSpc>
              <a:buNone/>
            </a:pPr>
            <a:r>
              <a:rPr lang="en-US" sz="1150" dirty="0">
                <a:solidFill>
                  <a:srgbClr val="4A4038"/>
                </a:solidFill>
                <a:latin typeface="Arial" pitchFamily="34" charset="0"/>
                <a:ea typeface="Arial" pitchFamily="34" charset="-122"/>
                <a:cs typeface="Arial" pitchFamily="34" charset="-120"/>
              </a:rPr>
              <a:t>Manual review of CISA feed daily</a:t>
            </a:r>
            <a:endParaRPr lang="en-US" sz="1150" dirty="0"/>
          </a:p>
        </p:txBody>
      </p:sp>
      <p:sp>
        <p:nvSpPr>
          <p:cNvPr id="12" name="Text 10"/>
          <p:cNvSpPr/>
          <p:nvPr/>
        </p:nvSpPr>
        <p:spPr>
          <a:xfrm>
            <a:off x="6309360" y="2606040"/>
            <a:ext cx="4937760" cy="594360"/>
          </a:xfrm>
          <a:prstGeom prst="rect">
            <a:avLst/>
          </a:prstGeom>
          <a:noFill/>
          <a:ln/>
        </p:spPr>
        <p:txBody>
          <a:bodyPr wrap="square" rtlCol="0" anchor="ctr"/>
          <a:lstStyle/>
          <a:p>
            <a:pPr indent="0" marL="0">
              <a:lnSpc>
                <a:spcPct val="115000"/>
              </a:lnSpc>
              <a:buNone/>
            </a:pPr>
            <a:r>
              <a:rPr lang="en-US" sz="1150" b="1" dirty="0">
                <a:solidFill>
                  <a:srgbClr val="1F5654"/>
                </a:solidFill>
                <a:latin typeface="Arial" pitchFamily="34" charset="0"/>
                <a:ea typeface="Arial" pitchFamily="34" charset="-122"/>
                <a:cs typeface="Arial" pitchFamily="34" charset="-120"/>
              </a:rPr>
              <a:t>Automated — 30 advisories processed in under 600ms</a:t>
            </a:r>
            <a:endParaRPr lang="en-US" sz="1150" dirty="0"/>
          </a:p>
        </p:txBody>
      </p:sp>
      <p:sp>
        <p:nvSpPr>
          <p:cNvPr id="13" name="Text 11"/>
          <p:cNvSpPr/>
          <p:nvPr/>
        </p:nvSpPr>
        <p:spPr>
          <a:xfrm>
            <a:off x="914400" y="3264408"/>
            <a:ext cx="4663440" cy="594360"/>
          </a:xfrm>
          <a:prstGeom prst="rect">
            <a:avLst/>
          </a:prstGeom>
          <a:noFill/>
          <a:ln/>
        </p:spPr>
        <p:txBody>
          <a:bodyPr wrap="square" rtlCol="0" anchor="ctr"/>
          <a:lstStyle/>
          <a:p>
            <a:pPr indent="0" marL="0">
              <a:lnSpc>
                <a:spcPct val="115000"/>
              </a:lnSpc>
              <a:buNone/>
            </a:pPr>
            <a:r>
              <a:rPr lang="en-US" sz="1150" dirty="0">
                <a:solidFill>
                  <a:srgbClr val="4A4038"/>
                </a:solidFill>
                <a:latin typeface="Arial" pitchFamily="34" charset="0"/>
                <a:ea typeface="Arial" pitchFamily="34" charset="-122"/>
                <a:cs typeface="Arial" pitchFamily="34" charset="-120"/>
              </a:rPr>
              <a:t>Manually mapping each CVE to controls</a:t>
            </a:r>
            <a:endParaRPr lang="en-US" sz="1150" dirty="0"/>
          </a:p>
        </p:txBody>
      </p:sp>
      <p:sp>
        <p:nvSpPr>
          <p:cNvPr id="14" name="Text 12"/>
          <p:cNvSpPr/>
          <p:nvPr/>
        </p:nvSpPr>
        <p:spPr>
          <a:xfrm>
            <a:off x="6309360" y="3264408"/>
            <a:ext cx="4937760" cy="594360"/>
          </a:xfrm>
          <a:prstGeom prst="rect">
            <a:avLst/>
          </a:prstGeom>
          <a:noFill/>
          <a:ln/>
        </p:spPr>
        <p:txBody>
          <a:bodyPr wrap="square" rtlCol="0" anchor="ctr"/>
          <a:lstStyle/>
          <a:p>
            <a:pPr indent="0" marL="0">
              <a:lnSpc>
                <a:spcPct val="115000"/>
              </a:lnSpc>
              <a:buNone/>
            </a:pPr>
            <a:r>
              <a:rPr lang="en-US" sz="1150" b="1" dirty="0">
                <a:solidFill>
                  <a:srgbClr val="1F5654"/>
                </a:solidFill>
                <a:latin typeface="Arial" pitchFamily="34" charset="0"/>
                <a:ea typeface="Arial" pitchFamily="34" charset="-122"/>
                <a:cs typeface="Arial" pitchFamily="34" charset="-120"/>
              </a:rPr>
              <a:t>AI maps controls automatically, with reasoning</a:t>
            </a:r>
            <a:endParaRPr lang="en-US" sz="1150" dirty="0"/>
          </a:p>
        </p:txBody>
      </p:sp>
      <p:sp>
        <p:nvSpPr>
          <p:cNvPr id="15" name="Text 13"/>
          <p:cNvSpPr/>
          <p:nvPr/>
        </p:nvSpPr>
        <p:spPr>
          <a:xfrm>
            <a:off x="914400" y="3922776"/>
            <a:ext cx="4663440" cy="594360"/>
          </a:xfrm>
          <a:prstGeom prst="rect">
            <a:avLst/>
          </a:prstGeom>
          <a:noFill/>
          <a:ln/>
        </p:spPr>
        <p:txBody>
          <a:bodyPr wrap="square" rtlCol="0" anchor="ctr"/>
          <a:lstStyle/>
          <a:p>
            <a:pPr indent="0" marL="0">
              <a:lnSpc>
                <a:spcPct val="115000"/>
              </a:lnSpc>
              <a:buNone/>
            </a:pPr>
            <a:r>
              <a:rPr lang="en-US" sz="1150" dirty="0">
                <a:solidFill>
                  <a:srgbClr val="4A4038"/>
                </a:solidFill>
                <a:latin typeface="Arial" pitchFamily="34" charset="0"/>
                <a:ea typeface="Arial" pitchFamily="34" charset="-122"/>
                <a:cs typeface="Arial" pitchFamily="34" charset="-120"/>
              </a:rPr>
              <a:t>Remediation notes written by hand</a:t>
            </a:r>
            <a:endParaRPr lang="en-US" sz="1150" dirty="0"/>
          </a:p>
        </p:txBody>
      </p:sp>
      <p:sp>
        <p:nvSpPr>
          <p:cNvPr id="16" name="Text 14"/>
          <p:cNvSpPr/>
          <p:nvPr/>
        </p:nvSpPr>
        <p:spPr>
          <a:xfrm>
            <a:off x="6309360" y="3922776"/>
            <a:ext cx="4937760" cy="594360"/>
          </a:xfrm>
          <a:prstGeom prst="rect">
            <a:avLst/>
          </a:prstGeom>
          <a:noFill/>
          <a:ln/>
        </p:spPr>
        <p:txBody>
          <a:bodyPr wrap="square" rtlCol="0" anchor="ctr"/>
          <a:lstStyle/>
          <a:p>
            <a:pPr indent="0" marL="0">
              <a:lnSpc>
                <a:spcPct val="115000"/>
              </a:lnSpc>
              <a:buNone/>
            </a:pPr>
            <a:r>
              <a:rPr lang="en-US" sz="1150" b="1" dirty="0">
                <a:solidFill>
                  <a:srgbClr val="1F5654"/>
                </a:solidFill>
                <a:latin typeface="Arial" pitchFamily="34" charset="0"/>
                <a:ea typeface="Arial" pitchFamily="34" charset="-122"/>
                <a:cs typeface="Arial" pitchFamily="34" charset="-120"/>
              </a:rPr>
              <a:t>Specific action items generated per advisory</a:t>
            </a:r>
            <a:endParaRPr lang="en-US" sz="1150" dirty="0"/>
          </a:p>
        </p:txBody>
      </p:sp>
      <p:sp>
        <p:nvSpPr>
          <p:cNvPr id="17" name="Text 15"/>
          <p:cNvSpPr/>
          <p:nvPr/>
        </p:nvSpPr>
        <p:spPr>
          <a:xfrm>
            <a:off x="914400" y="4581144"/>
            <a:ext cx="4663440" cy="594360"/>
          </a:xfrm>
          <a:prstGeom prst="rect">
            <a:avLst/>
          </a:prstGeom>
          <a:noFill/>
          <a:ln/>
        </p:spPr>
        <p:txBody>
          <a:bodyPr wrap="square" rtlCol="0" anchor="ctr"/>
          <a:lstStyle/>
          <a:p>
            <a:pPr indent="0" marL="0">
              <a:lnSpc>
                <a:spcPct val="115000"/>
              </a:lnSpc>
              <a:buNone/>
            </a:pPr>
            <a:r>
              <a:rPr lang="en-US" sz="1150" dirty="0">
                <a:solidFill>
                  <a:srgbClr val="4A4038"/>
                </a:solidFill>
                <a:latin typeface="Arial" pitchFamily="34" charset="0"/>
                <a:ea typeface="Arial" pitchFamily="34" charset="-122"/>
                <a:cs typeface="Arial" pitchFamily="34" charset="-120"/>
              </a:rPr>
              <a:t>2–3 hours of analyst time per week</a:t>
            </a:r>
            <a:endParaRPr lang="en-US" sz="1150" dirty="0"/>
          </a:p>
        </p:txBody>
      </p:sp>
      <p:sp>
        <p:nvSpPr>
          <p:cNvPr id="18" name="Text 16"/>
          <p:cNvSpPr/>
          <p:nvPr/>
        </p:nvSpPr>
        <p:spPr>
          <a:xfrm>
            <a:off x="6309360" y="4581144"/>
            <a:ext cx="4937760" cy="594360"/>
          </a:xfrm>
          <a:prstGeom prst="rect">
            <a:avLst/>
          </a:prstGeom>
          <a:noFill/>
          <a:ln/>
        </p:spPr>
        <p:txBody>
          <a:bodyPr wrap="square" rtlCol="0" anchor="ctr"/>
          <a:lstStyle/>
          <a:p>
            <a:pPr indent="0" marL="0">
              <a:lnSpc>
                <a:spcPct val="115000"/>
              </a:lnSpc>
              <a:buNone/>
            </a:pPr>
            <a:r>
              <a:rPr lang="en-US" sz="1150" b="1" dirty="0">
                <a:solidFill>
                  <a:srgbClr val="1F5654"/>
                </a:solidFill>
                <a:latin typeface="Arial" pitchFamily="34" charset="0"/>
                <a:ea typeface="Arial" pitchFamily="34" charset="-122"/>
                <a:cs typeface="Arial" pitchFamily="34" charset="-120"/>
              </a:rPr>
              <a:t>Under 1 minute, on demand or scheduled</a:t>
            </a:r>
            <a:endParaRPr lang="en-US" sz="1150" dirty="0"/>
          </a:p>
        </p:txBody>
      </p:sp>
      <p:sp>
        <p:nvSpPr>
          <p:cNvPr id="19" name="Shape 17"/>
          <p:cNvSpPr/>
          <p:nvPr/>
        </p:nvSpPr>
        <p:spPr>
          <a:xfrm>
            <a:off x="640080" y="5394960"/>
            <a:ext cx="10881360" cy="868680"/>
          </a:xfrm>
          <a:prstGeom prst="roundRect">
            <a:avLst>
              <a:gd name="adj" fmla="val 10526"/>
            </a:avLst>
          </a:prstGeom>
          <a:solidFill>
            <a:srgbClr val="1B2A4A"/>
          </a:solidFill>
          <a:ln w="12700">
            <a:solidFill>
              <a:srgbClr val="1B2A4A"/>
            </a:solidFill>
            <a:prstDash val="solid"/>
          </a:ln>
        </p:spPr>
      </p:sp>
      <p:sp>
        <p:nvSpPr>
          <p:cNvPr id="20" name="Text 18"/>
          <p:cNvSpPr/>
          <p:nvPr/>
        </p:nvSpPr>
        <p:spPr>
          <a:xfrm>
            <a:off x="914400" y="5394960"/>
            <a:ext cx="10332720" cy="868680"/>
          </a:xfrm>
          <a:prstGeom prst="rect">
            <a:avLst/>
          </a:prstGeom>
          <a:noFill/>
          <a:ln/>
        </p:spPr>
        <p:txBody>
          <a:bodyPr wrap="square" rtlCol="0" anchor="ctr"/>
          <a:lstStyle/>
          <a:p>
            <a:pPr algn="l" indent="0" marL="0">
              <a:buNone/>
            </a:pPr>
            <a:r>
              <a:rPr lang="en-US" sz="1500" b="1" i="1" dirty="0">
                <a:solidFill>
                  <a:srgbClr val="C9A24B"/>
                </a:solidFill>
                <a:latin typeface="Georgia" pitchFamily="34" charset="0"/>
                <a:ea typeface="Georgia" pitchFamily="34" charset="-122"/>
                <a:cs typeface="Georgia" pitchFamily="34" charset="-120"/>
              </a:rPr>
              <a:t>Estimated ROI: $450–675/month in saved analyst labor, for a tool that costs $0.07/month to run at team scale.</a:t>
            </a:r>
            <a:endParaRPr lang="en-US" sz="1500" dirty="0"/>
          </a:p>
        </p:txBody>
      </p:sp>
      <p:sp>
        <p:nvSpPr>
          <p:cNvPr id="21" name="Text 19"/>
          <p:cNvSpPr/>
          <p:nvPr/>
        </p:nvSpPr>
        <p:spPr>
          <a:xfrm>
            <a:off x="640080" y="6473952"/>
            <a:ext cx="2743200" cy="274320"/>
          </a:xfrm>
          <a:prstGeom prst="rect">
            <a:avLst/>
          </a:prstGeom>
          <a:noFill/>
          <a:ln/>
        </p:spPr>
        <p:txBody>
          <a:bodyPr wrap="square" rtlCol="0" anchor="ctr"/>
          <a:lstStyle/>
          <a:p>
            <a:pPr indent="0" marL="0">
              <a:buNone/>
            </a:pPr>
            <a:r>
              <a:rPr lang="en-US" sz="900" dirty="0">
                <a:solidFill>
                  <a:srgbClr val="9AA0A0"/>
                </a:solidFill>
                <a:latin typeface="Arial" pitchFamily="34" charset="0"/>
                <a:ea typeface="Arial" pitchFamily="34" charset="-122"/>
                <a:cs typeface="Arial" pitchFamily="34" charset="-120"/>
              </a:rPr>
              <a:t>Hammad Rana</a:t>
            </a:r>
            <a:endParaRPr lang="en-US" sz="900" dirty="0"/>
          </a:p>
        </p:txBody>
      </p:sp>
      <p:sp>
        <p:nvSpPr>
          <p:cNvPr id="22" name="Text 20"/>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9AA0A0"/>
                </a:solidFill>
                <a:latin typeface="Arial" pitchFamily="34" charset="0"/>
                <a:ea typeface="Arial" pitchFamily="34" charset="-122"/>
                <a:cs typeface="Arial"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40080" y="548640"/>
            <a:ext cx="502920" cy="502920"/>
          </a:xfrm>
          <a:prstGeom prst="roundRect">
            <a:avLst>
              <a:gd name="adj" fmla="val 20000"/>
            </a:avLst>
          </a:prstGeom>
          <a:solidFill>
            <a:srgbClr val="24365C"/>
          </a:solidFill>
          <a:ln w="12700">
            <a:solidFill>
              <a:srgbClr val="24365C"/>
            </a:solidFill>
            <a:prstDash val="solid"/>
          </a:ln>
        </p:spPr>
      </p:sp>
      <p:sp>
        <p:nvSpPr>
          <p:cNvPr id="3" name="Text 1"/>
          <p:cNvSpPr/>
          <p:nvPr/>
        </p:nvSpPr>
        <p:spPr>
          <a:xfrm>
            <a:off x="640080" y="548640"/>
            <a:ext cx="502920" cy="502920"/>
          </a:xfrm>
          <a:prstGeom prst="rect">
            <a:avLst/>
          </a:prstGeom>
          <a:noFill/>
          <a:ln/>
        </p:spPr>
        <p:txBody>
          <a:bodyPr wrap="square" lIns="0" tIns="0" rIns="0" bIns="0" rtlCol="0" anchor="ctr"/>
          <a:lstStyle/>
          <a:p>
            <a:pPr algn="ctr" indent="0" marL="0">
              <a:buNone/>
            </a:pPr>
            <a:r>
              <a:rPr lang="en-US" sz="1600" b="1" dirty="0">
                <a:solidFill>
                  <a:srgbClr val="C9A24B"/>
                </a:solidFill>
                <a:latin typeface="Georgia" pitchFamily="34" charset="0"/>
                <a:ea typeface="Georgia" pitchFamily="34" charset="-122"/>
                <a:cs typeface="Georgia" pitchFamily="34" charset="-120"/>
              </a:rPr>
              <a:t>HR</a:t>
            </a:r>
            <a:endParaRPr lang="en-US" sz="1600" dirty="0"/>
          </a:p>
        </p:txBody>
      </p:sp>
      <p:sp>
        <p:nvSpPr>
          <p:cNvPr id="4" name="Text 2"/>
          <p:cNvSpPr/>
          <p:nvPr/>
        </p:nvSpPr>
        <p:spPr>
          <a:xfrm>
            <a:off x="0" y="1234440"/>
            <a:ext cx="12188952" cy="640080"/>
          </a:xfrm>
          <a:prstGeom prst="rect">
            <a:avLst/>
          </a:prstGeom>
          <a:noFill/>
          <a:ln/>
        </p:spPr>
        <p:txBody>
          <a:bodyPr wrap="square" rtlCol="0" anchor="ctr"/>
          <a:lstStyle/>
          <a:p>
            <a:pPr algn="ctr" indent="0" marL="0">
              <a:buNone/>
            </a:pPr>
            <a:r>
              <a:rPr lang="en-US" sz="3400" b="1" dirty="0">
                <a:solidFill>
                  <a:srgbClr val="F5F3EE"/>
                </a:solidFill>
                <a:latin typeface="Georgia" pitchFamily="34" charset="0"/>
                <a:ea typeface="Georgia" pitchFamily="34" charset="-122"/>
                <a:cs typeface="Georgia" pitchFamily="34" charset="-120"/>
              </a:rPr>
              <a:t>Thank you.</a:t>
            </a:r>
            <a:endParaRPr lang="en-US" sz="3400" dirty="0"/>
          </a:p>
        </p:txBody>
      </p:sp>
      <p:sp>
        <p:nvSpPr>
          <p:cNvPr id="5" name="Text 3"/>
          <p:cNvSpPr/>
          <p:nvPr/>
        </p:nvSpPr>
        <p:spPr>
          <a:xfrm>
            <a:off x="0" y="1874520"/>
            <a:ext cx="12188952" cy="365760"/>
          </a:xfrm>
          <a:prstGeom prst="rect">
            <a:avLst/>
          </a:prstGeom>
          <a:noFill/>
          <a:ln/>
        </p:spPr>
        <p:txBody>
          <a:bodyPr wrap="square" rtlCol="0" anchor="ctr"/>
          <a:lstStyle/>
          <a:p>
            <a:pPr algn="ctr" indent="0" marL="0">
              <a:buNone/>
            </a:pPr>
            <a:r>
              <a:rPr lang="en-US" sz="1350" i="1" dirty="0">
                <a:solidFill>
                  <a:srgbClr val="E3EEEE"/>
                </a:solidFill>
                <a:latin typeface="Arial" pitchFamily="34" charset="0"/>
                <a:ea typeface="Arial" pitchFamily="34" charset="-122"/>
                <a:cs typeface="Arial" pitchFamily="34" charset="-120"/>
              </a:rPr>
              <a:t>Let's talk GRC, security, or where the two meet.</a:t>
            </a:r>
            <a:endParaRPr lang="en-US" sz="1350" dirty="0"/>
          </a:p>
        </p:txBody>
      </p:sp>
      <p:sp>
        <p:nvSpPr>
          <p:cNvPr id="6" name="Shape 4"/>
          <p:cNvSpPr/>
          <p:nvPr/>
        </p:nvSpPr>
        <p:spPr>
          <a:xfrm>
            <a:off x="1586484" y="2514600"/>
            <a:ext cx="1197864" cy="1197864"/>
          </a:xfrm>
          <a:prstGeom prst="roundRect">
            <a:avLst>
              <a:gd name="adj" fmla="val 6107"/>
            </a:avLst>
          </a:prstGeom>
          <a:solidFill>
            <a:srgbClr val="FFFFFF"/>
          </a:solidFill>
          <a:ln w="12700">
            <a:solidFill>
              <a:srgbClr val="FFFFFF"/>
            </a:solidFill>
            <a:prstDash val="solid"/>
          </a:ln>
        </p:spPr>
      </p:sp>
      <p:pic>
        <p:nvPicPr>
          <p:cNvPr id="7" name="Image 0" descr="/home/claude/deck/qr_portfolio.png">    </p:cNvPr>
          <p:cNvPicPr>
            <a:picLocks noChangeAspect="1"/>
          </p:cNvPicPr>
          <p:nvPr/>
        </p:nvPicPr>
        <p:blipFill>
          <a:blip r:embed="rId1"/>
          <a:stretch>
            <a:fillRect/>
          </a:stretch>
        </p:blipFill>
        <p:spPr>
          <a:xfrm>
            <a:off x="1659636" y="2587752"/>
            <a:ext cx="1051560" cy="1051560"/>
          </a:xfrm>
          <a:prstGeom prst="rect">
            <a:avLst/>
          </a:prstGeom>
        </p:spPr>
      </p:pic>
      <p:sp>
        <p:nvSpPr>
          <p:cNvPr id="8" name="Text 5"/>
          <p:cNvSpPr/>
          <p:nvPr/>
        </p:nvSpPr>
        <p:spPr>
          <a:xfrm>
            <a:off x="882396" y="3822192"/>
            <a:ext cx="2606040" cy="274320"/>
          </a:xfrm>
          <a:prstGeom prst="rect">
            <a:avLst/>
          </a:prstGeom>
          <a:noFill/>
          <a:ln/>
        </p:spPr>
        <p:txBody>
          <a:bodyPr wrap="square" rtlCol="0" anchor="ctr"/>
          <a:lstStyle/>
          <a:p>
            <a:pPr algn="ctr" indent="0" marL="0">
              <a:buNone/>
            </a:pPr>
            <a:r>
              <a:rPr lang="en-US" sz="1050" b="1" spc="100" kern="0" dirty="0">
                <a:solidFill>
                  <a:srgbClr val="C9A24B"/>
                </a:solidFill>
                <a:latin typeface="Arial" pitchFamily="34" charset="0"/>
                <a:ea typeface="Arial" pitchFamily="34" charset="-122"/>
                <a:cs typeface="Arial" pitchFamily="34" charset="-120"/>
              </a:rPr>
              <a:t>PORTFOLIO</a:t>
            </a:r>
            <a:endParaRPr lang="en-US" sz="1050" dirty="0"/>
          </a:p>
        </p:txBody>
      </p:sp>
      <p:sp>
        <p:nvSpPr>
          <p:cNvPr id="9" name="Text 6"/>
          <p:cNvSpPr/>
          <p:nvPr/>
        </p:nvSpPr>
        <p:spPr>
          <a:xfrm>
            <a:off x="973836" y="4114800"/>
            <a:ext cx="2423160" cy="502920"/>
          </a:xfrm>
          <a:prstGeom prst="rect">
            <a:avLst/>
          </a:prstGeom>
          <a:noFill/>
          <a:ln/>
        </p:spPr>
        <p:txBody>
          <a:bodyPr wrap="square" rtlCol="0" anchor="ctr"/>
          <a:lstStyle/>
          <a:p>
            <a:pPr algn="ctr" indent="0" marL="0">
              <a:lnSpc>
                <a:spcPct val="110000"/>
              </a:lnSpc>
              <a:buNone/>
            </a:pPr>
            <a:r>
              <a:rPr lang="en-US" sz="1050" dirty="0">
                <a:solidFill>
                  <a:srgbClr val="F5F3EE"/>
                </a:solidFill>
                <a:latin typeface="Arial" pitchFamily="34" charset="0"/>
                <a:ea typeface="Arial" pitchFamily="34" charset="-122"/>
                <a:cs typeface="Arial" pitchFamily="34" charset="-120"/>
              </a:rPr>
              <a:t>hammad-rana.vercel.app</a:t>
            </a:r>
            <a:endParaRPr lang="en-US" sz="1050" dirty="0"/>
          </a:p>
        </p:txBody>
      </p:sp>
      <p:sp>
        <p:nvSpPr>
          <p:cNvPr id="10" name="Shape 7"/>
          <p:cNvSpPr/>
          <p:nvPr/>
        </p:nvSpPr>
        <p:spPr>
          <a:xfrm>
            <a:off x="4192524" y="2514600"/>
            <a:ext cx="1197864" cy="1197864"/>
          </a:xfrm>
          <a:prstGeom prst="roundRect">
            <a:avLst>
              <a:gd name="adj" fmla="val 6107"/>
            </a:avLst>
          </a:prstGeom>
          <a:solidFill>
            <a:srgbClr val="FFFFFF"/>
          </a:solidFill>
          <a:ln w="12700">
            <a:solidFill>
              <a:srgbClr val="FFFFFF"/>
            </a:solidFill>
            <a:prstDash val="solid"/>
          </a:ln>
        </p:spPr>
      </p:sp>
      <p:pic>
        <p:nvPicPr>
          <p:cNvPr id="11" name="Image 1" descr="/home/claude/deck/qr_linkedin.png">    </p:cNvPr>
          <p:cNvPicPr>
            <a:picLocks noChangeAspect="1"/>
          </p:cNvPicPr>
          <p:nvPr/>
        </p:nvPicPr>
        <p:blipFill>
          <a:blip r:embed="rId2"/>
          <a:stretch>
            <a:fillRect/>
          </a:stretch>
        </p:blipFill>
        <p:spPr>
          <a:xfrm>
            <a:off x="4265676" y="2587752"/>
            <a:ext cx="1051560" cy="1051560"/>
          </a:xfrm>
          <a:prstGeom prst="rect">
            <a:avLst/>
          </a:prstGeom>
        </p:spPr>
      </p:pic>
      <p:sp>
        <p:nvSpPr>
          <p:cNvPr id="12" name="Text 8"/>
          <p:cNvSpPr/>
          <p:nvPr/>
        </p:nvSpPr>
        <p:spPr>
          <a:xfrm>
            <a:off x="3488436" y="3822192"/>
            <a:ext cx="2606040" cy="274320"/>
          </a:xfrm>
          <a:prstGeom prst="rect">
            <a:avLst/>
          </a:prstGeom>
          <a:noFill/>
          <a:ln/>
        </p:spPr>
        <p:txBody>
          <a:bodyPr wrap="square" rtlCol="0" anchor="ctr"/>
          <a:lstStyle/>
          <a:p>
            <a:pPr algn="ctr" indent="0" marL="0">
              <a:buNone/>
            </a:pPr>
            <a:r>
              <a:rPr lang="en-US" sz="1050" b="1" spc="100" kern="0" dirty="0">
                <a:solidFill>
                  <a:srgbClr val="C9A24B"/>
                </a:solidFill>
                <a:latin typeface="Arial" pitchFamily="34" charset="0"/>
                <a:ea typeface="Arial" pitchFamily="34" charset="-122"/>
                <a:cs typeface="Arial" pitchFamily="34" charset="-120"/>
              </a:rPr>
              <a:t>LINKEDIN</a:t>
            </a:r>
            <a:endParaRPr lang="en-US" sz="1050" dirty="0"/>
          </a:p>
        </p:txBody>
      </p:sp>
      <p:sp>
        <p:nvSpPr>
          <p:cNvPr id="13" name="Text 9"/>
          <p:cNvSpPr/>
          <p:nvPr/>
        </p:nvSpPr>
        <p:spPr>
          <a:xfrm>
            <a:off x="3579876" y="4114800"/>
            <a:ext cx="2423160" cy="502920"/>
          </a:xfrm>
          <a:prstGeom prst="rect">
            <a:avLst/>
          </a:prstGeom>
          <a:noFill/>
          <a:ln/>
        </p:spPr>
        <p:txBody>
          <a:bodyPr wrap="square" rtlCol="0" anchor="ctr"/>
          <a:lstStyle/>
          <a:p>
            <a:pPr algn="ctr" indent="0" marL="0">
              <a:lnSpc>
                <a:spcPct val="110000"/>
              </a:lnSpc>
              <a:buNone/>
            </a:pPr>
            <a:r>
              <a:rPr lang="en-US" sz="1050" dirty="0">
                <a:solidFill>
                  <a:srgbClr val="F5F3EE"/>
                </a:solidFill>
                <a:latin typeface="Arial" pitchFamily="34" charset="0"/>
                <a:ea typeface="Arial" pitchFamily="34" charset="-122"/>
                <a:cs typeface="Arial" pitchFamily="34" charset="-120"/>
              </a:rPr>
              <a:t>/in/hammad-rana-a5b181177</a:t>
            </a:r>
            <a:endParaRPr lang="en-US" sz="1050" dirty="0"/>
          </a:p>
        </p:txBody>
      </p:sp>
      <p:sp>
        <p:nvSpPr>
          <p:cNvPr id="14" name="Shape 10"/>
          <p:cNvSpPr/>
          <p:nvPr/>
        </p:nvSpPr>
        <p:spPr>
          <a:xfrm>
            <a:off x="6798564" y="2514600"/>
            <a:ext cx="1197864" cy="1197864"/>
          </a:xfrm>
          <a:prstGeom prst="roundRect">
            <a:avLst>
              <a:gd name="adj" fmla="val 6107"/>
            </a:avLst>
          </a:prstGeom>
          <a:solidFill>
            <a:srgbClr val="FFFFFF"/>
          </a:solidFill>
          <a:ln w="12700">
            <a:solidFill>
              <a:srgbClr val="FFFFFF"/>
            </a:solidFill>
            <a:prstDash val="solid"/>
          </a:ln>
        </p:spPr>
      </p:sp>
      <p:pic>
        <p:nvPicPr>
          <p:cNvPr id="15" name="Image 2" descr="/home/claude/deck/qr_substack.png">    </p:cNvPr>
          <p:cNvPicPr>
            <a:picLocks noChangeAspect="1"/>
          </p:cNvPicPr>
          <p:nvPr/>
        </p:nvPicPr>
        <p:blipFill>
          <a:blip r:embed="rId3"/>
          <a:stretch>
            <a:fillRect/>
          </a:stretch>
        </p:blipFill>
        <p:spPr>
          <a:xfrm>
            <a:off x="6871716" y="2587752"/>
            <a:ext cx="1051560" cy="1051560"/>
          </a:xfrm>
          <a:prstGeom prst="rect">
            <a:avLst/>
          </a:prstGeom>
        </p:spPr>
      </p:pic>
      <p:sp>
        <p:nvSpPr>
          <p:cNvPr id="16" name="Text 11"/>
          <p:cNvSpPr/>
          <p:nvPr/>
        </p:nvSpPr>
        <p:spPr>
          <a:xfrm>
            <a:off x="6094476" y="3822192"/>
            <a:ext cx="2606040" cy="274320"/>
          </a:xfrm>
          <a:prstGeom prst="rect">
            <a:avLst/>
          </a:prstGeom>
          <a:noFill/>
          <a:ln/>
        </p:spPr>
        <p:txBody>
          <a:bodyPr wrap="square" rtlCol="0" anchor="ctr"/>
          <a:lstStyle/>
          <a:p>
            <a:pPr algn="ctr" indent="0" marL="0">
              <a:buNone/>
            </a:pPr>
            <a:r>
              <a:rPr lang="en-US" sz="1050" b="1" spc="100" kern="0" dirty="0">
                <a:solidFill>
                  <a:srgbClr val="C9A24B"/>
                </a:solidFill>
                <a:latin typeface="Arial" pitchFamily="34" charset="0"/>
                <a:ea typeface="Arial" pitchFamily="34" charset="-122"/>
                <a:cs typeface="Arial" pitchFamily="34" charset="-120"/>
              </a:rPr>
              <a:t>SUBSTACK</a:t>
            </a:r>
            <a:endParaRPr lang="en-US" sz="1050" dirty="0"/>
          </a:p>
        </p:txBody>
      </p:sp>
      <p:sp>
        <p:nvSpPr>
          <p:cNvPr id="17" name="Text 12"/>
          <p:cNvSpPr/>
          <p:nvPr/>
        </p:nvSpPr>
        <p:spPr>
          <a:xfrm>
            <a:off x="6185916" y="4114800"/>
            <a:ext cx="2423160" cy="502920"/>
          </a:xfrm>
          <a:prstGeom prst="rect">
            <a:avLst/>
          </a:prstGeom>
          <a:noFill/>
          <a:ln/>
        </p:spPr>
        <p:txBody>
          <a:bodyPr wrap="square" rtlCol="0" anchor="ctr"/>
          <a:lstStyle/>
          <a:p>
            <a:pPr algn="ctr" indent="0" marL="0">
              <a:lnSpc>
                <a:spcPct val="110000"/>
              </a:lnSpc>
              <a:buNone/>
            </a:pPr>
            <a:r>
              <a:rPr lang="en-US" sz="1050" dirty="0">
                <a:solidFill>
                  <a:srgbClr val="F5F3EE"/>
                </a:solidFill>
                <a:latin typeface="Arial" pitchFamily="34" charset="0"/>
                <a:ea typeface="Arial" pitchFamily="34" charset="-122"/>
                <a:cs typeface="Arial" pitchFamily="34" charset="-120"/>
              </a:rPr>
              <a:t>hammadrana12.substack.com</a:t>
            </a:r>
            <a:endParaRPr lang="en-US" sz="1050" dirty="0"/>
          </a:p>
        </p:txBody>
      </p:sp>
      <p:sp>
        <p:nvSpPr>
          <p:cNvPr id="18" name="Shape 13"/>
          <p:cNvSpPr/>
          <p:nvPr/>
        </p:nvSpPr>
        <p:spPr>
          <a:xfrm>
            <a:off x="9404604" y="2514600"/>
            <a:ext cx="1197864" cy="1197864"/>
          </a:xfrm>
          <a:prstGeom prst="roundRect">
            <a:avLst>
              <a:gd name="adj" fmla="val 6107"/>
            </a:avLst>
          </a:prstGeom>
          <a:solidFill>
            <a:srgbClr val="FFFFFF"/>
          </a:solidFill>
          <a:ln w="12700">
            <a:solidFill>
              <a:srgbClr val="FFFFFF"/>
            </a:solidFill>
            <a:prstDash val="solid"/>
          </a:ln>
        </p:spPr>
      </p:sp>
      <p:pic>
        <p:nvPicPr>
          <p:cNvPr id="19" name="Image 3" descr="/home/claude/deck/qr_huggingface.png">    </p:cNvPr>
          <p:cNvPicPr>
            <a:picLocks noChangeAspect="1"/>
          </p:cNvPicPr>
          <p:nvPr/>
        </p:nvPicPr>
        <p:blipFill>
          <a:blip r:embed="rId4"/>
          <a:stretch>
            <a:fillRect/>
          </a:stretch>
        </p:blipFill>
        <p:spPr>
          <a:xfrm>
            <a:off x="9477756" y="2587752"/>
            <a:ext cx="1051560" cy="1051560"/>
          </a:xfrm>
          <a:prstGeom prst="rect">
            <a:avLst/>
          </a:prstGeom>
        </p:spPr>
      </p:pic>
      <p:sp>
        <p:nvSpPr>
          <p:cNvPr id="20" name="Text 14"/>
          <p:cNvSpPr/>
          <p:nvPr/>
        </p:nvSpPr>
        <p:spPr>
          <a:xfrm>
            <a:off x="8700516" y="3822192"/>
            <a:ext cx="2606040" cy="274320"/>
          </a:xfrm>
          <a:prstGeom prst="rect">
            <a:avLst/>
          </a:prstGeom>
          <a:noFill/>
          <a:ln/>
        </p:spPr>
        <p:txBody>
          <a:bodyPr wrap="square" rtlCol="0" anchor="ctr"/>
          <a:lstStyle/>
          <a:p>
            <a:pPr algn="ctr" indent="0" marL="0">
              <a:buNone/>
            </a:pPr>
            <a:r>
              <a:rPr lang="en-US" sz="1050" b="1" spc="100" kern="0" dirty="0">
                <a:solidFill>
                  <a:srgbClr val="C9A24B"/>
                </a:solidFill>
                <a:latin typeface="Arial" pitchFamily="34" charset="0"/>
                <a:ea typeface="Arial" pitchFamily="34" charset="-122"/>
                <a:cs typeface="Arial" pitchFamily="34" charset="-120"/>
              </a:rPr>
              <a:t>LIVE DEMO</a:t>
            </a:r>
            <a:endParaRPr lang="en-US" sz="1050" dirty="0"/>
          </a:p>
        </p:txBody>
      </p:sp>
      <p:sp>
        <p:nvSpPr>
          <p:cNvPr id="21" name="Text 15"/>
          <p:cNvSpPr/>
          <p:nvPr/>
        </p:nvSpPr>
        <p:spPr>
          <a:xfrm>
            <a:off x="8791956" y="4114800"/>
            <a:ext cx="2423160" cy="502920"/>
          </a:xfrm>
          <a:prstGeom prst="rect">
            <a:avLst/>
          </a:prstGeom>
          <a:noFill/>
          <a:ln/>
        </p:spPr>
        <p:txBody>
          <a:bodyPr wrap="square" rtlCol="0" anchor="ctr"/>
          <a:lstStyle/>
          <a:p>
            <a:pPr algn="ctr" indent="0" marL="0">
              <a:lnSpc>
                <a:spcPct val="110000"/>
              </a:lnSpc>
              <a:buNone/>
            </a:pPr>
            <a:r>
              <a:rPr lang="en-US" sz="1050" dirty="0">
                <a:solidFill>
                  <a:srgbClr val="F5F3EE"/>
                </a:solidFill>
                <a:latin typeface="Arial" pitchFamily="34" charset="0"/>
                <a:ea typeface="Arial" pitchFamily="34" charset="-122"/>
                <a:cs typeface="Arial" pitchFamily="34" charset="-120"/>
              </a:rPr>
              <a:t>huggingface.co/spaces/HammadRana1/sentinel-grc-ops</a:t>
            </a:r>
            <a:endParaRPr lang="en-US" sz="1050" dirty="0"/>
          </a:p>
        </p:txBody>
      </p:sp>
      <p:sp>
        <p:nvSpPr>
          <p:cNvPr id="22" name="Text 16"/>
          <p:cNvSpPr/>
          <p:nvPr/>
        </p:nvSpPr>
        <p:spPr>
          <a:xfrm>
            <a:off x="0" y="6355080"/>
            <a:ext cx="12188952" cy="292608"/>
          </a:xfrm>
          <a:prstGeom prst="rect">
            <a:avLst/>
          </a:prstGeom>
          <a:noFill/>
          <a:ln/>
        </p:spPr>
        <p:txBody>
          <a:bodyPr wrap="square" rtlCol="0" anchor="ctr"/>
          <a:lstStyle/>
          <a:p>
            <a:pPr algn="ctr" indent="0" marL="0">
              <a:buNone/>
            </a:pPr>
            <a:r>
              <a:rPr lang="en-US" sz="950" dirty="0">
                <a:solidFill>
                  <a:srgbClr val="8598BE"/>
                </a:solidFill>
                <a:latin typeface="Arial" pitchFamily="34" charset="0"/>
                <a:ea typeface="Arial" pitchFamily="34" charset="-122"/>
                <a:cs typeface="Arial" pitchFamily="34" charset="-120"/>
              </a:rPr>
              <a:t>Hammad Rana  ·  INFO 7375 — Branding &amp; AI  ·  Northeastern University  ·  August 2026</a:t>
            </a:r>
            <a:endParaRPr lang="en-US" sz="950" dirty="0"/>
          </a:p>
        </p:txBody>
      </p:sp>
      <p:sp>
        <p:nvSpPr>
          <p:cNvPr id="23" name="Text 17"/>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598BE"/>
                </a:solidFill>
                <a:latin typeface="Arial" pitchFamily="34" charset="0"/>
                <a:ea typeface="Arial" pitchFamily="34" charset="-122"/>
                <a:cs typeface="Arial"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2026-08-14T00:49:27Z</dcterms:created>
  <dcterms:modified xsi:type="dcterms:W3CDTF">2026-08-14T00:49:27Z</dcterms:modified>
</cp:coreProperties>
</file>