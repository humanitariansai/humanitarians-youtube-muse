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Brand Introduction. Say the name, the tagline, and the one-sentence descriptor out loud exactly as written — this is your positioning statement. Don't linger; this slide is a launchpad, not a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sec] The real 2026 data — not the debunked '75% ATS rejection' myth. The actual bottleneck is volume + no diagnostic insight, which is exactly the gap Madison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sec] This is the core mechanic — adversarial debate, not a single agreeable model. The image on the right is a real shipped brand asset, not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Five pillars, quick — don't read every card verbatim, just hit Honesty and Access since those two carry the positioning.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sec] Two personas, both grounded in the real newsletter content you'll show later — Priya maps to the Junior Data Analyst debate, Marcus maps to the clearance-corridor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sec] Walk the Madison column top to bottom — that's the whole competitive argument in one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sec] Logo + light-background variation on the left, full 6-color audited palette on the right. Mention the naming process briefly — shows the strategic rigor behind the final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sec] Two safe, portable fonts, plus real WebAIM numbers straight from Assignment 8 — every pairing passes 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sec] This verdict card mockup uses the real Junior Data Analyst example from Issue_014 of the newsletter — not invented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All three are real, published, and linked — not mockups. The right card is an actual screenshot of Issue_014.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[~90 sec] Present this one in full — it's Assignment 9, Framework 1 (Hero's Journey), in your own words. Name the framework out loud, then connect the last beat back to the five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[~75 sec] Second story — the use-case transformation. Every number here (8/10, CompTIA A+, AWS Cloud Practitioner, 2:1, the three company names) is real, straight from Issue_014 of the newsletter.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This is the transition into the demo section — everything here is shipped and verifiable, not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 sec] Pitch deck slide 1 of 3 — the problem, stated as tight as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 sec] Pitch deck slide 2 of 3 — the product, three features, brand identity visible in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sec] Pitch deck slide 3 of 3 — traction on the left is all real and verifiable, roadmap on the right is honest about scope (independent capstone build, not a funded startup).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This slide doubles as the 1-2 page tool documentation deliverable, condensed for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[~2-4 min] This is where you switch over and actually run the tool live — upload a resume, show the debate, show the verdict. Narrate the methodology line as you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 sec] Close on the tagline, not a Q&amp;A slide — hold for questions verbally.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7375 — BRANDING &amp; AI  ·  COMPLETE BRAND SYSTEM</a:t>
            </a:r>
            <a:endParaRPr lang="en-US" sz="1100" dirty="0"/>
          </a:p>
        </p:txBody>
      </p:sp>
      <p:pic>
        <p:nvPicPr>
          <p:cNvPr id="3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170432"/>
            <a:ext cx="310896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market intelligence your employer already has.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706728" y="2697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adversarial multi-agent AI platform that cross-examines your resume against real DC-metro job postings — and hands you the exact fix, not just a score.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84368" y="3429000"/>
            <a:ext cx="8229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Bykov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397764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7375 — Branding &amp; AI  •  Northeastern University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0" y="427939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August 14, 2026  ·  Path B — Madison AI Tool Startup Brand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44088" y="475488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44088" y="4754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inquisitive-lily-b52fee.netlify.app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0" y="528523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brand website  ·  Live tool demo: huggingface.co/spaces/denisbykov/madison-job-intel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16" name="Shape 13"/>
          <p:cNvSpPr/>
          <p:nvPr/>
        </p:nvSpPr>
        <p:spPr>
          <a:xfrm>
            <a:off x="9646920" y="6592824"/>
            <a:ext cx="109728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Have More Tools Than Ever.
</a:t>
            </a:r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Verdict.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3588410" cy="1572768"/>
          </a:xfrm>
          <a:prstGeom prst="roundRect">
            <a:avLst>
              <a:gd name="adj" fmla="val 5233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2093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32226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32–200+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58368" y="2971800"/>
            <a:ext cx="32043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the average job seeker sends before landing one offer (2026)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01642" y="1965960"/>
            <a:ext cx="3588410" cy="1572768"/>
          </a:xfrm>
          <a:prstGeom prst="roundRect">
            <a:avLst>
              <a:gd name="adj" fmla="val 5233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02810" y="2093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484522" y="2423160"/>
            <a:ext cx="32226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2–3%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502810" y="2971800"/>
            <a:ext cx="32043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Applicant-to-interview conversion rate industry-wide, down from 8.4% in 2023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46085" y="1965960"/>
            <a:ext cx="3588410" cy="1572768"/>
          </a:xfrm>
          <a:prstGeom prst="roundRect">
            <a:avLst>
              <a:gd name="adj" fmla="val 5233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47253" y="2093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328965" y="2423160"/>
            <a:ext cx="32226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$39.99/mo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8347253" y="2971800"/>
            <a:ext cx="32043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LinkedIn Premium Career — still returns zero fit verdict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776472"/>
            <a:ext cx="5510632" cy="1463040"/>
          </a:xfrm>
          <a:prstGeom prst="roundRect">
            <a:avLst>
              <a:gd name="adj" fmla="val 5625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9044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080" y="4233672"/>
            <a:ext cx="514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115% more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658368" y="4672584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for tailored resumes vs. generic ones — tailoring is the lever that works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23864" y="3776472"/>
            <a:ext cx="5510632" cy="1463040"/>
          </a:xfrm>
          <a:prstGeom prst="roundRect">
            <a:avLst>
              <a:gd name="adj" fmla="val 5625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25032" y="39044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406744" y="4233672"/>
            <a:ext cx="514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0.1–2%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6425032" y="4672584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of a cold, untailored application with no gap analysis behind it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5458968"/>
            <a:ext cx="54864" cy="56692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26" name="Shape 23"/>
          <p:cNvSpPr/>
          <p:nvPr/>
        </p:nvSpPr>
        <p:spPr>
          <a:xfrm>
            <a:off x="484632" y="5458968"/>
            <a:ext cx="11249863" cy="566928"/>
          </a:xfrm>
          <a:prstGeom prst="roundRect">
            <a:avLst>
              <a:gd name="adj" fmla="val 14516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" y="545896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 seekers can see thousands of postings… </a:t>
            </a:r>
            <a:pPr indent="0" marL="0">
              <a:buNone/>
            </a:pPr>
            <a:r>
              <a:rPr lang="en-US" sz="1300" b="1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can't tell which ones they're actually competitive for.</a:t>
            </a:r>
            <a:pPr indent="0" marL="0">
              <a:buNone/>
            </a:pPr>
            <a:r>
              <a:rPr lang="en-US" sz="13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0533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HiringThing 2026 Job Application Report · MeetAssist 2026 funnel analysis · LinkedIn pricing verified Aug 2026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19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32" name="Shape 29"/>
          <p:cNvSpPr/>
          <p:nvPr/>
        </p:nvSpPr>
        <p:spPr>
          <a:xfrm>
            <a:off x="9646920" y="6592824"/>
            <a:ext cx="219456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Get a Score.
</a:t>
            </a:r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Cross-Examined.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457200" y="1874520"/>
            <a:ext cx="6583680" cy="566928"/>
          </a:xfrm>
          <a:prstGeom prst="roundRect">
            <a:avLst>
              <a:gd name="adj" fmla="val 1451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87452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resume + target role. </a:t>
            </a:r>
            <a:pPr indent="0" marL="0">
              <a:buNone/>
            </a:pPr>
            <a:r>
              <a:rPr lang="en-US" sz="13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agents debate your fit live. </a:t>
            </a:r>
            <a:pPr indent="0" marL="0">
              <a:buNone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delivers the verdict.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2560320"/>
            <a:ext cx="54864" cy="111556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8" name="Shape 5"/>
          <p:cNvSpPr/>
          <p:nvPr/>
        </p:nvSpPr>
        <p:spPr>
          <a:xfrm>
            <a:off x="484632" y="2560320"/>
            <a:ext cx="6556248" cy="1115568"/>
          </a:xfrm>
          <a:prstGeom prst="roundRect">
            <a:avLst>
              <a:gd name="adj" fmla="val 7377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64261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28620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Hiring Manager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312724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Stress-tests every claim on the resume. Flags real skill and clearance gaps — no flattery.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57200" y="3808476"/>
            <a:ext cx="54864" cy="111556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" y="3808476"/>
            <a:ext cx="6556248" cy="1115568"/>
          </a:xfrm>
          <a:prstGeom prst="roundRect">
            <a:avLst>
              <a:gd name="adj" fmla="val 7377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89077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B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" y="411022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Advocate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5800" y="437540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your case. Surfaces transferable strengths Agent A missed.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57200" y="5056632"/>
            <a:ext cx="54864" cy="111556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8" name="Shape 15"/>
          <p:cNvSpPr/>
          <p:nvPr/>
        </p:nvSpPr>
        <p:spPr>
          <a:xfrm>
            <a:off x="484632" y="5056632"/>
            <a:ext cx="6556248" cy="1115568"/>
          </a:xfrm>
          <a:prstGeom prst="roundRect">
            <a:avLst>
              <a:gd name="adj" fmla="val 7377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513892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 JUDGE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" y="53583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5800" y="562356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both arguments into one fit score, a confidence rating, and a 3-step action plan.</a:t>
            </a:r>
            <a:endParaRPr lang="en-US" sz="1080" dirty="0"/>
          </a:p>
        </p:txBody>
      </p:sp>
      <p:pic>
        <p:nvPicPr>
          <p:cNvPr id="22" name="Image 1" descr="/home/claude/madison_final/assets/brandvisual_deb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965960"/>
            <a:ext cx="4343400" cy="32575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60920" y="527837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shipped brand visual — Assignment 8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19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27" name="Shape 23"/>
          <p:cNvSpPr/>
          <p:nvPr/>
        </p:nvSpPr>
        <p:spPr>
          <a:xfrm>
            <a:off x="9646920" y="659282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Pillars. </a:t>
            </a:r>
            <a:pPr algn="ctr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Verdict Engine.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001164"/>
            <a:ext cx="2109155" cy="3530956"/>
          </a:xfrm>
          <a:prstGeom prst="roundRect">
            <a:avLst>
              <a:gd name="adj" fmla="val 3902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2221992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1792" y="2624328"/>
            <a:ext cx="17799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" y="3172968"/>
            <a:ext cx="365760" cy="0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3337560"/>
            <a:ext cx="177997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flattery. An adversarial agent stress-tests every claim.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2749235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2749235" y="2001164"/>
            <a:ext cx="2109155" cy="3530956"/>
          </a:xfrm>
          <a:prstGeom prst="roundRect">
            <a:avLst>
              <a:gd name="adj" fmla="val 3902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9235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/>
        </p:spPr>
      </p:sp>
      <p:sp>
        <p:nvSpPr>
          <p:cNvPr id="15" name="Text 12"/>
          <p:cNvSpPr/>
          <p:nvPr/>
        </p:nvSpPr>
        <p:spPr>
          <a:xfrm>
            <a:off x="2913827" y="2221992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913827" y="2624328"/>
            <a:ext cx="17799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913827" y="3172968"/>
            <a:ext cx="365760" cy="0"/>
          </a:xfrm>
          <a:prstGeom prst="line">
            <a:avLst/>
          </a:prstGeom>
          <a:noFill/>
          <a:ln w="25400">
            <a:solidFill>
              <a:srgbClr val="0F4C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13827" y="3337560"/>
            <a:ext cx="177997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backed by live BLS, NewsAPI, and posting data.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5041270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5041270" y="2001164"/>
            <a:ext cx="2109155" cy="3530956"/>
          </a:xfrm>
          <a:prstGeom prst="roundRect">
            <a:avLst>
              <a:gd name="adj" fmla="val 3902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41270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2" name="Text 19"/>
          <p:cNvSpPr/>
          <p:nvPr/>
        </p:nvSpPr>
        <p:spPr>
          <a:xfrm>
            <a:off x="5205862" y="2221992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205862" y="2624328"/>
            <a:ext cx="17799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205862" y="3172968"/>
            <a:ext cx="3657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05862" y="3337560"/>
            <a:ext cx="177997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diagnostic in seconds — not weeks of silent applications.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7333305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7" name="Shape 24"/>
          <p:cNvSpPr/>
          <p:nvPr/>
        </p:nvSpPr>
        <p:spPr>
          <a:xfrm>
            <a:off x="7333305" y="2001164"/>
            <a:ext cx="2109155" cy="3530956"/>
          </a:xfrm>
          <a:prstGeom prst="roundRect">
            <a:avLst>
              <a:gd name="adj" fmla="val 3902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33305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9" name="Text 26"/>
          <p:cNvSpPr/>
          <p:nvPr/>
        </p:nvSpPr>
        <p:spPr>
          <a:xfrm>
            <a:off x="7497897" y="2221992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497897" y="2624328"/>
            <a:ext cx="17799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497897" y="3172968"/>
            <a:ext cx="3657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97897" y="3337560"/>
            <a:ext cx="177997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you with a 3-step plan, not just a percentage.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9625340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4" name="Shape 31"/>
          <p:cNvSpPr/>
          <p:nvPr/>
        </p:nvSpPr>
        <p:spPr>
          <a:xfrm>
            <a:off x="9625340" y="2001164"/>
            <a:ext cx="2109155" cy="3530956"/>
          </a:xfrm>
          <a:prstGeom prst="roundRect">
            <a:avLst>
              <a:gd name="adj" fmla="val 3902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25340" y="1965960"/>
            <a:ext cx="2109155" cy="64008"/>
          </a:xfrm>
          <a:prstGeom prst="roundRect">
            <a:avLst>
              <a:gd name="adj" fmla="val 50000"/>
            </a:avLst>
          </a:prstGeom>
          <a:solidFill>
            <a:srgbClr val="3E8A9C"/>
          </a:solidFill>
          <a:ln/>
        </p:spPr>
      </p:sp>
      <p:sp>
        <p:nvSpPr>
          <p:cNvPr id="36" name="Text 33"/>
          <p:cNvSpPr/>
          <p:nvPr/>
        </p:nvSpPr>
        <p:spPr>
          <a:xfrm>
            <a:off x="9789932" y="2221992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789932" y="2624328"/>
            <a:ext cx="17799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789932" y="3172968"/>
            <a:ext cx="365760" cy="0"/>
          </a:xfrm>
          <a:prstGeom prst="line">
            <a:avLst/>
          </a:prstGeom>
          <a:noFill/>
          <a:ln w="25400">
            <a:solidFill>
              <a:srgbClr val="3E8A9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9932" y="3337560"/>
            <a:ext cx="177997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intelligence your employer already has — now yours.</a:t>
            </a:r>
            <a:endParaRPr lang="en-US" sz="1080" dirty="0"/>
          </a:p>
        </p:txBody>
      </p:sp>
      <p:sp>
        <p:nvSpPr>
          <p:cNvPr id="40" name="Text 37"/>
          <p:cNvSpPr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values on a slide. They're the rules the Synthesis Judge runs on.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19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44" name="Shape 41"/>
          <p:cNvSpPr/>
          <p:nvPr/>
        </p:nvSpPr>
        <p:spPr>
          <a:xfrm>
            <a:off x="9646920" y="6592824"/>
            <a:ext cx="438912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45" name="Text 4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Serve: The </a:t>
            </a:r>
            <a:pPr algn="ctr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DC-Metro Job Seeker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121B2E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69164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ICP:  </a:t>
            </a:r>
            <a:pPr indent="0" marL="0">
              <a:buNone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Early-to-mid career tech &amp; data candidates in DC / Northern Virginia applying to </a:t>
            </a:r>
            <a:pPr indent="0" marL="0">
              <a:buNone/>
            </a:pPr>
            <a:r>
              <a:rPr lang="en-US" sz="13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and cloud-infrastructure roles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5501488" cy="6400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2549804"/>
            <a:ext cx="5501488" cy="3028036"/>
          </a:xfrm>
          <a:prstGeom prst="roundRect">
            <a:avLst>
              <a:gd name="adj" fmla="val 271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734056"/>
            <a:ext cx="498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3232" y="2971800"/>
            <a:ext cx="498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— The Career-Pivoting Analyst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13232" y="3630168"/>
            <a:ext cx="498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data/BI candidate, Junior Data Analyst roles, DC metro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3232" y="4050792"/>
            <a:ext cx="498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3232" y="4297680"/>
            <a:ext cx="498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dozens of analyst postings with zero signal on why she isn't converting — or which certification actually matters.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13232" y="4873752"/>
            <a:ext cx="498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13232" y="5120640"/>
            <a:ext cx="498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verdict: is she competitive for this role, and what closes the gap fastest.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33008" y="2514600"/>
            <a:ext cx="5501488" cy="64008"/>
          </a:xfrm>
          <a:prstGeom prst="roundRect">
            <a:avLst>
              <a:gd name="adj" fmla="val 50000"/>
            </a:avLst>
          </a:prstGeom>
          <a:solidFill>
            <a:srgbClr val="3E8A9C"/>
          </a:solidFill>
          <a:ln/>
        </p:spPr>
      </p:sp>
      <p:sp>
        <p:nvSpPr>
          <p:cNvPr id="17" name="Shape 14"/>
          <p:cNvSpPr/>
          <p:nvPr/>
        </p:nvSpPr>
        <p:spPr>
          <a:xfrm>
            <a:off x="6233008" y="2549804"/>
            <a:ext cx="5501488" cy="3028036"/>
          </a:xfrm>
          <a:prstGeom prst="roundRect">
            <a:avLst>
              <a:gd name="adj" fmla="val 271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89040" y="2734056"/>
            <a:ext cx="498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89040" y="2971800"/>
            <a:ext cx="498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— The Cleared IT Specialist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89040" y="3630168"/>
            <a:ext cx="498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Security-cleared cloud/IT specialist eyeing Leidos, Booz Allen, SAIC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89040" y="4050792"/>
            <a:ext cx="498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89040" y="4297680"/>
            <a:ext cx="498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cleared roles command a premium he can't quantify against his own resume.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489040" y="4873752"/>
            <a:ext cx="498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89040" y="5120640"/>
            <a:ext cx="498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he clears the bar for TS/SCI cloud roles — before he burns a referral.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0" y="614476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verticals: Federal contracting  ·  Cloud infrastructure  ·  Data analytics  ·  Cybersecurity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19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29" name="Shape 26"/>
          <p:cNvSpPr/>
          <p:nvPr/>
        </p:nvSpPr>
        <p:spPr>
          <a:xfrm>
            <a:off x="9646920" y="6592824"/>
            <a:ext cx="548640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Another AI Resume Reviewer.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0" y="13716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Verdict Layer.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18745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83280" y="18745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1874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Premium Career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52560" y="187452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Madison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496312"/>
            <a:ext cx="278892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4963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style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2496312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24963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model, agreeable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2496312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4963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visibility stats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915400" y="2496312"/>
            <a:ext cx="2816352" cy="566928"/>
          </a:xfrm>
          <a:prstGeom prst="roundRect">
            <a:avLst>
              <a:gd name="adj" fmla="val 11290"/>
            </a:avLst>
          </a:prstGeom>
          <a:solidFill>
            <a:srgbClr val="16223A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52560" y="249631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2-agent debate + judge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18104"/>
            <a:ext cx="278892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1181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Labor-market grounding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46120" y="3118104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83280" y="31181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training data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89320" y="3118104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31181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platform data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915400" y="3118104"/>
            <a:ext cx="2816352" cy="566928"/>
          </a:xfrm>
          <a:prstGeom prst="roundRect">
            <a:avLst>
              <a:gd name="adj" fmla="val 11290"/>
            </a:avLst>
          </a:prstGeom>
          <a:solidFill>
            <a:srgbClr val="16223A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52560" y="3118104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BLS + NewsAPI + postings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739896"/>
            <a:ext cx="278892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3739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DC-metro / clearance fit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46120" y="3739896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83280" y="37398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989320" y="3739896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37398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915400" y="3739896"/>
            <a:ext cx="2816352" cy="566928"/>
          </a:xfrm>
          <a:prstGeom prst="roundRect">
            <a:avLst>
              <a:gd name="adj" fmla="val 11290"/>
            </a:avLst>
          </a:prstGeom>
          <a:solidFill>
            <a:srgbClr val="16223A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373989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(TS/SCI, cloud vs. NOC)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361688"/>
            <a:ext cx="278892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" y="43616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fit score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246120" y="4361688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83280" y="4361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989320" y="4361688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26480" y="43616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915400" y="4361688"/>
            <a:ext cx="2816352" cy="566928"/>
          </a:xfrm>
          <a:prstGeom prst="roundRect">
            <a:avLst>
              <a:gd name="adj" fmla="val 11290"/>
            </a:avLst>
          </a:prstGeom>
          <a:solidFill>
            <a:srgbClr val="16223A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052560" y="436168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Fit score + 3-step plan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57200" y="4983480"/>
            <a:ext cx="278892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4360" y="4983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246120" y="498348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383280" y="4983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Free–$20/mo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989320" y="4983480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26480" y="4983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$39.99/mo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915400" y="4983480"/>
            <a:ext cx="2816352" cy="566928"/>
          </a:xfrm>
          <a:prstGeom prst="roundRect">
            <a:avLst>
              <a:gd name="adj" fmla="val 11290"/>
            </a:avLst>
          </a:prstGeom>
          <a:solidFill>
            <a:srgbClr val="16223A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052560" y="498348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capstone deployment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457200" y="5715000"/>
            <a:ext cx="11277295" cy="530352"/>
          </a:xfrm>
          <a:prstGeom prst="roundRect">
            <a:avLst>
              <a:gd name="adj" fmla="val 17241"/>
            </a:avLst>
          </a:prstGeom>
          <a:solidFill>
            <a:srgbClr val="121B2E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85800" y="5715000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 </a:t>
            </a:r>
            <a:pPr indent="0" marL="0">
              <a:buNone/>
            </a:pPr>
            <a:r>
              <a:rPr lang="en-US" sz="125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tool fusing adversarial AI debate with live regional labor data — built for the DC-metro cleared &amp; tech corridor.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19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55" name="Shape 52"/>
          <p:cNvSpPr/>
          <p:nvPr/>
        </p:nvSpPr>
        <p:spPr>
          <a:xfrm>
            <a:off x="9646920" y="6592824"/>
            <a:ext cx="658368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56" name="Text 5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IDENTITY SHOWCASE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 </a:t>
            </a:r>
            <a:pPr algn="ctr" indent="0" marL="0">
              <a:buNone/>
            </a:pPr>
            <a:r>
              <a:rPr lang="en-US" sz="29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2286000"/>
            <a:ext cx="4937760" cy="1417320"/>
          </a:xfrm>
          <a:prstGeom prst="roundRect">
            <a:avLst>
              <a:gd name="adj" fmla="val 5806"/>
            </a:avLst>
          </a:prstGeom>
          <a:solidFill>
            <a:srgbClr val="0B1220"/>
          </a:solidFill>
          <a:ln w="12700">
            <a:solidFill>
              <a:srgbClr val="24314A"/>
            </a:solidFill>
            <a:prstDash val="solid"/>
          </a:ln>
        </p:spPr>
      </p:sp>
      <p:pic>
        <p:nvPicPr>
          <p:cNvPr id="8" name="Image 1" descr="/home/claude/madison_final/assets/madison_logo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697480"/>
            <a:ext cx="237744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Dark Background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31520" y="3840480"/>
            <a:ext cx="4937760" cy="1417320"/>
          </a:xfrm>
          <a:prstGeom prst="roundRect">
            <a:avLst>
              <a:gd name="adj" fmla="val 5806"/>
            </a:avLst>
          </a:prstGeom>
          <a:solidFill>
            <a:srgbClr val="F5F5F0"/>
          </a:solidFill>
          <a:ln w="12700">
            <a:solidFill>
              <a:srgbClr val="24314A"/>
            </a:solidFill>
            <a:prstDash val="solid"/>
          </a:ln>
        </p:spPr>
      </p:sp>
      <p:pic>
        <p:nvPicPr>
          <p:cNvPr id="11" name="Image 2" descr="/home/claude/madison_final/assets/madison_logo_lockup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4251960"/>
            <a:ext cx="2377440" cy="59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— Light Background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31520" y="53492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finalists eliminated in trademark/domain clearance: JobSignal · CareerScope · LumenPath · Nexara</a:t>
            </a:r>
            <a:endParaRPr lang="en-US" sz="980" dirty="0"/>
          </a:p>
        </p:txBody>
      </p:sp>
      <p:sp>
        <p:nvSpPr>
          <p:cNvPr id="14" name="Shape 9"/>
          <p:cNvSpPr/>
          <p:nvPr/>
        </p:nvSpPr>
        <p:spPr>
          <a:xfrm>
            <a:off x="6245352" y="1691640"/>
            <a:ext cx="5489143" cy="4434840"/>
          </a:xfrm>
          <a:prstGeom prst="roundRect">
            <a:avLst>
              <a:gd name="adj" fmla="val 1856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519672" y="1920240"/>
            <a:ext cx="4940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PALETTE  —  WCAG-AUDITED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519672" y="2313432"/>
            <a:ext cx="1463954" cy="960120"/>
          </a:xfrm>
          <a:prstGeom prst="roundRect">
            <a:avLst>
              <a:gd name="adj" fmla="val 7619"/>
            </a:avLst>
          </a:prstGeom>
          <a:solidFill>
            <a:srgbClr val="0B1220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19672" y="3328416"/>
            <a:ext cx="1463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Navy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519672" y="3566160"/>
            <a:ext cx="1463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#0B1220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257946" y="2313432"/>
            <a:ext cx="1463954" cy="960120"/>
          </a:xfrm>
          <a:prstGeom prst="roundRect">
            <a:avLst>
              <a:gd name="adj" fmla="val 7619"/>
            </a:avLst>
          </a:prstGeom>
          <a:solidFill>
            <a:srgbClr val="F5F5F0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57946" y="3328416"/>
            <a:ext cx="1463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White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257946" y="3566160"/>
            <a:ext cx="1463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#F5F5F0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996221" y="2313432"/>
            <a:ext cx="1463954" cy="960120"/>
          </a:xfrm>
          <a:prstGeom prst="roundRect">
            <a:avLst>
              <a:gd name="adj" fmla="val 7619"/>
            </a:avLst>
          </a:prstGeom>
          <a:solidFill>
            <a:srgbClr val="00D9A3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996221" y="3328416"/>
            <a:ext cx="1463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Green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996221" y="3566160"/>
            <a:ext cx="1463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#00D9A3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519672" y="3959352"/>
            <a:ext cx="1463954" cy="960120"/>
          </a:xfrm>
          <a:prstGeom prst="roundRect">
            <a:avLst>
              <a:gd name="adj" fmla="val 7619"/>
            </a:avLst>
          </a:prstGeom>
          <a:solidFill>
            <a:srgbClr val="0F4C5C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519672" y="4974336"/>
            <a:ext cx="1463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Teal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519672" y="5212080"/>
            <a:ext cx="1463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#0F4C5C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8257946" y="3959352"/>
            <a:ext cx="1463954" cy="960120"/>
          </a:xfrm>
          <a:prstGeom prst="roundRect">
            <a:avLst>
              <a:gd name="adj" fmla="val 7619"/>
            </a:avLst>
          </a:prstGeom>
          <a:solidFill>
            <a:srgbClr val="F5A623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257946" y="4974336"/>
            <a:ext cx="1463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Amber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257946" y="5212080"/>
            <a:ext cx="1463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#F5A623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9996221" y="3959352"/>
            <a:ext cx="1463954" cy="960120"/>
          </a:xfrm>
          <a:prstGeom prst="roundRect">
            <a:avLst>
              <a:gd name="adj" fmla="val 7619"/>
            </a:avLst>
          </a:prstGeom>
          <a:solidFill>
            <a:srgbClr val="4A5568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996221" y="4974336"/>
            <a:ext cx="1463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Gray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9996221" y="5212080"/>
            <a:ext cx="1463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#4A5568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519672" y="5669280"/>
            <a:ext cx="49405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pairing WebAIM-tested — see next slide for verified contrast ratios.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19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38" name="Shape 33"/>
          <p:cNvSpPr/>
          <p:nvPr/>
        </p:nvSpPr>
        <p:spPr>
          <a:xfrm>
            <a:off x="9646920" y="6592824"/>
            <a:ext cx="768096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9" name="Text 3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IDENTITY SHOWCASE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IDENTITY SHOWCASE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System &amp; Verified </a:t>
            </a:r>
            <a:pPr algn="ctr" indent="0" marL="0">
              <a:buNone/>
            </a:pPr>
            <a:r>
              <a:rPr lang="en-US" sz="27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5212080" cy="4434840"/>
          </a:xfrm>
          <a:prstGeom prst="roundRect">
            <a:avLst>
              <a:gd name="adj" fmla="val 1856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947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23134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— Headlines &amp; Interface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32278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 01234567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3749040"/>
            <a:ext cx="4663440" cy="0"/>
          </a:xfrm>
          <a:prstGeom prst="line">
            <a:avLst/>
          </a:prstGeom>
          <a:noFill/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886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 New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31520" y="4434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— Data, Metrics &amp; Scores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7274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   14-node   $12.98/yr   11.4s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1520" y="5623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32pt Bold  ·  H2 22pt Bold  ·  Body 14pt  ·  Data 13pt Mono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1691640"/>
            <a:ext cx="5790895" cy="4434840"/>
          </a:xfrm>
          <a:prstGeom prst="roundRect">
            <a:avLst>
              <a:gd name="adj" fmla="val 1856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1911096"/>
            <a:ext cx="5278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WEBAIM CONTRAST RESULTS — ASSIGNMENT 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99632" y="2258568"/>
            <a:ext cx="3962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White on Ink Navy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042855" y="2258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17.11:1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1048695" y="2322576"/>
            <a:ext cx="201168" cy="20116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0" name="Text 17"/>
          <p:cNvSpPr/>
          <p:nvPr/>
        </p:nvSpPr>
        <p:spPr>
          <a:xfrm>
            <a:off x="6199632" y="2679192"/>
            <a:ext cx="3962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Green on Ink Navy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042855" y="26791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10.21:1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1048695" y="2743200"/>
            <a:ext cx="201168" cy="20116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3" name="Text 20"/>
          <p:cNvSpPr/>
          <p:nvPr/>
        </p:nvSpPr>
        <p:spPr>
          <a:xfrm>
            <a:off x="6199632" y="3099816"/>
            <a:ext cx="3962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Amber on Ink Navy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0042855" y="30998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9.23:1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1048695" y="3163824"/>
            <a:ext cx="201168" cy="20116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6" name="Text 23"/>
          <p:cNvSpPr/>
          <p:nvPr/>
        </p:nvSpPr>
        <p:spPr>
          <a:xfrm>
            <a:off x="6199632" y="3520440"/>
            <a:ext cx="3962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White on Deep Teal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0042855" y="35204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8.69:1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1048695" y="3584448"/>
            <a:ext cx="201168" cy="20116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9" name="Text 26"/>
          <p:cNvSpPr/>
          <p:nvPr/>
        </p:nvSpPr>
        <p:spPr>
          <a:xfrm>
            <a:off x="6199632" y="3941064"/>
            <a:ext cx="3962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Gray on Warm White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042855" y="39410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6.88:1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1048695" y="4005072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Shape 29"/>
          <p:cNvSpPr/>
          <p:nvPr/>
        </p:nvSpPr>
        <p:spPr>
          <a:xfrm>
            <a:off x="6199632" y="4407408"/>
            <a:ext cx="5278831" cy="0"/>
          </a:xfrm>
          <a:prstGeom prst="line">
            <a:avLst/>
          </a:prstGeom>
          <a:noFill/>
          <a:ln w="12700">
            <a:solidFill>
              <a:srgbClr val="2431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4544568"/>
            <a:ext cx="5278831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 pairings pass WCAG AA.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 pass AAA — the one exception (Slate Gray captions) still clears AA comfortably and is used only for borders and fine print, never body copy.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19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37" name="Shape 34"/>
          <p:cNvSpPr/>
          <p:nvPr/>
        </p:nvSpPr>
        <p:spPr>
          <a:xfrm>
            <a:off x="9646920" y="6592824"/>
            <a:ext cx="877824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IDENTITY SHOWCASE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IDENTITY SHOWCASE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Lives </a:t>
            </a:r>
            <a:pPr algn="ctr" indent="0" marL="0">
              <a:buNone/>
            </a:pPr>
            <a:r>
              <a:rPr lang="en-US" sz="2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Tool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6309360" cy="4434840"/>
          </a:xfrm>
          <a:prstGeom prst="roundRect">
            <a:avLst>
              <a:gd name="adj" fmla="val 1856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920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UI — VERDICT CARD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1520" y="2258568"/>
            <a:ext cx="5760720" cy="3566160"/>
          </a:xfrm>
          <a:prstGeom prst="roundRect">
            <a:avLst>
              <a:gd name="adj" fmla="val 2308"/>
            </a:avLst>
          </a:prstGeom>
          <a:solidFill>
            <a:srgbClr val="0B1220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2688" y="2423160"/>
            <a:ext cx="146304" cy="14630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9" name="Shape 6"/>
          <p:cNvSpPr/>
          <p:nvPr/>
        </p:nvSpPr>
        <p:spPr>
          <a:xfrm>
            <a:off x="1188720" y="242316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Shape 7"/>
          <p:cNvSpPr/>
          <p:nvPr/>
        </p:nvSpPr>
        <p:spPr>
          <a:xfrm>
            <a:off x="1444752" y="2423160"/>
            <a:ext cx="146304" cy="14630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1" name="Text 8"/>
          <p:cNvSpPr/>
          <p:nvPr/>
        </p:nvSpPr>
        <p:spPr>
          <a:xfrm>
            <a:off x="1828800" y="23682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 — product interface concept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0120" y="27614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 — DC Metro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60120" y="30540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ready  ·  Fit Score 8/10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60120" y="3447288"/>
            <a:ext cx="45720" cy="512064"/>
          </a:xfrm>
          <a:prstGeom prst="roundRect">
            <a:avLst>
              <a:gd name="adj" fmla="val 60000"/>
            </a:avLst>
          </a:prstGeom>
          <a:solidFill>
            <a:srgbClr val="D64545"/>
          </a:solidFill>
          <a:ln/>
        </p:spPr>
      </p:sp>
      <p:sp>
        <p:nvSpPr>
          <p:cNvPr id="15" name="Shape 12"/>
          <p:cNvSpPr/>
          <p:nvPr/>
        </p:nvSpPr>
        <p:spPr>
          <a:xfrm>
            <a:off x="982980" y="3447288"/>
            <a:ext cx="5280660" cy="512064"/>
          </a:xfrm>
          <a:prstGeom prst="roundRect">
            <a:avLst>
              <a:gd name="adj" fmla="val 16071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344728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A+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34472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60120" y="4069080"/>
            <a:ext cx="45720" cy="512064"/>
          </a:xfrm>
          <a:prstGeom prst="roundRect">
            <a:avLst>
              <a:gd name="adj" fmla="val 60000"/>
            </a:avLst>
          </a:prstGeom>
          <a:solidFill>
            <a:srgbClr val="F5A623"/>
          </a:solidFill>
          <a:ln/>
        </p:spPr>
      </p:sp>
      <p:sp>
        <p:nvSpPr>
          <p:cNvPr id="19" name="Shape 16"/>
          <p:cNvSpPr/>
          <p:nvPr/>
        </p:nvSpPr>
        <p:spPr>
          <a:xfrm>
            <a:off x="982980" y="4069080"/>
            <a:ext cx="5280660" cy="512064"/>
          </a:xfrm>
          <a:prstGeom prst="roundRect">
            <a:avLst>
              <a:gd name="adj" fmla="val 16071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40690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Practitioner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37760" y="406908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60120" y="4690872"/>
            <a:ext cx="45720" cy="512064"/>
          </a:xfrm>
          <a:prstGeom prst="roundRect">
            <a:avLst>
              <a:gd name="adj" fmla="val 60000"/>
            </a:avLst>
          </a:prstGeom>
          <a:solidFill>
            <a:srgbClr val="00D9A3"/>
          </a:solidFill>
          <a:ln/>
        </p:spPr>
      </p:sp>
      <p:sp>
        <p:nvSpPr>
          <p:cNvPr id="23" name="Shape 20"/>
          <p:cNvSpPr/>
          <p:nvPr/>
        </p:nvSpPr>
        <p:spPr>
          <a:xfrm>
            <a:off x="982980" y="4690872"/>
            <a:ext cx="5280660" cy="512064"/>
          </a:xfrm>
          <a:prstGeom prst="roundRect">
            <a:avLst>
              <a:gd name="adj" fmla="val 16071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8720" y="469087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exp.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0" y="469087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60120" y="535838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apply now — lead with cross-functional project experience.</a:t>
            </a:r>
            <a:endParaRPr lang="en-US" sz="1050" dirty="0"/>
          </a:p>
        </p:txBody>
      </p:sp>
      <p:pic>
        <p:nvPicPr>
          <p:cNvPr id="27" name="Image 1" descr="/home/claude/madison_final/assets/brandvisual_synthe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83080"/>
            <a:ext cx="4739335" cy="355450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995160" y="5410733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shipped brand visual — Assignment 8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995160" y="5721629"/>
            <a:ext cx="4739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3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navy. Same signal colors. Same verdict logic — the brand is the interface.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19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33" name="Shape 29"/>
          <p:cNvSpPr/>
          <p:nvPr/>
        </p:nvSpPr>
        <p:spPr>
          <a:xfrm>
            <a:off x="9646920" y="6592824"/>
            <a:ext cx="987552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4" name="Text 3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IDENTITY SHOWCASE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IDENTITY SHOWCASE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</a:t>
            </a:r>
            <a:pPr algn="ctr" indent="0" marL="0">
              <a:buNone/>
            </a:pPr>
            <a:r>
              <a:rPr lang="en-US" sz="29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Wild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54864" cy="713232"/>
          </a:xfrm>
          <a:prstGeom prst="roundRect">
            <a:avLst>
              <a:gd name="adj" fmla="val 50000"/>
            </a:avLst>
          </a:prstGeom>
          <a:solidFill>
            <a:srgbClr val="3E8A9C"/>
          </a:solidFill>
          <a:ln/>
        </p:spPr>
      </p:sp>
      <p:sp>
        <p:nvSpPr>
          <p:cNvPr id="6" name="Shape 3"/>
          <p:cNvSpPr/>
          <p:nvPr/>
        </p:nvSpPr>
        <p:spPr>
          <a:xfrm>
            <a:off x="484632" y="1691640"/>
            <a:ext cx="3579266" cy="713232"/>
          </a:xfrm>
          <a:prstGeom prst="roundRect">
            <a:avLst>
              <a:gd name="adj" fmla="val 1153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1783080"/>
            <a:ext cx="3240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6656" y="198424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6656" y="2221992"/>
            <a:ext cx="3240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network, real testers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2498" y="1691640"/>
            <a:ext cx="54864" cy="71323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1" name="Shape 8"/>
          <p:cNvSpPr/>
          <p:nvPr/>
        </p:nvSpPr>
        <p:spPr>
          <a:xfrm>
            <a:off x="4319930" y="1691640"/>
            <a:ext cx="3579266" cy="713232"/>
          </a:xfrm>
          <a:prstGeom prst="roundRect">
            <a:avLst>
              <a:gd name="adj" fmla="val 1153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11954" y="1783080"/>
            <a:ext cx="3240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11954" y="198424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11954" y="2221992"/>
            <a:ext cx="3240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origin story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27797" y="1691640"/>
            <a:ext cx="54864" cy="713232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6" name="Shape 13"/>
          <p:cNvSpPr/>
          <p:nvPr/>
        </p:nvSpPr>
        <p:spPr>
          <a:xfrm>
            <a:off x="8155229" y="1691640"/>
            <a:ext cx="3579266" cy="713232"/>
          </a:xfrm>
          <a:prstGeom prst="roundRect">
            <a:avLst>
              <a:gd name="adj" fmla="val 1153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47253" y="1783080"/>
            <a:ext cx="3240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TERTIARY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347253" y="198424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Newsletter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47253" y="2221992"/>
            <a:ext cx="3240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market signal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2587752"/>
            <a:ext cx="3606698" cy="3520440"/>
          </a:xfrm>
          <a:prstGeom prst="roundRect">
            <a:avLst>
              <a:gd name="adj" fmla="val 233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2770632"/>
            <a:ext cx="320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LinkedIn Post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" y="3090672"/>
            <a:ext cx="32043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career advice is far too polite.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8368" y="3639312"/>
            <a:ext cx="320436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you're a great fit right up until the automated rejection lands. That's why we built Madison — a multi-agent tool that puts your resume through a simulated hiring debate before you apply.</a:t>
            </a:r>
            <a:endParaRPr lang="en-US" sz="1030" dirty="0"/>
          </a:p>
        </p:txBody>
      </p:sp>
      <p:sp>
        <p:nvSpPr>
          <p:cNvPr id="24" name="Text 21"/>
          <p:cNvSpPr/>
          <p:nvPr/>
        </p:nvSpPr>
        <p:spPr>
          <a:xfrm>
            <a:off x="658368" y="5605272"/>
            <a:ext cx="3204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#AI  #CareerStrategy  #TechHiring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658368" y="5815584"/>
            <a:ext cx="3204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lnkd.in/ekBqaMSD  ·  verified, published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292498" y="2587752"/>
            <a:ext cx="3606698" cy="3520440"/>
          </a:xfrm>
          <a:prstGeom prst="roundRect">
            <a:avLst>
              <a:gd name="adj" fmla="val 233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93666" y="2770632"/>
            <a:ext cx="320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 Substack Article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493666" y="3090672"/>
            <a:ext cx="32043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an Adversarial AI Debate Engine to Fix the DC Tech Job Search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493666" y="3959352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editorial walking through the debate architecture and the data pipeline behind it — live on Substack.</a:t>
            </a:r>
            <a:endParaRPr lang="en-US" sz="1030" dirty="0"/>
          </a:p>
        </p:txBody>
      </p:sp>
      <p:sp>
        <p:nvSpPr>
          <p:cNvPr id="30" name="Text 27"/>
          <p:cNvSpPr/>
          <p:nvPr/>
        </p:nvSpPr>
        <p:spPr>
          <a:xfrm>
            <a:off x="4493666" y="5742432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denisbb.substack.com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127797" y="2587752"/>
            <a:ext cx="3606698" cy="3520440"/>
          </a:xfrm>
          <a:prstGeom prst="roundRect">
            <a:avLst>
              <a:gd name="adj" fmla="val 2338"/>
            </a:avLst>
          </a:prstGeom>
          <a:solidFill>
            <a:srgbClr val="0B1220"/>
          </a:solidFill>
          <a:ln w="12700">
            <a:solidFill>
              <a:srgbClr val="24314A"/>
            </a:solidFill>
            <a:prstDash val="solid"/>
          </a:ln>
        </p:spPr>
      </p:sp>
      <p:pic>
        <p:nvPicPr>
          <p:cNvPr id="32" name="Image 1" descr="/home/claude/madison_final/assets/newsletter_proo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957" y="2734056"/>
            <a:ext cx="2638625" cy="3227832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19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36" name="Shape 32"/>
          <p:cNvSpPr/>
          <p:nvPr/>
        </p:nvSpPr>
        <p:spPr>
          <a:xfrm>
            <a:off x="9646920" y="6592824"/>
            <a:ext cx="1097280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7" name="Text 3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IDENTITY SHOWCASE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STORYTELLING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 — </a:t>
            </a:r>
            <a:pPr algn="ctr" indent="0" marL="0">
              <a:buNone/>
            </a:pPr>
            <a:r>
              <a:rPr lang="en-US" sz="2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That Went Nowhere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495648" y="1508760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5875">
            <a:solidFill>
              <a:srgbClr val="3E8A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95648" y="15087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 — HERO'S JOURNEY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2668448" cy="3383280"/>
          </a:xfrm>
          <a:prstGeom prst="roundRect">
            <a:avLst>
              <a:gd name="adj" fmla="val 3084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3500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D64545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2862072"/>
            <a:ext cx="226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50" kern="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" y="3383280"/>
            <a:ext cx="22661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tech listings felt like a void — qualified candidates rejected by filters before a human ever saw the resume.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3326816" y="2148840"/>
            <a:ext cx="2668448" cy="3383280"/>
          </a:xfrm>
          <a:prstGeom prst="roundRect">
            <a:avLst>
              <a:gd name="adj" fmla="val 3084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7984" y="23500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3527984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27984" y="2862072"/>
            <a:ext cx="226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REALIZATION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27984" y="3383280"/>
            <a:ext cx="22661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didn't need more encouragement. They needed to know what a real hiring committee argues about behind closed doors.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196432" y="2148840"/>
            <a:ext cx="2668448" cy="3383280"/>
          </a:xfrm>
          <a:prstGeom prst="roundRect">
            <a:avLst>
              <a:gd name="adj" fmla="val 3084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97600" y="23500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3E8A9C"/>
          </a:solidFill>
          <a:ln/>
        </p:spPr>
      </p:sp>
      <p:sp>
        <p:nvSpPr>
          <p:cNvPr id="19" name="Text 16"/>
          <p:cNvSpPr/>
          <p:nvPr/>
        </p:nvSpPr>
        <p:spPr>
          <a:xfrm>
            <a:off x="63976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97600" y="2862072"/>
            <a:ext cx="226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50" kern="0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TRANSFORMATION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97600" y="3383280"/>
            <a:ext cx="22661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 n8n pipeline on live BLS data, then ran every resume through an adversarial hiring debate instead of a single polite AI check.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9066047" y="2148840"/>
            <a:ext cx="2668448" cy="3383280"/>
          </a:xfrm>
          <a:prstGeom prst="roundRect">
            <a:avLst>
              <a:gd name="adj" fmla="val 3084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67215" y="23500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9267215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67215" y="2862072"/>
            <a:ext cx="226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5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BUILD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267215" y="3383280"/>
            <a:ext cx="22661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Madison turns passive job searching into an active simulation — surfacing the exact skill and credential gaps standing between a candidate and an interview.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0" y="57150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→ Values:  </a:t>
            </a:r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pPr algn="ctr" indent="0" marL="0">
              <a:buNone/>
            </a:pPr>
            <a:r>
              <a:rPr lang="en-US" sz="12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00" b="1" dirty="0">
                <a:solidFill>
                  <a:srgbClr val="3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pPr algn="ctr" indent="0" marL="0">
              <a:buNone/>
            </a:pPr>
            <a:r>
              <a:rPr lang="en-US" sz="12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pPr algn="ctr" indent="0" marL="0">
              <a:buNone/>
            </a:pPr>
            <a:r>
              <a:rPr lang="en-US" sz="12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pPr algn="ctr" indent="0" marL="0">
              <a:buNone/>
            </a:pPr>
            <a:r>
              <a:rPr lang="en-US" sz="12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00" b="1" dirty="0">
                <a:solidFill>
                  <a:srgbClr val="3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19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31" name="Shape 28"/>
          <p:cNvSpPr/>
          <p:nvPr/>
        </p:nvSpPr>
        <p:spPr>
          <a:xfrm>
            <a:off x="9646920" y="6592824"/>
            <a:ext cx="1207008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STORYTELLING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STORYTELLING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</a:t>
            </a:r>
            <a:pPr algn="ctr" indent="0" marL="0">
              <a:buNone/>
            </a:pPr>
            <a:r>
              <a:rPr lang="en-US" sz="29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This For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0" y="144475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needs a candidate. Ours are DC-metro job seekers applying into silence.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175564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pPr algn="ctr"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invisible skill gaps</a:t>
            </a:r>
            <a:pPr algn="ctr"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</a:t>
            </a:r>
            <a:pPr algn="ctr" indent="0" marL="0">
              <a:buNone/>
            </a:pPr>
            <a:r>
              <a:rPr lang="en-US" sz="12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action plan</a:t>
            </a:r>
            <a:pPr algn="ctr"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before the application goes out, not after the rejection comes in.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5501488" cy="3794760"/>
          </a:xfrm>
          <a:prstGeom prst="roundRect">
            <a:avLst>
              <a:gd name="adj" fmla="val 2169"/>
            </a:avLst>
          </a:prstGeom>
          <a:solidFill>
            <a:srgbClr val="121B2E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2505456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5054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232" y="3035808"/>
            <a:ext cx="498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Madison: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" y="3328416"/>
            <a:ext cx="498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12 analyst postings, hears back from zero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713232" y="3785616"/>
            <a:ext cx="498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which certification actually matters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13232" y="4297680"/>
            <a:ext cx="498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Madison: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3232" y="4590288"/>
            <a:ext cx="498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Junior Data Analyst debate — lands an 8/10 fit score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713232" y="5047488"/>
            <a:ext cx="498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point-blank: CompTIA A+ and AWS Cloud Practitioner close the gap fastest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233008" y="2286000"/>
            <a:ext cx="5501488" cy="3794760"/>
          </a:xfrm>
          <a:prstGeom prst="roundRect">
            <a:avLst>
              <a:gd name="adj" fmla="val 2169"/>
            </a:avLst>
          </a:prstGeom>
          <a:solidFill>
            <a:srgbClr val="121B2E"/>
          </a:solidFill>
          <a:ln w="15875">
            <a:solidFill>
              <a:srgbClr val="3E8A9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89040" y="2505456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E8A9C"/>
          </a:solidFill>
          <a:ln/>
        </p:spPr>
      </p:sp>
      <p:sp>
        <p:nvSpPr>
          <p:cNvPr id="18" name="Text 15"/>
          <p:cNvSpPr/>
          <p:nvPr/>
        </p:nvSpPr>
        <p:spPr>
          <a:xfrm>
            <a:off x="6489040" y="25054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MARCUS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89040" y="3035808"/>
            <a:ext cx="498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Madison: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89040" y="3328416"/>
            <a:ext cx="498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Leidos, Booz Allen, SAIC price cleared roles above the median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6489040" y="3785616"/>
            <a:ext cx="498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benchmark his resume against the market shift in real time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6489040" y="4297680"/>
            <a:ext cx="498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Madison: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89040" y="4590288"/>
            <a:ext cx="498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cloud infrastructure roles are outpacing NOC postings 2:1 at AWS Herndon, Microsoft Ashburn, Google Reston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6489040" y="5047488"/>
            <a:ext cx="498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clearance-corridor verdict instead of a generic "good fit!"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19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28" name="Shape 25"/>
          <p:cNvSpPr/>
          <p:nvPr/>
        </p:nvSpPr>
        <p:spPr>
          <a:xfrm>
            <a:off x="9646920" y="6592824"/>
            <a:ext cx="1316736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STORYTELLING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 AI TOOL DEMO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Deployed, and Tested — </a:t>
            </a:r>
            <a:pPr algn="ctr" indent="0" marL="0">
              <a:buNone/>
            </a:pPr>
            <a:r>
              <a:rPr lang="en-US" sz="2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Designed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079894" cy="1691640"/>
          </a:xfrm>
          <a:prstGeom prst="roundRect">
            <a:avLst>
              <a:gd name="adj" fmla="val 4865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1920240"/>
            <a:ext cx="17507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21792" y="2578608"/>
            <a:ext cx="1750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n8n data pipeline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(BLS + NewsAPI + Kaggle)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2756550" y="1737360"/>
            <a:ext cx="2079894" cy="1691640"/>
          </a:xfrm>
          <a:prstGeom prst="roundRect">
            <a:avLst>
              <a:gd name="adj" fmla="val 4865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1142" y="1920240"/>
            <a:ext cx="17507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921142" y="2578608"/>
            <a:ext cx="1750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verified at 100%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3 sources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5055900" y="1737360"/>
            <a:ext cx="2079894" cy="1691640"/>
          </a:xfrm>
          <a:prstGeom prst="roundRect">
            <a:avLst>
              <a:gd name="adj" fmla="val 4865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20492" y="1920240"/>
            <a:ext cx="17507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220492" y="2578608"/>
            <a:ext cx="1750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AI agents on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Claude API calls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355251" y="1737360"/>
            <a:ext cx="2079894" cy="1691640"/>
          </a:xfrm>
          <a:prstGeom prst="roundRect">
            <a:avLst>
              <a:gd name="adj" fmla="val 4865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19843" y="1920240"/>
            <a:ext cx="17507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519843" y="2578608"/>
            <a:ext cx="1750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 upload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market briefing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9654601" y="1737360"/>
            <a:ext cx="2079894" cy="1691640"/>
          </a:xfrm>
          <a:prstGeom prst="roundRect">
            <a:avLst>
              <a:gd name="adj" fmla="val 4865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19193" y="1920240"/>
            <a:ext cx="17507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819193" y="2578608"/>
            <a:ext cx="1750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tested live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(Sri, Arjun, Chase)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11277295" cy="777240"/>
          </a:xfrm>
          <a:prstGeom prst="roundRect">
            <a:avLst>
              <a:gd name="adj" fmla="val 10588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BFD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HUGGING FACE SPACES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denisbykov/madison-job-intel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54880" y="3749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BFD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WEBSITE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inquisitive-lily-b52fee.netlify.app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13816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BFD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github.com/drippydenis/Madison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46634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conducted live via Zoom, recorded and transcribed with Otter.ai — findings shipped into the next iteration.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19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28" name="Shape 25"/>
          <p:cNvSpPr/>
          <p:nvPr/>
        </p:nvSpPr>
        <p:spPr>
          <a:xfrm>
            <a:off x="9646920" y="6592824"/>
            <a:ext cx="1426464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 AI TOOL DEMO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9968" y="5029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69968" y="502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 · SLIDE 1 OF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96596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DC-metro job seekers are applying into silence.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31520" y="30632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paying </a:t>
            </a:r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$39.99/mo</a:t>
            </a:r>
            <a:pPr algn="ctr" indent="0" marL="0">
              <a:buNone/>
            </a:pPr>
            <a:r>
              <a:rPr lang="en-US" sz="18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tools that still can't tell them </a:t>
            </a:r>
            <a:pPr algn="ctr" indent="0" marL="0">
              <a:buNone/>
            </a:pPr>
            <a:r>
              <a:rPr lang="en-US" sz="18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algn="ctr" indent="0" marL="0">
              <a:buNone/>
            </a:pPr>
            <a:r>
              <a:rPr lang="en-US" sz="18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4114800"/>
            <a:ext cx="3393338" cy="1417320"/>
          </a:xfrm>
          <a:prstGeom prst="roundRect">
            <a:avLst>
              <a:gd name="adj" fmla="val 5806"/>
            </a:avLst>
          </a:prstGeom>
          <a:solidFill>
            <a:srgbClr val="16223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29768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32–200+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48920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per offer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9178" y="4114800"/>
            <a:ext cx="3393338" cy="1417320"/>
          </a:xfrm>
          <a:prstGeom prst="roundRect">
            <a:avLst>
              <a:gd name="adj" fmla="val 5806"/>
            </a:avLst>
          </a:prstGeom>
          <a:solidFill>
            <a:srgbClr val="16223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99178" y="429768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399178" y="48920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conversion rate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66837" y="4114800"/>
            <a:ext cx="3393338" cy="1417320"/>
          </a:xfrm>
          <a:prstGeom prst="roundRect">
            <a:avLst>
              <a:gd name="adj" fmla="val 5806"/>
            </a:avLst>
          </a:prstGeom>
          <a:solidFill>
            <a:srgbClr val="16223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66837" y="429768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0.1–2%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66837" y="48920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rate, untailored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19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19" name="Shape 16"/>
          <p:cNvSpPr/>
          <p:nvPr/>
        </p:nvSpPr>
        <p:spPr>
          <a:xfrm>
            <a:off x="9646920" y="6592824"/>
            <a:ext cx="1536192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 AI TOOL DEMO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9968" y="5029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69968" y="502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 · SLIDE 2 OF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69164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Madison cross-examines your resume the way a real hiring committee would.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0" y="2697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hands you the verdict.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657600"/>
            <a:ext cx="3393338" cy="6400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3692804"/>
            <a:ext cx="3393338" cy="1793596"/>
          </a:xfrm>
          <a:prstGeom prst="roundRect">
            <a:avLst>
              <a:gd name="adj" fmla="val 458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3913632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Debate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50976" y="4370832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argue your fit — harsh critic vs. advocate.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99178" y="3657600"/>
            <a:ext cx="3393338" cy="64008"/>
          </a:xfrm>
          <a:prstGeom prst="roundRect">
            <a:avLst>
              <a:gd name="adj" fmla="val 50000"/>
            </a:avLst>
          </a:prstGeom>
          <a:solidFill>
            <a:srgbClr val="3E8A9C"/>
          </a:solidFill>
          <a:ln/>
        </p:spPr>
      </p:sp>
      <p:sp>
        <p:nvSpPr>
          <p:cNvPr id="12" name="Shape 9"/>
          <p:cNvSpPr/>
          <p:nvPr/>
        </p:nvSpPr>
        <p:spPr>
          <a:xfrm>
            <a:off x="4399178" y="3692804"/>
            <a:ext cx="3393338" cy="1793596"/>
          </a:xfrm>
          <a:prstGeom prst="roundRect">
            <a:avLst>
              <a:gd name="adj" fmla="val 458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8634" y="3913632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Labor Data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618634" y="4370832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BLS, NewsAPI, and real postings — not static training data.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66837" y="3657600"/>
            <a:ext cx="3393338" cy="6400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6" name="Shape 13"/>
          <p:cNvSpPr/>
          <p:nvPr/>
        </p:nvSpPr>
        <p:spPr>
          <a:xfrm>
            <a:off x="8066837" y="3692804"/>
            <a:ext cx="3393338" cy="1793596"/>
          </a:xfrm>
          <a:prstGeom prst="roundRect">
            <a:avLst>
              <a:gd name="adj" fmla="val 458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86293" y="3913632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+ 3-Step Plan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286293" y="4370832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fit score, a confidence rating, and exactly what to fix next.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19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22" name="Shape 19"/>
          <p:cNvSpPr/>
          <p:nvPr/>
        </p:nvSpPr>
        <p:spPr>
          <a:xfrm>
            <a:off x="9646920" y="6592824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 AI TOOL DEMO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9968" y="5029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69968" y="502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 · SLIDE 3 OF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one semester. Built for what's next.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31520" y="2331720"/>
            <a:ext cx="5181448" cy="3291840"/>
          </a:xfrm>
          <a:prstGeom prst="roundRect">
            <a:avLst>
              <a:gd name="adj" fmla="val 250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56032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29718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records verified at 100% data quality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3483864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 users tested live via Zoom + Otter.ai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995928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publicly on Hugging Face Spaces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4507992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 — inquisitive-lily-b52fee.netlify.app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5020056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Substack article + LinkedIn post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78728" y="2331720"/>
            <a:ext cx="5181448" cy="3291840"/>
          </a:xfrm>
          <a:prstGeom prst="roundRect">
            <a:avLst>
              <a:gd name="adj" fmla="val 250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53048" y="256032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53048" y="29718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getmadison.app at the live site; grow beyond the capstone build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53048" y="359359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auto-rewrite generated straight from the verdict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53048" y="4215384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Weekly Signal newsletter subscriber base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53048" y="4837176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past DC metro into adjacent cleared-role markets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19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22" name="Shape 19"/>
          <p:cNvSpPr/>
          <p:nvPr/>
        </p:nvSpPr>
        <p:spPr>
          <a:xfrm>
            <a:off x="9646920" y="6592824"/>
            <a:ext cx="1755648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 AI TOOL DEMO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 AI TOOL DEMO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</a:t>
            </a:r>
            <a:pPr algn="ctr" indent="0" marL="0">
              <a:buNone/>
            </a:pPr>
            <a:r>
              <a:rPr lang="en-US" sz="29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Madison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0" y="141732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documentation — feature overview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3606698" cy="64008"/>
          </a:xfrm>
          <a:prstGeom prst="roundRect">
            <a:avLst>
              <a:gd name="adj" fmla="val 50000"/>
            </a:avLst>
          </a:prstGeom>
          <a:solidFill>
            <a:srgbClr val="3E8A9C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2001164"/>
            <a:ext cx="3606698" cy="1656436"/>
          </a:xfrm>
          <a:prstGeom prst="roundRect">
            <a:avLst>
              <a:gd name="adj" fmla="val 496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185416"/>
            <a:ext cx="3167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6656" y="251460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76656" y="2926080"/>
            <a:ext cx="31677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resume and a target role or job posting.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2498" y="1965960"/>
            <a:ext cx="3606698" cy="640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2" name="Shape 9"/>
          <p:cNvSpPr/>
          <p:nvPr/>
        </p:nvSpPr>
        <p:spPr>
          <a:xfrm>
            <a:off x="4292498" y="2001164"/>
            <a:ext cx="3606698" cy="1656436"/>
          </a:xfrm>
          <a:prstGeom prst="roundRect">
            <a:avLst>
              <a:gd name="adj" fmla="val 496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11954" y="2185416"/>
            <a:ext cx="3167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11954" y="251460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11954" y="2926080"/>
            <a:ext cx="31677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and Agent B argue your fit live, grounded in BLS + NewsAPI + posting data.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27797" y="1965960"/>
            <a:ext cx="3606698" cy="6400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7" name="Shape 14"/>
          <p:cNvSpPr/>
          <p:nvPr/>
        </p:nvSpPr>
        <p:spPr>
          <a:xfrm>
            <a:off x="8127797" y="2001164"/>
            <a:ext cx="3606698" cy="1656436"/>
          </a:xfrm>
          <a:prstGeom prst="roundRect">
            <a:avLst>
              <a:gd name="adj" fmla="val 4968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7253" y="2185416"/>
            <a:ext cx="3167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47253" y="251460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347253" y="2926080"/>
            <a:ext cx="31677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fit score, a confidence rating, and a 3-step action plan.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931920"/>
            <a:ext cx="11277295" cy="1691640"/>
          </a:xfrm>
          <a:prstGeom prst="roundRect">
            <a:avLst>
              <a:gd name="adj" fmla="val 4865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13308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OVERVIEW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1520" y="4462272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labor data — BLS, NewsAPI, and Kaggle job postings, fused in a 14-node n8n pipeline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95848" y="4462272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two-agent debate + synthesis judge, powered by live Claude API calls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31520" y="484632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DC-metro and clearance-corridor tuned — TS/SCI premiums, cloud vs. NOC trend tracking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095848" y="484632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Signal newsletter — recurring market briefings delivered on a schedule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31520" y="5230368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interface, deployed and publicly testable on Hugging Face Spaces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19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31" name="Shape 28"/>
          <p:cNvSpPr/>
          <p:nvPr/>
        </p:nvSpPr>
        <p:spPr>
          <a:xfrm>
            <a:off x="9646920" y="6592824"/>
            <a:ext cx="1865376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 AI TOOL DEMO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90008" y="7772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2A1414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27752" y="905256"/>
            <a:ext cx="109728" cy="10972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2"/>
          <p:cNvSpPr/>
          <p:nvPr/>
        </p:nvSpPr>
        <p:spPr>
          <a:xfrm>
            <a:off x="5510632" y="777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Verdict Land in Real Time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666848" y="2103120"/>
            <a:ext cx="6858000" cy="566928"/>
          </a:xfrm>
          <a:prstGeom prst="roundRect">
            <a:avLst>
              <a:gd name="adj" fmla="val 16129"/>
            </a:avLst>
          </a:prstGeom>
          <a:solidFill>
            <a:srgbClr val="121B2E"/>
          </a:solidFill>
          <a:ln w="15875">
            <a:solidFill>
              <a:srgbClr val="3E8A9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66848" y="21031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huggingface.co/spaces/denisbykov/madison-job-intel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3E8A9C"/>
          </a:solidFill>
          <a:ln/>
        </p:spPr>
      </p:sp>
      <p:sp>
        <p:nvSpPr>
          <p:cNvPr id="10" name="Shape 7"/>
          <p:cNvSpPr/>
          <p:nvPr/>
        </p:nvSpPr>
        <p:spPr>
          <a:xfrm>
            <a:off x="484632" y="3017520"/>
            <a:ext cx="3579266" cy="1554480"/>
          </a:xfrm>
          <a:prstGeom prst="roundRect">
            <a:avLst>
              <a:gd name="adj" fmla="val 5294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3218688"/>
            <a:ext cx="31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" y="352044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6656" y="3913632"/>
            <a:ext cx="31677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target role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2498" y="301752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5" name="Shape 12"/>
          <p:cNvSpPr/>
          <p:nvPr/>
        </p:nvSpPr>
        <p:spPr>
          <a:xfrm>
            <a:off x="4319930" y="3017520"/>
            <a:ext cx="3579266" cy="1554480"/>
          </a:xfrm>
          <a:prstGeom prst="roundRect">
            <a:avLst>
              <a:gd name="adj" fmla="val 5294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1954" y="3218688"/>
            <a:ext cx="31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11954" y="352044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11954" y="3913632"/>
            <a:ext cx="31677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argue live on Claude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27797" y="301752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0" name="Shape 17"/>
          <p:cNvSpPr/>
          <p:nvPr/>
        </p:nvSpPr>
        <p:spPr>
          <a:xfrm>
            <a:off x="8155229" y="3017520"/>
            <a:ext cx="3579266" cy="1554480"/>
          </a:xfrm>
          <a:prstGeom prst="roundRect">
            <a:avLst>
              <a:gd name="adj" fmla="val 5294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47253" y="3218688"/>
            <a:ext cx="31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47253" y="352044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47253" y="3913632"/>
            <a:ext cx="31677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 + 3-step plan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828032"/>
            <a:ext cx="11277295" cy="777240"/>
          </a:xfrm>
          <a:prstGeom prst="roundRect">
            <a:avLst>
              <a:gd name="adj" fmla="val 10588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482803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Claude API calls across two adversarial agents plus a synthesis judge, grounded in a 14-node n8n pipeline pulling BLS, NewsAPI, and Kaggle data.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19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29" name="Shape 26"/>
          <p:cNvSpPr/>
          <p:nvPr/>
        </p:nvSpPr>
        <p:spPr>
          <a:xfrm>
            <a:off x="9646920" y="6592824"/>
            <a:ext cx="1975104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 AI TOOL DEMO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dison_final/assets/madison_logo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960120" cy="240030"/>
          </a:xfrm>
          <a:prstGeom prst="rect">
            <a:avLst/>
          </a:prstGeom>
        </p:spPr>
      </p:pic>
      <p:pic>
        <p:nvPicPr>
          <p:cNvPr id="3" name="Image 1" descr="/home/claude/madison_final/assets/madison_logo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1051560"/>
            <a:ext cx="27432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96596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market intelligence your employer already has.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5684368" y="3200400"/>
            <a:ext cx="8229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31520" y="3520440"/>
            <a:ext cx="2531288" cy="6400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8" name="Shape 4"/>
          <p:cNvSpPr/>
          <p:nvPr/>
        </p:nvSpPr>
        <p:spPr>
          <a:xfrm>
            <a:off x="731520" y="3555644"/>
            <a:ext cx="2531288" cy="1244956"/>
          </a:xfrm>
          <a:prstGeom prst="roundRect">
            <a:avLst>
              <a:gd name="adj" fmla="val 661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3703320"/>
            <a:ext cx="253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 (LIVE)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04672" y="3977640"/>
            <a:ext cx="238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inquisitive-lily-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b52fee.netlify.app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63976" y="3520440"/>
            <a:ext cx="2531288" cy="64008"/>
          </a:xfrm>
          <a:prstGeom prst="roundRect">
            <a:avLst>
              <a:gd name="adj" fmla="val 50000"/>
            </a:avLst>
          </a:prstGeom>
          <a:solidFill>
            <a:srgbClr val="3E8A9C"/>
          </a:solidFill>
          <a:ln/>
        </p:spPr>
      </p:sp>
      <p:sp>
        <p:nvSpPr>
          <p:cNvPr id="12" name="Shape 8"/>
          <p:cNvSpPr/>
          <p:nvPr/>
        </p:nvSpPr>
        <p:spPr>
          <a:xfrm>
            <a:off x="3463976" y="3555644"/>
            <a:ext cx="2531288" cy="1244956"/>
          </a:xfrm>
          <a:prstGeom prst="roundRect">
            <a:avLst>
              <a:gd name="adj" fmla="val 661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63976" y="3703320"/>
            <a:ext cx="253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537128" y="3977640"/>
            <a:ext cx="238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hf.co/spaces/denisbykov/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8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madison-job-intel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96432" y="3520440"/>
            <a:ext cx="2531288" cy="640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Shape 12"/>
          <p:cNvSpPr/>
          <p:nvPr/>
        </p:nvSpPr>
        <p:spPr>
          <a:xfrm>
            <a:off x="6196432" y="3555644"/>
            <a:ext cx="2531288" cy="1244956"/>
          </a:xfrm>
          <a:prstGeom prst="roundRect">
            <a:avLst>
              <a:gd name="adj" fmla="val 661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96432" y="3703320"/>
            <a:ext cx="253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269584" y="3977640"/>
            <a:ext cx="238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/in/denis-bykov-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202a72222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928887" y="3520440"/>
            <a:ext cx="2531288" cy="6400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0" name="Shape 16"/>
          <p:cNvSpPr/>
          <p:nvPr/>
        </p:nvSpPr>
        <p:spPr>
          <a:xfrm>
            <a:off x="8928887" y="3555644"/>
            <a:ext cx="2531288" cy="1244956"/>
          </a:xfrm>
          <a:prstGeom prst="roundRect">
            <a:avLst>
              <a:gd name="adj" fmla="val 6610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28887" y="3703320"/>
            <a:ext cx="253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SUBSTACK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9002039" y="3977640"/>
            <a:ext cx="238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denisbb.substack.com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0" y="56235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Denis Bykov  ·  INFO 7375 Branding &amp; AI  ·  Northeastern University  ·  August 2026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638648" y="64556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21B2E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638648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19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/>
        </p:spPr>
      </p:sp>
      <p:sp>
        <p:nvSpPr>
          <p:cNvPr id="27" name="Shape 23"/>
          <p:cNvSpPr/>
          <p:nvPr/>
        </p:nvSpPr>
        <p:spPr>
          <a:xfrm>
            <a:off x="9646920" y="6592824"/>
            <a:ext cx="2084832" cy="54864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2026-08-13T19:45:05Z</dcterms:created>
  <dcterms:modified xsi:type="dcterms:W3CDTF">2026-08-13T19:45:05Z</dcterms:modified>
</cp:coreProperties>
</file>